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8" r:id="rId30"/>
    <p:sldId id="289" r:id="rId31"/>
    <p:sldId id="290" r:id="rId32"/>
    <p:sldId id="291" r:id="rId33"/>
    <p:sldId id="292" r:id="rId34"/>
    <p:sldId id="293" r:id="rId35"/>
    <p:sldId id="294" r:id="rId36"/>
    <p:sldId id="295" r:id="rId37"/>
    <p:sldId id="296" r:id="rId29"/>
    <p:sldId id="297" r:id="rId28"/>
    <p:sldId id="265" r:id="rId11"/>
    <p:sldId id="266" r:id="rId12"/>
    <p:sldId id="267" r:id="rId13"/>
    <p:sldId id="268" r:id="rId14"/>
    <p:sldId id="269" r:id="rId15"/>
    <p:sldId id="270" r:id="rId16"/>
    <p:sldId id="271" r:id="rId17"/>
    <p:sldId id="272" r:id="rId18"/>
    <p:sldId id="273" r:id="rId19"/>
    <p:sldId id="274" r:id="rId43"/>
    <p:sldId id="275" r:id="rId44"/>
    <p:sldId id="276" r:id="rId45"/>
    <p:sldId id="277" r:id="rId46"/>
    <p:sldId id="278" r:id="rId47"/>
    <p:sldId id="279" r:id="rId48"/>
    <p:sldId id="280" r:id="rId49"/>
    <p:sldId id="281" r:id="rId50"/>
    <p:sldId id="282" r:id="rId51"/>
    <p:sldId id="283" r:id="rId52"/>
    <p:sldId id="284" r:id="rId53"/>
    <p:sldId id="285" r:id="rId54"/>
    <p:sldId id="286" r:id="rId55"/>
    <p:sldId id="287" r:id="rId56"/>
    <p:sldId id="298" r:id="rId27"/>
    <p:sldId id="299" r:id="rId26"/>
    <p:sldId id="300" r:id="rId25"/>
    <p:sldId id="301" r:id="rId24"/>
    <p:sldId id="302" r:id="rId23"/>
    <p:sldId id="303" r:id="rId22"/>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2" Type="http://schemas.openxmlformats.org/officeDocument/2006/relationships/slide" Target="slides/slide39.xml"/><Relationship Id="rId23" Type="http://schemas.openxmlformats.org/officeDocument/2006/relationships/slide" Target="slides/slide38.xml"/><Relationship Id="rId24" Type="http://schemas.openxmlformats.org/officeDocument/2006/relationships/slide" Target="slides/slide37.xml"/><Relationship Id="rId25" Type="http://schemas.openxmlformats.org/officeDocument/2006/relationships/slide" Target="slides/slide36.xml"/><Relationship Id="rId26" Type="http://schemas.openxmlformats.org/officeDocument/2006/relationships/slide" Target="slides/slide35.xml"/><Relationship Id="rId27" Type="http://schemas.openxmlformats.org/officeDocument/2006/relationships/slide" Target="slides/slide34.xml"/><Relationship Id="rId28" Type="http://schemas.openxmlformats.org/officeDocument/2006/relationships/slide" Target="slides/slide33.xml"/><Relationship Id="rId29" Type="http://schemas.openxmlformats.org/officeDocument/2006/relationships/slide" Target="slides/slide32.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10.xml"/><Relationship Id="rId44" Type="http://schemas.openxmlformats.org/officeDocument/2006/relationships/slide" Target="slides/slide11.xml"/><Relationship Id="rId45" Type="http://schemas.openxmlformats.org/officeDocument/2006/relationships/slide" Target="slides/slide12.xml"/><Relationship Id="rId46" Type="http://schemas.openxmlformats.org/officeDocument/2006/relationships/slide" Target="slides/slide13.xml"/><Relationship Id="rId47" Type="http://schemas.openxmlformats.org/officeDocument/2006/relationships/slide" Target="slides/slide14.xml"/><Relationship Id="rId48" Type="http://schemas.openxmlformats.org/officeDocument/2006/relationships/slide" Target="slides/slide15.xml"/><Relationship Id="rId49" Type="http://schemas.openxmlformats.org/officeDocument/2006/relationships/slide" Target="slides/slide16.xml"/><Relationship Id="rId50" Type="http://schemas.openxmlformats.org/officeDocument/2006/relationships/slide" Target="slides/slide17.xml"/><Relationship Id="rId51" Type="http://schemas.openxmlformats.org/officeDocument/2006/relationships/slide" Target="slides/slide18.xml"/><Relationship Id="rId52" Type="http://schemas.openxmlformats.org/officeDocument/2006/relationships/slide" Target="slides/slide19.xml"/><Relationship Id="rId53" Type="http://schemas.openxmlformats.org/officeDocument/2006/relationships/slide" Target="slides/slide20.xml"/><Relationship Id="rId54" Type="http://schemas.openxmlformats.org/officeDocument/2006/relationships/slide" Target="slides/slide21.xml"/><Relationship Id="rId55" Type="http://schemas.openxmlformats.org/officeDocument/2006/relationships/slide" Target="slides/slide22.xml"/><Relationship Id="rId56"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[Opening, after the intro] Thank you. I'll take you inside the first of the three agents, the planner. Its job is to choose the single most useful test to run next. It cannot see the phone, so everything it knows, it reads from the graph. There are six kinds of knowledge: the specification, split into individual requirements; the screens we have actually seen, 79 on the contacts app; learned routes to each screen; findings from earlier runs; coverage, meaning what is still untested; and past bug reports when a project has them. All of it is capped, so the prompt does not grow as a campaign goes on. The summary of earlier runs used to be 35,000 characters, 69 percent of a prompt; stored as findings, it is about 2,000. [Transition] So where does all of this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In one Neo4j graph. Orange is the specification: each requirement is traced to the passage of the document it came from. Purple is testing: test cases, the requirements they cover, and a log for every run, including the ordered path of screens it went through. Blue is the app map the executor builds: one node per distinct screen, and the transitions between them. Red is findings, each tied to the run that found it, the screen it is about and the requirement it concerns. Every agent reads and writes this one structure, and nothing else survives between calls. [Transition] The planner reads this graph in one of two modes. The first is a fixed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 pipeline is a LangGraph state machine. It first loads what is known, with no model call. Then a small model call asks: what do I still need? The model can pick up to three lookups: search the specification, pull up a screen it has seen, find a route to a screen, or check past defects there. Those run, the answers come back, and it asks again, for at most two rounds. Then one large call writes the test, and a duplicate check compares it with every earlier test, by wording and by meaning. This mode planned the contacts campaign. [Transition] Here is the same pipeline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skip if short of time. Read it by colour, and follow the numbers. Red boxes are model calls: only two are guaranteed per test, the small planner_step and the large generate_testcase. Blue is the planner's tools, the lookups it asked for. Green is plain graph work, and amber are decisions. The loop between steps 2 and 3 is the planner deciding whether it knows enough. The retry at the bottom only fires when a draft is too similar to an earlier test, and every test is stored as planned before the executor ever sees it. The weakness is in that loop: the model lists its lookups up front and gets them back as a batch, so one answer cannot shape the next question. [Transition] That is what the second mode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In tools mode, the model calls the graph itself. It calls one tool, reads the answer, and decides what to ask next, so each question can depend on the last result. It has nine read-only tools: two for what the specification says should exist, three for what the app actually has, three for what earlier runs established, and one for coverage. The right-hand column is the safety rule: a tool is offered only when its source has data. On a brand-new app with no screens yet, get_screen does not exist for the model, so an empty answer can never mislead it. This mode planned the 45-test commerce campaign. [Transition] Here is what one planning round actually looked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We measured this from 62 real planning rounds on the commerce app. It starts from a short brief: the coverage map, the last few runs and the open questions. Nothing in the code fixes the order after that; the model chose it. It orients first, with a summary of the findings, the coverage state and the list of screens. Then it picks up an unfinished thread, usually an open question from an earlier run. Only then does it ground the test in a real requirement and a real screen. That is about 13 calls a round. After six free turns it is forced to propose, because on our first live run it investigated for ten turns and never wrote a test. And every proposal must pass the gate on the right: a screen we have really seen, requirement ids that exist, not a repeat, and no precondition the tester cannot create. If it fails, the model is told why and tries again, up to three times. [Transition] Whichever mode runs, it also has to decide where to test next without going in circles.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Three mechanisms steer it. A coverage map points it at untested requirements and feature areas. A cap retires an area after five tests, whatever happened in them. And a duplicate check runs against every earlier test. The cap came from a real failure: in one campaign, 9 of 13 tests landed on the same screen, because a failing area kept being promoted. The obvious fix, stopping when an area stops yielding new findings, would never have fired, because the ninth test was still producing technically new ones. [Transition] So after all of this, what does the planner actually hand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A test case in plain language, never a sequence of taps; the executor works those out on the device. Both modes emit exactly these fields, so the executor does not care which planner ran. Two fields do the most work. requirement_ids are what let us report requirement coverage at all. And addresses links the test to the open question it settles. Here, TC-003 from the commerce app: an earlier run suspected farm names were never validated, so the planner aimed a test at exactly that, citing FR-FARM-04. [Transition] Let me finish with one test followed all the way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TC-018, from the contacts campaign. Earlier runs had seen duplicate contacts saved silently, but whether a matching phone number alone triggers detection was still unverified. The planner picked that up and gave the new contact a completely different name, so that only the phone number matched. That isolates one requirement, FR-DUP-02. The executor saved the contact and found both entries side by side in the list: no duplicate dialog. The investigator marked the objective refuted, a high-severity spec violation, and in its words this directly answers the earlier open question. Nobody told the agent to look at duplicates; it chose this from the specification and from what earlier runs had left open. If asked about the 48 steps: the evidence is in the first 15, and the rest went to a search box that did not respond, which the investigator's summary says itself. [Handover] That run was driven on a real phone by the executor, which [next presenter] will now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 executor, which we also call the player, is the one component we did not build, so we chose it carefully. We surveyed the mobile GUI-agent benchmarks and then tried several executors hands-on, among them MUI, GeLab and MobileAgent-V3, before selecting mobilerun, also known as Droidrun. [Add one line per alternative on why it was not chosen.] What decided it was what our design needs: it works from a goal in plain language rather than a script, drives a real device through the accessibility tree and screenshots, lets us plug in our own model provider, saves a step-by-step trajectory for the investigator, and streams every screen it sees, which is how we build the map of the app.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executor receives a goal, not a script: the planner's objective and screen hint, plus login and input details. It then loops: observe the screen through the accessibility tree and a screenshot, let the model decide the next action, and act, tapping, typing or swiping over adb. Up to 50 steps, about 20 seconds each. It returns a trajectory: every step's reasoning, action and result. The loop is mobilerun, but the harness around it is ours: building the goal from the test case, the on-device portal that makes typing reliable, resetting the app between tests and keeping the agent inside it, keeping login secrets out of the planner's prompt, streaming every screen into the live map, and surviving network loss mid-campaign.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This is the result of the screen matching on the previous slide, as it appears on our dashboard. Every circle is one distinct screen of the contacts app, 79 in all, joined by 797 recorded transitions. Nothing here came from documentation; it is only what the agent reached. Every execution stores the ordered list of screens it passed through, so we can pick any run and see exactly where it went: in orange, the path of TC-088, which imported a vCard of duplicates and then searched: from the contact list through Organize, the import screen and the close sheet, and back. Clicking a screen shows the screenshot we stored for it, here Contact List number 12, visited 19 times, with 14 controls. The same map is what the planner draws on when it looks up a screen or a route to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skip if short on time. The full screen-identity cascade, left to right. Each check exists because the previous one failed on a real case, and the grey notes say which. Structural similarity handles counters and timestamps. Containment handles a screen captured before it finished drawing, which similarity scores as different. Skeleton containment handles form fields, where typing changes the labels: one wizard once produced nine separate states. And the perceptual hash is the last resort for screens built with Compose, games or web views, whose accessibility tree says almost nothing.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Before the investigator, nothing a run observed ever reached the next plan. Now it reads each trajectory against what the test intended and writes typed findings. Each finding is one claim, and repeats are merged, so the graph records how often something was seen rather than piling up duplicates. There are eight kinds in four groups. Defects go to a human. Oracle findings feed back to the planner, which is how the next test is better informed. And the agent's own difficulties are kept separate, because they say nothing about the app. Open questions have a lifecycle, so the agent reaches conclusions instead of asking the same thing forever.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skip if short on time. The eight finding kinds across the top, each routed to exactly one destination. Red is defects, which a human reviews. Green is the oracle group, which is what the planner reads back next round. Blue is new controls, which enrich the map. Grey is the agent's own difficulties, kept apart so they can never inflate the defect count.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hard question is how the system knows it has seen something before, when every run is described by a model in different words. We first tried embedding similarity alone, and measured that it cannot work: a true restatement of a finding scored 0.846, while a genuinely different defect scored higher, 0.853. So the model decides. It is shown the known findings for the screens it touched and states which ones this run confirms; a confirmation reinforces the existing finding. Similarity is kept only as a safety net at 0.90. Similar findings on one screen can also be collapsed into one general claim. And storing findings rather than prose reports reversed the growth of the investigator's input: under prose it grew to almost 98,000 characters over a campaign; with findings it shrinks as the campaign goes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A finding that poses a question, such as "does this field really accept anything?", stays open until a later run settles it. The planner treats open questions as missions: it reserves room for them so old ones are not forgotten, and its test declares which question it is addressing. If the run settles it, it is resolved, confirmed or refuted. If three attempts fail to settle it, it is retired as inconclusive rather than asked forever. This is how the agent reaches conclusions instead of re-testing the same doubt. To be honest about scale: on the contacts app, 8 questions have been settled by a later run and 115 are still open, mostly unverified observations. The mechanism works end to end; it needs longer campaigns to pay off fully.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slide answers the question you will be asked about the pass rate. When a test fails, we record why, and classify it three ways. An app fault means the agent reached its checkpoint and the app really did the wrong thing: that is a finding. An agent fault means our executor could not drive the app, which says nothing about the app. An environment fault means a precondition was missing or the step budget ran out before any evidence. On the commerce app only 11 of 25 failures were about the app. Reporting the raw failure rate would have more than doubled the apparent defect count. None of the research systems we reviewed makes this distinction.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skip if short on time. The full tree behind the previous slide. A pass needs no classification. A failure is routed by its error type into exactly one of three classes: red is an app fault, and only these count as findings; grey is our executor failing to drive the app; orange is the environment, including running out of step budget before any evidence was produced. There is one definition of this mapping in the code, so every number in this deck is counted the same way.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3.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4.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m0_19_0.png"/><Relationship Id="rId4" Type="http://schemas.openxmlformats.org/officeDocument/2006/relationships/image" Target="../media/m1_19_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m2_20_0.png"/><Relationship Id="rId4" Type="http://schemas.openxmlformats.org/officeDocument/2006/relationships/image" Target="../media/m3_20_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m4_23_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m5_24_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6_25_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m7_28_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m8_30_0.png"/><Relationship Id="rId4" Type="http://schemas.openxmlformats.org/officeDocument/2006/relationships/image" Target="../media/m12_30_6.png"/><Relationship Id="rId5" Type="http://schemas.openxmlformats.org/officeDocument/2006/relationships/image" Target="../media/m11_30_5.png"/><Relationship Id="rId6" Type="http://schemas.openxmlformats.org/officeDocument/2006/relationships/image" Target="../media/m10_30_4.png"/><Relationship Id="rId7" Type="http://schemas.openxmlformats.org/officeDocument/2006/relationships/image" Target="../media/m9_30_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m13_31_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m14_32_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0">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WHAT IT KNOWS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the planner knows before it writes a test</a:t>
            </a:r>
            <a:endParaRPr lang="en-US" sz="3000" dirty="0"/>
          </a:p>
        </p:txBody>
      </p:sp>
      <p:sp>
        <p:nvSpPr>
          <p:cNvPr id="4" name="Shape 2"/>
          <p:cNvSpPr/>
          <p:nvPr/>
        </p:nvSpPr>
        <p:spPr>
          <a:xfrm>
            <a:off x="815975" y="1778595"/>
            <a:ext cx="3414167" cy="1070521"/>
          </a:xfrm>
          <a:prstGeom prst="roundRect">
            <a:avLst>
              <a:gd name="adj" fmla="val 9194"/>
            </a:avLst>
          </a:prstGeom>
          <a:solidFill>
            <a:srgbClr val="FDFEFE"/>
          </a:solidFill>
          <a:ln w="6350">
            <a:solidFill>
              <a:srgbClr val="D6E1E6"/>
            </a:solidFill>
            <a:prstDash val="solid"/>
          </a:ln>
        </p:spPr>
      </p:sp>
      <p:sp>
        <p:nvSpPr>
          <p:cNvPr id="5" name="Text 3"/>
          <p:cNvSpPr/>
          <p:nvPr/>
        </p:nvSpPr>
        <p:spPr>
          <a:xfrm>
            <a:off x="996950" y="1959570"/>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Specification</a:t>
            </a:r>
            <a:endParaRPr lang="en-US" sz="1400" dirty="0"/>
          </a:p>
        </p:txBody>
      </p:sp>
      <p:sp>
        <p:nvSpPr>
          <p:cNvPr id="6" name="Text 4"/>
          <p:cNvSpPr/>
          <p:nvPr/>
        </p:nvSpPr>
        <p:spPr>
          <a:xfrm>
            <a:off x="996950" y="2241500"/>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Every requirement as a node, retrieved by meaning and by keyword.</a:t>
            </a:r>
            <a:endParaRPr lang="en-US" sz="1200" dirty="0"/>
          </a:p>
        </p:txBody>
      </p:sp>
      <p:sp>
        <p:nvSpPr>
          <p:cNvPr id="7" name="Shape 5"/>
          <p:cNvSpPr/>
          <p:nvPr/>
        </p:nvSpPr>
        <p:spPr>
          <a:xfrm>
            <a:off x="4388892" y="1778595"/>
            <a:ext cx="3414167" cy="1070521"/>
          </a:xfrm>
          <a:prstGeom prst="roundRect">
            <a:avLst>
              <a:gd name="adj" fmla="val 9194"/>
            </a:avLst>
          </a:prstGeom>
          <a:solidFill>
            <a:srgbClr val="FDFEFE"/>
          </a:solidFill>
          <a:ln w="6350">
            <a:solidFill>
              <a:srgbClr val="D6E1E6"/>
            </a:solidFill>
            <a:prstDash val="solid"/>
          </a:ln>
        </p:spPr>
      </p:sp>
      <p:sp>
        <p:nvSpPr>
          <p:cNvPr id="8" name="Text 6"/>
          <p:cNvSpPr/>
          <p:nvPr/>
        </p:nvSpPr>
        <p:spPr>
          <a:xfrm>
            <a:off x="4569867" y="1959570"/>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Screens seen</a:t>
            </a:r>
            <a:endParaRPr lang="en-US" sz="1400" dirty="0"/>
          </a:p>
        </p:txBody>
      </p:sp>
      <p:sp>
        <p:nvSpPr>
          <p:cNvPr id="9" name="Text 7"/>
          <p:cNvSpPr/>
          <p:nvPr/>
        </p:nvSpPr>
        <p:spPr>
          <a:xfrm>
            <a:off x="4569867" y="2241500"/>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live map of the app: 79 screens and 797 transitions on the contacts app.</a:t>
            </a:r>
            <a:endParaRPr lang="en-US" sz="1200" dirty="0"/>
          </a:p>
        </p:txBody>
      </p:sp>
      <p:sp>
        <p:nvSpPr>
          <p:cNvPr id="10" name="Shape 8"/>
          <p:cNvSpPr/>
          <p:nvPr/>
        </p:nvSpPr>
        <p:spPr>
          <a:xfrm>
            <a:off x="7961809" y="1778595"/>
            <a:ext cx="3414216" cy="1070521"/>
          </a:xfrm>
          <a:prstGeom prst="roundRect">
            <a:avLst>
              <a:gd name="adj" fmla="val 9194"/>
            </a:avLst>
          </a:prstGeom>
          <a:solidFill>
            <a:srgbClr val="FDFEFE"/>
          </a:solidFill>
          <a:ln w="6350">
            <a:solidFill>
              <a:srgbClr val="D6E1E6"/>
            </a:solidFill>
            <a:prstDash val="solid"/>
          </a:ln>
        </p:spPr>
      </p:sp>
      <p:sp>
        <p:nvSpPr>
          <p:cNvPr id="11" name="Text 9"/>
          <p:cNvSpPr/>
          <p:nvPr/>
        </p:nvSpPr>
        <p:spPr>
          <a:xfrm>
            <a:off x="8142784" y="1959570"/>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Navigation paths</a:t>
            </a:r>
            <a:endParaRPr lang="en-US" sz="1400" dirty="0"/>
          </a:p>
        </p:txBody>
      </p:sp>
      <p:sp>
        <p:nvSpPr>
          <p:cNvPr id="12" name="Text 10"/>
          <p:cNvSpPr/>
          <p:nvPr/>
        </p:nvSpPr>
        <p:spPr>
          <a:xfrm>
            <a:off x="8142784" y="2241500"/>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Learned routes to each screen, and the routes known to fail.</a:t>
            </a:r>
            <a:endParaRPr lang="en-US" sz="1200" dirty="0"/>
          </a:p>
        </p:txBody>
      </p:sp>
      <p:sp>
        <p:nvSpPr>
          <p:cNvPr id="13" name="Shape 11"/>
          <p:cNvSpPr/>
          <p:nvPr/>
        </p:nvSpPr>
        <p:spPr>
          <a:xfrm>
            <a:off x="815975" y="3007866"/>
            <a:ext cx="3414167" cy="1070521"/>
          </a:xfrm>
          <a:prstGeom prst="roundRect">
            <a:avLst>
              <a:gd name="adj" fmla="val 9194"/>
            </a:avLst>
          </a:prstGeom>
          <a:solidFill>
            <a:srgbClr val="FDFEFE"/>
          </a:solidFill>
          <a:ln w="6350">
            <a:solidFill>
              <a:srgbClr val="D6E1E6"/>
            </a:solidFill>
            <a:prstDash val="solid"/>
          </a:ln>
        </p:spPr>
      </p:sp>
      <p:sp>
        <p:nvSpPr>
          <p:cNvPr id="14" name="Text 12"/>
          <p:cNvSpPr/>
          <p:nvPr/>
        </p:nvSpPr>
        <p:spPr>
          <a:xfrm>
            <a:off x="996950" y="3188841"/>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Findings</a:t>
            </a:r>
            <a:endParaRPr lang="en-US" sz="1400" dirty="0"/>
          </a:p>
        </p:txBody>
      </p:sp>
      <p:sp>
        <p:nvSpPr>
          <p:cNvPr id="15" name="Text 13"/>
          <p:cNvSpPr/>
          <p:nvPr/>
        </p:nvSpPr>
        <p:spPr>
          <a:xfrm>
            <a:off x="996950" y="347077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What earlier runs confirmed, contradicted or left open.</a:t>
            </a:r>
            <a:endParaRPr lang="en-US" sz="1200" dirty="0"/>
          </a:p>
        </p:txBody>
      </p:sp>
      <p:sp>
        <p:nvSpPr>
          <p:cNvPr id="16" name="Shape 14"/>
          <p:cNvSpPr/>
          <p:nvPr/>
        </p:nvSpPr>
        <p:spPr>
          <a:xfrm>
            <a:off x="4388892" y="3007866"/>
            <a:ext cx="3414167" cy="1070521"/>
          </a:xfrm>
          <a:prstGeom prst="roundRect">
            <a:avLst>
              <a:gd name="adj" fmla="val 9194"/>
            </a:avLst>
          </a:prstGeom>
          <a:solidFill>
            <a:srgbClr val="FDFEFE"/>
          </a:solidFill>
          <a:ln w="6350">
            <a:solidFill>
              <a:srgbClr val="D6E1E6"/>
            </a:solidFill>
            <a:prstDash val="solid"/>
          </a:ln>
        </p:spPr>
      </p:sp>
      <p:sp>
        <p:nvSpPr>
          <p:cNvPr id="17" name="Text 15"/>
          <p:cNvSpPr/>
          <p:nvPr/>
        </p:nvSpPr>
        <p:spPr>
          <a:xfrm>
            <a:off x="4569867" y="3188841"/>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Coverage</a:t>
            </a:r>
            <a:endParaRPr lang="en-US" sz="1400" dirty="0"/>
          </a:p>
        </p:txBody>
      </p:sp>
      <p:sp>
        <p:nvSpPr>
          <p:cNvPr id="18" name="Text 16"/>
          <p:cNvSpPr/>
          <p:nvPr/>
        </p:nvSpPr>
        <p:spPr>
          <a:xfrm>
            <a:off x="4569867" y="347077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Which requirements and feature areas are still untested.</a:t>
            </a:r>
            <a:endParaRPr lang="en-US" sz="1200" dirty="0"/>
          </a:p>
        </p:txBody>
      </p:sp>
      <p:sp>
        <p:nvSpPr>
          <p:cNvPr id="19" name="Shape 17"/>
          <p:cNvSpPr/>
          <p:nvPr/>
        </p:nvSpPr>
        <p:spPr>
          <a:xfrm>
            <a:off x="7961809" y="3007866"/>
            <a:ext cx="3414216" cy="1070521"/>
          </a:xfrm>
          <a:prstGeom prst="roundRect">
            <a:avLst>
              <a:gd name="adj" fmla="val 9194"/>
            </a:avLst>
          </a:prstGeom>
          <a:solidFill>
            <a:srgbClr val="FDFEFE"/>
          </a:solidFill>
          <a:ln w="6350">
            <a:solidFill>
              <a:srgbClr val="D6E1E6"/>
            </a:solidFill>
            <a:prstDash val="solid"/>
          </a:ln>
        </p:spPr>
      </p:sp>
      <p:sp>
        <p:nvSpPr>
          <p:cNvPr id="20" name="Text 18"/>
          <p:cNvSpPr/>
          <p:nvPr/>
        </p:nvSpPr>
        <p:spPr>
          <a:xfrm>
            <a:off x="8142784" y="3188841"/>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Defect history</a:t>
            </a:r>
            <a:endParaRPr lang="en-US" sz="1400" dirty="0"/>
          </a:p>
        </p:txBody>
      </p:sp>
      <p:sp>
        <p:nvSpPr>
          <p:cNvPr id="21" name="Text 19"/>
          <p:cNvSpPr/>
          <p:nvPr/>
        </p:nvSpPr>
        <p:spPr>
          <a:xfrm>
            <a:off x="8142784" y="3470771"/>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Past bug reports, when a project has them.</a:t>
            </a:r>
            <a:endParaRPr lang="en-US" sz="1200" dirty="0"/>
          </a:p>
        </p:txBody>
      </p:sp>
      <p:sp>
        <p:nvSpPr>
          <p:cNvPr id="22" name="Shape 20"/>
          <p:cNvSpPr/>
          <p:nvPr/>
        </p:nvSpPr>
        <p:spPr>
          <a:xfrm>
            <a:off x="812800" y="4284762"/>
            <a:ext cx="10566400" cy="850850"/>
          </a:xfrm>
          <a:prstGeom prst="roundRect">
            <a:avLst>
              <a:gd name="adj" fmla="val 11941"/>
            </a:avLst>
          </a:prstGeom>
          <a:solidFill>
            <a:srgbClr val="14303D"/>
          </a:solidFill>
          <a:ln/>
        </p:spPr>
      </p:sp>
      <p:sp>
        <p:nvSpPr>
          <p:cNvPr id="23" name="Text 21"/>
          <p:cNvSpPr/>
          <p:nvPr/>
        </p:nvSpPr>
        <p:spPr>
          <a:xfrm>
            <a:off x="1016000" y="4462562"/>
            <a:ext cx="104648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6F5"/>
                </a:solidFill>
                <a:latin typeface="IBM Plex Sans" pitchFamily="34" charset="0"/>
                <a:ea typeface="IBM Plex Sans" pitchFamily="34" charset="-122"/>
                <a:cs typeface="IBM Plex Sans" pitchFamily="34" charset="-120"/>
              </a:rPr>
              <a:t>Bounded context, so long campaigns stay cheap</a:t>
            </a:r>
            <a:endParaRPr lang="en-US" sz="1400" dirty="0"/>
          </a:p>
        </p:txBody>
      </p:sp>
      <p:sp>
        <p:nvSpPr>
          <p:cNvPr id="24" name="Text 22"/>
          <p:cNvSpPr/>
          <p:nvPr/>
        </p:nvSpPr>
        <p:spPr>
          <a:xfrm>
            <a:off x="1016000" y="4744492"/>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A"/>
                </a:solidFill>
                <a:latin typeface="IBM Plex Sans" pitchFamily="34" charset="0"/>
                <a:ea typeface="IBM Plex Sans" pitchFamily="34" charset="-122"/>
                <a:cs typeface="IBM Plex Sans" pitchFamily="34" charset="-120"/>
              </a:rPr>
              <a:t>The block summarising earlier runs was 35,233 characters, 69% of one prompt. Stored as findings instead of prose, it is now about 2,000.</a:t>
            </a:r>
            <a:endParaRPr lang="en-US" sz="1200" dirty="0"/>
          </a:p>
        </p:txBody>
      </p:sp>
      <p:sp>
        <p:nvSpPr>
          <p:cNvPr id="25" name="Text 2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6" name="Text 2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1">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508000"/>
            <a:ext cx="10883392" cy="231279"/>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0B6A8F"/>
                </a:solidFill>
                <a:latin typeface="IBM Plex Sans" pitchFamily="34" charset="0"/>
                <a:ea typeface="IBM Plex Sans" pitchFamily="34" charset="-122"/>
                <a:cs typeface="IBM Plex Sans" pitchFamily="34" charset="-120"/>
              </a:rPr>
              <a:t>PLANNER · WHERE IT ALL LIVES</a:t>
            </a:r>
            <a:endParaRPr lang="en-US" sz="1159" dirty="0"/>
          </a:p>
        </p:txBody>
      </p:sp>
      <p:sp>
        <p:nvSpPr>
          <p:cNvPr id="3" name="Text 1"/>
          <p:cNvSpPr/>
          <p:nvPr/>
        </p:nvSpPr>
        <p:spPr>
          <a:xfrm>
            <a:off x="812800" y="790079"/>
            <a:ext cx="10883392" cy="429816"/>
          </a:xfrm>
          <a:prstGeom prst="rect">
            <a:avLst/>
          </a:prstGeom>
          <a:noFill/>
          <a:ln/>
        </p:spPr>
        <p:txBody>
          <a:bodyPr wrap="square" lIns="0" tIns="0" rIns="0" bIns="0" rtlCol="0" anchor="t">
            <a:normAutofit/>
          </a:bodyPr>
          <a:lstStyle/>
          <a:p>
            <a:pPr algn="l" indent="0" marL="0">
              <a:lnSpc>
                <a:spcPts val="3218"/>
              </a:lnSpc>
              <a:buNone/>
            </a:pPr>
            <a:r>
              <a:rPr lang="en-US" sz="2925" b="1" dirty="0">
                <a:solidFill>
                  <a:srgbClr val="14303D"/>
                </a:solidFill>
                <a:latin typeface="Source Serif 4" pitchFamily="34" charset="0"/>
                <a:ea typeface="Source Serif 4" pitchFamily="34" charset="-122"/>
                <a:cs typeface="Source Serif 4" pitchFamily="34" charset="-120"/>
              </a:rPr>
              <a:t>What the knowledge graph stores</a:t>
            </a:r>
            <a:endParaRPr lang="en-US" sz="2925" dirty="0"/>
          </a:p>
        </p:txBody>
      </p:sp>
      <p:sp>
        <p:nvSpPr>
          <p:cNvPr id="4" name="Shape 2"/>
          <p:cNvSpPr/>
          <p:nvPr/>
        </p:nvSpPr>
        <p:spPr>
          <a:xfrm>
            <a:off x="812800" y="1346895"/>
            <a:ext cx="10566400" cy="4183410"/>
          </a:xfrm>
          <a:prstGeom prst="roundRect">
            <a:avLst>
              <a:gd name="adj" fmla="val 2429"/>
            </a:avLst>
          </a:prstGeom>
          <a:solidFill>
            <a:srgbClr val="FDFEFE"/>
          </a:solidFill>
          <a:ln/>
        </p:spPr>
      </p:sp>
      <p:pic>
        <p:nvPicPr>
          <p:cNvPr id="5" name="Image 0" descr="Neo4j schema. Specification side: SRS has chunks; each Requirement is derived from a chunk, has validation rules and involves entities. Tests: a TestCase covers requirements and a feature area and has runs; an ExecutionLog points to its test case and stores the ordered path of screens. App model: UIState transitions to UIState, and navigation-tree nodes lead to screens. A Finding is found by an execution log, is about a screen, concerns a requirement, and can be generalised by another finding.">    </p:cNvPr>
          <p:cNvPicPr>
            <a:picLocks noChangeAspect="1"/>
          </p:cNvPicPr>
          <p:nvPr/>
        </p:nvPicPr>
        <p:blipFill>
          <a:blip r:embed="rId1"/>
          <a:stretch>
            <a:fillRect/>
          </a:stretch>
        </p:blipFill>
        <p:spPr>
          <a:xfrm>
            <a:off x="1330082" y="1353245"/>
            <a:ext cx="9531836" cy="4170710"/>
          </a:xfrm>
          <a:prstGeom prst="rect">
            <a:avLst/>
          </a:prstGeom>
        </p:spPr>
      </p:pic>
      <p:sp>
        <p:nvSpPr>
          <p:cNvPr id="6" name="Shape 3"/>
          <p:cNvSpPr/>
          <p:nvPr/>
        </p:nvSpPr>
        <p:spPr>
          <a:xfrm>
            <a:off x="815975" y="1350070"/>
            <a:ext cx="10560050" cy="4177060"/>
          </a:xfrm>
          <a:prstGeom prst="roundRect">
            <a:avLst>
              <a:gd name="adj" fmla="val 2356"/>
            </a:avLst>
          </a:prstGeom>
          <a:noFill/>
          <a:ln w="6350">
            <a:solidFill>
              <a:srgbClr val="D6E1E6"/>
            </a:solidFill>
            <a:prstDash val="solid"/>
          </a:ln>
        </p:spPr>
      </p:sp>
      <p:sp>
        <p:nvSpPr>
          <p:cNvPr id="7" name="Text 4"/>
          <p:cNvSpPr/>
          <p:nvPr/>
        </p:nvSpPr>
        <p:spPr>
          <a:xfrm>
            <a:off x="812800" y="5682704"/>
            <a:ext cx="10883392" cy="438696"/>
          </a:xfrm>
          <a:prstGeom prst="rect">
            <a:avLst/>
          </a:prstGeom>
          <a:noFill/>
          <a:ln/>
        </p:spPr>
        <p:txBody>
          <a:bodyPr wrap="square" lIns="0" tIns="0" rIns="0" bIns="0" rtlCol="0" anchor="t">
            <a:normAutofit/>
          </a:bodyPr>
          <a:lstStyle/>
          <a:p>
            <a:pPr algn="l" indent="0" marL="0">
              <a:lnSpc>
                <a:spcPts val="1633"/>
              </a:lnSpc>
              <a:buNone/>
            </a:pPr>
            <a:r>
              <a:rPr lang="en-US" sz="1166" dirty="0">
                <a:solidFill>
                  <a:srgbClr val="46596A"/>
                </a:solidFill>
                <a:latin typeface="IBM Plex Sans" pitchFamily="34" charset="0"/>
                <a:ea typeface="IBM Plex Sans" pitchFamily="34" charset="-122"/>
                <a:cs typeface="IBM Plex Sans" pitchFamily="34" charset="-120"/>
              </a:rPr>
              <a:t>Orange: from the specification · Purple: tests and runs · Blue: the app model · Red: findings · Dashed: stored as a property, not a relationship. Every node belongs to one project.</a:t>
            </a:r>
            <a:endParaRPr lang="en-US" sz="1166" dirty="0"/>
          </a:p>
        </p:txBody>
      </p:sp>
      <p:sp>
        <p:nvSpPr>
          <p:cNvPr id="8" name="Text 5"/>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9" name="Text 6"/>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PIPELINE MODE · A LANGGRAPH STATE MACHINE</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planner asks what it still needs</a:t>
            </a:r>
            <a:endParaRPr lang="en-US" sz="3000" dirty="0"/>
          </a:p>
        </p:txBody>
      </p:sp>
      <p:sp>
        <p:nvSpPr>
          <p:cNvPr id="4" name="Shape 2"/>
          <p:cNvSpPr/>
          <p:nvPr/>
        </p:nvSpPr>
        <p:spPr>
          <a:xfrm>
            <a:off x="815975" y="1908175"/>
            <a:ext cx="1898650" cy="1835150"/>
          </a:xfrm>
          <a:prstGeom prst="roundRect">
            <a:avLst>
              <a:gd name="adj" fmla="val 5363"/>
            </a:avLst>
          </a:prstGeom>
          <a:solidFill>
            <a:srgbClr val="FDFEFE"/>
          </a:solidFill>
          <a:ln w="6350">
            <a:solidFill>
              <a:srgbClr val="D6E1E6"/>
            </a:solidFill>
            <a:prstDash val="solid"/>
          </a:ln>
        </p:spPr>
      </p:sp>
      <p:sp>
        <p:nvSpPr>
          <p:cNvPr id="5" name="Text 3"/>
          <p:cNvSpPr/>
          <p:nvPr/>
        </p:nvSpPr>
        <p:spPr>
          <a:xfrm>
            <a:off x="971550" y="2063750"/>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bootstrap_context</a:t>
            </a:r>
            <a:endParaRPr lang="en-US" sz="1200" dirty="0"/>
          </a:p>
        </p:txBody>
      </p:sp>
      <p:sp>
        <p:nvSpPr>
          <p:cNvPr id="6" name="Text 4"/>
          <p:cNvSpPr/>
          <p:nvPr/>
        </p:nvSpPr>
        <p:spPr>
          <a:xfrm>
            <a:off x="971550" y="2327870"/>
            <a:ext cx="1638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loads coverage, tests and findings</a:t>
            </a:r>
            <a:endParaRPr lang="en-US" sz="1200" dirty="0"/>
          </a:p>
        </p:txBody>
      </p:sp>
      <p:sp>
        <p:nvSpPr>
          <p:cNvPr id="7" name="Text 5"/>
          <p:cNvSpPr/>
          <p:nvPr/>
        </p:nvSpPr>
        <p:spPr>
          <a:xfrm>
            <a:off x="971550" y="3323630"/>
            <a:ext cx="1068338" cy="264120"/>
          </a:xfrm>
          <a:prstGeom prst="roundRect">
            <a:avLst>
              <a:gd name="adj" fmla="val 19234"/>
            </a:avLst>
          </a:prstGeom>
          <a:solidFill>
            <a:srgbClr val="EDF2F4"/>
          </a:solidFill>
          <a:ln/>
        </p:spPr>
        <p:txBody>
          <a:bodyPr wrap="none" lIns="0" tIns="0" rIns="0" bIns="0" rtlCol="0" anchor="ctr">
            <a:normAutofit/>
          </a:bodyPr>
          <a:lstStyle/>
          <a:p>
            <a:pPr algn="ctr"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no model call</a:t>
            </a:r>
            <a:endParaRPr lang="en-US" sz="1200" dirty="0"/>
          </a:p>
        </p:txBody>
      </p:sp>
      <p:sp>
        <p:nvSpPr>
          <p:cNvPr id="8" name="Shape 6"/>
          <p:cNvSpPr/>
          <p:nvPr/>
        </p:nvSpPr>
        <p:spPr>
          <a:xfrm>
            <a:off x="3327400" y="1911350"/>
            <a:ext cx="3035300" cy="1828800"/>
          </a:xfrm>
          <a:prstGeom prst="roundRect">
            <a:avLst>
              <a:gd name="adj" fmla="val 5208"/>
            </a:avLst>
          </a:prstGeom>
          <a:solidFill>
            <a:srgbClr val="EDF2F4"/>
          </a:solidFill>
          <a:ln w="12700">
            <a:solidFill>
              <a:srgbClr val="0F7EA8"/>
            </a:solidFill>
            <a:prstDash val="dash"/>
          </a:ln>
        </p:spPr>
      </p:sp>
      <p:sp>
        <p:nvSpPr>
          <p:cNvPr id="9" name="Shape 7"/>
          <p:cNvSpPr/>
          <p:nvPr/>
        </p:nvSpPr>
        <p:spPr>
          <a:xfrm>
            <a:off x="3448050" y="2032000"/>
            <a:ext cx="2794000" cy="468660"/>
          </a:xfrm>
          <a:prstGeom prst="roundRect">
            <a:avLst>
              <a:gd name="adj" fmla="val 13549"/>
            </a:avLst>
          </a:prstGeom>
          <a:solidFill>
            <a:srgbClr val="FDFEFE"/>
          </a:solidFill>
          <a:ln/>
        </p:spPr>
      </p:sp>
      <p:sp>
        <p:nvSpPr>
          <p:cNvPr id="10" name="Text 8"/>
          <p:cNvSpPr/>
          <p:nvPr/>
        </p:nvSpPr>
        <p:spPr>
          <a:xfrm>
            <a:off x="3549650" y="2095500"/>
            <a:ext cx="2668524" cy="189905"/>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14303D"/>
                </a:solidFill>
                <a:latin typeface="IBM Plex Mono" pitchFamily="34" charset="0"/>
                <a:ea typeface="IBM Plex Mono" pitchFamily="34" charset="-122"/>
                <a:cs typeface="IBM Plex Mono" pitchFamily="34" charset="-120"/>
              </a:rPr>
              <a:t>planner_step</a:t>
            </a:r>
            <a:endParaRPr lang="en-US" sz="945" dirty="0"/>
          </a:p>
        </p:txBody>
      </p:sp>
      <p:sp>
        <p:nvSpPr>
          <p:cNvPr id="11" name="Text 9"/>
          <p:cNvSpPr/>
          <p:nvPr/>
        </p:nvSpPr>
        <p:spPr>
          <a:xfrm>
            <a:off x="3549650" y="2272705"/>
            <a:ext cx="2668524" cy="189855"/>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46596A"/>
                </a:solidFill>
                <a:latin typeface="IBM Plex Sans" pitchFamily="34" charset="0"/>
                <a:ea typeface="IBM Plex Sans" pitchFamily="34" charset="-122"/>
                <a:cs typeface="IBM Plex Sans" pitchFamily="34" charset="-120"/>
              </a:rPr>
              <a:t>model: “what do I still need?”</a:t>
            </a:r>
            <a:endParaRPr lang="en-US" sz="945" dirty="0"/>
          </a:p>
        </p:txBody>
      </p:sp>
      <p:sp>
        <p:nvSpPr>
          <p:cNvPr id="12" name="Shape 10"/>
          <p:cNvSpPr/>
          <p:nvPr/>
        </p:nvSpPr>
        <p:spPr>
          <a:xfrm>
            <a:off x="3448050" y="2576860"/>
            <a:ext cx="2794000" cy="634603"/>
          </a:xfrm>
          <a:prstGeom prst="roundRect">
            <a:avLst>
              <a:gd name="adj" fmla="val 10006"/>
            </a:avLst>
          </a:prstGeom>
          <a:solidFill>
            <a:srgbClr val="FDFEFE"/>
          </a:solidFill>
          <a:ln/>
        </p:spPr>
      </p:sp>
      <p:sp>
        <p:nvSpPr>
          <p:cNvPr id="13" name="Text 11"/>
          <p:cNvSpPr/>
          <p:nvPr/>
        </p:nvSpPr>
        <p:spPr>
          <a:xfrm>
            <a:off x="3549650" y="2640360"/>
            <a:ext cx="2668524" cy="190351"/>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14303D"/>
                </a:solidFill>
                <a:latin typeface="IBM Plex Mono" pitchFamily="34" charset="0"/>
                <a:ea typeface="IBM Plex Mono" pitchFamily="34" charset="-122"/>
                <a:cs typeface="IBM Plex Mono" pitchFamily="34" charset="-120"/>
              </a:rPr>
              <a:t>execute_retrieval</a:t>
            </a:r>
            <a:endParaRPr lang="en-US" sz="945" dirty="0"/>
          </a:p>
        </p:txBody>
      </p:sp>
      <p:sp>
        <p:nvSpPr>
          <p:cNvPr id="14" name="Text 12"/>
          <p:cNvSpPr/>
          <p:nvPr/>
        </p:nvSpPr>
        <p:spPr>
          <a:xfrm>
            <a:off x="3549650" y="2818011"/>
            <a:ext cx="2668524" cy="355352"/>
          </a:xfrm>
          <a:prstGeom prst="rect">
            <a:avLst/>
          </a:prstGeom>
          <a:noFill/>
          <a:ln/>
        </p:spPr>
        <p:txBody>
          <a:bodyPr wrap="square" lIns="0" tIns="0" rIns="0" bIns="0" rtlCol="0" anchor="t">
            <a:normAutofit/>
          </a:bodyPr>
          <a:lstStyle/>
          <a:p>
            <a:pPr algn="l" indent="0" marL="0">
              <a:lnSpc>
                <a:spcPts val="1475"/>
              </a:lnSpc>
              <a:buNone/>
            </a:pPr>
            <a:r>
              <a:rPr lang="en-US" sz="1054" dirty="0">
                <a:solidFill>
                  <a:srgbClr val="46596A"/>
                </a:solidFill>
                <a:latin typeface="IBM Plex Sans" pitchFamily="34" charset="0"/>
                <a:ea typeface="IBM Plex Sans" pitchFamily="34" charset="-122"/>
                <a:cs typeface="IBM Plex Sans" pitchFamily="34" charset="-120"/>
              </a:rPr>
              <a:t>runs its tools: spec, screens, paths, defects</a:t>
            </a:r>
            <a:endParaRPr lang="en-US" sz="1054" dirty="0"/>
          </a:p>
        </p:txBody>
      </p:sp>
      <p:sp>
        <p:nvSpPr>
          <p:cNvPr id="15" name="Text 13"/>
          <p:cNvSpPr/>
          <p:nvPr/>
        </p:nvSpPr>
        <p:spPr>
          <a:xfrm>
            <a:off x="3448050" y="3287663"/>
            <a:ext cx="2877820" cy="357237"/>
          </a:xfrm>
          <a:prstGeom prst="rect">
            <a:avLst/>
          </a:prstGeom>
          <a:noFill/>
          <a:ln/>
        </p:spPr>
        <p:txBody>
          <a:bodyPr wrap="square" lIns="0" tIns="0" rIns="0" bIns="0" rtlCol="0" anchor="t">
            <a:normAutofit/>
          </a:bodyPr>
          <a:lstStyle/>
          <a:p>
            <a:pPr algn="l" indent="0" marL="0">
              <a:lnSpc>
                <a:spcPts val="1412"/>
              </a:lnSpc>
              <a:buNone/>
            </a:pPr>
            <a:r>
              <a:rPr lang="en-US" sz="1009" b="1" dirty="0">
                <a:solidFill>
                  <a:srgbClr val="0B6A8F"/>
                </a:solidFill>
                <a:latin typeface="IBM Plex Sans" pitchFamily="34" charset="0"/>
                <a:ea typeface="IBM Plex Sans" pitchFamily="34" charset="-122"/>
                <a:cs typeface="IBM Plex Sans" pitchFamily="34" charset="-120"/>
              </a:rPr>
              <a:t>repeats until ready · 2 rounds in our campaigns</a:t>
            </a:r>
            <a:endParaRPr lang="en-US" sz="1009" dirty="0"/>
          </a:p>
        </p:txBody>
      </p:sp>
      <p:sp>
        <p:nvSpPr>
          <p:cNvPr id="16" name="Shape 14"/>
          <p:cNvSpPr/>
          <p:nvPr/>
        </p:nvSpPr>
        <p:spPr>
          <a:xfrm>
            <a:off x="6975475" y="1908175"/>
            <a:ext cx="1898650" cy="1835150"/>
          </a:xfrm>
          <a:prstGeom prst="roundRect">
            <a:avLst>
              <a:gd name="adj" fmla="val 5363"/>
            </a:avLst>
          </a:prstGeom>
          <a:solidFill>
            <a:srgbClr val="FDFEFE"/>
          </a:solidFill>
          <a:ln w="6350">
            <a:solidFill>
              <a:srgbClr val="D6E1E6"/>
            </a:solidFill>
            <a:prstDash val="solid"/>
          </a:ln>
        </p:spPr>
      </p:sp>
      <p:sp>
        <p:nvSpPr>
          <p:cNvPr id="17" name="Text 15"/>
          <p:cNvSpPr/>
          <p:nvPr/>
        </p:nvSpPr>
        <p:spPr>
          <a:xfrm>
            <a:off x="7131050" y="2063750"/>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generate_testcase</a:t>
            </a:r>
            <a:endParaRPr lang="en-US" sz="1200" dirty="0"/>
          </a:p>
        </p:txBody>
      </p:sp>
      <p:sp>
        <p:nvSpPr>
          <p:cNvPr id="18" name="Text 16"/>
          <p:cNvSpPr/>
          <p:nvPr/>
        </p:nvSpPr>
        <p:spPr>
          <a:xfrm>
            <a:off x="7131050" y="2327870"/>
            <a:ext cx="1638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writes the test as structured JSON</a:t>
            </a:r>
            <a:endParaRPr lang="en-US" sz="1200" dirty="0"/>
          </a:p>
        </p:txBody>
      </p:sp>
      <p:sp>
        <p:nvSpPr>
          <p:cNvPr id="19" name="Text 17"/>
          <p:cNvSpPr/>
          <p:nvPr/>
        </p:nvSpPr>
        <p:spPr>
          <a:xfrm>
            <a:off x="7131050" y="3323630"/>
            <a:ext cx="1362323" cy="264120"/>
          </a:xfrm>
          <a:prstGeom prst="roundRect">
            <a:avLst>
              <a:gd name="adj" fmla="val 19234"/>
            </a:avLst>
          </a:prstGeom>
          <a:solidFill>
            <a:srgbClr val="E4F2F8"/>
          </a:solidFill>
          <a:ln/>
        </p:spPr>
        <p:txBody>
          <a:bodyPr wrap="none" lIns="0" tIns="0" rIns="0" bIns="0" rtlCol="0" anchor="ctr">
            <a:normAutofit/>
          </a:bodyPr>
          <a:lstStyle/>
          <a:p>
            <a:pPr algn="ct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1 large model call</a:t>
            </a:r>
            <a:endParaRPr lang="en-US" sz="1200" dirty="0"/>
          </a:p>
        </p:txBody>
      </p:sp>
      <p:sp>
        <p:nvSpPr>
          <p:cNvPr id="20" name="Shape 18"/>
          <p:cNvSpPr/>
          <p:nvPr/>
        </p:nvSpPr>
        <p:spPr>
          <a:xfrm>
            <a:off x="9483725" y="1908175"/>
            <a:ext cx="1892300" cy="1835150"/>
          </a:xfrm>
          <a:prstGeom prst="roundRect">
            <a:avLst>
              <a:gd name="adj" fmla="val 5363"/>
            </a:avLst>
          </a:prstGeom>
          <a:solidFill>
            <a:srgbClr val="FDFEFE"/>
          </a:solidFill>
          <a:ln w="6350">
            <a:solidFill>
              <a:srgbClr val="D6E1E6"/>
            </a:solidFill>
            <a:prstDash val="solid"/>
          </a:ln>
        </p:spPr>
      </p:sp>
      <p:sp>
        <p:nvSpPr>
          <p:cNvPr id="21" name="Text 19"/>
          <p:cNvSpPr/>
          <p:nvPr/>
        </p:nvSpPr>
        <p:spPr>
          <a:xfrm>
            <a:off x="9639300" y="2063750"/>
            <a:ext cx="16319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duplicate_check</a:t>
            </a:r>
            <a:endParaRPr lang="en-US" sz="1200" dirty="0"/>
          </a:p>
        </p:txBody>
      </p:sp>
      <p:sp>
        <p:nvSpPr>
          <p:cNvPr id="22" name="Text 20"/>
          <p:cNvSpPr/>
          <p:nvPr/>
        </p:nvSpPr>
        <p:spPr>
          <a:xfrm>
            <a:off x="9639300" y="2327870"/>
            <a:ext cx="16319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rejects near-duplicates by title and meaning</a:t>
            </a:r>
            <a:endParaRPr lang="en-US" sz="1200" dirty="0"/>
          </a:p>
        </p:txBody>
      </p:sp>
      <p:sp>
        <p:nvSpPr>
          <p:cNvPr id="23" name="Text 21"/>
          <p:cNvSpPr/>
          <p:nvPr/>
        </p:nvSpPr>
        <p:spPr>
          <a:xfrm>
            <a:off x="9639300" y="3323630"/>
            <a:ext cx="1333054" cy="264120"/>
          </a:xfrm>
          <a:prstGeom prst="roundRect">
            <a:avLst>
              <a:gd name="adj" fmla="val 19234"/>
            </a:avLst>
          </a:prstGeom>
          <a:solidFill>
            <a:srgbClr val="FBEDE6"/>
          </a:solidFill>
          <a:ln/>
        </p:spPr>
        <p:txBody>
          <a:bodyPr wrap="none" lIns="0" tIns="0" rIns="0" bIns="0" rtlCol="0" anchor="ctr">
            <a:normAutofit/>
          </a:bodyPr>
          <a:lstStyle/>
          <a:p>
            <a:pPr algn="ctr" indent="0" marL="0">
              <a:lnSpc>
                <a:spcPts val="1680"/>
              </a:lnSpc>
              <a:buNone/>
            </a:pPr>
            <a:r>
              <a:rPr lang="en-US" sz="1200" dirty="0">
                <a:solidFill>
                  <a:srgbClr val="A9502C"/>
                </a:solidFill>
                <a:latin typeface="IBM Plex Sans" pitchFamily="34" charset="0"/>
                <a:ea typeface="IBM Plex Sans" pitchFamily="34" charset="-122"/>
                <a:cs typeface="IBM Plex Sans" pitchFamily="34" charset="-120"/>
              </a:rPr>
              <a:t>+1 call if rejected</a:t>
            </a:r>
            <a:endParaRPr lang="en-US" sz="1200" dirty="0"/>
          </a:p>
        </p:txBody>
      </p:sp>
      <p:pic>
        <p:nvPicPr>
          <p:cNvPr id="24" name="Image 0" descr="connector">    </p:cNvPr>
          <p:cNvPicPr>
            <a:picLocks noChangeAspect="1"/>
          </p:cNvPicPr>
          <p:nvPr/>
        </p:nvPicPr>
        <p:blipFill>
          <a:blip r:embed="rId1"/>
          <a:srcRect l="0" r="0" t="0" b="0"/>
          <a:stretch/>
        </p:blipFill>
        <p:spPr>
          <a:xfrm>
            <a:off x="2679700" y="2774950"/>
            <a:ext cx="679450" cy="101600"/>
          </a:xfrm>
          <a:prstGeom prst="rect">
            <a:avLst/>
          </a:prstGeom>
        </p:spPr>
      </p:pic>
      <p:pic>
        <p:nvPicPr>
          <p:cNvPr id="25" name="Image 1" descr="connector">    </p:cNvPr>
          <p:cNvPicPr>
            <a:picLocks noChangeAspect="1"/>
          </p:cNvPicPr>
          <p:nvPr/>
        </p:nvPicPr>
        <p:blipFill>
          <a:blip r:embed="rId2"/>
          <a:srcRect l="0" r="0" t="0" b="0"/>
          <a:stretch/>
        </p:blipFill>
        <p:spPr>
          <a:xfrm>
            <a:off x="6330950" y="2774950"/>
            <a:ext cx="679450" cy="101600"/>
          </a:xfrm>
          <a:prstGeom prst="rect">
            <a:avLst/>
          </a:prstGeom>
        </p:spPr>
      </p:pic>
      <p:pic>
        <p:nvPicPr>
          <p:cNvPr id="26" name="Image 2" descr="connector">    </p:cNvPr>
          <p:cNvPicPr>
            <a:picLocks noChangeAspect="1"/>
          </p:cNvPicPr>
          <p:nvPr/>
        </p:nvPicPr>
        <p:blipFill>
          <a:blip r:embed="rId3"/>
          <a:srcRect l="0" r="0" t="0" b="0"/>
          <a:stretch/>
        </p:blipFill>
        <p:spPr>
          <a:xfrm>
            <a:off x="8839200" y="2774950"/>
            <a:ext cx="679450" cy="101600"/>
          </a:xfrm>
          <a:prstGeom prst="rect">
            <a:avLst/>
          </a:prstGeom>
        </p:spPr>
      </p:pic>
      <p:sp>
        <p:nvSpPr>
          <p:cNvPr id="27" name="Shape 22"/>
          <p:cNvSpPr/>
          <p:nvPr/>
        </p:nvSpPr>
        <p:spPr>
          <a:xfrm>
            <a:off x="815975" y="4067175"/>
            <a:ext cx="5149850" cy="1309241"/>
          </a:xfrm>
          <a:prstGeom prst="roundRect">
            <a:avLst>
              <a:gd name="adj" fmla="val 7518"/>
            </a:avLst>
          </a:prstGeom>
          <a:solidFill>
            <a:srgbClr val="FDFEFE"/>
          </a:solidFill>
          <a:ln w="6350">
            <a:solidFill>
              <a:srgbClr val="D6E1E6"/>
            </a:solidFill>
            <a:prstDash val="solid"/>
          </a:ln>
        </p:spPr>
      </p:sp>
      <p:sp>
        <p:nvSpPr>
          <p:cNvPr id="28" name="Text 23"/>
          <p:cNvSpPr/>
          <p:nvPr/>
        </p:nvSpPr>
        <p:spPr>
          <a:xfrm>
            <a:off x="996950" y="4248150"/>
            <a:ext cx="493153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Its tools: four sources it can look things up in</a:t>
            </a:r>
            <a:endParaRPr lang="en-US" sz="1400" dirty="0"/>
          </a:p>
        </p:txBody>
      </p:sp>
      <p:sp>
        <p:nvSpPr>
          <p:cNvPr id="29" name="Text 24"/>
          <p:cNvSpPr/>
          <p:nvPr/>
        </p:nvSpPr>
        <p:spPr>
          <a:xfrm>
            <a:off x="996950" y="4555480"/>
            <a:ext cx="493153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round the model picks up to three lookups: search the specification, pull up a screen already seen, find a path to a screen, or check past defects there.</a:t>
            </a:r>
            <a:endParaRPr lang="en-US" sz="1200" dirty="0"/>
          </a:p>
        </p:txBody>
      </p:sp>
      <p:sp>
        <p:nvSpPr>
          <p:cNvPr id="30" name="Shape 25"/>
          <p:cNvSpPr/>
          <p:nvPr/>
        </p:nvSpPr>
        <p:spPr>
          <a:xfrm>
            <a:off x="6226175" y="4067175"/>
            <a:ext cx="5149850" cy="1095921"/>
          </a:xfrm>
          <a:prstGeom prst="roundRect">
            <a:avLst>
              <a:gd name="adj" fmla="val 8981"/>
            </a:avLst>
          </a:prstGeom>
          <a:solidFill>
            <a:srgbClr val="FDFEFE"/>
          </a:solidFill>
          <a:ln w="6350">
            <a:solidFill>
              <a:srgbClr val="D6E1E6"/>
            </a:solidFill>
            <a:prstDash val="solid"/>
          </a:ln>
        </p:spPr>
      </p:sp>
      <p:sp>
        <p:nvSpPr>
          <p:cNvPr id="31" name="Text 26"/>
          <p:cNvSpPr/>
          <p:nvPr/>
        </p:nvSpPr>
        <p:spPr>
          <a:xfrm>
            <a:off x="6407150" y="4248150"/>
            <a:ext cx="493153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When it stops looking</a:t>
            </a:r>
            <a:endParaRPr lang="en-US" sz="1400" dirty="0"/>
          </a:p>
        </p:txBody>
      </p:sp>
      <p:sp>
        <p:nvSpPr>
          <p:cNvPr id="32" name="Text 27"/>
          <p:cNvSpPr/>
          <p:nvPr/>
        </p:nvSpPr>
        <p:spPr>
          <a:xfrm>
            <a:off x="6407150" y="4555480"/>
            <a:ext cx="49315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When the model says it is ready, after 2 rounds, when the context passes 9,000 characters, or when a retrieval returns nothing new.</a:t>
            </a:r>
            <a:endParaRPr lang="en-US" sz="1200" dirty="0"/>
          </a:p>
        </p:txBody>
      </p:sp>
      <p:sp>
        <p:nvSpPr>
          <p:cNvPr id="33" name="Text 28"/>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4" name="Text 2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3">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IN DETAIL</a:t>
            </a:r>
            <a:endParaRPr lang="en-US" sz="1200" dirty="0"/>
          </a:p>
        </p:txBody>
      </p:sp>
      <p:sp>
        <p:nvSpPr>
          <p:cNvPr id="3" name="Text 1"/>
          <p:cNvSpPr/>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full planning pipeline</a:t>
            </a:r>
            <a:endParaRPr lang="en-US" sz="3000" dirty="0"/>
          </a:p>
        </p:txBody>
      </p:sp>
      <p:sp>
        <p:nvSpPr>
          <p:cNvPr id="4" name="Shape 2"/>
          <p:cNvSpPr/>
          <p:nvPr/>
        </p:nvSpPr>
        <p:spPr>
          <a:xfrm>
            <a:off x="819150" y="1730970"/>
            <a:ext cx="2019300" cy="1257300"/>
          </a:xfrm>
          <a:prstGeom prst="roundRect">
            <a:avLst>
              <a:gd name="adj" fmla="val 6566"/>
            </a:avLst>
          </a:prstGeom>
          <a:solidFill>
            <a:srgbClr val="D3F9D8"/>
          </a:solidFill>
          <a:ln w="12700">
            <a:solidFill>
              <a:srgbClr val="2F9E44"/>
            </a:solidFill>
            <a:prstDash val="solid"/>
          </a:ln>
        </p:spPr>
      </p:sp>
      <p:sp>
        <p:nvSpPr>
          <p:cNvPr id="5" name="Text 3"/>
          <p:cNvSpPr/>
          <p:nvPr/>
        </p:nvSpPr>
        <p:spPr>
          <a:xfrm>
            <a:off x="977900" y="1877020"/>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5E27"/>
                </a:solidFill>
                <a:latin typeface="IBM Plex Mono" pitchFamily="34" charset="0"/>
                <a:ea typeface="IBM Plex Mono" pitchFamily="34" charset="-122"/>
                <a:cs typeface="IBM Plex Mono" pitchFamily="34" charset="-120"/>
              </a:rPr>
              <a:t>bootstrap_context</a:t>
            </a:r>
            <a:endParaRPr lang="en-US" sz="1200" dirty="0"/>
          </a:p>
        </p:txBody>
      </p:sp>
      <p:sp>
        <p:nvSpPr>
          <p:cNvPr id="6" name="Text 4"/>
          <p:cNvSpPr/>
          <p:nvPr/>
        </p:nvSpPr>
        <p:spPr>
          <a:xfrm>
            <a:off x="977900" y="2128441"/>
            <a:ext cx="175285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5E27"/>
                </a:solidFill>
                <a:latin typeface="IBM Plex Sans" pitchFamily="34" charset="0"/>
                <a:ea typeface="IBM Plex Sans" pitchFamily="34" charset="-122"/>
                <a:cs typeface="IBM Plex Sans" pitchFamily="34" charset="-120"/>
              </a:rPr>
              <a:t>1 · loads coverage, tests and findings · no model call</a:t>
            </a:r>
            <a:endParaRPr lang="en-US" sz="1200" dirty="0"/>
          </a:p>
        </p:txBody>
      </p:sp>
      <p:sp>
        <p:nvSpPr>
          <p:cNvPr id="7" name="Shape 5"/>
          <p:cNvSpPr/>
          <p:nvPr/>
        </p:nvSpPr>
        <p:spPr>
          <a:xfrm>
            <a:off x="3359150" y="1730970"/>
            <a:ext cx="2400300" cy="1257300"/>
          </a:xfrm>
          <a:prstGeom prst="roundRect">
            <a:avLst>
              <a:gd name="adj" fmla="val 6566"/>
            </a:avLst>
          </a:prstGeom>
          <a:solidFill>
            <a:srgbClr val="FFE3E3"/>
          </a:solidFill>
          <a:ln w="12700">
            <a:solidFill>
              <a:srgbClr val="E03131"/>
            </a:solidFill>
            <a:prstDash val="solid"/>
          </a:ln>
        </p:spPr>
      </p:sp>
      <p:sp>
        <p:nvSpPr>
          <p:cNvPr id="8" name="Text 6"/>
          <p:cNvSpPr/>
          <p:nvPr/>
        </p:nvSpPr>
        <p:spPr>
          <a:xfrm>
            <a:off x="3517900" y="1877020"/>
            <a:ext cx="2145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1A1A"/>
                </a:solidFill>
                <a:latin typeface="IBM Plex Mono" pitchFamily="34" charset="0"/>
                <a:ea typeface="IBM Plex Mono" pitchFamily="34" charset="-122"/>
                <a:cs typeface="IBM Plex Mono" pitchFamily="34" charset="-120"/>
              </a:rPr>
              <a:t>planner_step</a:t>
            </a:r>
            <a:endParaRPr lang="en-US" sz="1200" dirty="0"/>
          </a:p>
        </p:txBody>
      </p:sp>
      <p:sp>
        <p:nvSpPr>
          <p:cNvPr id="9" name="Text 7"/>
          <p:cNvSpPr/>
          <p:nvPr/>
        </p:nvSpPr>
        <p:spPr>
          <a:xfrm>
            <a:off x="3517900" y="2128441"/>
            <a:ext cx="214528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B1A1A"/>
                </a:solidFill>
                <a:latin typeface="IBM Plex Sans" pitchFamily="34" charset="0"/>
                <a:ea typeface="IBM Plex Sans" pitchFamily="34" charset="-122"/>
                <a:cs typeface="IBM Plex Sans" pitchFamily="34" charset="-120"/>
              </a:rPr>
              <a:t>2 · small model call: “what do I still need?” Picks up to 3 lookups.</a:t>
            </a:r>
            <a:endParaRPr lang="en-US" sz="1200" dirty="0"/>
          </a:p>
        </p:txBody>
      </p:sp>
      <p:sp>
        <p:nvSpPr>
          <p:cNvPr id="10" name="Shape 8"/>
          <p:cNvSpPr/>
          <p:nvPr/>
        </p:nvSpPr>
        <p:spPr>
          <a:xfrm>
            <a:off x="6280150" y="1730970"/>
            <a:ext cx="1892300" cy="1257300"/>
          </a:xfrm>
          <a:prstGeom prst="roundRect">
            <a:avLst>
              <a:gd name="adj" fmla="val 6566"/>
            </a:avLst>
          </a:prstGeom>
          <a:solidFill>
            <a:srgbClr val="FFF3BF"/>
          </a:solidFill>
          <a:ln w="12700">
            <a:solidFill>
              <a:srgbClr val="F08C00"/>
            </a:solidFill>
            <a:prstDash val="solid"/>
          </a:ln>
        </p:spPr>
      </p:sp>
      <p:sp>
        <p:nvSpPr>
          <p:cNvPr id="11" name="Text 9"/>
          <p:cNvSpPr/>
          <p:nvPr/>
        </p:nvSpPr>
        <p:spPr>
          <a:xfrm>
            <a:off x="6438900" y="1877020"/>
            <a:ext cx="1625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4A10"/>
                </a:solidFill>
                <a:latin typeface="IBM Plex Mono" pitchFamily="34" charset="0"/>
                <a:ea typeface="IBM Plex Mono" pitchFamily="34" charset="-122"/>
                <a:cs typeface="IBM Plex Mono" pitchFamily="34" charset="-120"/>
              </a:rPr>
              <a:t>should_continue?</a:t>
            </a:r>
            <a:endParaRPr lang="en-US" sz="1200" dirty="0"/>
          </a:p>
        </p:txBody>
      </p:sp>
      <p:sp>
        <p:nvSpPr>
          <p:cNvPr id="12" name="Text 10"/>
          <p:cNvSpPr/>
          <p:nvPr/>
        </p:nvSpPr>
        <p:spPr>
          <a:xfrm>
            <a:off x="6438900" y="2128441"/>
            <a:ext cx="16256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A4A10"/>
                </a:solidFill>
                <a:latin typeface="IBM Plex Sans" pitchFamily="34" charset="0"/>
                <a:ea typeface="IBM Plex Sans" pitchFamily="34" charset="-122"/>
                <a:cs typeface="IBM Plex Sans" pitchFamily="34" charset="-120"/>
              </a:rPr>
              <a:t>3 · write when ready, after 2 rounds, or nothing new</a:t>
            </a:r>
            <a:endParaRPr lang="en-US" sz="1200" dirty="0"/>
          </a:p>
        </p:txBody>
      </p:sp>
      <p:sp>
        <p:nvSpPr>
          <p:cNvPr id="13" name="Shape 11"/>
          <p:cNvSpPr/>
          <p:nvPr/>
        </p:nvSpPr>
        <p:spPr>
          <a:xfrm>
            <a:off x="8693150" y="1730970"/>
            <a:ext cx="2679700" cy="1257300"/>
          </a:xfrm>
          <a:prstGeom prst="roundRect">
            <a:avLst>
              <a:gd name="adj" fmla="val 6566"/>
            </a:avLst>
          </a:prstGeom>
          <a:solidFill>
            <a:srgbClr val="FFE3E3"/>
          </a:solidFill>
          <a:ln w="12700">
            <a:solidFill>
              <a:srgbClr val="E03131"/>
            </a:solidFill>
            <a:prstDash val="solid"/>
          </a:ln>
        </p:spPr>
      </p:sp>
      <p:sp>
        <p:nvSpPr>
          <p:cNvPr id="14" name="Text 12"/>
          <p:cNvSpPr/>
          <p:nvPr/>
        </p:nvSpPr>
        <p:spPr>
          <a:xfrm>
            <a:off x="8851900" y="1877020"/>
            <a:ext cx="24330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1A1A"/>
                </a:solidFill>
                <a:latin typeface="IBM Plex Mono" pitchFamily="34" charset="0"/>
                <a:ea typeface="IBM Plex Mono" pitchFamily="34" charset="-122"/>
                <a:cs typeface="IBM Plex Mono" pitchFamily="34" charset="-120"/>
              </a:rPr>
              <a:t>generate_testcase</a:t>
            </a:r>
            <a:endParaRPr lang="en-US" sz="1200" dirty="0"/>
          </a:p>
        </p:txBody>
      </p:sp>
      <p:sp>
        <p:nvSpPr>
          <p:cNvPr id="15" name="Text 13"/>
          <p:cNvSpPr/>
          <p:nvPr/>
        </p:nvSpPr>
        <p:spPr>
          <a:xfrm>
            <a:off x="8851900" y="2128441"/>
            <a:ext cx="2433066"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B1A1A"/>
                </a:solidFill>
                <a:latin typeface="IBM Plex Sans" pitchFamily="34" charset="0"/>
                <a:ea typeface="IBM Plex Sans" pitchFamily="34" charset="-122"/>
                <a:cs typeface="IBM Plex Sans" pitchFamily="34" charset="-120"/>
              </a:rPr>
              <a:t>4 · large model call · writes the test as JSON</a:t>
            </a:r>
            <a:endParaRPr lang="en-US" sz="1200" dirty="0"/>
          </a:p>
        </p:txBody>
      </p:sp>
      <p:sp>
        <p:nvSpPr>
          <p:cNvPr id="16" name="Shape 14"/>
          <p:cNvSpPr/>
          <p:nvPr/>
        </p:nvSpPr>
        <p:spPr>
          <a:xfrm>
            <a:off x="3359150" y="3318470"/>
            <a:ext cx="4813300" cy="1066800"/>
          </a:xfrm>
          <a:prstGeom prst="roundRect">
            <a:avLst>
              <a:gd name="adj" fmla="val 7738"/>
            </a:avLst>
          </a:prstGeom>
          <a:solidFill>
            <a:srgbClr val="D0EBFF"/>
          </a:solidFill>
          <a:ln w="12700">
            <a:solidFill>
              <a:srgbClr val="1971C2"/>
            </a:solidFill>
            <a:prstDash val="solid"/>
          </a:ln>
        </p:spPr>
      </p:sp>
      <p:sp>
        <p:nvSpPr>
          <p:cNvPr id="17" name="Text 15"/>
          <p:cNvSpPr/>
          <p:nvPr/>
        </p:nvSpPr>
        <p:spPr>
          <a:xfrm>
            <a:off x="3543300" y="3451820"/>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4A87"/>
                </a:solidFill>
                <a:latin typeface="IBM Plex Sans" pitchFamily="34" charset="0"/>
                <a:ea typeface="IBM Plex Sans" pitchFamily="34" charset="-122"/>
                <a:cs typeface="IBM Plex Sans" pitchFamily="34" charset="-120"/>
              </a:rPr>
              <a:t>execute_retrieval · the planner's tools</a:t>
            </a:r>
            <a:endParaRPr lang="en-US" sz="1200" dirty="0"/>
          </a:p>
        </p:txBody>
      </p:sp>
      <p:sp>
        <p:nvSpPr>
          <p:cNvPr id="18" name="Text 16"/>
          <p:cNvSpPr/>
          <p:nvPr/>
        </p:nvSpPr>
        <p:spPr>
          <a:xfrm>
            <a:off x="3543300" y="3703241"/>
            <a:ext cx="457835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B4A87"/>
                </a:solidFill>
                <a:latin typeface="IBM Plex Sans" pitchFamily="34" charset="0"/>
                <a:ea typeface="IBM Plex Sans" pitchFamily="34" charset="-122"/>
                <a:cs typeface="IBM Plex Sans" pitchFamily="34" charset="-120"/>
              </a:rPr>
              <a:t>no model call · srs: search the spec · live_ui: a screen already seen · navtree: a route to it · defects: past failures there</a:t>
            </a:r>
            <a:endParaRPr lang="en-US" sz="1200" dirty="0"/>
          </a:p>
        </p:txBody>
      </p:sp>
      <p:sp>
        <p:nvSpPr>
          <p:cNvPr id="19" name="Shape 17"/>
          <p:cNvSpPr/>
          <p:nvPr/>
        </p:nvSpPr>
        <p:spPr>
          <a:xfrm>
            <a:off x="8693150" y="4651970"/>
            <a:ext cx="2679700" cy="876300"/>
          </a:xfrm>
          <a:prstGeom prst="roundRect">
            <a:avLst>
              <a:gd name="adj" fmla="val 9420"/>
            </a:avLst>
          </a:prstGeom>
          <a:solidFill>
            <a:srgbClr val="FFF3BF"/>
          </a:solidFill>
          <a:ln w="12700">
            <a:solidFill>
              <a:srgbClr val="F08C00"/>
            </a:solidFill>
            <a:prstDash val="solid"/>
          </a:ln>
        </p:spPr>
      </p:sp>
      <p:sp>
        <p:nvSpPr>
          <p:cNvPr id="20" name="Text 18"/>
          <p:cNvSpPr/>
          <p:nvPr/>
        </p:nvSpPr>
        <p:spPr>
          <a:xfrm>
            <a:off x="8851900" y="4785320"/>
            <a:ext cx="2433066" cy="220514"/>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7A4A10"/>
                </a:solidFill>
                <a:latin typeface="IBM Plex Mono" pitchFamily="34" charset="0"/>
                <a:ea typeface="IBM Plex Mono" pitchFamily="34" charset="-122"/>
                <a:cs typeface="IBM Plex Mono" pitchFamily="34" charset="-120"/>
              </a:rPr>
              <a:t>duplicate_check</a:t>
            </a:r>
            <a:endParaRPr lang="en-US" sz="1121" dirty="0"/>
          </a:p>
        </p:txBody>
      </p:sp>
      <p:sp>
        <p:nvSpPr>
          <p:cNvPr id="21" name="Text 19"/>
          <p:cNvSpPr/>
          <p:nvPr/>
        </p:nvSpPr>
        <p:spPr>
          <a:xfrm>
            <a:off x="8851900" y="5018534"/>
            <a:ext cx="2433066" cy="401786"/>
          </a:xfrm>
          <a:prstGeom prst="rect">
            <a:avLst/>
          </a:prstGeom>
          <a:noFill/>
          <a:ln/>
        </p:spPr>
        <p:txBody>
          <a:bodyPr wrap="square" lIns="0" tIns="0" rIns="0" bIns="0" rtlCol="0" anchor="t">
            <a:normAutofit/>
          </a:bodyPr>
          <a:lstStyle/>
          <a:p>
            <a:pPr algn="l" indent="0" marL="0">
              <a:lnSpc>
                <a:spcPts val="1483"/>
              </a:lnSpc>
              <a:buNone/>
            </a:pPr>
            <a:r>
              <a:rPr lang="en-US" sz="1099" dirty="0">
                <a:solidFill>
                  <a:srgbClr val="7A4A10"/>
                </a:solidFill>
                <a:latin typeface="IBM Plex Sans" pitchFamily="34" charset="0"/>
                <a:ea typeface="IBM Plex Sans" pitchFamily="34" charset="-122"/>
                <a:cs typeface="IBM Plex Sans" pitchFamily="34" charset="-120"/>
              </a:rPr>
              <a:t>5 · wording and meaning against every earlier test</a:t>
            </a:r>
            <a:endParaRPr lang="en-US" sz="1099" dirty="0"/>
          </a:p>
        </p:txBody>
      </p:sp>
      <p:sp>
        <p:nvSpPr>
          <p:cNvPr id="22" name="Shape 20"/>
          <p:cNvSpPr/>
          <p:nvPr/>
        </p:nvSpPr>
        <p:spPr>
          <a:xfrm>
            <a:off x="3994150" y="4651970"/>
            <a:ext cx="3035300" cy="876300"/>
          </a:xfrm>
          <a:prstGeom prst="roundRect">
            <a:avLst>
              <a:gd name="adj" fmla="val 9420"/>
            </a:avLst>
          </a:prstGeom>
          <a:solidFill>
            <a:srgbClr val="FFE3E3"/>
          </a:solidFill>
          <a:ln w="12700">
            <a:solidFill>
              <a:srgbClr val="E03131"/>
            </a:solidFill>
            <a:prstDash val="solid"/>
          </a:ln>
        </p:spPr>
      </p:sp>
      <p:sp>
        <p:nvSpPr>
          <p:cNvPr id="23" name="Text 21"/>
          <p:cNvSpPr/>
          <p:nvPr/>
        </p:nvSpPr>
        <p:spPr>
          <a:xfrm>
            <a:off x="4152900" y="4785320"/>
            <a:ext cx="2799334" cy="220514"/>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8B1A1A"/>
                </a:solidFill>
                <a:latin typeface="IBM Plex Sans" pitchFamily="34" charset="0"/>
                <a:ea typeface="IBM Plex Sans" pitchFamily="34" charset="-122"/>
                <a:cs typeface="IBM Plex Sans" pitchFamily="34" charset="-120"/>
              </a:rPr>
              <a:t>One more model call</a:t>
            </a:r>
            <a:endParaRPr lang="en-US" sz="1121" dirty="0"/>
          </a:p>
        </p:txBody>
      </p:sp>
      <p:sp>
        <p:nvSpPr>
          <p:cNvPr id="24" name="Text 22"/>
          <p:cNvSpPr/>
          <p:nvPr/>
        </p:nvSpPr>
        <p:spPr>
          <a:xfrm>
            <a:off x="4152900" y="5018534"/>
            <a:ext cx="2799334" cy="401786"/>
          </a:xfrm>
          <a:prstGeom prst="rect">
            <a:avLst/>
          </a:prstGeom>
          <a:noFill/>
          <a:ln/>
        </p:spPr>
        <p:txBody>
          <a:bodyPr wrap="square" lIns="0" tIns="0" rIns="0" bIns="0" rtlCol="0" anchor="t">
            <a:normAutofit/>
          </a:bodyPr>
          <a:lstStyle/>
          <a:p>
            <a:pPr algn="l" indent="0" marL="0">
              <a:lnSpc>
                <a:spcPts val="1483"/>
              </a:lnSpc>
              <a:buNone/>
            </a:pPr>
            <a:r>
              <a:rPr lang="en-US" sz="1099" dirty="0">
                <a:solidFill>
                  <a:srgbClr val="8B1A1A"/>
                </a:solidFill>
                <a:latin typeface="IBM Plex Sans" pitchFamily="34" charset="0"/>
                <a:ea typeface="IBM Plex Sans" pitchFamily="34" charset="-122"/>
                <a:cs typeface="IBM Plex Sans" pitchFamily="34" charset="-120"/>
              </a:rPr>
              <a:t>rewrite with other screens; similar titles blocked</a:t>
            </a:r>
            <a:endParaRPr lang="en-US" sz="1099" dirty="0"/>
          </a:p>
        </p:txBody>
      </p:sp>
      <p:sp>
        <p:nvSpPr>
          <p:cNvPr id="25" name="Shape 23"/>
          <p:cNvSpPr/>
          <p:nvPr/>
        </p:nvSpPr>
        <p:spPr>
          <a:xfrm>
            <a:off x="819150" y="4651970"/>
            <a:ext cx="2654300" cy="876300"/>
          </a:xfrm>
          <a:prstGeom prst="roundRect">
            <a:avLst>
              <a:gd name="adj" fmla="val 9420"/>
            </a:avLst>
          </a:prstGeom>
          <a:solidFill>
            <a:srgbClr val="D3F9D8"/>
          </a:solidFill>
          <a:ln w="12700">
            <a:solidFill>
              <a:srgbClr val="2F9E44"/>
            </a:solidFill>
            <a:prstDash val="solid"/>
          </a:ln>
        </p:spPr>
      </p:sp>
      <p:sp>
        <p:nvSpPr>
          <p:cNvPr id="26" name="Text 24"/>
          <p:cNvSpPr/>
          <p:nvPr/>
        </p:nvSpPr>
        <p:spPr>
          <a:xfrm>
            <a:off x="977900" y="4785320"/>
            <a:ext cx="2406904" cy="220514"/>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1B5E27"/>
                </a:solidFill>
                <a:latin typeface="IBM Plex Sans" pitchFamily="34" charset="0"/>
                <a:ea typeface="IBM Plex Sans" pitchFamily="34" charset="-122"/>
                <a:cs typeface="IBM Plex Sans" pitchFamily="34" charset="-120"/>
              </a:rPr>
              <a:t>6 · Auto-log to Neo4j</a:t>
            </a:r>
            <a:endParaRPr lang="en-US" sz="1121" dirty="0"/>
          </a:p>
        </p:txBody>
      </p:sp>
      <p:sp>
        <p:nvSpPr>
          <p:cNvPr id="27" name="Text 25"/>
          <p:cNvSpPr/>
          <p:nvPr/>
        </p:nvSpPr>
        <p:spPr>
          <a:xfrm>
            <a:off x="977900" y="5018534"/>
            <a:ext cx="2406904" cy="401786"/>
          </a:xfrm>
          <a:prstGeom prst="rect">
            <a:avLst/>
          </a:prstGeom>
          <a:noFill/>
          <a:ln/>
        </p:spPr>
        <p:txBody>
          <a:bodyPr wrap="square" lIns="0" tIns="0" rIns="0" bIns="0" rtlCol="0" anchor="t">
            <a:normAutofit/>
          </a:bodyPr>
          <a:lstStyle/>
          <a:p>
            <a:pPr algn="l" indent="0" marL="0">
              <a:lnSpc>
                <a:spcPts val="1483"/>
              </a:lnSpc>
              <a:buNone/>
            </a:pPr>
            <a:r>
              <a:rPr lang="en-US" sz="1099" dirty="0">
                <a:solidFill>
                  <a:srgbClr val="1B5E27"/>
                </a:solidFill>
                <a:latin typeface="IBM Plex Sans" pitchFamily="34" charset="0"/>
                <a:ea typeface="IBM Plex Sans" pitchFamily="34" charset="-122"/>
                <a:cs typeface="IBM Plex Sans" pitchFamily="34" charset="-120"/>
              </a:rPr>
              <a:t>stored as planned, then handed to the executor</a:t>
            </a:r>
            <a:endParaRPr lang="en-US" sz="1099" dirty="0"/>
          </a:p>
        </p:txBody>
      </p:sp>
      <p:pic>
        <p:nvPicPr>
          <p:cNvPr id="28" name="Image 0" descr="connector">    </p:cNvPr>
          <p:cNvPicPr>
            <a:picLocks noChangeAspect="1"/>
          </p:cNvPicPr>
          <p:nvPr/>
        </p:nvPicPr>
        <p:blipFill>
          <a:blip r:embed="rId1"/>
          <a:srcRect l="0" r="0" t="0" b="0"/>
          <a:stretch/>
        </p:blipFill>
        <p:spPr>
          <a:xfrm>
            <a:off x="2794000" y="2308820"/>
            <a:ext cx="609600" cy="101600"/>
          </a:xfrm>
          <a:prstGeom prst="rect">
            <a:avLst/>
          </a:prstGeom>
        </p:spPr>
      </p:pic>
      <p:pic>
        <p:nvPicPr>
          <p:cNvPr id="29" name="Image 1" descr="connector">    </p:cNvPr>
          <p:cNvPicPr>
            <a:picLocks noChangeAspect="1"/>
          </p:cNvPicPr>
          <p:nvPr/>
        </p:nvPicPr>
        <p:blipFill>
          <a:blip r:embed="rId2"/>
          <a:srcRect l="0" r="0" t="0" b="0"/>
          <a:stretch/>
        </p:blipFill>
        <p:spPr>
          <a:xfrm>
            <a:off x="5715000" y="2308820"/>
            <a:ext cx="609600" cy="101600"/>
          </a:xfrm>
          <a:prstGeom prst="rect">
            <a:avLst/>
          </a:prstGeom>
        </p:spPr>
      </p:pic>
      <p:pic>
        <p:nvPicPr>
          <p:cNvPr id="30" name="Image 2" descr="connector">    </p:cNvPr>
          <p:cNvPicPr>
            <a:picLocks noChangeAspect="1"/>
          </p:cNvPicPr>
          <p:nvPr/>
        </p:nvPicPr>
        <p:blipFill>
          <a:blip r:embed="rId3"/>
          <a:srcRect l="0" r="0" t="0" b="0"/>
          <a:stretch/>
        </p:blipFill>
        <p:spPr>
          <a:xfrm>
            <a:off x="8128000" y="2308820"/>
            <a:ext cx="609600" cy="101600"/>
          </a:xfrm>
          <a:prstGeom prst="rect">
            <a:avLst/>
          </a:prstGeom>
        </p:spPr>
      </p:pic>
      <p:pic>
        <p:nvPicPr>
          <p:cNvPr id="31" name="Image 3" descr="connector">    </p:cNvPr>
          <p:cNvPicPr>
            <a:picLocks noChangeAspect="1"/>
          </p:cNvPicPr>
          <p:nvPr/>
        </p:nvPicPr>
        <p:blipFill>
          <a:blip r:embed="rId4"/>
          <a:srcRect l="0" r="0" t="0" b="0"/>
          <a:stretch/>
        </p:blipFill>
        <p:spPr>
          <a:xfrm>
            <a:off x="7175500" y="2943820"/>
            <a:ext cx="101600" cy="419100"/>
          </a:xfrm>
          <a:prstGeom prst="rect">
            <a:avLst/>
          </a:prstGeom>
        </p:spPr>
      </p:pic>
      <p:pic>
        <p:nvPicPr>
          <p:cNvPr id="32" name="Image 4" descr="connector">    </p:cNvPr>
          <p:cNvPicPr>
            <a:picLocks noChangeAspect="1"/>
          </p:cNvPicPr>
          <p:nvPr/>
        </p:nvPicPr>
        <p:blipFill>
          <a:blip r:embed="rId5"/>
          <a:srcRect l="0" r="0" t="0" b="0"/>
          <a:stretch/>
        </p:blipFill>
        <p:spPr>
          <a:xfrm>
            <a:off x="4508500" y="2943820"/>
            <a:ext cx="101600" cy="419100"/>
          </a:xfrm>
          <a:prstGeom prst="rect">
            <a:avLst/>
          </a:prstGeom>
        </p:spPr>
      </p:pic>
      <p:pic>
        <p:nvPicPr>
          <p:cNvPr id="33" name="Image 5" descr="connector">    </p:cNvPr>
          <p:cNvPicPr>
            <a:picLocks noChangeAspect="1"/>
          </p:cNvPicPr>
          <p:nvPr/>
        </p:nvPicPr>
        <p:blipFill>
          <a:blip r:embed="rId6"/>
          <a:srcRect l="0" r="0" t="0" b="0"/>
          <a:stretch/>
        </p:blipFill>
        <p:spPr>
          <a:xfrm>
            <a:off x="9982200" y="2943820"/>
            <a:ext cx="101600" cy="1752600"/>
          </a:xfrm>
          <a:prstGeom prst="rect">
            <a:avLst/>
          </a:prstGeom>
        </p:spPr>
      </p:pic>
      <p:pic>
        <p:nvPicPr>
          <p:cNvPr id="34" name="Image 6" descr="connector">    </p:cNvPr>
          <p:cNvPicPr>
            <a:picLocks noChangeAspect="1"/>
          </p:cNvPicPr>
          <p:nvPr/>
        </p:nvPicPr>
        <p:blipFill>
          <a:blip r:embed="rId7"/>
          <a:srcRect l="0" r="0" t="0" b="0"/>
          <a:stretch/>
        </p:blipFill>
        <p:spPr>
          <a:xfrm>
            <a:off x="6985000" y="5039320"/>
            <a:ext cx="1752600" cy="101600"/>
          </a:xfrm>
          <a:prstGeom prst="rect">
            <a:avLst/>
          </a:prstGeom>
        </p:spPr>
      </p:pic>
      <p:pic>
        <p:nvPicPr>
          <p:cNvPr id="35" name="Image 7" descr="connector">    </p:cNvPr>
          <p:cNvPicPr>
            <a:picLocks noChangeAspect="1"/>
          </p:cNvPicPr>
          <p:nvPr/>
        </p:nvPicPr>
        <p:blipFill>
          <a:blip r:embed="rId8"/>
          <a:srcRect l="0" r="0" t="0" b="0"/>
          <a:stretch/>
        </p:blipFill>
        <p:spPr>
          <a:xfrm>
            <a:off x="3429000" y="5039320"/>
            <a:ext cx="609600" cy="101600"/>
          </a:xfrm>
          <a:prstGeom prst="rect">
            <a:avLst/>
          </a:prstGeom>
        </p:spPr>
      </p:pic>
      <p:pic>
        <p:nvPicPr>
          <p:cNvPr id="36" name="Image 8" descr="connector">    </p:cNvPr>
          <p:cNvPicPr>
            <a:picLocks noChangeAspect="1"/>
          </p:cNvPicPr>
          <p:nvPr/>
        </p:nvPicPr>
        <p:blipFill>
          <a:blip r:embed="rId9"/>
          <a:srcRect l="0" r="0" t="0" b="0"/>
          <a:stretch/>
        </p:blipFill>
        <p:spPr>
          <a:xfrm>
            <a:off x="9982200" y="5483820"/>
            <a:ext cx="101600" cy="419100"/>
          </a:xfrm>
          <a:prstGeom prst="rect">
            <a:avLst/>
          </a:prstGeom>
        </p:spPr>
      </p:pic>
      <p:pic>
        <p:nvPicPr>
          <p:cNvPr id="37" name="Image 9" descr="connector">    </p:cNvPr>
          <p:cNvPicPr>
            <a:picLocks noChangeAspect="1"/>
          </p:cNvPicPr>
          <p:nvPr/>
        </p:nvPicPr>
        <p:blipFill>
          <a:blip r:embed="rId10"/>
          <a:srcRect l="0" r="0" t="0" b="0"/>
          <a:stretch/>
        </p:blipFill>
        <p:spPr>
          <a:xfrm>
            <a:off x="2095500" y="5801320"/>
            <a:ext cx="7988300" cy="101600"/>
          </a:xfrm>
          <a:prstGeom prst="rect">
            <a:avLst/>
          </a:prstGeom>
        </p:spPr>
      </p:pic>
      <p:pic>
        <p:nvPicPr>
          <p:cNvPr id="38" name="Image 10" descr="connector">    </p:cNvPr>
          <p:cNvPicPr>
            <a:picLocks noChangeAspect="1"/>
          </p:cNvPicPr>
          <p:nvPr/>
        </p:nvPicPr>
        <p:blipFill>
          <a:blip r:embed="rId11"/>
          <a:srcRect l="0" r="0" t="0" b="0"/>
          <a:stretch/>
        </p:blipFill>
        <p:spPr>
          <a:xfrm>
            <a:off x="2095500" y="5483820"/>
            <a:ext cx="101600" cy="419100"/>
          </a:xfrm>
          <a:prstGeom prst="rect">
            <a:avLst/>
          </a:prstGeom>
        </p:spPr>
      </p:pic>
      <p:sp>
        <p:nvSpPr>
          <p:cNvPr id="39" name="Text 26"/>
          <p:cNvSpPr/>
          <p:nvPr/>
        </p:nvSpPr>
        <p:spPr>
          <a:xfrm>
            <a:off x="7302500" y="3051770"/>
            <a:ext cx="1320800" cy="228054"/>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0B4A87"/>
                </a:solidFill>
                <a:latin typeface="IBM Plex Sans" pitchFamily="34" charset="0"/>
                <a:ea typeface="IBM Plex Sans" pitchFamily="34" charset="-122"/>
                <a:cs typeface="IBM Plex Sans" pitchFamily="34" charset="-120"/>
              </a:rPr>
              <a:t>retrieve more</a:t>
            </a:r>
            <a:endParaRPr lang="en-US" sz="1200" dirty="0"/>
          </a:p>
        </p:txBody>
      </p:sp>
      <p:sp>
        <p:nvSpPr>
          <p:cNvPr id="40" name="Text 27"/>
          <p:cNvSpPr/>
          <p:nvPr/>
        </p:nvSpPr>
        <p:spPr>
          <a:xfrm>
            <a:off x="3797300" y="3051770"/>
            <a:ext cx="749300" cy="228054"/>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0B4A87"/>
                </a:solidFill>
                <a:latin typeface="IBM Plex Sans" pitchFamily="34" charset="0"/>
                <a:ea typeface="IBM Plex Sans" pitchFamily="34" charset="-122"/>
                <a:cs typeface="IBM Plex Sans" pitchFamily="34" charset="-120"/>
              </a:rPr>
              <a:t>answers</a:t>
            </a:r>
            <a:endParaRPr lang="en-US" sz="1200" dirty="0"/>
          </a:p>
        </p:txBody>
      </p:sp>
      <p:sp>
        <p:nvSpPr>
          <p:cNvPr id="41" name="Text 28"/>
          <p:cNvSpPr/>
          <p:nvPr/>
        </p:nvSpPr>
        <p:spPr>
          <a:xfrm>
            <a:off x="7353300" y="4836120"/>
            <a:ext cx="1257300"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6596A"/>
                </a:solidFill>
                <a:latin typeface="IBM Plex Sans" pitchFamily="34" charset="0"/>
                <a:ea typeface="IBM Plex Sans" pitchFamily="34" charset="-122"/>
                <a:cs typeface="IBM Plex Sans" pitchFamily="34" charset="-120"/>
              </a:rPr>
              <a:t>too similar</a:t>
            </a:r>
            <a:endParaRPr lang="en-US" sz="1200" dirty="0"/>
          </a:p>
        </p:txBody>
      </p:sp>
      <p:sp>
        <p:nvSpPr>
          <p:cNvPr id="42" name="Text 29"/>
          <p:cNvSpPr/>
          <p:nvPr/>
        </p:nvSpPr>
        <p:spPr>
          <a:xfrm>
            <a:off x="9004300" y="5598120"/>
            <a:ext cx="939800" cy="228054"/>
          </a:xfrm>
          <a:prstGeom prst="rect">
            <a:avLst/>
          </a:prstGeom>
          <a:noFill/>
          <a:ln/>
        </p:spPr>
        <p:txBody>
          <a:bodyPr wrap="square" lIns="0" tIns="0" rIns="0" bIns="0" rtlCol="0" anchor="t">
            <a:normAutofit/>
          </a:bodyPr>
          <a:lstStyle/>
          <a:p>
            <a:pPr algn="l" indent="0" marL="0">
              <a:lnSpc>
                <a:spcPts val="1596"/>
              </a:lnSpc>
              <a:buNone/>
            </a:pPr>
            <a:r>
              <a:rPr lang="en-US" sz="1200" dirty="0">
                <a:solidFill>
                  <a:srgbClr val="46596A"/>
                </a:solidFill>
                <a:latin typeface="IBM Plex Sans" pitchFamily="34" charset="0"/>
                <a:ea typeface="IBM Plex Sans" pitchFamily="34" charset="-122"/>
                <a:cs typeface="IBM Plex Sans" pitchFamily="34" charset="-120"/>
              </a:rPr>
              <a:t>distinct</a:t>
            </a:r>
            <a:endParaRPr lang="en-US" sz="1200" dirty="0"/>
          </a:p>
        </p:txBody>
      </p:sp>
      <p:sp>
        <p:nvSpPr>
          <p:cNvPr id="43" name="Text 30"/>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44" name="Text 31"/>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635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TOOLS MODE · PLANNED THE COMMERCE CAMPAIGN</a:t>
            </a:r>
            <a:endParaRPr lang="en-US" sz="1200" dirty="0"/>
          </a:p>
        </p:txBody>
      </p:sp>
      <p:sp>
        <p:nvSpPr>
          <p:cNvPr id="3" name="Text 1"/>
          <p:cNvSpPr/>
          <p:nvPr/>
        </p:nvSpPr>
        <p:spPr>
          <a:xfrm>
            <a:off x="812800" y="9245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Tools philosophy: the model asks the graph itself</a:t>
            </a:r>
            <a:endParaRPr lang="en-US" sz="3000" dirty="0"/>
          </a:p>
        </p:txBody>
      </p:sp>
      <p:sp>
        <p:nvSpPr>
          <p:cNvPr id="4" name="Text 2"/>
          <p:cNvSpPr/>
          <p:nvPr/>
        </p:nvSpPr>
        <p:spPr>
          <a:xfrm>
            <a:off x="812800" y="14198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It calls one tool, reads the answer, then chooses the next question. Nine read-only tools, each offered only when its source has data.</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8241"/>
          <a:ext cx="10553700" cy="3326805"/>
        </p:xfrm>
        <a:graphic>
          <a:graphicData uri="http://schemas.openxmlformats.org/drawingml/2006/table">
            <a:tbl>
              <a:tblPr/>
              <a:tblGrid>
                <a:gridCol w="3377184"/>
                <a:gridCol w="5065776"/>
                <a:gridCol w="2110740"/>
              </a:tblGrid>
              <a:tr h="332680">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Tool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What it answers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Offered 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search_requirements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semantic and keyword search over the specification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spec is ingested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list_untested_requirements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the coverage frontier: what no executed test covers yet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spec is ingested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get_screen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the real controls observed on one screen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screens have been seen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list_screens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every screen actually seen, with visit counts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screens have been seen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get_nav_path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route to a screen the executor has already walked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route exists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findings_summary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counts of everything earlier runs found, per screen and kind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list_findings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the claims themselves: confirmed, suspected, unverified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list_open_questions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questions earlier runs raised but never settled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get_coverage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tests run, failing hot spots, dead ends, exhausted areas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bl>
          </a:graphicData>
        </a:graphic>
      </p:graphicFrame>
      <p:sp>
        <p:nvSpPr>
          <p:cNvPr id="6" name="Text 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7" name="Text 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635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TOOLS MODE · ONE ROUND</a:t>
            </a:r>
            <a:endParaRPr lang="en-US" sz="1200" dirty="0"/>
          </a:p>
        </p:txBody>
      </p:sp>
      <p:sp>
        <p:nvSpPr>
          <p:cNvPr id="3" name="Text 1"/>
          <p:cNvSpPr/>
          <p:nvPr/>
        </p:nvSpPr>
        <p:spPr>
          <a:xfrm>
            <a:off x="812800" y="9245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One round: investigate, then propose</a:t>
            </a:r>
            <a:endParaRPr lang="en-US" sz="3000" dirty="0"/>
          </a:p>
        </p:txBody>
      </p:sp>
      <p:sp>
        <p:nvSpPr>
          <p:cNvPr id="4" name="Shape 2"/>
          <p:cNvSpPr/>
          <p:nvPr/>
        </p:nvSpPr>
        <p:spPr>
          <a:xfrm>
            <a:off x="815975" y="1499195"/>
            <a:ext cx="6343650" cy="654000"/>
          </a:xfrm>
          <a:prstGeom prst="roundRect">
            <a:avLst>
              <a:gd name="adj" fmla="val 13108"/>
            </a:avLst>
          </a:prstGeom>
          <a:solidFill>
            <a:srgbClr val="FDFEFE"/>
          </a:solidFill>
          <a:ln w="6350">
            <a:solidFill>
              <a:srgbClr val="D6E1E6"/>
            </a:solidFill>
            <a:prstDash val="solid"/>
          </a:ln>
        </p:spPr>
      </p:sp>
      <p:sp>
        <p:nvSpPr>
          <p:cNvPr id="5" name="Text 3"/>
          <p:cNvSpPr/>
          <p:nvPr/>
        </p:nvSpPr>
        <p:spPr>
          <a:xfrm>
            <a:off x="971550" y="1656011"/>
            <a:ext cx="1079500" cy="340320"/>
          </a:xfrm>
          <a:custGeom>
            <a:avLst/>
            <a:gdLst/>
            <a:ahLst/>
            <a:cxnLst/>
            <a:rect l="l" t="t" r="r" b="b"/>
            <a:pathLst>
              <a:path w="1079500" h="340320">
                <a:moveTo>
                  <a:pt x="63500" y="0"/>
                </a:moveTo>
                <a:lnTo>
                  <a:pt x="1016000" y="0"/>
                </a:lnTo>
                <a:arcTo hR="63500" wR="63500" stAng="16200000" swAng="5400000"/>
                <a:lnTo>
                  <a:pt x="1079500" y="276820"/>
                </a:lnTo>
                <a:arcTo hR="63500" wR="63500" stAng="0" swAng="5400000"/>
                <a:lnTo>
                  <a:pt x="63500" y="340320"/>
                </a:lnTo>
                <a:arcTo hR="63500" wR="63500" stAng="5400000" swAng="5400000"/>
                <a:lnTo>
                  <a:pt x="0" y="63500"/>
                </a:lnTo>
                <a:arcTo hR="63500" wR="63500" stAng="10800000" swAng="5400000"/>
                <a:close/>
              </a:path>
            </a:pathLst>
          </a:custGeom>
          <a:solidFill>
            <a:srgbClr val="55697A"/>
          </a:solidFill>
          <a:ln/>
        </p:spPr>
        <p:txBody>
          <a:bodyPr wrap="square" lIns="0" tIns="63500" rIns="0" bIns="38100" rtlCol="0" anchor="t">
            <a:normAutofit/>
          </a:bodyPr>
          <a:lstStyle/>
          <a:p>
            <a:pPr algn="ct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Given</a:t>
            </a:r>
            <a:endParaRPr lang="en-US" sz="1200" dirty="0"/>
          </a:p>
        </p:txBody>
      </p:sp>
      <p:sp>
        <p:nvSpPr>
          <p:cNvPr id="6" name="Text 4"/>
          <p:cNvSpPr/>
          <p:nvPr/>
        </p:nvSpPr>
        <p:spPr>
          <a:xfrm>
            <a:off x="2203450" y="1591270"/>
            <a:ext cx="494461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Starts from a short brief</a:t>
            </a:r>
            <a:endParaRPr lang="en-US" sz="1400" dirty="0"/>
          </a:p>
        </p:txBody>
      </p:sp>
      <p:sp>
        <p:nvSpPr>
          <p:cNvPr id="7" name="Text 5"/>
          <p:cNvSpPr/>
          <p:nvPr/>
        </p:nvSpPr>
        <p:spPr>
          <a:xfrm>
            <a:off x="2203450" y="1847800"/>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coverage map, last few runs, open questions</a:t>
            </a:r>
            <a:endParaRPr lang="en-US" sz="1200" dirty="0"/>
          </a:p>
        </p:txBody>
      </p:sp>
      <p:sp>
        <p:nvSpPr>
          <p:cNvPr id="8" name="Shape 6"/>
          <p:cNvSpPr/>
          <p:nvPr/>
        </p:nvSpPr>
        <p:spPr>
          <a:xfrm>
            <a:off x="815975" y="2248446"/>
            <a:ext cx="6343650" cy="654000"/>
          </a:xfrm>
          <a:prstGeom prst="roundRect">
            <a:avLst>
              <a:gd name="adj" fmla="val 13108"/>
            </a:avLst>
          </a:prstGeom>
          <a:solidFill>
            <a:srgbClr val="FDFEFE"/>
          </a:solidFill>
          <a:ln w="6350">
            <a:solidFill>
              <a:srgbClr val="D6E1E6"/>
            </a:solidFill>
            <a:prstDash val="solid"/>
          </a:ln>
        </p:spPr>
      </p:sp>
      <p:sp>
        <p:nvSpPr>
          <p:cNvPr id="9" name="Text 7"/>
          <p:cNvSpPr/>
          <p:nvPr/>
        </p:nvSpPr>
        <p:spPr>
          <a:xfrm>
            <a:off x="971550" y="2405261"/>
            <a:ext cx="1079500" cy="340320"/>
          </a:xfrm>
          <a:custGeom>
            <a:avLst/>
            <a:gdLst/>
            <a:ahLst/>
            <a:cxnLst/>
            <a:rect l="l" t="t" r="r" b="b"/>
            <a:pathLst>
              <a:path w="1079500" h="340320">
                <a:moveTo>
                  <a:pt x="63500" y="0"/>
                </a:moveTo>
                <a:lnTo>
                  <a:pt x="1016000" y="0"/>
                </a:lnTo>
                <a:arcTo hR="63500" wR="63500" stAng="16200000" swAng="5400000"/>
                <a:lnTo>
                  <a:pt x="1079500" y="276820"/>
                </a:lnTo>
                <a:arcTo hR="63500" wR="63500" stAng="0" swAng="5400000"/>
                <a:lnTo>
                  <a:pt x="63500" y="340320"/>
                </a:lnTo>
                <a:arcTo hR="63500" wR="63500" stAng="5400000" swAng="5400000"/>
                <a:lnTo>
                  <a:pt x="0" y="63500"/>
                </a:lnTo>
                <a:arcTo hR="63500" wR="63500" stAng="10800000" swAng="5400000"/>
                <a:close/>
              </a:path>
            </a:pathLst>
          </a:custGeom>
          <a:solidFill>
            <a:srgbClr val="0F6E94"/>
          </a:solidFill>
          <a:ln/>
        </p:spPr>
        <p:txBody>
          <a:bodyPr wrap="square" lIns="0" tIns="63500" rIns="0" bIns="38100" rtlCol="0" anchor="t">
            <a:normAutofit/>
          </a:bodyPr>
          <a:lstStyle/>
          <a:p>
            <a:pPr algn="ct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Calls 1–3</a:t>
            </a:r>
            <a:endParaRPr lang="en-US" sz="1200" dirty="0"/>
          </a:p>
        </p:txBody>
      </p:sp>
      <p:sp>
        <p:nvSpPr>
          <p:cNvPr id="10" name="Text 8"/>
          <p:cNvSpPr/>
          <p:nvPr/>
        </p:nvSpPr>
        <p:spPr>
          <a:xfrm>
            <a:off x="2203450" y="2340521"/>
            <a:ext cx="494461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Orient: what is known, and where the gaps are</a:t>
            </a:r>
            <a:endParaRPr lang="en-US" sz="1400" dirty="0"/>
          </a:p>
        </p:txBody>
      </p:sp>
      <p:sp>
        <p:nvSpPr>
          <p:cNvPr id="11" name="Text 9"/>
          <p:cNvSpPr/>
          <p:nvPr/>
        </p:nvSpPr>
        <p:spPr>
          <a:xfrm>
            <a:off x="2203450" y="2597051"/>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Mono" pitchFamily="34" charset="0"/>
                <a:ea typeface="IBM Plex Mono" pitchFamily="34" charset="-122"/>
                <a:cs typeface="IBM Plex Mono" pitchFamily="34" charset="-120"/>
              </a:rPr>
              <a:t>findings_summary, get_coverage, list_screens</a:t>
            </a:r>
            <a:endParaRPr lang="en-US" sz="1200" dirty="0"/>
          </a:p>
        </p:txBody>
      </p:sp>
      <p:sp>
        <p:nvSpPr>
          <p:cNvPr id="12" name="Shape 10"/>
          <p:cNvSpPr/>
          <p:nvPr/>
        </p:nvSpPr>
        <p:spPr>
          <a:xfrm>
            <a:off x="815975" y="2997696"/>
            <a:ext cx="6343650" cy="654000"/>
          </a:xfrm>
          <a:prstGeom prst="roundRect">
            <a:avLst>
              <a:gd name="adj" fmla="val 13108"/>
            </a:avLst>
          </a:prstGeom>
          <a:solidFill>
            <a:srgbClr val="FDFEFE"/>
          </a:solidFill>
          <a:ln w="6350">
            <a:solidFill>
              <a:srgbClr val="D6E1E6"/>
            </a:solidFill>
            <a:prstDash val="solid"/>
          </a:ln>
        </p:spPr>
      </p:sp>
      <p:sp>
        <p:nvSpPr>
          <p:cNvPr id="13" name="Text 11"/>
          <p:cNvSpPr/>
          <p:nvPr/>
        </p:nvSpPr>
        <p:spPr>
          <a:xfrm>
            <a:off x="971550" y="3154511"/>
            <a:ext cx="1079500" cy="340320"/>
          </a:xfrm>
          <a:custGeom>
            <a:avLst/>
            <a:gdLst/>
            <a:ahLst/>
            <a:cxnLst/>
            <a:rect l="l" t="t" r="r" b="b"/>
            <a:pathLst>
              <a:path w="1079500" h="340320">
                <a:moveTo>
                  <a:pt x="63500" y="0"/>
                </a:moveTo>
                <a:lnTo>
                  <a:pt x="1016000" y="0"/>
                </a:lnTo>
                <a:arcTo hR="63500" wR="63500" stAng="16200000" swAng="5400000"/>
                <a:lnTo>
                  <a:pt x="1079500" y="276820"/>
                </a:lnTo>
                <a:arcTo hR="63500" wR="63500" stAng="0" swAng="5400000"/>
                <a:lnTo>
                  <a:pt x="63500" y="340320"/>
                </a:lnTo>
                <a:arcTo hR="63500" wR="63500" stAng="5400000" swAng="5400000"/>
                <a:lnTo>
                  <a:pt x="0" y="63500"/>
                </a:lnTo>
                <a:arcTo hR="63500" wR="63500" stAng="10800000" swAng="5400000"/>
                <a:close/>
              </a:path>
            </a:pathLst>
          </a:custGeom>
          <a:solidFill>
            <a:srgbClr val="0F6E94"/>
          </a:solidFill>
          <a:ln/>
        </p:spPr>
        <p:txBody>
          <a:bodyPr wrap="square" lIns="0" tIns="63500" rIns="0" bIns="38100" rtlCol="0" anchor="t">
            <a:normAutofit/>
          </a:bodyPr>
          <a:lstStyle/>
          <a:p>
            <a:pPr algn="ct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Call 4</a:t>
            </a:r>
            <a:endParaRPr lang="en-US" sz="1200" dirty="0"/>
          </a:p>
        </p:txBody>
      </p:sp>
      <p:sp>
        <p:nvSpPr>
          <p:cNvPr id="14" name="Text 12"/>
          <p:cNvSpPr/>
          <p:nvPr/>
        </p:nvSpPr>
        <p:spPr>
          <a:xfrm>
            <a:off x="2203450" y="3089771"/>
            <a:ext cx="494461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Pick up an unfinished thread</a:t>
            </a:r>
            <a:endParaRPr lang="en-US" sz="1400" dirty="0"/>
          </a:p>
        </p:txBody>
      </p:sp>
      <p:sp>
        <p:nvSpPr>
          <p:cNvPr id="15" name="Text 13"/>
          <p:cNvSpPr/>
          <p:nvPr/>
        </p:nvSpPr>
        <p:spPr>
          <a:xfrm>
            <a:off x="2203450" y="3346301"/>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Mono" pitchFamily="34" charset="0"/>
                <a:ea typeface="IBM Plex Mono" pitchFamily="34" charset="-122"/>
                <a:cs typeface="IBM Plex Mono" pitchFamily="34" charset="-120"/>
              </a:rPr>
              <a:t>list_open_questions, list_findings</a:t>
            </a:r>
            <a:endParaRPr lang="en-US" sz="1200" dirty="0"/>
          </a:p>
        </p:txBody>
      </p:sp>
      <p:sp>
        <p:nvSpPr>
          <p:cNvPr id="16" name="Shape 14"/>
          <p:cNvSpPr/>
          <p:nvPr/>
        </p:nvSpPr>
        <p:spPr>
          <a:xfrm>
            <a:off x="815975" y="3746946"/>
            <a:ext cx="6343650" cy="654000"/>
          </a:xfrm>
          <a:prstGeom prst="roundRect">
            <a:avLst>
              <a:gd name="adj" fmla="val 13108"/>
            </a:avLst>
          </a:prstGeom>
          <a:solidFill>
            <a:srgbClr val="FDFEFE"/>
          </a:solidFill>
          <a:ln w="6350">
            <a:solidFill>
              <a:srgbClr val="D6E1E6"/>
            </a:solidFill>
            <a:prstDash val="solid"/>
          </a:ln>
        </p:spPr>
      </p:sp>
      <p:sp>
        <p:nvSpPr>
          <p:cNvPr id="17" name="Text 15"/>
          <p:cNvSpPr/>
          <p:nvPr/>
        </p:nvSpPr>
        <p:spPr>
          <a:xfrm>
            <a:off x="971550" y="3903762"/>
            <a:ext cx="1079500" cy="340320"/>
          </a:xfrm>
          <a:custGeom>
            <a:avLst/>
            <a:gdLst/>
            <a:ahLst/>
            <a:cxnLst/>
            <a:rect l="l" t="t" r="r" b="b"/>
            <a:pathLst>
              <a:path w="1079500" h="340320">
                <a:moveTo>
                  <a:pt x="63500" y="0"/>
                </a:moveTo>
                <a:lnTo>
                  <a:pt x="1016000" y="0"/>
                </a:lnTo>
                <a:arcTo hR="63500" wR="63500" stAng="16200000" swAng="5400000"/>
                <a:lnTo>
                  <a:pt x="1079500" y="276820"/>
                </a:lnTo>
                <a:arcTo hR="63500" wR="63500" stAng="0" swAng="5400000"/>
                <a:lnTo>
                  <a:pt x="63500" y="340320"/>
                </a:lnTo>
                <a:arcTo hR="63500" wR="63500" stAng="5400000" swAng="5400000"/>
                <a:lnTo>
                  <a:pt x="0" y="63500"/>
                </a:lnTo>
                <a:arcTo hR="63500" wR="63500" stAng="10800000" swAng="5400000"/>
                <a:close/>
              </a:path>
            </a:pathLst>
          </a:custGeom>
          <a:solidFill>
            <a:srgbClr val="0F6E94"/>
          </a:solidFill>
          <a:ln/>
        </p:spPr>
        <p:txBody>
          <a:bodyPr wrap="square" lIns="0" tIns="63500" rIns="0" bIns="38100" rtlCol="0" anchor="t">
            <a:normAutofit/>
          </a:bodyPr>
          <a:lstStyle/>
          <a:p>
            <a:pPr algn="ct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Call 5 on</a:t>
            </a:r>
            <a:endParaRPr lang="en-US" sz="1200" dirty="0"/>
          </a:p>
        </p:txBody>
      </p:sp>
      <p:sp>
        <p:nvSpPr>
          <p:cNvPr id="18" name="Text 16"/>
          <p:cNvSpPr/>
          <p:nvPr/>
        </p:nvSpPr>
        <p:spPr>
          <a:xfrm>
            <a:off x="2203450" y="3839021"/>
            <a:ext cx="494461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Ground it in a real requirement and screen</a:t>
            </a:r>
            <a:endParaRPr lang="en-US" sz="1400" dirty="0"/>
          </a:p>
        </p:txBody>
      </p:sp>
      <p:sp>
        <p:nvSpPr>
          <p:cNvPr id="19" name="Text 17"/>
          <p:cNvSpPr/>
          <p:nvPr/>
        </p:nvSpPr>
        <p:spPr>
          <a:xfrm>
            <a:off x="2203450" y="4095552"/>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Mono" pitchFamily="34" charset="0"/>
                <a:ea typeface="IBM Plex Mono" pitchFamily="34" charset="-122"/>
                <a:cs typeface="IBM Plex Mono" pitchFamily="34" charset="-120"/>
              </a:rPr>
              <a:t>search_requirements, get_screen</a:t>
            </a:r>
            <a:endParaRPr lang="en-US" sz="1200" dirty="0"/>
          </a:p>
        </p:txBody>
      </p:sp>
      <p:sp>
        <p:nvSpPr>
          <p:cNvPr id="20" name="Shape 18"/>
          <p:cNvSpPr/>
          <p:nvPr/>
        </p:nvSpPr>
        <p:spPr>
          <a:xfrm>
            <a:off x="815975" y="4496197"/>
            <a:ext cx="6343650" cy="654000"/>
          </a:xfrm>
          <a:prstGeom prst="roundRect">
            <a:avLst>
              <a:gd name="adj" fmla="val 13108"/>
            </a:avLst>
          </a:prstGeom>
          <a:solidFill>
            <a:srgbClr val="FDFEFE"/>
          </a:solidFill>
          <a:ln w="6350">
            <a:solidFill>
              <a:srgbClr val="D6E1E6"/>
            </a:solidFill>
            <a:prstDash val="solid"/>
          </a:ln>
        </p:spPr>
      </p:sp>
      <p:sp>
        <p:nvSpPr>
          <p:cNvPr id="21" name="Text 19"/>
          <p:cNvSpPr/>
          <p:nvPr/>
        </p:nvSpPr>
        <p:spPr>
          <a:xfrm>
            <a:off x="971550" y="4653012"/>
            <a:ext cx="1079500" cy="340320"/>
          </a:xfrm>
          <a:custGeom>
            <a:avLst/>
            <a:gdLst/>
            <a:ahLst/>
            <a:cxnLst/>
            <a:rect l="l" t="t" r="r" b="b"/>
            <a:pathLst>
              <a:path w="1079500" h="340320">
                <a:moveTo>
                  <a:pt x="63500" y="0"/>
                </a:moveTo>
                <a:lnTo>
                  <a:pt x="1016000" y="0"/>
                </a:lnTo>
                <a:arcTo hR="63500" wR="63500" stAng="16200000" swAng="5400000"/>
                <a:lnTo>
                  <a:pt x="1079500" y="276820"/>
                </a:lnTo>
                <a:arcTo hR="63500" wR="63500" stAng="0" swAng="5400000"/>
                <a:lnTo>
                  <a:pt x="63500" y="340320"/>
                </a:lnTo>
                <a:arcTo hR="63500" wR="63500" stAng="5400000" swAng="5400000"/>
                <a:lnTo>
                  <a:pt x="0" y="63500"/>
                </a:lnTo>
                <a:arcTo hR="63500" wR="63500" stAng="10800000" swAng="5400000"/>
                <a:close/>
              </a:path>
            </a:pathLst>
          </a:custGeom>
          <a:solidFill>
            <a:srgbClr val="A9502C"/>
          </a:solidFill>
          <a:ln/>
        </p:spPr>
        <p:txBody>
          <a:bodyPr wrap="square" lIns="0" tIns="63500" rIns="0" bIns="38100" rtlCol="0" anchor="t">
            <a:normAutofit/>
          </a:bodyPr>
          <a:lstStyle/>
          <a:p>
            <a:pPr algn="ct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Turn 7 on</a:t>
            </a:r>
            <a:endParaRPr lang="en-US" sz="1200" dirty="0"/>
          </a:p>
        </p:txBody>
      </p:sp>
      <p:sp>
        <p:nvSpPr>
          <p:cNvPr id="22" name="Text 20"/>
          <p:cNvSpPr/>
          <p:nvPr/>
        </p:nvSpPr>
        <p:spPr>
          <a:xfrm>
            <a:off x="2203450" y="4588272"/>
            <a:ext cx="494461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Forced to commit</a:t>
            </a:r>
            <a:endParaRPr lang="en-US" sz="1400" dirty="0"/>
          </a:p>
        </p:txBody>
      </p:sp>
      <p:sp>
        <p:nvSpPr>
          <p:cNvPr id="23" name="Text 21"/>
          <p:cNvSpPr/>
          <p:nvPr/>
        </p:nvSpPr>
        <p:spPr>
          <a:xfrm>
            <a:off x="2203450" y="4844802"/>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Mono" pitchFamily="34" charset="0"/>
                <a:ea typeface="IBM Plex Mono" pitchFamily="34" charset="-122"/>
                <a:cs typeface="IBM Plex Mono" pitchFamily="34" charset="-120"/>
              </a:rPr>
              <a:t>the tool choice is pinned to propose_test_case</a:t>
            </a:r>
            <a:endParaRPr lang="en-US" sz="1200" dirty="0"/>
          </a:p>
        </p:txBody>
      </p:sp>
      <p:sp>
        <p:nvSpPr>
          <p:cNvPr id="24" name="Shape 22"/>
          <p:cNvSpPr/>
          <p:nvPr/>
        </p:nvSpPr>
        <p:spPr>
          <a:xfrm>
            <a:off x="7369175" y="1499195"/>
            <a:ext cx="4006850" cy="3651002"/>
          </a:xfrm>
          <a:prstGeom prst="roundRect">
            <a:avLst>
              <a:gd name="adj" fmla="val 2696"/>
            </a:avLst>
          </a:prstGeom>
          <a:solidFill>
            <a:srgbClr val="FDFEFE"/>
          </a:solidFill>
          <a:ln w="6350">
            <a:solidFill>
              <a:srgbClr val="D6E1E6"/>
            </a:solidFill>
            <a:prstDash val="solid"/>
          </a:ln>
        </p:spPr>
      </p:sp>
      <p:sp>
        <p:nvSpPr>
          <p:cNvPr id="25" name="Text 23"/>
          <p:cNvSpPr/>
          <p:nvPr/>
        </p:nvSpPr>
        <p:spPr>
          <a:xfrm>
            <a:off x="7550150" y="1680170"/>
            <a:ext cx="375424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Every proposal is validated</a:t>
            </a:r>
            <a:endParaRPr lang="en-US" sz="1400" dirty="0"/>
          </a:p>
        </p:txBody>
      </p:sp>
      <p:sp>
        <p:nvSpPr>
          <p:cNvPr id="26" name="Text 24"/>
          <p:cNvSpPr/>
          <p:nvPr/>
        </p:nvSpPr>
        <p:spPr>
          <a:xfrm>
            <a:off x="7550150" y="1987500"/>
            <a:ext cx="37542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Rejected if it:</a:t>
            </a:r>
            <a:endParaRPr lang="en-US" sz="1200" dirty="0"/>
          </a:p>
        </p:txBody>
      </p:sp>
      <p:sp>
        <p:nvSpPr>
          <p:cNvPr id="27" name="Text 25"/>
          <p:cNvSpPr/>
          <p:nvPr/>
        </p:nvSpPr>
        <p:spPr>
          <a:xfrm>
            <a:off x="7550150" y="2277021"/>
            <a:ext cx="3754247" cy="1130201"/>
          </a:xfrm>
          <a:prstGeom prst="rect">
            <a:avLst/>
          </a:prstGeom>
          <a:noFill/>
          <a:ln/>
        </p:spPr>
        <p:txBody>
          <a:bodyPr wrap="square" lIns="0" tIns="0" rIns="0" bIns="0" rtlCol="0" anchor="t">
            <a:normAutofit/>
          </a:bodyPr>
          <a:lstStyle/>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names a screen never observed</a:t>
            </a:r>
            <a:endParaRPr lang="en-US" sz="1200" dirty="0"/>
          </a:p>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cites a requirement id that does not exist</a:t>
            </a:r>
            <a:endParaRPr lang="en-US" sz="1200" dirty="0"/>
          </a:p>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repeats an earlier test</a:t>
            </a:r>
            <a:endParaRPr lang="en-US" sz="1200" dirty="0"/>
          </a:p>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needs a precondition the tester cannot create</a:t>
            </a:r>
            <a:endParaRPr lang="en-US" sz="1200" dirty="0"/>
          </a:p>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falls outside the agreed scope</a:t>
            </a:r>
            <a:endParaRPr lang="en-US" sz="1200" dirty="0"/>
          </a:p>
        </p:txBody>
      </p:sp>
      <p:sp>
        <p:nvSpPr>
          <p:cNvPr id="28" name="Text 26"/>
          <p:cNvSpPr/>
          <p:nvPr/>
        </p:nvSpPr>
        <p:spPr>
          <a:xfrm>
            <a:off x="7550150" y="3458021"/>
            <a:ext cx="37542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model is told why and retries, up to 3 times.</a:t>
            </a:r>
            <a:endParaRPr lang="en-US" sz="1200" dirty="0"/>
          </a:p>
        </p:txBody>
      </p:sp>
      <p:sp>
        <p:nvSpPr>
          <p:cNvPr id="29" name="Text 27"/>
          <p:cNvSpPr/>
          <p:nvPr/>
        </p:nvSpPr>
        <p:spPr>
          <a:xfrm>
            <a:off x="812800" y="5305772"/>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Measured over 62 rounds on the commerce app: the most common tool at each position, a median of 13 calls per round, 989 calls for 101 proposals. Left free, the first live run investigated for ten turns and never proposed.</a:t>
            </a:r>
            <a:endParaRPr lang="en-US" sz="1200" dirty="0"/>
          </a:p>
        </p:txBody>
      </p:sp>
      <p:sp>
        <p:nvSpPr>
          <p:cNvPr id="30" name="Text 28"/>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1" name="Text 2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6">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WHERE TO GO NEXT</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Where to test next, without repeating itself</a:t>
            </a:r>
            <a:endParaRPr lang="en-US" sz="3000" dirty="0"/>
          </a:p>
        </p:txBody>
      </p:sp>
      <p:sp>
        <p:nvSpPr>
          <p:cNvPr id="4" name="Shape 2"/>
          <p:cNvSpPr/>
          <p:nvPr/>
        </p:nvSpPr>
        <p:spPr>
          <a:xfrm>
            <a:off x="815975" y="1778595"/>
            <a:ext cx="3380284" cy="1283841"/>
          </a:xfrm>
          <a:prstGeom prst="roundRect">
            <a:avLst>
              <a:gd name="adj" fmla="val 7666"/>
            </a:avLst>
          </a:prstGeom>
          <a:solidFill>
            <a:srgbClr val="FDFEFE"/>
          </a:solidFill>
          <a:ln w="6350">
            <a:solidFill>
              <a:srgbClr val="D6E1E6"/>
            </a:solidFill>
            <a:prstDash val="solid"/>
          </a:ln>
        </p:spPr>
      </p:sp>
      <p:sp>
        <p:nvSpPr>
          <p:cNvPr id="5" name="Text 3"/>
          <p:cNvSpPr/>
          <p:nvPr/>
        </p:nvSpPr>
        <p:spPr>
          <a:xfrm>
            <a:off x="996950" y="1959570"/>
            <a:ext cx="310888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Steered to the gaps</a:t>
            </a:r>
            <a:endParaRPr lang="en-US" sz="1400" dirty="0"/>
          </a:p>
        </p:txBody>
      </p:sp>
      <p:sp>
        <p:nvSpPr>
          <p:cNvPr id="6" name="Text 4"/>
          <p:cNvSpPr/>
          <p:nvPr/>
        </p:nvSpPr>
        <p:spPr>
          <a:xfrm>
            <a:off x="996950" y="2241500"/>
            <a:ext cx="31088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 coverage map and an exploration directive point it at untested requirements and feature areas.</a:t>
            </a:r>
            <a:endParaRPr lang="en-US" sz="1200" dirty="0"/>
          </a:p>
        </p:txBody>
      </p:sp>
      <p:sp>
        <p:nvSpPr>
          <p:cNvPr id="7" name="Shape 5"/>
          <p:cNvSpPr/>
          <p:nvPr/>
        </p:nvSpPr>
        <p:spPr>
          <a:xfrm>
            <a:off x="4405809" y="1778595"/>
            <a:ext cx="3380333" cy="1283841"/>
          </a:xfrm>
          <a:prstGeom prst="roundRect">
            <a:avLst>
              <a:gd name="adj" fmla="val 7666"/>
            </a:avLst>
          </a:prstGeom>
          <a:solidFill>
            <a:srgbClr val="FDFEFE"/>
          </a:solidFill>
          <a:ln w="6350">
            <a:solidFill>
              <a:srgbClr val="D6E1E6"/>
            </a:solidFill>
            <a:prstDash val="solid"/>
          </a:ln>
        </p:spPr>
      </p:sp>
      <p:sp>
        <p:nvSpPr>
          <p:cNvPr id="8" name="Text 6"/>
          <p:cNvSpPr/>
          <p:nvPr/>
        </p:nvSpPr>
        <p:spPr>
          <a:xfrm>
            <a:off x="4586784" y="1959570"/>
            <a:ext cx="310893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 cap on every area</a:t>
            </a:r>
            <a:endParaRPr lang="en-US" sz="1400" dirty="0"/>
          </a:p>
        </p:txBody>
      </p:sp>
      <p:sp>
        <p:nvSpPr>
          <p:cNvPr id="9" name="Text 7"/>
          <p:cNvSpPr/>
          <p:nvPr/>
        </p:nvSpPr>
        <p:spPr>
          <a:xfrm>
            <a:off x="4586784" y="2241500"/>
            <a:ext cx="31089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After 5 tests an area is marked spent and is no longer promoted, whatever its results.</a:t>
            </a:r>
            <a:endParaRPr lang="en-US" sz="1200" dirty="0"/>
          </a:p>
        </p:txBody>
      </p:sp>
      <p:sp>
        <p:nvSpPr>
          <p:cNvPr id="10" name="Shape 8"/>
          <p:cNvSpPr/>
          <p:nvPr/>
        </p:nvSpPr>
        <p:spPr>
          <a:xfrm>
            <a:off x="7995692" y="1778595"/>
            <a:ext cx="3380333" cy="1283841"/>
          </a:xfrm>
          <a:prstGeom prst="roundRect">
            <a:avLst>
              <a:gd name="adj" fmla="val 7666"/>
            </a:avLst>
          </a:prstGeom>
          <a:solidFill>
            <a:srgbClr val="FDFEFE"/>
          </a:solidFill>
          <a:ln w="6350">
            <a:solidFill>
              <a:srgbClr val="D6E1E6"/>
            </a:solidFill>
            <a:prstDash val="solid"/>
          </a:ln>
        </p:spPr>
      </p:sp>
      <p:sp>
        <p:nvSpPr>
          <p:cNvPr id="11" name="Text 9"/>
          <p:cNvSpPr/>
          <p:nvPr/>
        </p:nvSpPr>
        <p:spPr>
          <a:xfrm>
            <a:off x="8176667" y="1959570"/>
            <a:ext cx="310893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No near-duplicates</a:t>
            </a:r>
            <a:endParaRPr lang="en-US" sz="1400" dirty="0"/>
          </a:p>
        </p:txBody>
      </p:sp>
      <p:sp>
        <p:nvSpPr>
          <p:cNvPr id="12" name="Text 10"/>
          <p:cNvSpPr/>
          <p:nvPr/>
        </p:nvSpPr>
        <p:spPr>
          <a:xfrm>
            <a:off x="8176667" y="2241500"/>
            <a:ext cx="31089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new title is compared with every earlier test, by word overlap (0.60) and by meaning (0.90 cosine).</a:t>
            </a:r>
            <a:endParaRPr lang="en-US" sz="1200" dirty="0"/>
          </a:p>
        </p:txBody>
      </p:sp>
      <p:sp>
        <p:nvSpPr>
          <p:cNvPr id="13" name="Shape 11"/>
          <p:cNvSpPr/>
          <p:nvPr/>
        </p:nvSpPr>
        <p:spPr>
          <a:xfrm>
            <a:off x="815975" y="3271986"/>
            <a:ext cx="10560050" cy="1070521"/>
          </a:xfrm>
          <a:prstGeom prst="roundRect">
            <a:avLst>
              <a:gd name="adj" fmla="val 9194"/>
            </a:avLst>
          </a:prstGeom>
          <a:solidFill>
            <a:srgbClr val="FDFEFE"/>
          </a:solidFill>
          <a:ln w="6350">
            <a:solidFill>
              <a:srgbClr val="D6E1E6"/>
            </a:solidFill>
            <a:prstDash val="solid"/>
          </a:ln>
        </p:spPr>
      </p:sp>
      <p:sp>
        <p:nvSpPr>
          <p:cNvPr id="14" name="Text 12"/>
          <p:cNvSpPr/>
          <p:nvPr/>
        </p:nvSpPr>
        <p:spPr>
          <a:xfrm>
            <a:off x="1022350" y="3452961"/>
            <a:ext cx="1045171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A9502C"/>
                </a:solidFill>
                <a:latin typeface="IBM Plex Sans" pitchFamily="34" charset="0"/>
                <a:ea typeface="IBM Plex Sans" pitchFamily="34" charset="-122"/>
                <a:cs typeface="IBM Plex Sans" pitchFamily="34" charset="-120"/>
              </a:rPr>
              <a:t>Why the cap was needed</a:t>
            </a:r>
            <a:endParaRPr lang="en-US" sz="1400" dirty="0"/>
          </a:p>
        </p:txBody>
      </p:sp>
      <p:sp>
        <p:nvSpPr>
          <p:cNvPr id="15" name="Text 13"/>
          <p:cNvSpPr/>
          <p:nvPr/>
        </p:nvSpPr>
        <p:spPr>
          <a:xfrm>
            <a:off x="1022350" y="3734891"/>
            <a:ext cx="10451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In one 13-round campaign, 9 tests landed on the same screen: a failing area kept being promoted, and nothing ever retired it. The intuitive fix, stopping once an area yields nothing new, would never have fired, because the ninth test was still producing technically new findings.</a:t>
            </a:r>
            <a:endParaRPr lang="en-US" sz="1200" dirty="0"/>
          </a:p>
        </p:txBody>
      </p:sp>
      <p:sp>
        <p:nvSpPr>
          <p:cNvPr id="16" name="Text 1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7" name="Text 1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7">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THE OUTPUT CONTRACT</a:t>
            </a:r>
            <a:endParaRPr lang="en-US" sz="1200" dirty="0"/>
          </a:p>
        </p:txBody>
      </p:sp>
      <p:sp>
        <p:nvSpPr>
          <p:cNvPr id="3" name="Text 1"/>
          <p:cNvSpPr/>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the planner actually emits</a:t>
            </a:r>
            <a:endParaRPr lang="en-US" sz="3000" dirty="0"/>
          </a:p>
        </p:txBody>
      </p:sp>
      <p:sp>
        <p:nvSpPr>
          <p:cNvPr id="4" name="Text 2"/>
          <p:cNvSpPr/>
          <p:nvPr/>
        </p:nvSpPr>
        <p:spPr>
          <a:xfrm>
            <a:off x="812800" y="14960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A test case in plain language, never a tap sequence. Both planner modes emit the same fields.</a:t>
            </a:r>
            <a:endParaRPr lang="en-US" sz="1200" dirty="0"/>
          </a:p>
        </p:txBody>
      </p:sp>
      <p:sp>
        <p:nvSpPr>
          <p:cNvPr id="5" name="Text 3"/>
          <p:cNvSpPr/>
          <p:nvPr/>
        </p:nvSpPr>
        <p:spPr>
          <a:xfrm>
            <a:off x="812800" y="1887141"/>
            <a:ext cx="3937000" cy="2777133"/>
          </a:xfrm>
          <a:prstGeom prst="roundRect">
            <a:avLst>
              <a:gd name="adj" fmla="val 3658"/>
            </a:avLst>
          </a:prstGeom>
          <a:solidFill>
            <a:srgbClr val="14303D"/>
          </a:solidFill>
          <a:ln/>
        </p:spPr>
        <p:txBody>
          <a:bodyPr wrap="square" lIns="249642" tIns="198842" rIns="148296" bIns="173442" rtlCol="0" anchor="t">
            <a:normAutofit/>
          </a:bodyPr>
          <a:lstStyle/>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title</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objective</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expected_result</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preconditions[]</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screen_hint</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area · priority · test_type</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requirement_ids[]</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rationale</a:t>
            </a:r>
            <a:endParaRPr lang="en-US" sz="1400" dirty="0"/>
          </a:p>
          <a:p>
            <a:pPr algn="l" indent="0" marL="0">
              <a:lnSpc>
                <a:spcPts val="2030"/>
              </a:lnSpc>
              <a:buNone/>
            </a:pPr>
            <a:r>
              <a:rPr lang="en-US" sz="1400" dirty="0">
                <a:solidFill>
                  <a:srgbClr val="F3F6F5"/>
                </a:solidFill>
                <a:latin typeface="IBM Plex Mono" pitchFamily="34" charset="0"/>
                <a:ea typeface="IBM Plex Mono" pitchFamily="34" charset="-122"/>
                <a:cs typeface="IBM Plex Mono" pitchFamily="34" charset="-120"/>
              </a:rPr>
              <a:t>addresses</a:t>
            </a:r>
            <a:endParaRPr lang="en-US" sz="1400" dirty="0"/>
          </a:p>
        </p:txBody>
      </p:sp>
      <p:sp>
        <p:nvSpPr>
          <p:cNvPr id="6" name="Shape 4"/>
          <p:cNvSpPr/>
          <p:nvPr/>
        </p:nvSpPr>
        <p:spPr>
          <a:xfrm>
            <a:off x="5006975" y="1890316"/>
            <a:ext cx="6369050" cy="2770783"/>
          </a:xfrm>
          <a:prstGeom prst="roundRect">
            <a:avLst>
              <a:gd name="adj" fmla="val 3552"/>
            </a:avLst>
          </a:prstGeom>
          <a:solidFill>
            <a:srgbClr val="FDFEFE"/>
          </a:solidFill>
          <a:ln w="6350">
            <a:solidFill>
              <a:srgbClr val="D6E1E6"/>
            </a:solidFill>
            <a:prstDash val="solid"/>
          </a:ln>
        </p:spPr>
      </p:sp>
      <p:sp>
        <p:nvSpPr>
          <p:cNvPr id="7" name="Text 5"/>
          <p:cNvSpPr/>
          <p:nvPr/>
        </p:nvSpPr>
        <p:spPr>
          <a:xfrm>
            <a:off x="5264150" y="2096691"/>
            <a:ext cx="60303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Mono" pitchFamily="34" charset="0"/>
                <a:ea typeface="IBM Plex Mono" pitchFamily="34" charset="-122"/>
                <a:cs typeface="IBM Plex Mono" pitchFamily="34" charset="-120"/>
              </a:rPr>
              <a:t>TC-003 · commerce app · tools mode</a:t>
            </a:r>
            <a:endParaRPr lang="en-US" sz="1200" dirty="0"/>
          </a:p>
        </p:txBody>
      </p:sp>
      <p:sp>
        <p:nvSpPr>
          <p:cNvPr id="8" name="Text 6"/>
          <p:cNvSpPr/>
          <p:nvPr/>
        </p:nvSpPr>
        <p:spPr>
          <a:xfrm>
            <a:off x="5264150" y="2398911"/>
            <a:ext cx="60303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Mono" pitchFamily="34" charset="0"/>
                <a:ea typeface="IBM Plex Mono" pitchFamily="34" charset="-122"/>
                <a:cs typeface="IBM Plex Mono" pitchFamily="34" charset="-120"/>
              </a:rPr>
              <a:t>objective</a:t>
            </a:r>
            <a:endParaRPr lang="en-US" sz="1200" dirty="0"/>
          </a:p>
        </p:txBody>
      </p:sp>
      <p:sp>
        <p:nvSpPr>
          <p:cNvPr id="9" name="Text 7"/>
          <p:cNvSpPr/>
          <p:nvPr/>
        </p:nvSpPr>
        <p:spPr>
          <a:xfrm>
            <a:off x="5264150" y="2701131"/>
            <a:ext cx="603034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303D"/>
                </a:solidFill>
                <a:latin typeface="Source Serif 4" pitchFamily="34" charset="0"/>
                <a:ea typeface="Source Serif 4" pitchFamily="34" charset="-122"/>
                <a:cs typeface="Source Serif 4" pitchFamily="34" charset="-120"/>
              </a:rPr>
              <a:t>“Verify that clearing the farm name field to empty and attempting to save produces a visible error identifying the farm name as required.”</a:t>
            </a:r>
            <a:endParaRPr lang="en-US" sz="1400" dirty="0"/>
          </a:p>
        </p:txBody>
      </p:sp>
      <p:sp>
        <p:nvSpPr>
          <p:cNvPr id="10" name="Text 8"/>
          <p:cNvSpPr/>
          <p:nvPr/>
        </p:nvSpPr>
        <p:spPr>
          <a:xfrm>
            <a:off x="5264150" y="3287812"/>
            <a:ext cx="142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Mono" pitchFamily="34" charset="0"/>
                <a:ea typeface="IBM Plex Mono" pitchFamily="34" charset="-122"/>
                <a:cs typeface="IBM Plex Mono" pitchFamily="34" charset="-120"/>
              </a:rPr>
              <a:t>requirement_ids</a:t>
            </a:r>
            <a:endParaRPr lang="en-US" sz="1200" dirty="0"/>
          </a:p>
        </p:txBody>
      </p:sp>
      <p:sp>
        <p:nvSpPr>
          <p:cNvPr id="11" name="Text 9"/>
          <p:cNvSpPr/>
          <p:nvPr/>
        </p:nvSpPr>
        <p:spPr>
          <a:xfrm>
            <a:off x="5264150" y="3526532"/>
            <a:ext cx="14224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303D"/>
                </a:solidFill>
                <a:latin typeface="IBM Plex Mono" pitchFamily="34" charset="0"/>
                <a:ea typeface="IBM Plex Mono" pitchFamily="34" charset="-122"/>
                <a:cs typeface="IBM Plex Mono" pitchFamily="34" charset="-120"/>
              </a:rPr>
              <a:t>FR-FARM-04</a:t>
            </a:r>
            <a:endParaRPr lang="en-US" sz="1300" dirty="0"/>
          </a:p>
        </p:txBody>
      </p:sp>
      <p:sp>
        <p:nvSpPr>
          <p:cNvPr id="12" name="Text 10"/>
          <p:cNvSpPr/>
          <p:nvPr/>
        </p:nvSpPr>
        <p:spPr>
          <a:xfrm>
            <a:off x="6889750" y="3287812"/>
            <a:ext cx="1041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Mono" pitchFamily="34" charset="0"/>
                <a:ea typeface="IBM Plex Mono" pitchFamily="34" charset="-122"/>
                <a:cs typeface="IBM Plex Mono" pitchFamily="34" charset="-120"/>
              </a:rPr>
              <a:t>addresses</a:t>
            </a:r>
            <a:endParaRPr lang="en-US" sz="1200" dirty="0"/>
          </a:p>
        </p:txBody>
      </p:sp>
      <p:sp>
        <p:nvSpPr>
          <p:cNvPr id="13" name="Text 11"/>
          <p:cNvSpPr/>
          <p:nvPr/>
        </p:nvSpPr>
        <p:spPr>
          <a:xfrm>
            <a:off x="6889750" y="3526532"/>
            <a:ext cx="10414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303D"/>
                </a:solidFill>
                <a:latin typeface="IBM Plex Mono" pitchFamily="34" charset="0"/>
                <a:ea typeface="IBM Plex Mono" pitchFamily="34" charset="-122"/>
                <a:cs typeface="IBM Plex Mono" pitchFamily="34" charset="-120"/>
              </a:rPr>
              <a:t>F-422162fd</a:t>
            </a:r>
            <a:endParaRPr lang="en-US" sz="1300" dirty="0"/>
          </a:p>
        </p:txBody>
      </p:sp>
      <p:sp>
        <p:nvSpPr>
          <p:cNvPr id="14" name="Text 12"/>
          <p:cNvSpPr/>
          <p:nvPr/>
        </p:nvSpPr>
        <p:spPr>
          <a:xfrm>
            <a:off x="5264150" y="3846562"/>
            <a:ext cx="60303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Requirement ids make requirement coverage reportable. </a:t>
            </a:r>
            <a:r>
              <a:rPr lang="en-US" sz="1200" b="1" dirty="0">
                <a:solidFill>
                  <a:srgbClr val="46596A"/>
                </a:solidFill>
                <a:latin typeface="IBM Plex Sans" pitchFamily="34" charset="0"/>
                <a:ea typeface="IBM Plex Sans" pitchFamily="34" charset="-122"/>
                <a:cs typeface="IBM Plex Sans" pitchFamily="34" charset="-120"/>
              </a:rPr>
              <a:t>addresses</a:t>
            </a:r>
            <a:r>
              <a:rPr lang="en-US" sz="1200" dirty="0">
                <a:solidFill>
                  <a:srgbClr val="46596A"/>
                </a:solidFill>
                <a:latin typeface="IBM Plex Sans" pitchFamily="34" charset="0"/>
                <a:ea typeface="IBM Plex Sans" pitchFamily="34" charset="-122"/>
                <a:cs typeface="IBM Plex Sans" pitchFamily="34" charset="-120"/>
              </a:rPr>
              <a:t> names the open question this test settles: an earlier run suspected farm names were never validated.</a:t>
            </a:r>
            <a:endParaRPr lang="en-US" sz="1200" dirty="0"/>
          </a:p>
        </p:txBody>
      </p:sp>
      <p:sp>
        <p:nvSpPr>
          <p:cNvPr id="15" name="Text 1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6" name="Text 1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8">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ONE REAL TEST</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One real test, from plan to finding</a:t>
            </a:r>
            <a:endParaRPr lang="en-US" sz="3000" dirty="0"/>
          </a:p>
        </p:txBody>
      </p:sp>
      <p:sp>
        <p:nvSpPr>
          <p:cNvPr id="4" name="Shape 2"/>
          <p:cNvSpPr/>
          <p:nvPr/>
        </p:nvSpPr>
        <p:spPr>
          <a:xfrm>
            <a:off x="815975" y="1778595"/>
            <a:ext cx="6343650" cy="3813274"/>
          </a:xfrm>
          <a:prstGeom prst="roundRect">
            <a:avLst>
              <a:gd name="adj" fmla="val 2581"/>
            </a:avLst>
          </a:prstGeom>
          <a:solidFill>
            <a:srgbClr val="FDFEFE"/>
          </a:solidFill>
          <a:ln w="6350">
            <a:solidFill>
              <a:srgbClr val="D6E1E6"/>
            </a:solidFill>
            <a:prstDash val="solid"/>
          </a:ln>
        </p:spPr>
      </p:sp>
      <p:sp>
        <p:nvSpPr>
          <p:cNvPr id="5" name="Text 3"/>
          <p:cNvSpPr/>
          <p:nvPr/>
        </p:nvSpPr>
        <p:spPr>
          <a:xfrm>
            <a:off x="1022350" y="1984970"/>
            <a:ext cx="61088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Mono" pitchFamily="34" charset="0"/>
                <a:ea typeface="IBM Plex Mono" pitchFamily="34" charset="-122"/>
                <a:cs typeface="IBM Plex Mono" pitchFamily="34" charset="-120"/>
              </a:rPr>
              <a:t>TC-018 · written by the planner</a:t>
            </a:r>
            <a:endParaRPr lang="en-US" sz="1200" dirty="0"/>
          </a:p>
        </p:txBody>
      </p:sp>
      <p:sp>
        <p:nvSpPr>
          <p:cNvPr id="6" name="Text 4"/>
          <p:cNvSpPr/>
          <p:nvPr/>
        </p:nvSpPr>
        <p:spPr>
          <a:xfrm>
            <a:off x="1022350" y="2287191"/>
            <a:ext cx="6108827"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303D"/>
                </a:solidFill>
                <a:latin typeface="IBM Plex Sans" pitchFamily="34" charset="0"/>
                <a:ea typeface="IBM Plex Sans" pitchFamily="34" charset="-122"/>
                <a:cs typeface="IBM Plex Sans" pitchFamily="34" charset="-120"/>
              </a:rPr>
              <a:t>Verify duplicate detection triggers for a phone number match when the display name is intentionally different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35050" y="2868811"/>
          <a:ext cx="5918200" cy="2516684"/>
        </p:xfrm>
        <a:graphic>
          <a:graphicData uri="http://schemas.openxmlformats.org/drawingml/2006/table">
            <a:tbl>
              <a:tblPr/>
              <a:tblGrid>
                <a:gridCol w="1420368"/>
                <a:gridCol w="4497832"/>
              </a:tblGrid>
              <a:tr h="332680">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Field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What the planner wrote (condensed)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332680">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Requirements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FR-DUP-02, FR-DUP-04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r h="75932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Why this 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Earlier runs saw silent duplicates but left phone-only detection unverified. A different name isolates FR-DUP-02 from the name rule.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Objective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Create a contact with a new name but an existing contact’s phone number.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Expected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duplicate dialog shows both records (FR-DUP-04), instead of a silent save.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bl>
          </a:graphicData>
        </a:graphic>
      </p:graphicFrame>
      <p:sp>
        <p:nvSpPr>
          <p:cNvPr id="8" name="Shape 5"/>
          <p:cNvSpPr/>
          <p:nvPr/>
        </p:nvSpPr>
        <p:spPr>
          <a:xfrm>
            <a:off x="7369175" y="1778595"/>
            <a:ext cx="4006850" cy="1042591"/>
          </a:xfrm>
          <a:prstGeom prst="roundRect">
            <a:avLst>
              <a:gd name="adj" fmla="val 9440"/>
            </a:avLst>
          </a:prstGeom>
          <a:solidFill>
            <a:srgbClr val="FDFEFE"/>
          </a:solidFill>
          <a:ln w="6350">
            <a:solidFill>
              <a:srgbClr val="D6E1E6"/>
            </a:solidFill>
            <a:prstDash val="solid"/>
          </a:ln>
        </p:spPr>
      </p:sp>
      <p:sp>
        <p:nvSpPr>
          <p:cNvPr id="9" name="Text 6"/>
          <p:cNvSpPr/>
          <p:nvPr/>
        </p:nvSpPr>
        <p:spPr>
          <a:xfrm>
            <a:off x="7550150" y="1934170"/>
            <a:ext cx="37542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EXECUTOR</a:t>
            </a:r>
            <a:endParaRPr lang="en-US" sz="1200" dirty="0"/>
          </a:p>
        </p:txBody>
      </p:sp>
      <p:sp>
        <p:nvSpPr>
          <p:cNvPr id="10" name="Text 7"/>
          <p:cNvSpPr/>
          <p:nvPr/>
        </p:nvSpPr>
        <p:spPr>
          <a:xfrm>
            <a:off x="7550150" y="2185591"/>
            <a:ext cx="375424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303D"/>
                </a:solidFill>
                <a:latin typeface="IBM Plex Sans" pitchFamily="34" charset="0"/>
                <a:ea typeface="IBM Plex Sans" pitchFamily="34" charset="-122"/>
                <a:cs typeface="IBM Plex Sans" pitchFamily="34" charset="-120"/>
              </a:rPr>
              <a:t>48 steps. Created and saved the contact, then found both entries in the list.</a:t>
            </a:r>
            <a:endParaRPr lang="en-US" sz="1400" dirty="0"/>
          </a:p>
        </p:txBody>
      </p:sp>
      <p:sp>
        <p:nvSpPr>
          <p:cNvPr id="11" name="Shape 8"/>
          <p:cNvSpPr/>
          <p:nvPr/>
        </p:nvSpPr>
        <p:spPr>
          <a:xfrm>
            <a:off x="7369175" y="2929136"/>
            <a:ext cx="4006850" cy="1042591"/>
          </a:xfrm>
          <a:prstGeom prst="roundRect">
            <a:avLst>
              <a:gd name="adj" fmla="val 9440"/>
            </a:avLst>
          </a:prstGeom>
          <a:solidFill>
            <a:srgbClr val="FDFEFE"/>
          </a:solidFill>
          <a:ln w="6350">
            <a:solidFill>
              <a:srgbClr val="D6E1E6"/>
            </a:solidFill>
            <a:prstDash val="solid"/>
          </a:ln>
        </p:spPr>
      </p:sp>
      <p:sp>
        <p:nvSpPr>
          <p:cNvPr id="12" name="Text 9"/>
          <p:cNvSpPr/>
          <p:nvPr/>
        </p:nvSpPr>
        <p:spPr>
          <a:xfrm>
            <a:off x="7550150" y="3084711"/>
            <a:ext cx="37542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INVESTIGATOR</a:t>
            </a:r>
            <a:endParaRPr lang="en-US" sz="1200" dirty="0"/>
          </a:p>
        </p:txBody>
      </p:sp>
      <p:sp>
        <p:nvSpPr>
          <p:cNvPr id="13" name="Text 10"/>
          <p:cNvSpPr/>
          <p:nvPr/>
        </p:nvSpPr>
        <p:spPr>
          <a:xfrm>
            <a:off x="7550150" y="3336131"/>
            <a:ext cx="375424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303D"/>
                </a:solidFill>
                <a:latin typeface="IBM Plex Sans" pitchFamily="34" charset="0"/>
                <a:ea typeface="IBM Plex Sans" pitchFamily="34" charset="-122"/>
                <a:cs typeface="IBM Plex Sans" pitchFamily="34" charset="-120"/>
              </a:rPr>
              <a:t>Objective refuted · spec violation, high severity</a:t>
            </a:r>
            <a:endParaRPr lang="en-US" sz="1400" dirty="0"/>
          </a:p>
        </p:txBody>
      </p:sp>
      <p:sp>
        <p:nvSpPr>
          <p:cNvPr id="14" name="Shape 11"/>
          <p:cNvSpPr/>
          <p:nvPr/>
        </p:nvSpPr>
        <p:spPr>
          <a:xfrm>
            <a:off x="7366000" y="4076502"/>
            <a:ext cx="4013200" cy="1518543"/>
          </a:xfrm>
          <a:prstGeom prst="roundRect">
            <a:avLst>
              <a:gd name="adj" fmla="val 6691"/>
            </a:avLst>
          </a:prstGeom>
          <a:solidFill>
            <a:srgbClr val="FBEDE6"/>
          </a:solidFill>
          <a:ln/>
        </p:spPr>
      </p:sp>
      <p:sp>
        <p:nvSpPr>
          <p:cNvPr id="15" name="Text 12"/>
          <p:cNvSpPr/>
          <p:nvPr/>
        </p:nvSpPr>
        <p:spPr>
          <a:xfrm>
            <a:off x="7543800" y="4228902"/>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502C"/>
                </a:solidFill>
                <a:latin typeface="IBM Plex Sans" pitchFamily="34" charset="0"/>
                <a:ea typeface="IBM Plex Sans" pitchFamily="34" charset="-122"/>
                <a:cs typeface="IBM Plex Sans" pitchFamily="34" charset="-120"/>
              </a:rPr>
              <a:t>ITS VERDICT</a:t>
            </a:r>
            <a:endParaRPr lang="en-US" sz="1200" dirty="0"/>
          </a:p>
        </p:txBody>
      </p:sp>
      <p:sp>
        <p:nvSpPr>
          <p:cNvPr id="16" name="Text 13"/>
          <p:cNvSpPr/>
          <p:nvPr/>
        </p:nvSpPr>
        <p:spPr>
          <a:xfrm>
            <a:off x="7543800" y="4480322"/>
            <a:ext cx="3767328" cy="772071"/>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4303D"/>
                </a:solidFill>
                <a:latin typeface="Source Serif 4" pitchFamily="34" charset="0"/>
                <a:ea typeface="Source Serif 4" pitchFamily="34" charset="-122"/>
                <a:cs typeface="Source Serif 4" pitchFamily="34" charset="-120"/>
              </a:rPr>
              <a:t>“This directly answers the earlier open question: duplicate detection is not triggered by phone-number match alone.”</a:t>
            </a:r>
            <a:endParaRPr lang="en-US" sz="1400" dirty="0"/>
          </a:p>
        </p:txBody>
      </p:sp>
      <p:sp>
        <p:nvSpPr>
          <p:cNvPr id="17" name="Text 1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8" name="Text 1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0">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964692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EXECUTOR · THE PLAYER</a:t>
            </a:r>
            <a:endParaRPr lang="en-US" sz="1200" dirty="0"/>
          </a:p>
        </p:txBody>
      </p:sp>
      <p:sp>
        <p:nvSpPr>
          <p:cNvPr id="3" name="Text 1"/>
          <p:cNvSpPr/>
          <p:nvPr/>
        </p:nvSpPr>
        <p:spPr>
          <a:xfrm>
            <a:off x="812800" y="1102320"/>
            <a:ext cx="964692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We chose the executor by trying several</a:t>
            </a:r>
            <a:endParaRPr lang="en-US" sz="3000" dirty="0"/>
          </a:p>
        </p:txBody>
      </p:sp>
      <p:sp>
        <p:nvSpPr>
          <p:cNvPr id="4" name="Shape 2"/>
          <p:cNvSpPr/>
          <p:nvPr/>
        </p:nvSpPr>
        <p:spPr>
          <a:xfrm>
            <a:off x="815975" y="1778595"/>
            <a:ext cx="4438650" cy="2471291"/>
          </a:xfrm>
          <a:prstGeom prst="roundRect">
            <a:avLst>
              <a:gd name="adj" fmla="val 3983"/>
            </a:avLst>
          </a:prstGeom>
          <a:solidFill>
            <a:srgbClr val="FDFEFE"/>
          </a:solidFill>
          <a:ln w="6350">
            <a:solidFill>
              <a:srgbClr val="D6E1E6"/>
            </a:solidFill>
            <a:prstDash val="solid"/>
          </a:ln>
        </p:spPr>
        <p:txBody>
          <a:bodyPr/>
          <a:lstStyle/>
          <a:p>
            <a:endParaRPr lang="en-US"/>
          </a:p>
        </p:txBody>
      </p:sp>
      <p:sp>
        <p:nvSpPr>
          <p:cNvPr id="5" name="Text 3"/>
          <p:cNvSpPr/>
          <p:nvPr/>
        </p:nvSpPr>
        <p:spPr>
          <a:xfrm>
            <a:off x="1022350" y="1984970"/>
            <a:ext cx="4146677"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Surveyed benchmarks, then tried hands-on</a:t>
            </a:r>
            <a:endParaRPr lang="en-US" sz="1400" dirty="0"/>
          </a:p>
        </p:txBody>
      </p:sp>
      <p:sp>
        <p:nvSpPr>
          <p:cNvPr id="6" name="Shape 4"/>
          <p:cNvSpPr/>
          <p:nvPr/>
        </p:nvSpPr>
        <p:spPr>
          <a:xfrm>
            <a:off x="1022350" y="2747566"/>
            <a:ext cx="4025900" cy="0"/>
          </a:xfrm>
          <a:prstGeom prst="line">
            <a:avLst/>
          </a:prstGeom>
          <a:noFill/>
          <a:ln w="6350">
            <a:solidFill>
              <a:srgbClr val="D6E1E6"/>
            </a:solidFill>
            <a:prstDash val="solid"/>
          </a:ln>
        </p:spPr>
        <p:txBody>
          <a:bodyPr/>
          <a:lstStyle/>
          <a:p>
            <a:endParaRPr lang="en-US"/>
          </a:p>
        </p:txBody>
      </p:sp>
      <p:sp>
        <p:nvSpPr>
          <p:cNvPr id="7" name="Text 5"/>
          <p:cNvSpPr/>
          <p:nvPr/>
        </p:nvSpPr>
        <p:spPr>
          <a:xfrm>
            <a:off x="1022350" y="2406600"/>
            <a:ext cx="38685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MUI</a:t>
            </a:r>
            <a:endParaRPr lang="en-US" sz="1400" dirty="0"/>
          </a:p>
        </p:txBody>
      </p:sp>
      <p:sp>
        <p:nvSpPr>
          <p:cNvPr id="8" name="Text 6"/>
          <p:cNvSpPr/>
          <p:nvPr/>
        </p:nvSpPr>
        <p:spPr>
          <a:xfrm>
            <a:off x="4376440" y="2424361"/>
            <a:ext cx="7226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evaluated</a:t>
            </a:r>
            <a:endParaRPr lang="en-US" sz="1200" dirty="0"/>
          </a:p>
        </p:txBody>
      </p:sp>
      <p:sp>
        <p:nvSpPr>
          <p:cNvPr id="9" name="Shape 7"/>
          <p:cNvSpPr/>
          <p:nvPr/>
        </p:nvSpPr>
        <p:spPr>
          <a:xfrm>
            <a:off x="1022350" y="3180606"/>
            <a:ext cx="4025900" cy="0"/>
          </a:xfrm>
          <a:prstGeom prst="line">
            <a:avLst/>
          </a:prstGeom>
          <a:noFill/>
          <a:ln w="6350">
            <a:solidFill>
              <a:srgbClr val="D6E1E6"/>
            </a:solidFill>
            <a:prstDash val="solid"/>
          </a:ln>
        </p:spPr>
        <p:txBody>
          <a:bodyPr/>
          <a:lstStyle/>
          <a:p>
            <a:endParaRPr lang="en-US"/>
          </a:p>
        </p:txBody>
      </p:sp>
      <p:sp>
        <p:nvSpPr>
          <p:cNvPr id="10" name="Text 8"/>
          <p:cNvSpPr/>
          <p:nvPr/>
        </p:nvSpPr>
        <p:spPr>
          <a:xfrm>
            <a:off x="1022350" y="2839641"/>
            <a:ext cx="55899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GeLab</a:t>
            </a:r>
            <a:endParaRPr lang="en-US" sz="1400" dirty="0"/>
          </a:p>
        </p:txBody>
      </p:sp>
      <p:sp>
        <p:nvSpPr>
          <p:cNvPr id="11" name="Text 9"/>
          <p:cNvSpPr/>
          <p:nvPr/>
        </p:nvSpPr>
        <p:spPr>
          <a:xfrm>
            <a:off x="4376440" y="2857401"/>
            <a:ext cx="7226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evaluated</a:t>
            </a:r>
            <a:endParaRPr lang="en-US" sz="1200" dirty="0"/>
          </a:p>
        </p:txBody>
      </p:sp>
      <p:sp>
        <p:nvSpPr>
          <p:cNvPr id="12" name="Shape 10"/>
          <p:cNvSpPr/>
          <p:nvPr/>
        </p:nvSpPr>
        <p:spPr>
          <a:xfrm>
            <a:off x="1022350" y="3613646"/>
            <a:ext cx="4025900" cy="0"/>
          </a:xfrm>
          <a:prstGeom prst="line">
            <a:avLst/>
          </a:prstGeom>
          <a:noFill/>
          <a:ln w="6350">
            <a:solidFill>
              <a:srgbClr val="D6E1E6"/>
            </a:solidFill>
            <a:prstDash val="solid"/>
          </a:ln>
        </p:spPr>
        <p:txBody>
          <a:bodyPr/>
          <a:lstStyle/>
          <a:p>
            <a:endParaRPr lang="en-US"/>
          </a:p>
        </p:txBody>
      </p:sp>
      <p:sp>
        <p:nvSpPr>
          <p:cNvPr id="13" name="Text 11"/>
          <p:cNvSpPr/>
          <p:nvPr/>
        </p:nvSpPr>
        <p:spPr>
          <a:xfrm>
            <a:off x="1022350" y="3272681"/>
            <a:ext cx="1333996"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MobileAgent-V3</a:t>
            </a:r>
            <a:endParaRPr lang="en-US" sz="1400" dirty="0"/>
          </a:p>
        </p:txBody>
      </p:sp>
      <p:sp>
        <p:nvSpPr>
          <p:cNvPr id="14" name="Text 12"/>
          <p:cNvSpPr/>
          <p:nvPr/>
        </p:nvSpPr>
        <p:spPr>
          <a:xfrm>
            <a:off x="4376440" y="3290441"/>
            <a:ext cx="7226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evaluated</a:t>
            </a:r>
            <a:endParaRPr lang="en-US" sz="1200" dirty="0"/>
          </a:p>
        </p:txBody>
      </p:sp>
      <p:sp>
        <p:nvSpPr>
          <p:cNvPr id="15" name="Text 13"/>
          <p:cNvSpPr/>
          <p:nvPr/>
        </p:nvSpPr>
        <p:spPr>
          <a:xfrm>
            <a:off x="1022350" y="3705721"/>
            <a:ext cx="1783819"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mobilerun (Droidrun)</a:t>
            </a:r>
            <a:endParaRPr lang="en-US" sz="1400" dirty="0"/>
          </a:p>
        </p:txBody>
      </p:sp>
      <p:pic>
        <p:nvPicPr>
          <p:cNvPr id="16" name="Image 0" descr="CheckCircle"/>
          <p:cNvPicPr>
            <a:picLocks noChangeAspect="1"/>
          </p:cNvPicPr>
          <p:nvPr/>
        </p:nvPicPr>
        <p:blipFill>
          <a:blip r:embed="rId3"/>
          <a:srcRect/>
          <a:stretch/>
        </p:blipFill>
        <p:spPr>
          <a:xfrm>
            <a:off x="4192339" y="3728541"/>
            <a:ext cx="203200" cy="203200"/>
          </a:xfrm>
          <a:prstGeom prst="rect">
            <a:avLst/>
          </a:prstGeom>
        </p:spPr>
      </p:pic>
      <p:sp>
        <p:nvSpPr>
          <p:cNvPr id="17" name="Text 14"/>
          <p:cNvSpPr/>
          <p:nvPr/>
        </p:nvSpPr>
        <p:spPr>
          <a:xfrm>
            <a:off x="4446339" y="3723481"/>
            <a:ext cx="652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selected</a:t>
            </a:r>
            <a:endParaRPr lang="en-US" sz="1200" dirty="0"/>
          </a:p>
        </p:txBody>
      </p:sp>
      <p:sp>
        <p:nvSpPr>
          <p:cNvPr id="18" name="Shape 15"/>
          <p:cNvSpPr/>
          <p:nvPr/>
        </p:nvSpPr>
        <p:spPr>
          <a:xfrm>
            <a:off x="5464175" y="1778595"/>
            <a:ext cx="5911850" cy="2471291"/>
          </a:xfrm>
          <a:prstGeom prst="roundRect">
            <a:avLst>
              <a:gd name="adj" fmla="val 3983"/>
            </a:avLst>
          </a:prstGeom>
          <a:solidFill>
            <a:srgbClr val="FDFEFE"/>
          </a:solidFill>
          <a:ln w="6350">
            <a:solidFill>
              <a:srgbClr val="D6E1E6"/>
            </a:solidFill>
            <a:prstDash val="solid"/>
          </a:ln>
        </p:spPr>
        <p:txBody>
          <a:bodyPr/>
          <a:lstStyle/>
          <a:p>
            <a:endParaRPr lang="en-US"/>
          </a:p>
        </p:txBody>
      </p:sp>
      <p:sp>
        <p:nvSpPr>
          <p:cNvPr id="19" name="Text 16"/>
          <p:cNvSpPr/>
          <p:nvPr/>
        </p:nvSpPr>
        <p:spPr>
          <a:xfrm>
            <a:off x="5670550" y="1984970"/>
            <a:ext cx="5664073"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What we needed from it</a:t>
            </a:r>
            <a:endParaRPr lang="en-US" sz="1400" dirty="0"/>
          </a:p>
        </p:txBody>
      </p:sp>
      <p:sp>
        <p:nvSpPr>
          <p:cNvPr id="20" name="Text 17"/>
          <p:cNvSpPr/>
          <p:nvPr/>
        </p:nvSpPr>
        <p:spPr>
          <a:xfrm>
            <a:off x="5670550" y="2317700"/>
            <a:ext cx="5664073" cy="1130201"/>
          </a:xfrm>
          <a:prstGeom prst="rect">
            <a:avLst/>
          </a:prstGeom>
          <a:noFill/>
          <a:ln/>
        </p:spPr>
        <p:txBody>
          <a:bodyPr wrap="square" lIns="0" tIns="0" rIns="0" bIns="0" rtlCol="0" anchor="t">
            <a:normAutofit/>
          </a:bodyPr>
          <a:lstStyle/>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Runs from a goal in plain language, not a script</a:t>
            </a:r>
            <a:endParaRPr lang="en-US" sz="1200" dirty="0"/>
          </a:p>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Drives a real Android device through its accessibility tree and screenshots</a:t>
            </a:r>
            <a:endParaRPr lang="en-US" sz="1200" dirty="0"/>
          </a:p>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Accepts our own model provider (OpenRouter)</a:t>
            </a:r>
            <a:endParaRPr lang="en-US" sz="1200" dirty="0"/>
          </a:p>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Saves a step-by-step trajectory we can analyse</a:t>
            </a:r>
            <a:endParaRPr lang="en-US" sz="1200" dirty="0"/>
          </a:p>
          <a:p>
            <a:pPr marL="182880" indent="-155194" algn="l">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Streams every screen it sees, so we can map the app</a:t>
            </a:r>
            <a:endParaRPr lang="en-US" sz="1200" dirty="0"/>
          </a:p>
        </p:txBody>
      </p:sp>
      <p:sp>
        <p:nvSpPr>
          <p:cNvPr id="22" name="Text 19"/>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3" name="Text 20"/>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20</a:t>
            </a:r>
            <a:endParaRPr lang="en-US" sz="1200" dirty="0"/>
          </a:p>
        </p:txBody>
      </p:sp>
      <p:pic>
        <p:nvPicPr>
          <p:cNvPr id="24" name="Picture 23" descr="android.png"/>
          <p:cNvPicPr>
            <a:picLocks noChangeAspect="1"/>
          </p:cNvPicPr>
          <p:nvPr/>
        </p:nvPicPr>
        <p:blipFill>
          <a:blip r:embed="rId4"/>
          <a:stretch>
            <a:fillRect/>
          </a:stretch>
        </p:blipFill>
        <p:spPr>
          <a:xfrm>
            <a:off x="10716768" y="731520"/>
            <a:ext cx="804672" cy="8046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1">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EXECUTOR · ONE RUN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How a test is executed on the device</a:t>
            </a:r>
            <a:endParaRPr lang="en-US" sz="3000" dirty="0"/>
          </a:p>
        </p:txBody>
      </p:sp>
      <p:sp>
        <p:nvSpPr>
          <p:cNvPr id="4" name="Shape 2"/>
          <p:cNvSpPr/>
          <p:nvPr/>
        </p:nvSpPr>
        <p:spPr>
          <a:xfrm>
            <a:off x="815975" y="1908175"/>
            <a:ext cx="2025650" cy="1708150"/>
          </a:xfrm>
          <a:prstGeom prst="roundRect">
            <a:avLst>
              <a:gd name="adj" fmla="val 5762"/>
            </a:avLst>
          </a:prstGeom>
          <a:solidFill>
            <a:srgbClr val="FDFEFE"/>
          </a:solidFill>
          <a:ln w="6350">
            <a:solidFill>
              <a:srgbClr val="D6E1E6"/>
            </a:solidFill>
            <a:prstDash val="solid"/>
          </a:ln>
        </p:spPr>
        <p:txBody>
          <a:bodyPr/>
          <a:lstStyle/>
          <a:p>
            <a:endParaRPr lang="en-US"/>
          </a:p>
        </p:txBody>
      </p:sp>
      <p:sp>
        <p:nvSpPr>
          <p:cNvPr id="5" name="Text 3"/>
          <p:cNvSpPr/>
          <p:nvPr/>
        </p:nvSpPr>
        <p:spPr>
          <a:xfrm>
            <a:off x="996950" y="2089150"/>
            <a:ext cx="17145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Goal</a:t>
            </a:r>
            <a:endParaRPr lang="en-US" sz="1400" dirty="0"/>
          </a:p>
        </p:txBody>
      </p:sp>
      <p:sp>
        <p:nvSpPr>
          <p:cNvPr id="6" name="Text 4"/>
          <p:cNvSpPr/>
          <p:nvPr/>
        </p:nvSpPr>
        <p:spPr>
          <a:xfrm>
            <a:off x="996950" y="2371080"/>
            <a:ext cx="171450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objective, screen hint, and login and input details</a:t>
            </a:r>
            <a:endParaRPr lang="en-US" sz="1200" dirty="0"/>
          </a:p>
        </p:txBody>
      </p:sp>
      <p:sp>
        <p:nvSpPr>
          <p:cNvPr id="7" name="Shape 5"/>
          <p:cNvSpPr/>
          <p:nvPr/>
        </p:nvSpPr>
        <p:spPr>
          <a:xfrm>
            <a:off x="3308350" y="1911350"/>
            <a:ext cx="5575300" cy="1701800"/>
          </a:xfrm>
          <a:prstGeom prst="roundRect">
            <a:avLst>
              <a:gd name="adj" fmla="val 5597"/>
            </a:avLst>
          </a:prstGeom>
          <a:solidFill>
            <a:srgbClr val="EDF2F4"/>
          </a:solidFill>
          <a:ln w="12700">
            <a:solidFill>
              <a:srgbClr val="0F7EA8"/>
            </a:solidFill>
            <a:prstDash val="dash"/>
          </a:ln>
        </p:spPr>
        <p:txBody>
          <a:bodyPr/>
          <a:lstStyle/>
          <a:p>
            <a:endParaRPr lang="en-US"/>
          </a:p>
        </p:txBody>
      </p:sp>
      <p:sp>
        <p:nvSpPr>
          <p:cNvPr id="8" name="Shape 6"/>
          <p:cNvSpPr/>
          <p:nvPr/>
        </p:nvSpPr>
        <p:spPr>
          <a:xfrm>
            <a:off x="3429000" y="2032000"/>
            <a:ext cx="1524000" cy="937171"/>
          </a:xfrm>
          <a:prstGeom prst="roundRect">
            <a:avLst>
              <a:gd name="adj" fmla="val 6776"/>
            </a:avLst>
          </a:prstGeom>
          <a:solidFill>
            <a:srgbClr val="FDFEFE"/>
          </a:solidFill>
          <a:ln/>
        </p:spPr>
        <p:txBody>
          <a:bodyPr/>
          <a:lstStyle/>
          <a:p>
            <a:endParaRPr lang="en-US"/>
          </a:p>
        </p:txBody>
      </p:sp>
      <p:sp>
        <p:nvSpPr>
          <p:cNvPr id="9" name="Text 7"/>
          <p:cNvSpPr/>
          <p:nvPr/>
        </p:nvSpPr>
        <p:spPr>
          <a:xfrm>
            <a:off x="3556000" y="2159000"/>
            <a:ext cx="13208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Observe</a:t>
            </a:r>
            <a:endParaRPr lang="en-US" sz="1400" dirty="0"/>
          </a:p>
        </p:txBody>
      </p:sp>
      <p:sp>
        <p:nvSpPr>
          <p:cNvPr id="10" name="Text 8"/>
          <p:cNvSpPr/>
          <p:nvPr/>
        </p:nvSpPr>
        <p:spPr>
          <a:xfrm>
            <a:off x="3556000" y="2415530"/>
            <a:ext cx="1320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accessibility tree and screenshot</a:t>
            </a:r>
            <a:endParaRPr lang="en-US" sz="1200" dirty="0"/>
          </a:p>
        </p:txBody>
      </p:sp>
      <p:pic>
        <p:nvPicPr>
          <p:cNvPr id="11" name="Image 0" descr="arrow-right"/>
          <p:cNvPicPr>
            <a:picLocks noChangeAspect="1"/>
          </p:cNvPicPr>
          <p:nvPr/>
        </p:nvPicPr>
        <p:blipFill>
          <a:blip r:embed="rId3"/>
          <a:srcRect/>
          <a:stretch/>
        </p:blipFill>
        <p:spPr>
          <a:xfrm>
            <a:off x="5029200" y="2424361"/>
            <a:ext cx="228600" cy="152400"/>
          </a:xfrm>
          <a:prstGeom prst="rect">
            <a:avLst/>
          </a:prstGeom>
        </p:spPr>
      </p:pic>
      <p:sp>
        <p:nvSpPr>
          <p:cNvPr id="12" name="Shape 9"/>
          <p:cNvSpPr/>
          <p:nvPr/>
        </p:nvSpPr>
        <p:spPr>
          <a:xfrm>
            <a:off x="5334000" y="2032000"/>
            <a:ext cx="1524000" cy="937171"/>
          </a:xfrm>
          <a:prstGeom prst="roundRect">
            <a:avLst>
              <a:gd name="adj" fmla="val 6776"/>
            </a:avLst>
          </a:prstGeom>
          <a:solidFill>
            <a:srgbClr val="FDFEFE"/>
          </a:solidFill>
          <a:ln/>
        </p:spPr>
        <p:txBody>
          <a:bodyPr/>
          <a:lstStyle/>
          <a:p>
            <a:endParaRPr lang="en-US"/>
          </a:p>
        </p:txBody>
      </p:sp>
      <p:sp>
        <p:nvSpPr>
          <p:cNvPr id="13" name="Text 10"/>
          <p:cNvSpPr/>
          <p:nvPr/>
        </p:nvSpPr>
        <p:spPr>
          <a:xfrm>
            <a:off x="5461000" y="2159000"/>
            <a:ext cx="13208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Decide</a:t>
            </a:r>
            <a:endParaRPr lang="en-US" sz="1400" dirty="0"/>
          </a:p>
        </p:txBody>
      </p:sp>
      <p:sp>
        <p:nvSpPr>
          <p:cNvPr id="14" name="Text 11"/>
          <p:cNvSpPr/>
          <p:nvPr/>
        </p:nvSpPr>
        <p:spPr>
          <a:xfrm>
            <a:off x="5461000" y="2415530"/>
            <a:ext cx="1320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model picks the next action</a:t>
            </a:r>
            <a:endParaRPr lang="en-US" sz="1200" dirty="0"/>
          </a:p>
        </p:txBody>
      </p:sp>
      <p:pic>
        <p:nvPicPr>
          <p:cNvPr id="15" name="Image 1" descr="arrow-right"/>
          <p:cNvPicPr>
            <a:picLocks noChangeAspect="1"/>
          </p:cNvPicPr>
          <p:nvPr/>
        </p:nvPicPr>
        <p:blipFill>
          <a:blip r:embed="rId3"/>
          <a:srcRect/>
          <a:stretch/>
        </p:blipFill>
        <p:spPr>
          <a:xfrm>
            <a:off x="6934200" y="2424361"/>
            <a:ext cx="228600" cy="152400"/>
          </a:xfrm>
          <a:prstGeom prst="rect">
            <a:avLst/>
          </a:prstGeom>
        </p:spPr>
      </p:pic>
      <p:sp>
        <p:nvSpPr>
          <p:cNvPr id="16" name="Shape 12"/>
          <p:cNvSpPr/>
          <p:nvPr/>
        </p:nvSpPr>
        <p:spPr>
          <a:xfrm>
            <a:off x="7239000" y="2032000"/>
            <a:ext cx="1524000" cy="937171"/>
          </a:xfrm>
          <a:prstGeom prst="roundRect">
            <a:avLst>
              <a:gd name="adj" fmla="val 6776"/>
            </a:avLst>
          </a:prstGeom>
          <a:solidFill>
            <a:srgbClr val="FDFEFE"/>
          </a:solidFill>
          <a:ln/>
        </p:spPr>
        <p:txBody>
          <a:bodyPr/>
          <a:lstStyle/>
          <a:p>
            <a:endParaRPr lang="en-US"/>
          </a:p>
        </p:txBody>
      </p:sp>
      <p:sp>
        <p:nvSpPr>
          <p:cNvPr id="17" name="Text 13"/>
          <p:cNvSpPr/>
          <p:nvPr/>
        </p:nvSpPr>
        <p:spPr>
          <a:xfrm>
            <a:off x="7366000" y="2159000"/>
            <a:ext cx="13208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Act</a:t>
            </a:r>
            <a:endParaRPr lang="en-US" sz="1400" dirty="0"/>
          </a:p>
        </p:txBody>
      </p:sp>
      <p:sp>
        <p:nvSpPr>
          <p:cNvPr id="18" name="Text 14"/>
          <p:cNvSpPr/>
          <p:nvPr/>
        </p:nvSpPr>
        <p:spPr>
          <a:xfrm>
            <a:off x="7366000" y="2415530"/>
            <a:ext cx="13208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tap, type or swipe over adb</a:t>
            </a:r>
            <a:endParaRPr lang="en-US" sz="1200" dirty="0"/>
          </a:p>
        </p:txBody>
      </p:sp>
      <p:sp>
        <p:nvSpPr>
          <p:cNvPr id="19" name="Text 15"/>
          <p:cNvSpPr/>
          <p:nvPr/>
        </p:nvSpPr>
        <p:spPr>
          <a:xfrm>
            <a:off x="3429000" y="3032671"/>
            <a:ext cx="54940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repeats up to 50 steps, about 20 seconds each</a:t>
            </a:r>
            <a:endParaRPr lang="en-US" sz="1200" dirty="0"/>
          </a:p>
        </p:txBody>
      </p:sp>
      <p:sp>
        <p:nvSpPr>
          <p:cNvPr id="20" name="Shape 16"/>
          <p:cNvSpPr/>
          <p:nvPr/>
        </p:nvSpPr>
        <p:spPr>
          <a:xfrm>
            <a:off x="9350375" y="1908175"/>
            <a:ext cx="2025650" cy="1708150"/>
          </a:xfrm>
          <a:prstGeom prst="roundRect">
            <a:avLst>
              <a:gd name="adj" fmla="val 5762"/>
            </a:avLst>
          </a:prstGeom>
          <a:solidFill>
            <a:srgbClr val="FDFEFE"/>
          </a:solidFill>
          <a:ln w="6350">
            <a:solidFill>
              <a:srgbClr val="D6E1E6"/>
            </a:solidFill>
            <a:prstDash val="solid"/>
          </a:ln>
        </p:spPr>
        <p:txBody>
          <a:bodyPr/>
          <a:lstStyle/>
          <a:p>
            <a:endParaRPr lang="en-US"/>
          </a:p>
        </p:txBody>
      </p:sp>
      <p:sp>
        <p:nvSpPr>
          <p:cNvPr id="21" name="Text 17"/>
          <p:cNvSpPr/>
          <p:nvPr/>
        </p:nvSpPr>
        <p:spPr>
          <a:xfrm>
            <a:off x="9531350" y="2089150"/>
            <a:ext cx="171450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Trajectory</a:t>
            </a:r>
            <a:endParaRPr lang="en-US" sz="1400" dirty="0"/>
          </a:p>
        </p:txBody>
      </p:sp>
      <p:sp>
        <p:nvSpPr>
          <p:cNvPr id="22" name="Text 18"/>
          <p:cNvSpPr/>
          <p:nvPr/>
        </p:nvSpPr>
        <p:spPr>
          <a:xfrm>
            <a:off x="9531350" y="2371080"/>
            <a:ext cx="17145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step's thought, action and outcome</a:t>
            </a:r>
            <a:endParaRPr lang="en-US" sz="1200" dirty="0"/>
          </a:p>
        </p:txBody>
      </p:sp>
      <p:pic>
        <p:nvPicPr>
          <p:cNvPr id="23" name="Image 2" descr="connector"/>
          <p:cNvPicPr>
            <a:picLocks noChangeAspect="1"/>
          </p:cNvPicPr>
          <p:nvPr/>
        </p:nvPicPr>
        <p:blipFill>
          <a:blip r:embed="rId4"/>
          <a:srcRect/>
          <a:stretch/>
        </p:blipFill>
        <p:spPr>
          <a:xfrm>
            <a:off x="2806700" y="2711450"/>
            <a:ext cx="533400" cy="101600"/>
          </a:xfrm>
          <a:prstGeom prst="rect">
            <a:avLst/>
          </a:prstGeom>
        </p:spPr>
      </p:pic>
      <p:pic>
        <p:nvPicPr>
          <p:cNvPr id="24" name="Image 3" descr="connector"/>
          <p:cNvPicPr>
            <a:picLocks noChangeAspect="1"/>
          </p:cNvPicPr>
          <p:nvPr/>
        </p:nvPicPr>
        <p:blipFill>
          <a:blip r:embed="rId4"/>
          <a:srcRect/>
          <a:stretch/>
        </p:blipFill>
        <p:spPr>
          <a:xfrm>
            <a:off x="8851900" y="2711450"/>
            <a:ext cx="533400" cy="101600"/>
          </a:xfrm>
          <a:prstGeom prst="rect">
            <a:avLst/>
          </a:prstGeom>
        </p:spPr>
      </p:pic>
      <p:sp>
        <p:nvSpPr>
          <p:cNvPr id="25" name="Shape 19"/>
          <p:cNvSpPr/>
          <p:nvPr/>
        </p:nvSpPr>
        <p:spPr>
          <a:xfrm>
            <a:off x="815975" y="3876675"/>
            <a:ext cx="10560050" cy="1309241"/>
          </a:xfrm>
          <a:prstGeom prst="roundRect">
            <a:avLst>
              <a:gd name="adj" fmla="val 7518"/>
            </a:avLst>
          </a:prstGeom>
          <a:solidFill>
            <a:srgbClr val="FDFEFE"/>
          </a:solidFill>
          <a:ln w="6350">
            <a:solidFill>
              <a:srgbClr val="D6E1E6"/>
            </a:solidFill>
            <a:prstDash val="solid"/>
          </a:ln>
        </p:spPr>
        <p:txBody>
          <a:bodyPr/>
          <a:lstStyle/>
          <a:p>
            <a:endParaRPr lang="en-US"/>
          </a:p>
        </p:txBody>
      </p:sp>
      <p:sp>
        <p:nvSpPr>
          <p:cNvPr id="26" name="Text 20"/>
          <p:cNvSpPr/>
          <p:nvPr/>
        </p:nvSpPr>
        <p:spPr>
          <a:xfrm>
            <a:off x="1022350" y="4057650"/>
            <a:ext cx="10451719"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What we built around mobilerun</a:t>
            </a:r>
            <a:endParaRPr lang="en-US" sz="1400" dirty="0"/>
          </a:p>
        </p:txBody>
      </p:sp>
      <p:sp>
        <p:nvSpPr>
          <p:cNvPr id="27" name="Text 21"/>
          <p:cNvSpPr/>
          <p:nvPr/>
        </p:nvSpPr>
        <p:spPr>
          <a:xfrm>
            <a:off x="1022350" y="4364980"/>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Goal assembly from the planner's test case</a:t>
            </a:r>
            <a:endParaRPr lang="en-US" sz="1200" dirty="0"/>
          </a:p>
        </p:txBody>
      </p:sp>
      <p:sp>
        <p:nvSpPr>
          <p:cNvPr id="28" name="Text 22"/>
          <p:cNvSpPr/>
          <p:nvPr/>
        </p:nvSpPr>
        <p:spPr>
          <a:xfrm>
            <a:off x="6096000" y="4364980"/>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Every screen streamed into the live app map</a:t>
            </a:r>
            <a:endParaRPr lang="en-US" sz="1200" dirty="0"/>
          </a:p>
        </p:txBody>
      </p:sp>
      <p:sp>
        <p:nvSpPr>
          <p:cNvPr id="29" name="Text 23"/>
          <p:cNvSpPr/>
          <p:nvPr/>
        </p:nvSpPr>
        <p:spPr>
          <a:xfrm>
            <a:off x="1022350" y="4578300"/>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On-device portal for reliable text input</a:t>
            </a:r>
            <a:endParaRPr lang="en-US" sz="1200" dirty="0"/>
          </a:p>
        </p:txBody>
      </p:sp>
      <p:sp>
        <p:nvSpPr>
          <p:cNvPr id="30" name="Text 24"/>
          <p:cNvSpPr/>
          <p:nvPr/>
        </p:nvSpPr>
        <p:spPr>
          <a:xfrm>
            <a:off x="6096000" y="4578300"/>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Login secrets reach the executor, never the planner</a:t>
            </a:r>
            <a:endParaRPr lang="en-US" sz="1200" dirty="0"/>
          </a:p>
        </p:txBody>
      </p:sp>
      <p:sp>
        <p:nvSpPr>
          <p:cNvPr id="31" name="Text 25"/>
          <p:cNvSpPr/>
          <p:nvPr/>
        </p:nvSpPr>
        <p:spPr>
          <a:xfrm>
            <a:off x="1022350" y="4791621"/>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Device reset and an app-only guard between tests</a:t>
            </a:r>
            <a:endParaRPr lang="en-US" sz="1200" dirty="0"/>
          </a:p>
        </p:txBody>
      </p:sp>
      <p:sp>
        <p:nvSpPr>
          <p:cNvPr id="32" name="Text 26"/>
          <p:cNvSpPr/>
          <p:nvPr/>
        </p:nvSpPr>
        <p:spPr>
          <a:xfrm>
            <a:off x="6096000" y="4791621"/>
            <a:ext cx="52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Waits out network loss; campaigns resume intact</a:t>
            </a:r>
            <a:endParaRPr lang="en-US" sz="1200" dirty="0"/>
          </a:p>
        </p:txBody>
      </p:sp>
      <p:sp>
        <p:nvSpPr>
          <p:cNvPr id="33" name="Text 27"/>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4" name="Text 28"/>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ctr"/>
          <a:lstStyle/>
          <a:p>
            <a:pPr marL="0" indent="0">
              <a:buNone/>
            </a:pPr>
            <a:r>
              <a:rPr lang="en-US" sz="1200" b="1" kern="0" spc="150" dirty="0">
                <a:solidFill>
                  <a:srgbClr val="0B6A8F"/>
                </a:solidFill>
                <a:latin typeface="IBM Plex Sans" pitchFamily="34" charset="0"/>
                <a:ea typeface="IBM Plex Sans" pitchFamily="34" charset="-122"/>
                <a:cs typeface="IBM Plex Sans" pitchFamily="34" charset="-120"/>
              </a:rPr>
              <a:t>EXECUTOR · THE INPUT</a:t>
            </a:r>
            <a:endParaRPr lang="en-US" sz="1200" dirty="0"/>
          </a:p>
        </p:txBody>
      </p:sp>
      <p:sp>
        <p:nvSpPr>
          <p:cNvPr id="3" name="Text 1"/>
          <p:cNvSpPr txBox="1"/>
          <p:nvPr/>
        </p:nvSpPr>
        <p:spPr>
          <a:xfrm>
            <a:off x="813816" y="1106424"/>
            <a:ext cx="10881360" cy="448056"/>
          </a:xfrm>
          <a:prstGeom prst="rect">
            <a:avLst/>
          </a:prstGeom>
          <a:noFill/>
          <a:ln/>
        </p:spPr>
        <p:txBody>
          <a:bodyPr wrap="square" lIns="0" tIns="0" rIns="0" bIns="0" rtlCol="0" anchor="ctr"/>
          <a:lstStyle/>
          <a:p>
            <a:pPr marL="0" indent="0">
              <a:buNone/>
            </a:pPr>
            <a:r>
              <a:rPr lang="en-US" sz="3000" b="1" dirty="0">
                <a:solidFill>
                  <a:srgbClr val="14303D"/>
                </a:solidFill>
                <a:latin typeface="Source Serif 4" pitchFamily="34" charset="0"/>
                <a:ea typeface="Source Serif 4" pitchFamily="34" charset="-122"/>
                <a:cs typeface="Source Serif 4" pitchFamily="34" charset="-120"/>
              </a:rPr>
              <a:t>What the executor is actually given</a:t>
            </a:r>
            <a:endParaRPr lang="en-US" sz="3000" dirty="0"/>
          </a:p>
        </p:txBody>
      </p:sp>
      <p:sp>
        <p:nvSpPr>
          <p:cNvPr id="4" name="Text 2"/>
          <p:cNvSpPr txBox="1"/>
          <p:nvPr/>
        </p:nvSpPr>
        <p:spPr>
          <a:xfrm>
            <a:off x="813816" y="1645920"/>
            <a:ext cx="10881360" cy="256032"/>
          </a:xfrm>
          <a:prstGeom prst="rect">
            <a:avLst/>
          </a:prstGeom>
          <a:noFill/>
          <a:ln/>
        </p:spPr>
        <p:txBody>
          <a:bodyPr wrap="square" lIns="0" tIns="0" rIns="0" bIns="0" rtlCol="0" anchor="ctr"/>
          <a:lstStyle/>
          <a:p>
            <a:pPr marL="0" indent="0">
              <a:buNone/>
            </a:pPr>
            <a:r>
              <a:rPr lang="en-US" sz="1200" dirty="0">
                <a:solidFill>
                  <a:srgbClr val="46596A"/>
                </a:solidFill>
                <a:latin typeface="IBM Plex Sans" pitchFamily="34" charset="0"/>
                <a:ea typeface="IBM Plex Sans" pitchFamily="34" charset="-122"/>
                <a:cs typeface="IBM Plex Sans" pitchFamily="34" charset="-120"/>
              </a:rPr>
              <a:t>TC-002, contacts app. Assembled from the planner's test case and the target profile.</a:t>
            </a:r>
            <a:endParaRPr lang="en-US" sz="1200" dirty="0"/>
          </a:p>
        </p:txBody>
      </p:sp>
      <p:sp>
        <p:nvSpPr>
          <p:cNvPr id="5" name="Shape 3"/>
          <p:cNvSpPr/>
          <p:nvPr/>
        </p:nvSpPr>
        <p:spPr>
          <a:xfrm>
            <a:off x="813816" y="2057400"/>
            <a:ext cx="6903720" cy="3794760"/>
          </a:xfrm>
          <a:prstGeom prst="rect">
            <a:avLst/>
          </a:prstGeom>
          <a:solidFill>
            <a:srgbClr val="14303D"/>
          </a:solidFill>
          <a:ln w="12700">
            <a:solidFill>
              <a:srgbClr val="14303D"/>
            </a:solidFill>
            <a:prstDash val="solid"/>
          </a:ln>
        </p:spPr>
        <p:txBody>
          <a:bodyPr/>
          <a:lstStyle/>
          <a:p>
            <a:endParaRPr lang="en-US"/>
          </a:p>
        </p:txBody>
      </p:sp>
      <p:sp>
        <p:nvSpPr>
          <p:cNvPr id="6" name="Text 4"/>
          <p:cNvSpPr txBox="1"/>
          <p:nvPr/>
        </p:nvSpPr>
        <p:spPr>
          <a:xfrm>
            <a:off x="1069848" y="2286000"/>
            <a:ext cx="6446520" cy="3383280"/>
          </a:xfrm>
          <a:prstGeom prst="rect">
            <a:avLst/>
          </a:prstGeom>
          <a:noFill/>
          <a:ln/>
        </p:spPr>
        <p:txBody>
          <a:bodyPr wrap="square" lIns="0" tIns="0" rIns="0" bIns="0" rtlCol="0" anchor="ctr"/>
          <a:lstStyle/>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Open the Contacts app on this device.</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Navigate to the 'Search Results' screen if not already there.</a:t>
            </a:r>
            <a:endParaRPr lang="en-US" sz="1050" dirty="0"/>
          </a:p>
          <a:p>
            <a:pPr marL="0" indent="0">
              <a:lnSpc>
                <a:spcPts val="1450"/>
              </a:lnSpc>
              <a:buNone/>
            </a:pP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Preconditions: App is open. </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1: Navigate to 'Contacts List' screen.</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2: Tap 'FAB: Create Contact' to create a new contact.</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3: Enter 'First name' as 'Alice'.</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4: Tap 'Save' button.</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5: Navigate back to 'Contacts List'.</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6: Tap the search input field to focus.</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7: Type 'Bob' into the search input.</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8: Observe the search results area.</a:t>
            </a:r>
            <a:endParaRPr lang="en-US" sz="1050" dirty="0"/>
          </a:p>
          <a:p>
            <a:pPr marL="0" indent="0">
              <a:lnSpc>
                <a:spcPts val="1450"/>
              </a:lnSpc>
              <a:buNone/>
            </a:pP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Expected result: Search results should be empty. The app should</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show an empty state and not crash or show any error.</a:t>
            </a:r>
            <a:endParaRPr lang="en-US" sz="1050" dirty="0"/>
          </a:p>
        </p:txBody>
      </p:sp>
      <p:sp>
        <p:nvSpPr>
          <p:cNvPr id="16" name="Text 14"/>
          <p:cNvSpPr txBox="1"/>
          <p:nvPr/>
        </p:nvSpPr>
        <p:spPr>
          <a:xfrm>
            <a:off x="813816" y="6236208"/>
            <a:ext cx="3456432" cy="237744"/>
          </a:xfrm>
          <a:prstGeom prst="rect">
            <a:avLst/>
          </a:prstGeom>
          <a:noFill/>
          <a:ln/>
        </p:spPr>
        <p:txBody>
          <a:bodyPr wrap="square" lIns="0" tIns="0" rIns="0" bIns="0" rtlCol="0" anchor="ctr"/>
          <a:lstStyle/>
          <a:p>
            <a:pPr marL="0" indent="0">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7" name="Text 15"/>
          <p:cNvSpPr txBox="1"/>
          <p:nvPr/>
        </p:nvSpPr>
        <p:spPr>
          <a:xfrm>
            <a:off x="11000792" y="6139543"/>
            <a:ext cx="429208" cy="334409"/>
          </a:xfrm>
          <a:prstGeom prst="rect">
            <a:avLst/>
          </a:prstGeom>
          <a:noFill/>
          <a:ln/>
        </p:spPr>
        <p:txBody>
          <a:bodyPr wrap="square" lIns="0" tIns="0" rIns="0" bIns="0" rtlCol="0" anchor="ctr"/>
          <a:lstStyle/>
          <a:p>
            <a:pPr marL="0" indent="0" algn="r">
              <a:buNone/>
            </a:pPr>
            <a:r>
              <a:rPr lang="en-US" sz="1200" dirty="0">
                <a:solidFill>
                  <a:srgbClr val="55697A"/>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ctr"/>
          <a:lstStyle/>
          <a:p>
            <a:pPr marL="0" indent="0">
              <a:buNone/>
            </a:pPr>
            <a:r>
              <a:rPr lang="en-US" sz="1200" b="1" kern="0" spc="150" dirty="0">
                <a:solidFill>
                  <a:srgbClr val="0B6A8F"/>
                </a:solidFill>
                <a:latin typeface="IBM Plex Sans" pitchFamily="34" charset="0"/>
                <a:ea typeface="IBM Plex Sans" pitchFamily="34" charset="-122"/>
                <a:cs typeface="IBM Plex Sans" pitchFamily="34" charset="-120"/>
              </a:rPr>
              <a:t>EXECUTOR · THE TRACE</a:t>
            </a:r>
            <a:endParaRPr lang="en-US" sz="1200" dirty="0"/>
          </a:p>
        </p:txBody>
      </p:sp>
      <p:sp>
        <p:nvSpPr>
          <p:cNvPr id="3" name="Text 1"/>
          <p:cNvSpPr txBox="1"/>
          <p:nvPr/>
        </p:nvSpPr>
        <p:spPr>
          <a:xfrm>
            <a:off x="813816" y="1106424"/>
            <a:ext cx="10881360" cy="448056"/>
          </a:xfrm>
          <a:prstGeom prst="rect">
            <a:avLst/>
          </a:prstGeom>
          <a:noFill/>
          <a:ln/>
        </p:spPr>
        <p:txBody>
          <a:bodyPr wrap="square" lIns="0" tIns="0" rIns="0" bIns="0" rtlCol="0" anchor="ctr"/>
          <a:lstStyle/>
          <a:p>
            <a:pPr marL="0" indent="0">
              <a:buNone/>
            </a:pPr>
            <a:r>
              <a:rPr lang="en-US" sz="3000" b="1" dirty="0">
                <a:solidFill>
                  <a:srgbClr val="14303D"/>
                </a:solidFill>
                <a:latin typeface="Source Serif 4" pitchFamily="34" charset="0"/>
                <a:ea typeface="Source Serif 4" pitchFamily="34" charset="-122"/>
                <a:cs typeface="Source Serif 4" pitchFamily="34" charset="-120"/>
              </a:rPr>
              <a:t>Thought, action, outcome, every step</a:t>
            </a:r>
            <a:endParaRPr lang="en-US" sz="3000" dirty="0"/>
          </a:p>
        </p:txBody>
      </p:sp>
      <p:sp>
        <p:nvSpPr>
          <p:cNvPr id="5" name="Shape 3"/>
          <p:cNvSpPr/>
          <p:nvPr/>
        </p:nvSpPr>
        <p:spPr>
          <a:xfrm>
            <a:off x="813816" y="2150279"/>
            <a:ext cx="6903720" cy="2584068"/>
          </a:xfrm>
          <a:prstGeom prst="rect">
            <a:avLst/>
          </a:prstGeom>
          <a:solidFill>
            <a:srgbClr val="14303D"/>
          </a:solidFill>
          <a:ln w="12700">
            <a:solidFill>
              <a:srgbClr val="14303D"/>
            </a:solidFill>
            <a:prstDash val="solid"/>
          </a:ln>
        </p:spPr>
        <p:txBody>
          <a:bodyPr/>
          <a:lstStyle/>
          <a:p>
            <a:endParaRPr lang="en-US"/>
          </a:p>
        </p:txBody>
      </p:sp>
      <p:sp>
        <p:nvSpPr>
          <p:cNvPr id="6" name="Text 4"/>
          <p:cNvSpPr txBox="1"/>
          <p:nvPr/>
        </p:nvSpPr>
        <p:spPr>
          <a:xfrm>
            <a:off x="1069848" y="2276669"/>
            <a:ext cx="6446520" cy="2256510"/>
          </a:xfrm>
          <a:prstGeom prst="rect">
            <a:avLst/>
          </a:prstGeom>
          <a:noFill/>
          <a:ln/>
        </p:spPr>
        <p:txBody>
          <a:bodyPr wrap="square" lIns="0" tIns="0" rIns="0" bIns="0" rtlCol="0" anchor="ctr"/>
          <a:lstStyle/>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1/30  "I'm on a contact detail page for 'john doe'</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            instead of the Contacts List."</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   click(index=21)  -&gt;  'Navigate up' | Button | (74, 226)</a:t>
            </a:r>
            <a:endParaRPr lang="en-US" sz="1050" dirty="0"/>
          </a:p>
          <a:p>
            <a:pPr marL="0" indent="0">
              <a:lnSpc>
                <a:spcPts val="1450"/>
              </a:lnSpc>
              <a:buNone/>
            </a:pP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2/30  "I can see the FAB 'Create contact' at index 76."</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   click(index=76)  -&gt;  'Create contact' | FAB | (943, 2076)</a:t>
            </a:r>
            <a:endParaRPr lang="en-US" sz="1050" dirty="0"/>
          </a:p>
          <a:p>
            <a:pPr marL="0" indent="0">
              <a:lnSpc>
                <a:spcPts val="1450"/>
              </a:lnSpc>
              <a:buNone/>
            </a:pP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Step 3/30  "'First name' EditText is at index 30."</a:t>
            </a:r>
            <a:endParaRPr lang="en-US" sz="1050" dirty="0"/>
          </a:p>
          <a:p>
            <a:pPr marL="0" indent="0">
              <a:lnSpc>
                <a:spcPts val="1450"/>
              </a:lnSpc>
              <a:buNone/>
            </a:pPr>
            <a:r>
              <a:rPr lang="en-US" sz="1050" dirty="0">
                <a:solidFill>
                  <a:srgbClr val="FDFEFE"/>
                </a:solidFill>
                <a:latin typeface="Courier New" pitchFamily="34" charset="0"/>
                <a:ea typeface="Courier New" pitchFamily="34" charset="-122"/>
                <a:cs typeface="Courier New" pitchFamily="34" charset="-120"/>
              </a:rPr>
              <a:t>   click(index=30)  -&gt;  focused, then typed 'Alice'</a:t>
            </a:r>
            <a:endParaRPr lang="en-US" sz="1050" dirty="0"/>
          </a:p>
        </p:txBody>
      </p:sp>
      <p:sp>
        <p:nvSpPr>
          <p:cNvPr id="7" name="Shape 5"/>
          <p:cNvSpPr/>
          <p:nvPr/>
        </p:nvSpPr>
        <p:spPr>
          <a:xfrm>
            <a:off x="813816" y="4871507"/>
            <a:ext cx="6903720" cy="731520"/>
          </a:xfrm>
          <a:prstGeom prst="rect">
            <a:avLst/>
          </a:prstGeom>
          <a:solidFill>
            <a:srgbClr val="FFFFFF"/>
          </a:solidFill>
          <a:ln w="12700">
            <a:solidFill>
              <a:srgbClr val="D5E0E5"/>
            </a:solidFill>
            <a:prstDash val="solid"/>
          </a:ln>
        </p:spPr>
        <p:txBody>
          <a:bodyPr/>
          <a:lstStyle/>
          <a:p>
            <a:endParaRPr lang="en-US"/>
          </a:p>
        </p:txBody>
      </p:sp>
      <p:sp>
        <p:nvSpPr>
          <p:cNvPr id="8" name="Text 6"/>
          <p:cNvSpPr txBox="1"/>
          <p:nvPr/>
        </p:nvSpPr>
        <p:spPr>
          <a:xfrm>
            <a:off x="1069848" y="4871507"/>
            <a:ext cx="6446520" cy="731520"/>
          </a:xfrm>
          <a:prstGeom prst="rect">
            <a:avLst/>
          </a:prstGeom>
          <a:noFill/>
          <a:ln/>
        </p:spPr>
        <p:txBody>
          <a:bodyPr wrap="square" lIns="0" tIns="0" rIns="0" bIns="0" rtlCol="0" anchor="ctr"/>
          <a:lstStyle/>
          <a:p>
            <a:pPr marL="0" indent="0">
              <a:buNone/>
            </a:pPr>
            <a:r>
              <a:rPr lang="en-US" sz="1400" dirty="0">
                <a:solidFill>
                  <a:srgbClr val="14303D"/>
                </a:solidFill>
                <a:latin typeface="IBM Plex Sans" pitchFamily="34" charset="0"/>
                <a:ea typeface="IBM Plex Sans" pitchFamily="34" charset="-122"/>
                <a:cs typeface="IBM Plex Sans" pitchFamily="34" charset="-120"/>
              </a:rPr>
              <a:t>Result: the search area is empty, no contacts matching "Bob". The app did not crash and no error occurred.</a:t>
            </a:r>
            <a:endParaRPr lang="en-US" sz="1400" dirty="0"/>
          </a:p>
        </p:txBody>
      </p:sp>
      <p:sp>
        <p:nvSpPr>
          <p:cNvPr id="20" name="Text 18"/>
          <p:cNvSpPr txBox="1"/>
          <p:nvPr/>
        </p:nvSpPr>
        <p:spPr>
          <a:xfrm>
            <a:off x="813816" y="6236208"/>
            <a:ext cx="3456432" cy="237744"/>
          </a:xfrm>
          <a:prstGeom prst="rect">
            <a:avLst/>
          </a:prstGeom>
          <a:noFill/>
          <a:ln/>
        </p:spPr>
        <p:txBody>
          <a:bodyPr wrap="square" lIns="0" tIns="0" rIns="0" bIns="0" rtlCol="0" anchor="ctr"/>
          <a:lstStyle/>
          <a:p>
            <a:pPr marL="0" indent="0">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1" name="Text 19"/>
          <p:cNvSpPr txBox="1"/>
          <p:nvPr/>
        </p:nvSpPr>
        <p:spPr>
          <a:xfrm>
            <a:off x="11038114" y="6236208"/>
            <a:ext cx="391886" cy="237744"/>
          </a:xfrm>
          <a:prstGeom prst="rect">
            <a:avLst/>
          </a:prstGeom>
          <a:noFill/>
          <a:ln/>
        </p:spPr>
        <p:txBody>
          <a:bodyPr wrap="square" lIns="0" tIns="0" rIns="0" bIns="0" rtlCol="0" anchor="ctr"/>
          <a:lstStyle/>
          <a:p>
            <a:pPr marL="0" indent="0" algn="r">
              <a:buNone/>
            </a:pPr>
            <a:r>
              <a:rPr lang="en-US" sz="1200" dirty="0">
                <a:solidFill>
                  <a:srgbClr val="55697A"/>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4">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4454"/>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0B6A8F"/>
                </a:solidFill>
                <a:latin typeface="IBM Plex Sans" pitchFamily="34" charset="0"/>
                <a:ea typeface="IBM Plex Sans" pitchFamily="34" charset="-122"/>
                <a:cs typeface="IBM Plex Sans" pitchFamily="34" charset="-120"/>
              </a:rPr>
              <a:t>EXECUTOR · THE APP MAP</a:t>
            </a:r>
            <a:endParaRPr lang="en-US" sz="1196" dirty="0"/>
          </a:p>
        </p:txBody>
      </p:sp>
      <p:sp>
        <p:nvSpPr>
          <p:cNvPr id="3" name="Text 1"/>
          <p:cNvSpPr/>
          <p:nvPr/>
        </p:nvSpPr>
        <p:spPr>
          <a:xfrm>
            <a:off x="812800" y="793254"/>
            <a:ext cx="10883392" cy="436066"/>
          </a:xfrm>
          <a:prstGeom prst="rect">
            <a:avLst/>
          </a:prstGeom>
          <a:noFill/>
          <a:ln/>
        </p:spPr>
        <p:txBody>
          <a:bodyPr wrap="square" lIns="0" tIns="0" rIns="0" bIns="0" rtlCol="0" anchor="t">
            <a:normAutofit/>
          </a:bodyPr>
          <a:lstStyle/>
          <a:p>
            <a:pPr marL="0" indent="0" algn="l">
              <a:lnSpc>
                <a:spcPts val="3269"/>
              </a:lnSpc>
              <a:buNone/>
            </a:pPr>
            <a:r>
              <a:rPr lang="en-US" sz="2972" b="1" dirty="0">
                <a:solidFill>
                  <a:srgbClr val="14303D"/>
                </a:solidFill>
                <a:latin typeface="Source Serif 4" pitchFamily="34" charset="0"/>
                <a:ea typeface="Source Serif 4" pitchFamily="34" charset="-122"/>
                <a:cs typeface="Source Serif 4" pitchFamily="34" charset="-120"/>
              </a:rPr>
              <a:t>Every run's path through the map</a:t>
            </a:r>
            <a:endParaRPr lang="en-US" sz="2972" dirty="0"/>
          </a:p>
        </p:txBody>
      </p:sp>
      <p:sp>
        <p:nvSpPr>
          <p:cNvPr id="4" name="Shape 2"/>
          <p:cNvSpPr/>
          <p:nvPr/>
        </p:nvSpPr>
        <p:spPr>
          <a:xfrm>
            <a:off x="812800" y="1313160"/>
            <a:ext cx="6350000" cy="4826000"/>
          </a:xfrm>
          <a:prstGeom prst="roundRect">
            <a:avLst>
              <a:gd name="adj" fmla="val 2105"/>
            </a:avLst>
          </a:prstGeom>
          <a:solidFill>
            <a:srgbClr val="FDFEFE"/>
          </a:solidFill>
          <a:ln/>
        </p:spPr>
        <p:txBody>
          <a:bodyPr/>
          <a:lstStyle/>
          <a:p>
            <a:endParaRPr lang="en-US"/>
          </a:p>
        </p:txBody>
      </p:sp>
      <p:pic>
        <p:nvPicPr>
          <p:cNvPr id="5" name="Image 0" descr="Dashboard panel Live App Model, 79 states and 797 transitions: a graph of screens with the path of test TC-088 highlighted in orange through Contact List, Option Menu Search, Organize, Import 88 contacts and Close sheet, and beside it the stored screenshot of Contact List number 12, 19 visits and 14 controls"/>
          <p:cNvPicPr>
            <a:picLocks noChangeAspect="1"/>
          </p:cNvPicPr>
          <p:nvPr/>
        </p:nvPicPr>
        <p:blipFill>
          <a:blip r:embed="rId3"/>
          <a:stretch>
            <a:fillRect/>
          </a:stretch>
        </p:blipFill>
        <p:spPr>
          <a:xfrm>
            <a:off x="937117" y="1319510"/>
            <a:ext cx="6101366" cy="4813300"/>
          </a:xfrm>
          <a:prstGeom prst="rect">
            <a:avLst/>
          </a:prstGeom>
        </p:spPr>
      </p:pic>
      <p:sp>
        <p:nvSpPr>
          <p:cNvPr id="6" name="Shape 3"/>
          <p:cNvSpPr/>
          <p:nvPr/>
        </p:nvSpPr>
        <p:spPr>
          <a:xfrm>
            <a:off x="815975" y="1316335"/>
            <a:ext cx="6343650" cy="4819650"/>
          </a:xfrm>
          <a:prstGeom prst="roundRect">
            <a:avLst>
              <a:gd name="adj" fmla="val 2042"/>
            </a:avLst>
          </a:prstGeom>
          <a:noFill/>
          <a:ln w="6350">
            <a:solidFill>
              <a:srgbClr val="D6E1E6"/>
            </a:solidFill>
            <a:prstDash val="solid"/>
          </a:ln>
        </p:spPr>
        <p:txBody>
          <a:bodyPr/>
          <a:lstStyle/>
          <a:p>
            <a:endParaRPr lang="en-US"/>
          </a:p>
        </p:txBody>
      </p:sp>
      <p:sp>
        <p:nvSpPr>
          <p:cNvPr id="7" name="Text 4"/>
          <p:cNvSpPr/>
          <p:nvPr/>
        </p:nvSpPr>
        <p:spPr>
          <a:xfrm>
            <a:off x="7416800" y="2496939"/>
            <a:ext cx="408127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79 screens · 797 transitions</a:t>
            </a:r>
            <a:endParaRPr lang="en-US" sz="1400" dirty="0"/>
          </a:p>
        </p:txBody>
      </p:sp>
      <p:sp>
        <p:nvSpPr>
          <p:cNvPr id="8" name="Text 5"/>
          <p:cNvSpPr/>
          <p:nvPr/>
        </p:nvSpPr>
        <p:spPr>
          <a:xfrm>
            <a:off x="7416800" y="2771229"/>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contacts app, mapped only from screens the agent actually reached.</a:t>
            </a:r>
            <a:endParaRPr lang="en-US" sz="1200" dirty="0"/>
          </a:p>
        </p:txBody>
      </p:sp>
      <p:sp>
        <p:nvSpPr>
          <p:cNvPr id="9" name="Text 6"/>
          <p:cNvSpPr/>
          <p:nvPr/>
        </p:nvSpPr>
        <p:spPr>
          <a:xfrm>
            <a:off x="7416800" y="3375670"/>
            <a:ext cx="408127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Pick a run, see its path</a:t>
            </a:r>
            <a:endParaRPr lang="en-US" sz="1400" dirty="0"/>
          </a:p>
        </p:txBody>
      </p:sp>
      <p:sp>
        <p:nvSpPr>
          <p:cNvPr id="10" name="Text 7"/>
          <p:cNvSpPr/>
          <p:nvPr/>
        </p:nvSpPr>
        <p:spPr>
          <a:xfrm>
            <a:off x="7416800" y="3649960"/>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In orange, the screens TC-088 visited, in order, read from that run's log.</a:t>
            </a:r>
            <a:endParaRPr lang="en-US" sz="1200" dirty="0"/>
          </a:p>
        </p:txBody>
      </p:sp>
      <p:sp>
        <p:nvSpPr>
          <p:cNvPr id="11" name="Text 8"/>
          <p:cNvSpPr/>
          <p:nvPr/>
        </p:nvSpPr>
        <p:spPr>
          <a:xfrm>
            <a:off x="7416800" y="4254401"/>
            <a:ext cx="408127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Click a screen</a:t>
            </a:r>
            <a:endParaRPr lang="en-US" sz="1400" dirty="0"/>
          </a:p>
        </p:txBody>
      </p:sp>
      <p:sp>
        <p:nvSpPr>
          <p:cNvPr id="12" name="Text 9"/>
          <p:cNvSpPr/>
          <p:nvPr/>
        </p:nvSpPr>
        <p:spPr>
          <a:xfrm>
            <a:off x="7416800" y="4528691"/>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Its stored screenshot, how often it was visited, and its controls.</a:t>
            </a:r>
            <a:endParaRPr lang="en-US" sz="1200" dirty="0"/>
          </a:p>
        </p:txBody>
      </p:sp>
      <p:sp>
        <p:nvSpPr>
          <p:cNvPr id="13" name="Text 10"/>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4" name="Text 11"/>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3">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603"/>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0B6A8F"/>
                </a:solidFill>
                <a:latin typeface="IBM Plex Sans" pitchFamily="34" charset="0"/>
                <a:ea typeface="IBM Plex Sans" pitchFamily="34" charset="-122"/>
                <a:cs typeface="IBM Plex Sans" pitchFamily="34" charset="-120"/>
              </a:rPr>
              <a:t>EXECUTOR · IN DETAIL</a:t>
            </a:r>
            <a:endParaRPr lang="en-US" sz="1196" dirty="0"/>
          </a:p>
        </p:txBody>
      </p:sp>
      <p:sp>
        <p:nvSpPr>
          <p:cNvPr id="3" name="Text 1"/>
          <p:cNvSpPr/>
          <p:nvPr/>
        </p:nvSpPr>
        <p:spPr>
          <a:xfrm>
            <a:off x="812800" y="1098203"/>
            <a:ext cx="10883392" cy="436364"/>
          </a:xfrm>
          <a:prstGeom prst="rect">
            <a:avLst/>
          </a:prstGeom>
          <a:noFill/>
          <a:ln/>
        </p:spPr>
        <p:txBody>
          <a:bodyPr wrap="square" lIns="0" tIns="0" rIns="0" bIns="0" rtlCol="0" anchor="t">
            <a:normAutofit/>
          </a:bodyPr>
          <a:lstStyle/>
          <a:p>
            <a:pPr marL="0" indent="0" algn="l">
              <a:lnSpc>
                <a:spcPts val="3269"/>
              </a:lnSpc>
              <a:buNone/>
            </a:pPr>
            <a:r>
              <a:rPr lang="en-US" sz="2972" b="1" dirty="0">
                <a:solidFill>
                  <a:srgbClr val="14303D"/>
                </a:solidFill>
                <a:latin typeface="Source Serif 4" pitchFamily="34" charset="0"/>
                <a:ea typeface="Source Serif 4" pitchFamily="34" charset="-122"/>
                <a:cs typeface="Source Serif 4" pitchFamily="34" charset="-120"/>
              </a:rPr>
              <a:t>Is this a screen we have seen?</a:t>
            </a:r>
            <a:endParaRPr lang="en-US" sz="2972" dirty="0"/>
          </a:p>
        </p:txBody>
      </p:sp>
      <p:sp>
        <p:nvSpPr>
          <p:cNvPr id="4" name="Shape 2"/>
          <p:cNvSpPr/>
          <p:nvPr/>
        </p:nvSpPr>
        <p:spPr>
          <a:xfrm>
            <a:off x="812800" y="1712367"/>
            <a:ext cx="10566400" cy="3507184"/>
          </a:xfrm>
          <a:prstGeom prst="roundRect">
            <a:avLst>
              <a:gd name="adj" fmla="val 2897"/>
            </a:avLst>
          </a:prstGeom>
          <a:solidFill>
            <a:srgbClr val="FDFEFE"/>
          </a:solidFill>
          <a:ln/>
        </p:spPr>
        <p:txBody>
          <a:bodyPr/>
          <a:lstStyle/>
          <a:p>
            <a:endParaRPr lang="en-US"/>
          </a:p>
        </p:txBody>
      </p:sp>
      <p:sp>
        <p:nvSpPr>
          <p:cNvPr id="6" name="Shape 3"/>
          <p:cNvSpPr/>
          <p:nvPr/>
        </p:nvSpPr>
        <p:spPr>
          <a:xfrm>
            <a:off x="815975" y="1715542"/>
            <a:ext cx="10560050" cy="3500834"/>
          </a:xfrm>
          <a:prstGeom prst="roundRect">
            <a:avLst>
              <a:gd name="adj" fmla="val 2811"/>
            </a:avLst>
          </a:prstGeom>
          <a:noFill/>
          <a:ln w="6350">
            <a:solidFill>
              <a:srgbClr val="D6E1E6"/>
            </a:solidFill>
            <a:prstDash val="solid"/>
          </a:ln>
        </p:spPr>
        <p:txBody>
          <a:bodyPr/>
          <a:lstStyle/>
          <a:p>
            <a:endParaRPr lang="en-US"/>
          </a:p>
        </p:txBody>
      </p:sp>
      <p:sp>
        <p:nvSpPr>
          <p:cNvPr id="8" name="Text 5"/>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9" name="Text 6"/>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25</a:t>
            </a:r>
            <a:endParaRPr lang="en-US" sz="1200" dirty="0"/>
          </a:p>
        </p:txBody>
      </p:sp>
      <p:pic>
        <p:nvPicPr>
          <p:cNvPr id="10" name="Picture 9" descr="state-identity.png"/>
          <p:cNvPicPr>
            <a:picLocks noChangeAspect="1"/>
          </p:cNvPicPr>
          <p:nvPr/>
        </p:nvPicPr>
        <p:blipFill>
          <a:blip r:embed="rId3"/>
          <a:stretch>
            <a:fillRect/>
          </a:stretch>
        </p:blipFill>
        <p:spPr>
          <a:xfrm>
            <a:off x="928050" y="1718717"/>
            <a:ext cx="10335900" cy="34944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813816" y="813816"/>
            <a:ext cx="9646920" cy="237744"/>
          </a:xfrm>
          <a:prstGeom prst="rect">
            <a:avLst/>
          </a:prstGeom>
          <a:noFill/>
          <a:ln/>
        </p:spPr>
        <p:txBody>
          <a:bodyPr wrap="square" lIns="0" tIns="0" rIns="0" bIns="0" rtlCol="0" anchor="ctr"/>
          <a:lstStyle/>
          <a:p>
            <a:pPr marL="0" indent="0">
              <a:buNone/>
            </a:pPr>
            <a:r>
              <a:rPr lang="en-US" sz="1200" b="1" kern="0" spc="150" dirty="0">
                <a:solidFill>
                  <a:srgbClr val="0B6A8F"/>
                </a:solidFill>
                <a:latin typeface="IBM Plex Sans" pitchFamily="34" charset="0"/>
                <a:ea typeface="IBM Plex Sans" pitchFamily="34" charset="-122"/>
                <a:cs typeface="IBM Plex Sans" pitchFamily="34" charset="-120"/>
              </a:rPr>
              <a:t>WEB EXECUTOR · PLAYWRIGHT</a:t>
            </a:r>
            <a:endParaRPr lang="en-US" sz="1200" dirty="0"/>
          </a:p>
        </p:txBody>
      </p:sp>
      <p:sp>
        <p:nvSpPr>
          <p:cNvPr id="3" name="Text 1"/>
          <p:cNvSpPr txBox="1"/>
          <p:nvPr/>
        </p:nvSpPr>
        <p:spPr>
          <a:xfrm>
            <a:off x="813816" y="1106424"/>
            <a:ext cx="9646920" cy="448056"/>
          </a:xfrm>
          <a:prstGeom prst="rect">
            <a:avLst/>
          </a:prstGeom>
          <a:noFill/>
          <a:ln/>
        </p:spPr>
        <p:txBody>
          <a:bodyPr wrap="square" lIns="0" tIns="0" rIns="0" bIns="0" rtlCol="0" anchor="ctr"/>
          <a:lstStyle/>
          <a:p>
            <a:pPr marL="0" indent="0">
              <a:buNone/>
            </a:pPr>
            <a:r>
              <a:rPr lang="en-US" sz="3000" b="1" dirty="0">
                <a:solidFill>
                  <a:srgbClr val="14303D"/>
                </a:solidFill>
                <a:latin typeface="Source Serif 4" pitchFamily="34" charset="0"/>
                <a:ea typeface="Source Serif 4" pitchFamily="34" charset="-122"/>
                <a:cs typeface="Source Serif 4" pitchFamily="34" charset="-120"/>
              </a:rPr>
              <a:t>The same planner, a browser instead of a device</a:t>
            </a:r>
            <a:endParaRPr lang="en-US" sz="3000" dirty="0"/>
          </a:p>
        </p:txBody>
      </p:sp>
      <p:sp>
        <p:nvSpPr>
          <p:cNvPr id="4" name="Text 2"/>
          <p:cNvSpPr txBox="1"/>
          <p:nvPr/>
        </p:nvSpPr>
        <p:spPr>
          <a:xfrm>
            <a:off x="813816" y="1645920"/>
            <a:ext cx="9646920" cy="256032"/>
          </a:xfrm>
          <a:prstGeom prst="rect">
            <a:avLst/>
          </a:prstGeom>
          <a:noFill/>
          <a:ln/>
        </p:spPr>
        <p:txBody>
          <a:bodyPr wrap="square" lIns="0" tIns="0" rIns="0" bIns="0" rtlCol="0" anchor="ctr"/>
          <a:lstStyle/>
          <a:p>
            <a:pPr marL="0" indent="0">
              <a:buNone/>
            </a:pPr>
            <a:r>
              <a:rPr lang="en-US" sz="1200" dirty="0">
                <a:solidFill>
                  <a:srgbClr val="46596A"/>
                </a:solidFill>
                <a:latin typeface="IBM Plex Sans" pitchFamily="34" charset="0"/>
                <a:ea typeface="IBM Plex Sans" pitchFamily="34" charset="-122"/>
                <a:cs typeface="IBM Plex Sans" pitchFamily="34" charset="-120"/>
              </a:rPr>
              <a:t>A second executor behind the same contract. The planner does not know which one will run.</a:t>
            </a:r>
            <a:endParaRPr lang="en-US" sz="1200" dirty="0"/>
          </a:p>
        </p:txBody>
      </p:sp>
      <p:sp>
        <p:nvSpPr>
          <p:cNvPr id="5" name="Shape 3"/>
          <p:cNvSpPr/>
          <p:nvPr/>
        </p:nvSpPr>
        <p:spPr>
          <a:xfrm>
            <a:off x="813816" y="2057400"/>
            <a:ext cx="3401568" cy="3246120"/>
          </a:xfrm>
          <a:prstGeom prst="rect">
            <a:avLst/>
          </a:prstGeom>
          <a:solidFill>
            <a:srgbClr val="FFFFFF"/>
          </a:solidFill>
          <a:ln w="12700">
            <a:solidFill>
              <a:srgbClr val="D5E0E5"/>
            </a:solidFill>
            <a:prstDash val="solid"/>
          </a:ln>
        </p:spPr>
        <p:txBody>
          <a:bodyPr/>
          <a:lstStyle/>
          <a:p>
            <a:endParaRPr lang="en-US"/>
          </a:p>
        </p:txBody>
      </p:sp>
      <p:sp>
        <p:nvSpPr>
          <p:cNvPr id="6" name="Text 4"/>
          <p:cNvSpPr txBox="1"/>
          <p:nvPr/>
        </p:nvSpPr>
        <p:spPr>
          <a:xfrm>
            <a:off x="1051560" y="2267712"/>
            <a:ext cx="2926080" cy="292608"/>
          </a:xfrm>
          <a:prstGeom prst="rect">
            <a:avLst/>
          </a:prstGeom>
          <a:noFill/>
          <a:ln/>
        </p:spPr>
        <p:txBody>
          <a:bodyPr wrap="square" lIns="0" tIns="0" rIns="0" bIns="0" rtlCol="0" anchor="ctr"/>
          <a:lstStyle/>
          <a:p>
            <a:pPr marL="0" indent="0">
              <a:buNone/>
            </a:pPr>
            <a:r>
              <a:rPr lang="en-US" sz="1350" b="1" dirty="0">
                <a:solidFill>
                  <a:srgbClr val="0B6A8F"/>
                </a:solidFill>
                <a:latin typeface="IBM Plex Sans" pitchFamily="34" charset="0"/>
                <a:ea typeface="IBM Plex Sans" pitchFamily="34" charset="-122"/>
                <a:cs typeface="IBM Plex Sans" pitchFamily="34" charset="-120"/>
              </a:rPr>
              <a:t>What it observes</a:t>
            </a:r>
            <a:endParaRPr lang="en-US" sz="1350" dirty="0"/>
          </a:p>
        </p:txBody>
      </p:sp>
      <p:sp>
        <p:nvSpPr>
          <p:cNvPr id="7" name="Text 5"/>
          <p:cNvSpPr txBox="1"/>
          <p:nvPr/>
        </p:nvSpPr>
        <p:spPr>
          <a:xfrm>
            <a:off x="1088136" y="2633472"/>
            <a:ext cx="2880360" cy="251460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An accessibility style description of the DOM, not screenshots</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role and name, the same vocabulary the Android executor uses</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native HTML5 validation, including the browser's own message</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a password is described, never echoed</a:t>
            </a:r>
            <a:endParaRPr lang="en-US" sz="1100" dirty="0"/>
          </a:p>
        </p:txBody>
      </p:sp>
      <p:sp>
        <p:nvSpPr>
          <p:cNvPr id="8" name="Shape 6"/>
          <p:cNvSpPr/>
          <p:nvPr/>
        </p:nvSpPr>
        <p:spPr>
          <a:xfrm>
            <a:off x="4379976" y="2057400"/>
            <a:ext cx="3401568" cy="3246120"/>
          </a:xfrm>
          <a:prstGeom prst="rect">
            <a:avLst/>
          </a:prstGeom>
          <a:solidFill>
            <a:srgbClr val="FFFFFF"/>
          </a:solidFill>
          <a:ln w="12700">
            <a:solidFill>
              <a:srgbClr val="D5E0E5"/>
            </a:solidFill>
            <a:prstDash val="solid"/>
          </a:ln>
        </p:spPr>
        <p:txBody>
          <a:bodyPr/>
          <a:lstStyle/>
          <a:p>
            <a:endParaRPr lang="en-US"/>
          </a:p>
        </p:txBody>
      </p:sp>
      <p:sp>
        <p:nvSpPr>
          <p:cNvPr id="9" name="Text 7"/>
          <p:cNvSpPr txBox="1"/>
          <p:nvPr/>
        </p:nvSpPr>
        <p:spPr>
          <a:xfrm>
            <a:off x="4617720" y="2267712"/>
            <a:ext cx="2926080" cy="292608"/>
          </a:xfrm>
          <a:prstGeom prst="rect">
            <a:avLst/>
          </a:prstGeom>
          <a:noFill/>
          <a:ln/>
        </p:spPr>
        <p:txBody>
          <a:bodyPr wrap="square" lIns="0" tIns="0" rIns="0" bIns="0" rtlCol="0" anchor="ctr"/>
          <a:lstStyle/>
          <a:p>
            <a:pPr marL="0" indent="0">
              <a:buNone/>
            </a:pPr>
            <a:r>
              <a:rPr lang="en-US" sz="1350" b="1" dirty="0">
                <a:solidFill>
                  <a:srgbClr val="14303D"/>
                </a:solidFill>
                <a:latin typeface="IBM Plex Sans" pitchFamily="34" charset="0"/>
                <a:ea typeface="IBM Plex Sans" pitchFamily="34" charset="-122"/>
                <a:cs typeface="IBM Plex Sans" pitchFamily="34" charset="-120"/>
              </a:rPr>
              <a:t>What it can do</a:t>
            </a:r>
            <a:endParaRPr lang="en-US" sz="1350" dirty="0"/>
          </a:p>
        </p:txBody>
      </p:sp>
      <p:sp>
        <p:nvSpPr>
          <p:cNvPr id="10" name="Text 8"/>
          <p:cNvSpPr txBox="1"/>
          <p:nvPr/>
        </p:nvSpPr>
        <p:spPr>
          <a:xfrm>
            <a:off x="4654296" y="2633472"/>
            <a:ext cx="2880360" cy="251460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click   fill   press   select</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goto   back   scroll   wait   finish</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nine actions, each checked against the target's guardrails</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CAPTCHA escalates to a person when visible, fails cleanly when headless</a:t>
            </a:r>
            <a:endParaRPr lang="en-US" sz="1100" dirty="0"/>
          </a:p>
        </p:txBody>
      </p:sp>
      <p:sp>
        <p:nvSpPr>
          <p:cNvPr id="11" name="Shape 9"/>
          <p:cNvSpPr/>
          <p:nvPr/>
        </p:nvSpPr>
        <p:spPr>
          <a:xfrm>
            <a:off x="7946136" y="2057400"/>
            <a:ext cx="3401568" cy="3246120"/>
          </a:xfrm>
          <a:prstGeom prst="rect">
            <a:avLst/>
          </a:prstGeom>
          <a:solidFill>
            <a:srgbClr val="FFFFFF"/>
          </a:solidFill>
          <a:ln w="12700">
            <a:solidFill>
              <a:srgbClr val="D5E0E5"/>
            </a:solidFill>
            <a:prstDash val="solid"/>
          </a:ln>
        </p:spPr>
        <p:txBody>
          <a:bodyPr/>
          <a:lstStyle/>
          <a:p>
            <a:endParaRPr lang="en-US"/>
          </a:p>
        </p:txBody>
      </p:sp>
      <p:sp>
        <p:nvSpPr>
          <p:cNvPr id="12" name="Text 10"/>
          <p:cNvSpPr txBox="1"/>
          <p:nvPr/>
        </p:nvSpPr>
        <p:spPr>
          <a:xfrm>
            <a:off x="8183880" y="2267712"/>
            <a:ext cx="2926080" cy="292608"/>
          </a:xfrm>
          <a:prstGeom prst="rect">
            <a:avLst/>
          </a:prstGeom>
          <a:noFill/>
          <a:ln/>
        </p:spPr>
        <p:txBody>
          <a:bodyPr wrap="square" lIns="0" tIns="0" rIns="0" bIns="0" rtlCol="0" anchor="ctr"/>
          <a:lstStyle/>
          <a:p>
            <a:pPr marL="0" indent="0">
              <a:buNone/>
            </a:pPr>
            <a:r>
              <a:rPr lang="en-US" sz="1350" b="1" dirty="0">
                <a:solidFill>
                  <a:srgbClr val="A9502C"/>
                </a:solidFill>
                <a:latin typeface="IBM Plex Sans" pitchFamily="34" charset="0"/>
                <a:ea typeface="IBM Plex Sans" pitchFamily="34" charset="-122"/>
                <a:cs typeface="IBM Plex Sans" pitchFamily="34" charset="-120"/>
              </a:rPr>
              <a:t>How it knows something broke</a:t>
            </a:r>
            <a:endParaRPr lang="en-US" sz="1350" dirty="0"/>
          </a:p>
        </p:txBody>
      </p:sp>
      <p:sp>
        <p:nvSpPr>
          <p:cNvPr id="13" name="Text 11"/>
          <p:cNvSpPr txBox="1"/>
          <p:nvPr/>
        </p:nvSpPr>
        <p:spPr>
          <a:xfrm>
            <a:off x="8220456" y="2633472"/>
            <a:ext cx="2880360" cy="251460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console errors</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uncaught page errors</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HTTP 4xx and 5xx responses</a:t>
            </a:r>
            <a:endParaRPr lang="en-US" sz="1100" dirty="0"/>
          </a:p>
          <a:p>
            <a:pPr marL="342900" indent="-342900">
              <a:lnSpc>
                <a:spcPts val="1400"/>
              </a:lnSpc>
              <a:spcAft>
                <a:spcPts val="800"/>
              </a:spcAft>
              <a:buSzPct val="100000"/>
              <a:buChar char="•"/>
            </a:pPr>
            <a:r>
              <a:rPr lang="en-US" sz="1100" dirty="0">
                <a:solidFill>
                  <a:srgbClr val="46596A"/>
                </a:solidFill>
                <a:latin typeface="IBM Plex Sans" pitchFamily="34" charset="0"/>
                <a:ea typeface="IBM Plex Sans" pitchFamily="34" charset="-122"/>
                <a:cs typeface="IBM Plex Sans" pitchFamily="34" charset="-120"/>
              </a:rPr>
              <a:t>dialogs the page never showed</a:t>
            </a:r>
            <a:endParaRPr lang="en-US" sz="1100" dirty="0"/>
          </a:p>
        </p:txBody>
      </p:sp>
      <p:sp>
        <p:nvSpPr>
          <p:cNvPr id="14" name="Shape 12"/>
          <p:cNvSpPr/>
          <p:nvPr/>
        </p:nvSpPr>
        <p:spPr>
          <a:xfrm>
            <a:off x="813816" y="5440680"/>
            <a:ext cx="10570464" cy="731520"/>
          </a:xfrm>
          <a:prstGeom prst="rect">
            <a:avLst/>
          </a:prstGeom>
          <a:solidFill>
            <a:srgbClr val="14303D"/>
          </a:solidFill>
          <a:ln w="12700">
            <a:solidFill>
              <a:srgbClr val="14303D"/>
            </a:solidFill>
            <a:prstDash val="solid"/>
          </a:ln>
        </p:spPr>
        <p:txBody>
          <a:bodyPr/>
          <a:lstStyle/>
          <a:p>
            <a:endParaRPr lang="en-US"/>
          </a:p>
        </p:txBody>
      </p:sp>
      <p:sp>
        <p:nvSpPr>
          <p:cNvPr id="15" name="Text 13"/>
          <p:cNvSpPr txBox="1"/>
          <p:nvPr/>
        </p:nvSpPr>
        <p:spPr>
          <a:xfrm>
            <a:off x="1069848" y="5440680"/>
            <a:ext cx="10058400" cy="731520"/>
          </a:xfrm>
          <a:prstGeom prst="rect">
            <a:avLst/>
          </a:prstGeom>
          <a:noFill/>
          <a:ln/>
        </p:spPr>
        <p:txBody>
          <a:bodyPr wrap="square" lIns="0" tIns="0" rIns="0" bIns="0" rtlCol="0" anchor="ctr"/>
          <a:lstStyle/>
          <a:p>
            <a:pPr marL="0" indent="0">
              <a:buNone/>
            </a:pPr>
            <a:r>
              <a:rPr lang="en-US" sz="1250" dirty="0">
                <a:solidFill>
                  <a:srgbClr val="FDFEFE"/>
                </a:solidFill>
                <a:latin typeface="IBM Plex Sans" pitchFamily="34" charset="0"/>
                <a:ea typeface="IBM Plex Sans" pitchFamily="34" charset="-122"/>
                <a:cs typeface="IBM Plex Sans" pitchFamily="34" charset="-120"/>
              </a:rPr>
              <a:t>Those signals are collected independently of anything the agent claims, so a 5xx can override a claimed pass. On the live site this caught a real HTTP 500.</a:t>
            </a:r>
            <a:endParaRPr lang="en-US" sz="1250" dirty="0"/>
          </a:p>
        </p:txBody>
      </p:sp>
      <p:sp>
        <p:nvSpPr>
          <p:cNvPr id="16" name="Text 14"/>
          <p:cNvSpPr txBox="1"/>
          <p:nvPr/>
        </p:nvSpPr>
        <p:spPr>
          <a:xfrm>
            <a:off x="813816" y="6236208"/>
            <a:ext cx="3456432" cy="237744"/>
          </a:xfrm>
          <a:prstGeom prst="rect">
            <a:avLst/>
          </a:prstGeom>
          <a:noFill/>
          <a:ln/>
        </p:spPr>
        <p:txBody>
          <a:bodyPr wrap="square" lIns="0" tIns="0" rIns="0" bIns="0" rtlCol="0" anchor="ctr"/>
          <a:lstStyle/>
          <a:p>
            <a:pPr marL="0" indent="0">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7" name="Text 15"/>
          <p:cNvSpPr txBox="1"/>
          <p:nvPr/>
        </p:nvSpPr>
        <p:spPr>
          <a:xfrm>
            <a:off x="11247120" y="6236208"/>
            <a:ext cx="182880" cy="237744"/>
          </a:xfrm>
          <a:prstGeom prst="rect">
            <a:avLst/>
          </a:prstGeom>
          <a:noFill/>
          <a:ln/>
        </p:spPr>
        <p:txBody>
          <a:bodyPr wrap="square" lIns="0" tIns="0" rIns="0" bIns="0" rtlCol="0" anchor="ctr"/>
          <a:lstStyle/>
          <a:p>
            <a:pPr marL="0" indent="0" algn="r">
              <a:buNone/>
            </a:pPr>
            <a:r>
              <a:rPr lang="en-US" sz="1200" dirty="0">
                <a:solidFill>
                  <a:srgbClr val="55697A"/>
                </a:solidFill>
                <a:latin typeface="IBM Plex Sans" pitchFamily="34" charset="0"/>
                <a:ea typeface="IBM Plex Sans" pitchFamily="34" charset="-122"/>
                <a:cs typeface="IBM Plex Sans" pitchFamily="34" charset="-120"/>
              </a:rPr>
              <a:t>27</a:t>
            </a:r>
            <a:endParaRPr lang="en-US" sz="1200" dirty="0"/>
          </a:p>
        </p:txBody>
      </p:sp>
      <p:pic>
        <p:nvPicPr>
          <p:cNvPr id="18" name="Picture 17" descr="chrome.png"/>
          <p:cNvPicPr>
            <a:picLocks noChangeAspect="1"/>
          </p:cNvPicPr>
          <p:nvPr/>
        </p:nvPicPr>
        <p:blipFill>
          <a:blip r:embed="rId2"/>
          <a:stretch>
            <a:fillRect/>
          </a:stretch>
        </p:blipFill>
        <p:spPr>
          <a:xfrm>
            <a:off x="10716768" y="731520"/>
            <a:ext cx="804672" cy="80467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ctr"/>
          <a:lstStyle/>
          <a:p>
            <a:pPr marL="0" indent="0">
              <a:buNone/>
            </a:pPr>
            <a:r>
              <a:rPr lang="en-US" sz="1200" b="1" kern="0" spc="150" dirty="0">
                <a:solidFill>
                  <a:srgbClr val="0B6A8F"/>
                </a:solidFill>
                <a:latin typeface="IBM Plex Sans" pitchFamily="34" charset="0"/>
                <a:ea typeface="IBM Plex Sans" pitchFamily="34" charset="-122"/>
                <a:cs typeface="IBM Plex Sans" pitchFamily="34" charset="-120"/>
              </a:rPr>
              <a:t>WEB EXECUTOR · A REAL RUN</a:t>
            </a:r>
            <a:endParaRPr lang="en-US" sz="1200" dirty="0"/>
          </a:p>
        </p:txBody>
      </p:sp>
      <p:sp>
        <p:nvSpPr>
          <p:cNvPr id="3" name="Text 1"/>
          <p:cNvSpPr txBox="1"/>
          <p:nvPr/>
        </p:nvSpPr>
        <p:spPr>
          <a:xfrm>
            <a:off x="813816" y="1106424"/>
            <a:ext cx="10881360" cy="448056"/>
          </a:xfrm>
          <a:prstGeom prst="rect">
            <a:avLst/>
          </a:prstGeom>
          <a:noFill/>
          <a:ln/>
        </p:spPr>
        <p:txBody>
          <a:bodyPr wrap="square" lIns="0" tIns="0" rIns="0" bIns="0" rtlCol="0" anchor="ctr"/>
          <a:lstStyle/>
          <a:p>
            <a:pPr marL="0" indent="0">
              <a:buNone/>
            </a:pPr>
            <a:r>
              <a:rPr lang="en-US" sz="3000" b="1" dirty="0">
                <a:solidFill>
                  <a:srgbClr val="14303D"/>
                </a:solidFill>
                <a:latin typeface="Source Serif 4" pitchFamily="34" charset="0"/>
                <a:ea typeface="Source Serif 4" pitchFamily="34" charset="-122"/>
                <a:cs typeface="Source Serif 4" pitchFamily="34" charset="-120"/>
              </a:rPr>
              <a:t>Testing Bangla text on a live survey platform</a:t>
            </a:r>
            <a:endParaRPr lang="en-US" sz="3000" dirty="0"/>
          </a:p>
        </p:txBody>
      </p:sp>
      <p:sp>
        <p:nvSpPr>
          <p:cNvPr id="4" name="Text 2"/>
          <p:cNvSpPr txBox="1"/>
          <p:nvPr/>
        </p:nvSpPr>
        <p:spPr>
          <a:xfrm>
            <a:off x="813816" y="1645920"/>
            <a:ext cx="10881360" cy="256032"/>
          </a:xfrm>
          <a:prstGeom prst="rect">
            <a:avLst/>
          </a:prstGeom>
          <a:noFill/>
          <a:ln/>
        </p:spPr>
        <p:txBody>
          <a:bodyPr wrap="square" lIns="0" tIns="0" rIns="0" bIns="0" rtlCol="0" anchor="ctr"/>
          <a:lstStyle/>
          <a:p>
            <a:pPr marL="0" indent="0">
              <a:buNone/>
            </a:pPr>
            <a:r>
              <a:rPr lang="en-US" sz="1200" dirty="0">
                <a:solidFill>
                  <a:srgbClr val="46596A"/>
                </a:solidFill>
                <a:latin typeface="IBM Plex Sans" pitchFamily="34" charset="0"/>
                <a:ea typeface="IBM Plex Sans" pitchFamily="34" charset="-122"/>
                <a:cs typeface="IBM Plex Sans" pitchFamily="34" charset="-120"/>
              </a:rPr>
              <a:t>TC-001 on DataGhurhi. The same thought, action, outcome loop, over the DOM.</a:t>
            </a:r>
            <a:endParaRPr lang="en-US" sz="1200" dirty="0"/>
          </a:p>
        </p:txBody>
      </p:sp>
      <p:sp>
        <p:nvSpPr>
          <p:cNvPr id="5" name="Shape 3"/>
          <p:cNvSpPr/>
          <p:nvPr/>
        </p:nvSpPr>
        <p:spPr>
          <a:xfrm>
            <a:off x="813816" y="2057400"/>
            <a:ext cx="7178040" cy="3566160"/>
          </a:xfrm>
          <a:prstGeom prst="rect">
            <a:avLst/>
          </a:prstGeom>
          <a:solidFill>
            <a:srgbClr val="14303D"/>
          </a:solidFill>
          <a:ln w="12700">
            <a:solidFill>
              <a:srgbClr val="14303D"/>
            </a:solidFill>
            <a:prstDash val="solid"/>
          </a:ln>
        </p:spPr>
        <p:txBody>
          <a:bodyPr/>
          <a:lstStyle/>
          <a:p>
            <a:endParaRPr lang="en-US"/>
          </a:p>
        </p:txBody>
      </p:sp>
      <p:sp>
        <p:nvSpPr>
          <p:cNvPr id="6" name="Text 4"/>
          <p:cNvSpPr txBox="1"/>
          <p:nvPr/>
        </p:nvSpPr>
        <p:spPr>
          <a:xfrm>
            <a:off x="1069848" y="2267712"/>
            <a:ext cx="6675120" cy="3154680"/>
          </a:xfrm>
          <a:prstGeom prst="rect">
            <a:avLst/>
          </a:prstGeom>
          <a:noFill/>
          <a:ln/>
        </p:spPr>
        <p:txBody>
          <a:bodyPr wrap="square" lIns="0" tIns="0" rIns="0" bIns="0" rtlCol="0" anchor="ctr"/>
          <a:lstStyle/>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[1/80] dataghurhi.cse.buet.ac.bd</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think: find a survey with a text question to test</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Bangla Unicode input</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act:   {"action":"click","ref":"e9"}</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-&gt;     clicked [e9] button "Test Project for Survey"</a:t>
            </a:r>
            <a:endParaRPr lang="en-US" sz="1000" dirty="0"/>
          </a:p>
          <a:p>
            <a:pPr marL="0" indent="0">
              <a:lnSpc>
                <a:spcPts val="1350"/>
              </a:lnSpc>
              <a:buNone/>
            </a:pP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[4/80] /view-survey/601</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act:   {"action":"scroll","direction":"down"}</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-&gt;     scrolled down          page: 56 controls</a:t>
            </a:r>
            <a:endParaRPr lang="en-US" sz="1000" dirty="0"/>
          </a:p>
          <a:p>
            <a:pPr marL="0" indent="0">
              <a:lnSpc>
                <a:spcPts val="1350"/>
              </a:lnSpc>
              <a:buNone/>
            </a:pP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[5/80] /view-survey/601</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act:   {"action":"select","ref":"e20","value":"Text"}</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-&gt;     selected 'Text' in the question type dropdown</a:t>
            </a:r>
            <a:endParaRPr lang="en-US" sz="1000" dirty="0"/>
          </a:p>
          <a:p>
            <a:pPr marL="0" indent="0">
              <a:lnSpc>
                <a:spcPts val="1350"/>
              </a:lnSpc>
              <a:buNone/>
            </a:pP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[7/80] /view-survey/601</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act:   {"action":"fill","ref":"e19","text":"আপনার নাম লিখুন"}</a:t>
            </a:r>
            <a:endParaRPr lang="en-US" sz="1000" dirty="0"/>
          </a:p>
          <a:p>
            <a:pPr marL="0" indent="0">
              <a:lnSpc>
                <a:spcPts val="1350"/>
              </a:lnSpc>
              <a:buNone/>
            </a:pPr>
            <a:r>
              <a:rPr lang="en-US" sz="1000" dirty="0">
                <a:solidFill>
                  <a:srgbClr val="FDFEFE"/>
                </a:solidFill>
                <a:latin typeface="Courier New" pitchFamily="34" charset="0"/>
                <a:ea typeface="Courier New" pitchFamily="34" charset="-122"/>
                <a:cs typeface="Courier New" pitchFamily="34" charset="-120"/>
              </a:rPr>
              <a:t>  -&gt;     filled "Enter your question here"</a:t>
            </a:r>
            <a:endParaRPr lang="en-US" sz="1000" dirty="0"/>
          </a:p>
        </p:txBody>
      </p:sp>
      <p:sp>
        <p:nvSpPr>
          <p:cNvPr id="7" name="Shape 5"/>
          <p:cNvSpPr/>
          <p:nvPr/>
        </p:nvSpPr>
        <p:spPr>
          <a:xfrm>
            <a:off x="8275320" y="2057400"/>
            <a:ext cx="3108960" cy="1143000"/>
          </a:xfrm>
          <a:prstGeom prst="rect">
            <a:avLst/>
          </a:prstGeom>
          <a:solidFill>
            <a:srgbClr val="FFFFFF"/>
          </a:solidFill>
          <a:ln w="12700">
            <a:solidFill>
              <a:srgbClr val="D5E0E5"/>
            </a:solidFill>
            <a:prstDash val="solid"/>
          </a:ln>
        </p:spPr>
        <p:txBody>
          <a:bodyPr/>
          <a:lstStyle/>
          <a:p>
            <a:endParaRPr lang="en-US"/>
          </a:p>
        </p:txBody>
      </p:sp>
      <p:sp>
        <p:nvSpPr>
          <p:cNvPr id="8" name="Text 6"/>
          <p:cNvSpPr txBox="1"/>
          <p:nvPr/>
        </p:nvSpPr>
        <p:spPr>
          <a:xfrm>
            <a:off x="8485632" y="2203704"/>
            <a:ext cx="2697480" cy="420624"/>
          </a:xfrm>
          <a:prstGeom prst="rect">
            <a:avLst/>
          </a:prstGeom>
          <a:noFill/>
          <a:ln/>
        </p:spPr>
        <p:txBody>
          <a:bodyPr wrap="square" lIns="0" tIns="0" rIns="0" bIns="0" rtlCol="0" anchor="ctr"/>
          <a:lstStyle/>
          <a:p>
            <a:pPr marL="0" indent="0">
              <a:lnSpc>
                <a:spcPts val="1500"/>
              </a:lnSpc>
              <a:buNone/>
            </a:pPr>
            <a:r>
              <a:rPr lang="en-US" sz="1250" b="1" dirty="0">
                <a:solidFill>
                  <a:srgbClr val="14303D"/>
                </a:solidFill>
                <a:latin typeface="IBM Plex Sans" pitchFamily="34" charset="0"/>
                <a:ea typeface="IBM Plex Sans" pitchFamily="34" charset="-122"/>
                <a:cs typeface="IBM Plex Sans" pitchFamily="34" charset="-120"/>
              </a:rPr>
              <a:t>Controls by reference, not pixels</a:t>
            </a:r>
            <a:endParaRPr lang="en-US" sz="1250" dirty="0"/>
          </a:p>
        </p:txBody>
      </p:sp>
      <p:sp>
        <p:nvSpPr>
          <p:cNvPr id="9" name="Shape 7"/>
          <p:cNvSpPr/>
          <p:nvPr/>
        </p:nvSpPr>
        <p:spPr>
          <a:xfrm>
            <a:off x="8275320" y="3319272"/>
            <a:ext cx="3108960" cy="1143000"/>
          </a:xfrm>
          <a:prstGeom prst="rect">
            <a:avLst/>
          </a:prstGeom>
          <a:solidFill>
            <a:srgbClr val="FFFFFF"/>
          </a:solidFill>
          <a:ln w="12700">
            <a:solidFill>
              <a:srgbClr val="D5E0E5"/>
            </a:solidFill>
            <a:prstDash val="solid"/>
          </a:ln>
        </p:spPr>
        <p:txBody>
          <a:bodyPr/>
          <a:lstStyle/>
          <a:p>
            <a:endParaRPr lang="en-US"/>
          </a:p>
        </p:txBody>
      </p:sp>
      <p:sp>
        <p:nvSpPr>
          <p:cNvPr id="10" name="Text 8"/>
          <p:cNvSpPr txBox="1"/>
          <p:nvPr/>
        </p:nvSpPr>
        <p:spPr>
          <a:xfrm>
            <a:off x="8485632" y="3465576"/>
            <a:ext cx="2697480" cy="420624"/>
          </a:xfrm>
          <a:prstGeom prst="rect">
            <a:avLst/>
          </a:prstGeom>
          <a:noFill/>
          <a:ln/>
        </p:spPr>
        <p:txBody>
          <a:bodyPr wrap="square" lIns="0" tIns="0" rIns="0" bIns="0" rtlCol="0" anchor="ctr"/>
          <a:lstStyle/>
          <a:p>
            <a:pPr marL="0" indent="0">
              <a:lnSpc>
                <a:spcPts val="1500"/>
              </a:lnSpc>
              <a:buNone/>
            </a:pPr>
            <a:r>
              <a:rPr lang="en-US" sz="1250" b="1" dirty="0">
                <a:solidFill>
                  <a:srgbClr val="14303D"/>
                </a:solidFill>
                <a:latin typeface="IBM Plex Sans" pitchFamily="34" charset="0"/>
                <a:ea typeface="IBM Plex Sans" pitchFamily="34" charset="-122"/>
                <a:cs typeface="IBM Plex Sans" pitchFamily="34" charset="-120"/>
              </a:rPr>
              <a:t>Non Latin text end to end</a:t>
            </a:r>
            <a:endParaRPr lang="en-US" sz="1250" dirty="0"/>
          </a:p>
        </p:txBody>
      </p:sp>
      <p:sp>
        <p:nvSpPr>
          <p:cNvPr id="11" name="Shape 9"/>
          <p:cNvSpPr/>
          <p:nvPr/>
        </p:nvSpPr>
        <p:spPr>
          <a:xfrm>
            <a:off x="8275320" y="4581144"/>
            <a:ext cx="3108960" cy="1143000"/>
          </a:xfrm>
          <a:prstGeom prst="rect">
            <a:avLst/>
          </a:prstGeom>
          <a:solidFill>
            <a:srgbClr val="FFFFFF"/>
          </a:solidFill>
          <a:ln w="12700">
            <a:solidFill>
              <a:srgbClr val="D5E0E5"/>
            </a:solidFill>
            <a:prstDash val="solid"/>
          </a:ln>
        </p:spPr>
        <p:txBody>
          <a:bodyPr/>
          <a:lstStyle/>
          <a:p>
            <a:endParaRPr lang="en-US"/>
          </a:p>
        </p:txBody>
      </p:sp>
      <p:sp>
        <p:nvSpPr>
          <p:cNvPr id="12" name="Text 10"/>
          <p:cNvSpPr txBox="1"/>
          <p:nvPr/>
        </p:nvSpPr>
        <p:spPr>
          <a:xfrm>
            <a:off x="8485632" y="4727448"/>
            <a:ext cx="2697480" cy="420624"/>
          </a:xfrm>
          <a:prstGeom prst="rect">
            <a:avLst/>
          </a:prstGeom>
          <a:noFill/>
          <a:ln/>
        </p:spPr>
        <p:txBody>
          <a:bodyPr wrap="square" lIns="0" tIns="0" rIns="0" bIns="0" rtlCol="0" anchor="ctr"/>
          <a:lstStyle/>
          <a:p>
            <a:pPr marL="0" indent="0">
              <a:lnSpc>
                <a:spcPts val="1500"/>
              </a:lnSpc>
              <a:buNone/>
            </a:pPr>
            <a:r>
              <a:rPr lang="en-US" sz="1250" b="1" dirty="0">
                <a:solidFill>
                  <a:srgbClr val="14303D"/>
                </a:solidFill>
                <a:latin typeface="IBM Plex Sans" pitchFamily="34" charset="0"/>
                <a:ea typeface="IBM Plex Sans" pitchFamily="34" charset="-122"/>
                <a:cs typeface="IBM Plex Sans" pitchFamily="34" charset="-120"/>
              </a:rPr>
              <a:t>Bounded like the device runs</a:t>
            </a:r>
            <a:endParaRPr lang="en-US" sz="1250" dirty="0"/>
          </a:p>
        </p:txBody>
      </p:sp>
      <p:sp>
        <p:nvSpPr>
          <p:cNvPr id="13" name="Text 11"/>
          <p:cNvSpPr txBox="1"/>
          <p:nvPr/>
        </p:nvSpPr>
        <p:spPr>
          <a:xfrm>
            <a:off x="8485632" y="2624328"/>
            <a:ext cx="2697480" cy="512064"/>
          </a:xfrm>
          <a:prstGeom prst="rect">
            <a:avLst/>
          </a:prstGeom>
          <a:noFill/>
          <a:ln/>
        </p:spPr>
        <p:txBody>
          <a:bodyPr wrap="square" lIns="0" tIns="0" rIns="0" bIns="0" rtlCol="0" anchor="ctr"/>
          <a:lstStyle/>
          <a:p>
            <a:pPr marL="0" indent="0">
              <a:lnSpc>
                <a:spcPts val="1300"/>
              </a:lnSpc>
              <a:buNone/>
            </a:pPr>
            <a:r>
              <a:rPr lang="en-US" sz="1050" dirty="0">
                <a:solidFill>
                  <a:srgbClr val="46596A"/>
                </a:solidFill>
                <a:latin typeface="IBM Plex Sans" pitchFamily="34" charset="0"/>
                <a:ea typeface="IBM Plex Sans" pitchFamily="34" charset="-122"/>
                <a:cs typeface="IBM Plex Sans" pitchFamily="34" charset="-120"/>
              </a:rPr>
              <a:t>Each observed control gets a stable reference the model addresses by name.</a:t>
            </a:r>
            <a:endParaRPr lang="en-US" sz="1050" dirty="0"/>
          </a:p>
        </p:txBody>
      </p:sp>
      <p:sp>
        <p:nvSpPr>
          <p:cNvPr id="14" name="Text 12"/>
          <p:cNvSpPr txBox="1"/>
          <p:nvPr/>
        </p:nvSpPr>
        <p:spPr>
          <a:xfrm>
            <a:off x="8485632" y="3886200"/>
            <a:ext cx="2697480" cy="512064"/>
          </a:xfrm>
          <a:prstGeom prst="rect">
            <a:avLst/>
          </a:prstGeom>
          <a:noFill/>
          <a:ln/>
        </p:spPr>
        <p:txBody>
          <a:bodyPr wrap="square" lIns="0" tIns="0" rIns="0" bIns="0" rtlCol="0" anchor="ctr"/>
          <a:lstStyle/>
          <a:p>
            <a:pPr marL="0" indent="0">
              <a:lnSpc>
                <a:spcPts val="1300"/>
              </a:lnSpc>
              <a:buNone/>
            </a:pPr>
            <a:r>
              <a:rPr lang="en-US" sz="1050" dirty="0">
                <a:solidFill>
                  <a:srgbClr val="46596A"/>
                </a:solidFill>
                <a:latin typeface="IBM Plex Sans" pitchFamily="34" charset="0"/>
                <a:ea typeface="IBM Plex Sans" pitchFamily="34" charset="-122"/>
                <a:cs typeface="IBM Plex Sans" pitchFamily="34" charset="-120"/>
              </a:rPr>
              <a:t>Bangla is typed, stored and read back, then checked character for character.</a:t>
            </a:r>
            <a:endParaRPr lang="en-US" sz="1050" dirty="0"/>
          </a:p>
        </p:txBody>
      </p:sp>
      <p:sp>
        <p:nvSpPr>
          <p:cNvPr id="15" name="Text 13"/>
          <p:cNvSpPr txBox="1"/>
          <p:nvPr/>
        </p:nvSpPr>
        <p:spPr>
          <a:xfrm>
            <a:off x="8485632" y="5148072"/>
            <a:ext cx="2697480" cy="512064"/>
          </a:xfrm>
          <a:prstGeom prst="rect">
            <a:avLst/>
          </a:prstGeom>
          <a:noFill/>
          <a:ln/>
        </p:spPr>
        <p:txBody>
          <a:bodyPr wrap="square" lIns="0" tIns="0" rIns="0" bIns="0" rtlCol="0" anchor="ctr"/>
          <a:lstStyle/>
          <a:p>
            <a:pPr marL="0" indent="0">
              <a:lnSpc>
                <a:spcPts val="1300"/>
              </a:lnSpc>
              <a:buNone/>
            </a:pPr>
            <a:r>
              <a:rPr lang="en-US" sz="1050" dirty="0">
                <a:solidFill>
                  <a:srgbClr val="46596A"/>
                </a:solidFill>
                <a:latin typeface="IBM Plex Sans" pitchFamily="34" charset="0"/>
                <a:ea typeface="IBM Plex Sans" pitchFamily="34" charset="-122"/>
                <a:cs typeface="IBM Plex Sans" pitchFamily="34" charset="-120"/>
              </a:rPr>
              <a:t>Up to 80 steps, with guards that end a run repeating a dead action or wandering.</a:t>
            </a:r>
            <a:endParaRPr lang="en-US" sz="1050" dirty="0"/>
          </a:p>
        </p:txBody>
      </p:sp>
      <p:sp>
        <p:nvSpPr>
          <p:cNvPr id="16" name="Shape 14"/>
          <p:cNvSpPr/>
          <p:nvPr/>
        </p:nvSpPr>
        <p:spPr>
          <a:xfrm>
            <a:off x="8275320" y="5843016"/>
            <a:ext cx="3108960" cy="329184"/>
          </a:xfrm>
          <a:prstGeom prst="rect">
            <a:avLst/>
          </a:prstGeom>
          <a:solidFill>
            <a:srgbClr val="FFFFFF"/>
          </a:solidFill>
          <a:ln w="12700">
            <a:solidFill>
              <a:srgbClr val="D5E0E5"/>
            </a:solidFill>
            <a:prstDash val="solid"/>
          </a:ln>
        </p:spPr>
        <p:txBody>
          <a:bodyPr/>
          <a:lstStyle/>
          <a:p>
            <a:endParaRPr lang="en-US"/>
          </a:p>
        </p:txBody>
      </p:sp>
      <p:sp>
        <p:nvSpPr>
          <p:cNvPr id="17" name="Text 15"/>
          <p:cNvSpPr txBox="1"/>
          <p:nvPr/>
        </p:nvSpPr>
        <p:spPr>
          <a:xfrm>
            <a:off x="8275320" y="5843016"/>
            <a:ext cx="3108960" cy="329184"/>
          </a:xfrm>
          <a:prstGeom prst="rect">
            <a:avLst/>
          </a:prstGeom>
          <a:noFill/>
          <a:ln/>
        </p:spPr>
        <p:txBody>
          <a:bodyPr wrap="square" lIns="0" tIns="0" rIns="0" bIns="0" rtlCol="0" anchor="ctr"/>
          <a:lstStyle/>
          <a:p>
            <a:pPr marL="0" indent="0" algn="ctr">
              <a:buNone/>
            </a:pPr>
            <a:r>
              <a:rPr lang="en-US" sz="1100" b="1" dirty="0">
                <a:solidFill>
                  <a:srgbClr val="0B6A8F"/>
                </a:solidFill>
                <a:latin typeface="IBM Plex Sans" pitchFamily="34" charset="0"/>
                <a:ea typeface="IBM Plex Sans" pitchFamily="34" charset="-122"/>
                <a:cs typeface="IBM Plex Sans" pitchFamily="34" charset="-120"/>
              </a:rPr>
              <a:t>5 targets · 2 platforms · 1 planner</a:t>
            </a:r>
            <a:endParaRPr lang="en-US" sz="1100" dirty="0"/>
          </a:p>
        </p:txBody>
      </p:sp>
      <p:sp>
        <p:nvSpPr>
          <p:cNvPr id="18" name="Text 16"/>
          <p:cNvSpPr txBox="1"/>
          <p:nvPr/>
        </p:nvSpPr>
        <p:spPr>
          <a:xfrm>
            <a:off x="813816" y="6236208"/>
            <a:ext cx="3456432" cy="237744"/>
          </a:xfrm>
          <a:prstGeom prst="rect">
            <a:avLst/>
          </a:prstGeom>
          <a:noFill/>
          <a:ln/>
        </p:spPr>
        <p:txBody>
          <a:bodyPr wrap="square" lIns="0" tIns="0" rIns="0" bIns="0" rtlCol="0" anchor="ctr"/>
          <a:lstStyle/>
          <a:p>
            <a:pPr marL="0" indent="0">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9" name="Text 17"/>
          <p:cNvSpPr txBox="1"/>
          <p:nvPr/>
        </p:nvSpPr>
        <p:spPr>
          <a:xfrm>
            <a:off x="11247120" y="6236208"/>
            <a:ext cx="182880" cy="237744"/>
          </a:xfrm>
          <a:prstGeom prst="rect">
            <a:avLst/>
          </a:prstGeom>
          <a:noFill/>
          <a:ln/>
        </p:spPr>
        <p:txBody>
          <a:bodyPr wrap="square" lIns="0" tIns="0" rIns="0" bIns="0" rtlCol="0" anchor="ctr"/>
          <a:lstStyle/>
          <a:p>
            <a:pPr marL="0" indent="0" algn="r">
              <a:buNone/>
            </a:pPr>
            <a:r>
              <a:rPr lang="en-US" sz="1200" dirty="0">
                <a:solidFill>
                  <a:srgbClr val="55697A"/>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5">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INVESTIGATOR</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investigator turns runs into knowledge</a:t>
            </a:r>
            <a:endParaRPr lang="en-US" sz="3000" dirty="0"/>
          </a:p>
        </p:txBody>
      </p:sp>
      <p:sp>
        <p:nvSpPr>
          <p:cNvPr id="4" name="Shape 2"/>
          <p:cNvSpPr/>
          <p:nvPr/>
        </p:nvSpPr>
        <p:spPr>
          <a:xfrm>
            <a:off x="812800" y="1775420"/>
            <a:ext cx="294680" cy="264120"/>
          </a:xfrm>
          <a:prstGeom prst="roundRect">
            <a:avLst>
              <a:gd name="adj" fmla="val 50000"/>
            </a:avLst>
          </a:prstGeom>
          <a:solidFill>
            <a:srgbClr val="0F7EA8"/>
          </a:solidFill>
          <a:ln/>
        </p:spPr>
        <p:txBody>
          <a:bodyPr/>
          <a:lstStyle/>
          <a:p>
            <a:endParaRPr lang="en-US"/>
          </a:p>
        </p:txBody>
      </p:sp>
      <p:sp>
        <p:nvSpPr>
          <p:cNvPr id="5" name="Text 3"/>
          <p:cNvSpPr/>
          <p:nvPr/>
        </p:nvSpPr>
        <p:spPr>
          <a:xfrm>
            <a:off x="914400" y="1800820"/>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1234480" y="1775420"/>
            <a:ext cx="440564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Reads the run</a:t>
            </a:r>
            <a:endParaRPr lang="en-US" sz="1400" dirty="0"/>
          </a:p>
        </p:txBody>
      </p:sp>
      <p:sp>
        <p:nvSpPr>
          <p:cNvPr id="7" name="Text 5"/>
          <p:cNvSpPr/>
          <p:nvPr/>
        </p:nvSpPr>
        <p:spPr>
          <a:xfrm>
            <a:off x="1234480" y="2031950"/>
            <a:ext cx="44056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Compares the device's step log with what the test was meant to verify.</a:t>
            </a:r>
            <a:endParaRPr lang="en-US" sz="1200" dirty="0"/>
          </a:p>
        </p:txBody>
      </p:sp>
      <p:sp>
        <p:nvSpPr>
          <p:cNvPr id="8" name="Shape 6"/>
          <p:cNvSpPr/>
          <p:nvPr/>
        </p:nvSpPr>
        <p:spPr>
          <a:xfrm>
            <a:off x="812800" y="2636391"/>
            <a:ext cx="294680" cy="264120"/>
          </a:xfrm>
          <a:prstGeom prst="roundRect">
            <a:avLst>
              <a:gd name="adj" fmla="val 50000"/>
            </a:avLst>
          </a:prstGeom>
          <a:solidFill>
            <a:srgbClr val="0F7EA8"/>
          </a:solidFill>
          <a:ln/>
        </p:spPr>
        <p:txBody>
          <a:bodyPr/>
          <a:lstStyle/>
          <a:p>
            <a:endParaRPr lang="en-US"/>
          </a:p>
        </p:txBody>
      </p:sp>
      <p:sp>
        <p:nvSpPr>
          <p:cNvPr id="9" name="Text 7"/>
          <p:cNvSpPr/>
          <p:nvPr/>
        </p:nvSpPr>
        <p:spPr>
          <a:xfrm>
            <a:off x="914400" y="2661791"/>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2</a:t>
            </a:r>
            <a:endParaRPr lang="en-US" sz="1200" dirty="0"/>
          </a:p>
        </p:txBody>
      </p:sp>
      <p:sp>
        <p:nvSpPr>
          <p:cNvPr id="10" name="Text 8"/>
          <p:cNvSpPr/>
          <p:nvPr/>
        </p:nvSpPr>
        <p:spPr>
          <a:xfrm>
            <a:off x="1234480" y="2636391"/>
            <a:ext cx="440564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Writes typed findings</a:t>
            </a:r>
            <a:endParaRPr lang="en-US" sz="1400" dirty="0"/>
          </a:p>
        </p:txBody>
      </p:sp>
      <p:sp>
        <p:nvSpPr>
          <p:cNvPr id="11" name="Text 9"/>
          <p:cNvSpPr/>
          <p:nvPr/>
        </p:nvSpPr>
        <p:spPr>
          <a:xfrm>
            <a:off x="1234480" y="2892921"/>
            <a:ext cx="44056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is one atomic claim. A repeat observation reinforces an existing finding instead of creating a new one.</a:t>
            </a:r>
            <a:endParaRPr lang="en-US" sz="1200" dirty="0"/>
          </a:p>
        </p:txBody>
      </p:sp>
      <p:sp>
        <p:nvSpPr>
          <p:cNvPr id="12" name="Shape 10"/>
          <p:cNvSpPr/>
          <p:nvPr/>
        </p:nvSpPr>
        <p:spPr>
          <a:xfrm>
            <a:off x="812800" y="3497362"/>
            <a:ext cx="294680" cy="264120"/>
          </a:xfrm>
          <a:prstGeom prst="roundRect">
            <a:avLst>
              <a:gd name="adj" fmla="val 50000"/>
            </a:avLst>
          </a:prstGeom>
          <a:solidFill>
            <a:srgbClr val="0F7EA8"/>
          </a:solidFill>
          <a:ln/>
        </p:spPr>
        <p:txBody>
          <a:bodyPr/>
          <a:lstStyle/>
          <a:p>
            <a:endParaRPr lang="en-US"/>
          </a:p>
        </p:txBody>
      </p:sp>
      <p:sp>
        <p:nvSpPr>
          <p:cNvPr id="13" name="Text 11"/>
          <p:cNvSpPr/>
          <p:nvPr/>
        </p:nvSpPr>
        <p:spPr>
          <a:xfrm>
            <a:off x="914400" y="3522762"/>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3</a:t>
            </a:r>
            <a:endParaRPr lang="en-US" sz="1200" dirty="0"/>
          </a:p>
        </p:txBody>
      </p:sp>
      <p:sp>
        <p:nvSpPr>
          <p:cNvPr id="14" name="Text 12"/>
          <p:cNvSpPr/>
          <p:nvPr/>
        </p:nvSpPr>
        <p:spPr>
          <a:xfrm>
            <a:off x="1234480" y="3497362"/>
            <a:ext cx="440564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Settles open questions</a:t>
            </a:r>
            <a:endParaRPr lang="en-US" sz="1400" dirty="0"/>
          </a:p>
        </p:txBody>
      </p:sp>
      <p:sp>
        <p:nvSpPr>
          <p:cNvPr id="15" name="Text 13"/>
          <p:cNvSpPr/>
          <p:nvPr/>
        </p:nvSpPr>
        <p:spPr>
          <a:xfrm>
            <a:off x="1234480" y="3753892"/>
            <a:ext cx="44056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question one run raises is answered by a later run, or retired as inconclusive after three attempts.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829300" y="1788120"/>
          <a:ext cx="5549900" cy="2516683"/>
        </p:xfrm>
        <a:graphic>
          <a:graphicData uri="http://schemas.openxmlformats.org/drawingml/2006/table">
            <a:tbl>
              <a:tblPr/>
              <a:tblGrid>
                <a:gridCol w="998982">
                  <a:extLst>
                    <a:ext uri="{9D8B030D-6E8A-4147-A177-3AD203B41FA5}">
                      <a16:colId xmlns:a16="http://schemas.microsoft.com/office/drawing/2014/main" val="20000"/>
                    </a:ext>
                  </a:extLst>
                </a:gridCol>
                <a:gridCol w="2774950">
                  <a:extLst>
                    <a:ext uri="{9D8B030D-6E8A-4147-A177-3AD203B41FA5}">
                      <a16:colId xmlns:a16="http://schemas.microsoft.com/office/drawing/2014/main" val="20001"/>
                    </a:ext>
                  </a:extLst>
                </a:gridCol>
                <a:gridCol w="1775968">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Group</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Finding kinds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Used for</a:t>
                      </a:r>
                      <a:endParaRPr lang="en-US" sz="1200" dirty="0">
                        <a:latin typeface="IBM Plex Sans" charset="0"/>
                        <a:ea typeface="IBM Plex Sans" charset="0"/>
                        <a:cs typeface="IBM Plex Sans" charset="0"/>
                      </a:endParaRPr>
                    </a:p>
                  </a:txBody>
                  <a:tcPr marL="53340" marR="53340" marT="53340" marB="5334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extLst>
                  <a:ext uri="{0D108BD9-81ED-4DB2-BD59-A6C34878D82A}">
                    <a16:rowId xmlns:a16="http://schemas.microsoft.com/office/drawing/2014/main" val="10000"/>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Defect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SUSPECTED_DEFECT, SPEC_VIOLATION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human reviews it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1"/>
                  </a:ext>
                </a:extLst>
              </a:tr>
              <a:tr h="75932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Oracle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CONFIRMED_BEHAVIOUR, UNEXPECTED_BEHAVIOUR, SPEC_GAP, UNVERIFIED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Fed back to the planner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UI</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CONTROL_DISCOVERED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Adds to the app map</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3"/>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Agent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AGENT_DIFFICULTY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Our own limits, never app evidence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7" name="Text 14"/>
          <p:cNvSpPr/>
          <p:nvPr/>
        </p:nvSpPr>
        <p:spPr>
          <a:xfrm>
            <a:off x="5816600" y="4457204"/>
            <a:ext cx="572947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Contacts app so far: 345 findings, including 36 suspected defects and 21 specification violations.</a:t>
            </a:r>
            <a:endParaRPr lang="en-US" sz="1200" dirty="0"/>
          </a:p>
        </p:txBody>
      </p:sp>
      <p:sp>
        <p:nvSpPr>
          <p:cNvPr id="18" name="Text 15"/>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9" name="Text 16"/>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6">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INVESTIGATOR · IN DETAIL</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Eight kinds of finding, four destinations</a:t>
            </a:r>
            <a:endParaRPr lang="en-US" sz="3000" dirty="0"/>
          </a:p>
        </p:txBody>
      </p:sp>
      <p:sp>
        <p:nvSpPr>
          <p:cNvPr id="4" name="Shape 2"/>
          <p:cNvSpPr/>
          <p:nvPr/>
        </p:nvSpPr>
        <p:spPr>
          <a:xfrm>
            <a:off x="812800" y="1724620"/>
            <a:ext cx="10566400" cy="1778000"/>
          </a:xfrm>
          <a:prstGeom prst="roundRect">
            <a:avLst>
              <a:gd name="adj" fmla="val 5714"/>
            </a:avLst>
          </a:prstGeom>
          <a:solidFill>
            <a:srgbClr val="FDFEFE"/>
          </a:solidFill>
          <a:ln/>
        </p:spPr>
        <p:txBody>
          <a:bodyPr/>
          <a:lstStyle/>
          <a:p>
            <a:endParaRPr lang="en-US"/>
          </a:p>
        </p:txBody>
      </p:sp>
      <p:pic>
        <p:nvPicPr>
          <p:cNvPr id="5" name="Image 0" descr="Finding taxonomy: eight finding kinds in a row, each routed to one of four groups: defect, oracle, UI and agent"/>
          <p:cNvPicPr>
            <a:picLocks noChangeAspect="1"/>
          </p:cNvPicPr>
          <p:nvPr/>
        </p:nvPicPr>
        <p:blipFill>
          <a:blip r:embed="rId3"/>
          <a:stretch>
            <a:fillRect/>
          </a:stretch>
        </p:blipFill>
        <p:spPr>
          <a:xfrm>
            <a:off x="819150" y="1795950"/>
            <a:ext cx="10553700" cy="1635340"/>
          </a:xfrm>
          <a:custGeom>
            <a:avLst/>
            <a:gdLst/>
            <a:ahLst/>
            <a:cxnLst/>
            <a:rect l="l" t="t" r="r" b="b"/>
            <a:pathLst>
              <a:path w="10553700" h="1635340">
                <a:moveTo>
                  <a:pt x="0" y="30270"/>
                </a:moveTo>
                <a:arcTo wR="95250" hR="95250" stAng="10800000" swAng="1111775"/>
                <a:lnTo>
                  <a:pt x="10548762" y="0"/>
                </a:lnTo>
                <a:arcTo wR="95250" hR="95250" stAng="20488225" swAng="1111775"/>
                <a:lnTo>
                  <a:pt x="10553700" y="1605070"/>
                </a:lnTo>
                <a:arcTo wR="95250" hR="95250" stAng="0" swAng="1111775"/>
                <a:lnTo>
                  <a:pt x="4938" y="1635340"/>
                </a:lnTo>
                <a:arcTo wR="95250" hR="95250" stAng="9688225" swAng="1111775"/>
                <a:close/>
              </a:path>
            </a:pathLst>
          </a:custGeom>
        </p:spPr>
      </p:pic>
      <p:sp>
        <p:nvSpPr>
          <p:cNvPr id="6" name="Shape 3"/>
          <p:cNvSpPr/>
          <p:nvPr/>
        </p:nvSpPr>
        <p:spPr>
          <a:xfrm>
            <a:off x="815975" y="1727795"/>
            <a:ext cx="10560050" cy="1771650"/>
          </a:xfrm>
          <a:prstGeom prst="roundRect">
            <a:avLst>
              <a:gd name="adj" fmla="val 5556"/>
            </a:avLst>
          </a:prstGeom>
          <a:noFill/>
          <a:ln w="6350">
            <a:solidFill>
              <a:srgbClr val="D6E1E6"/>
            </a:solidFill>
            <a:prstDash val="solid"/>
          </a:ln>
        </p:spPr>
        <p:txBody>
          <a:bodyPr/>
          <a:lstStyle/>
          <a:p>
            <a:endParaRPr lang="en-US"/>
          </a:p>
        </p:txBody>
      </p:sp>
      <p:sp>
        <p:nvSpPr>
          <p:cNvPr id="7" name="Shape 4"/>
          <p:cNvSpPr/>
          <p:nvPr/>
        </p:nvSpPr>
        <p:spPr>
          <a:xfrm>
            <a:off x="815975" y="3708995"/>
            <a:ext cx="2520950"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8" name="Text 5"/>
          <p:cNvSpPr/>
          <p:nvPr/>
        </p:nvSpPr>
        <p:spPr>
          <a:xfrm>
            <a:off x="996950" y="3889970"/>
            <a:ext cx="222377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8B1A1A"/>
                </a:solidFill>
                <a:latin typeface="IBM Plex Sans" pitchFamily="34" charset="0"/>
                <a:ea typeface="IBM Plex Sans" pitchFamily="34" charset="-122"/>
                <a:cs typeface="IBM Plex Sans" pitchFamily="34" charset="-120"/>
              </a:rPr>
              <a:t>Red: defect</a:t>
            </a:r>
            <a:endParaRPr lang="en-US" sz="1400" dirty="0"/>
          </a:p>
        </p:txBody>
      </p:sp>
      <p:sp>
        <p:nvSpPr>
          <p:cNvPr id="9" name="Text 6"/>
          <p:cNvSpPr/>
          <p:nvPr/>
        </p:nvSpPr>
        <p:spPr>
          <a:xfrm>
            <a:off x="996950" y="4171900"/>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Suspected defects and spec violations go to a human.</a:t>
            </a:r>
            <a:endParaRPr lang="en-US" sz="1200" dirty="0"/>
          </a:p>
        </p:txBody>
      </p:sp>
      <p:sp>
        <p:nvSpPr>
          <p:cNvPr id="10" name="Shape 7"/>
          <p:cNvSpPr/>
          <p:nvPr/>
        </p:nvSpPr>
        <p:spPr>
          <a:xfrm>
            <a:off x="3495675" y="3708995"/>
            <a:ext cx="2520950"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1" name="Text 8"/>
          <p:cNvSpPr/>
          <p:nvPr/>
        </p:nvSpPr>
        <p:spPr>
          <a:xfrm>
            <a:off x="3676650" y="3889970"/>
            <a:ext cx="222377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B5E27"/>
                </a:solidFill>
                <a:latin typeface="IBM Plex Sans" pitchFamily="34" charset="0"/>
                <a:ea typeface="IBM Plex Sans" pitchFamily="34" charset="-122"/>
                <a:cs typeface="IBM Plex Sans" pitchFamily="34" charset="-120"/>
              </a:rPr>
              <a:t>Green: oracle</a:t>
            </a:r>
            <a:endParaRPr lang="en-US" sz="1400" dirty="0"/>
          </a:p>
        </p:txBody>
      </p:sp>
      <p:sp>
        <p:nvSpPr>
          <p:cNvPr id="12" name="Text 9"/>
          <p:cNvSpPr/>
          <p:nvPr/>
        </p:nvSpPr>
        <p:spPr>
          <a:xfrm>
            <a:off x="3676650" y="4171900"/>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What the app does, or leaves unclear, feeds the planner.</a:t>
            </a:r>
            <a:endParaRPr lang="en-US" sz="1200" dirty="0"/>
          </a:p>
        </p:txBody>
      </p:sp>
      <p:sp>
        <p:nvSpPr>
          <p:cNvPr id="13" name="Shape 10"/>
          <p:cNvSpPr/>
          <p:nvPr/>
        </p:nvSpPr>
        <p:spPr>
          <a:xfrm>
            <a:off x="6175375" y="3708995"/>
            <a:ext cx="2520950"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4" name="Text 11"/>
          <p:cNvSpPr/>
          <p:nvPr/>
        </p:nvSpPr>
        <p:spPr>
          <a:xfrm>
            <a:off x="6356350" y="3889970"/>
            <a:ext cx="222377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0B4A87"/>
                </a:solidFill>
                <a:latin typeface="IBM Plex Sans" pitchFamily="34" charset="0"/>
                <a:ea typeface="IBM Plex Sans" pitchFamily="34" charset="-122"/>
                <a:cs typeface="IBM Plex Sans" pitchFamily="34" charset="-120"/>
              </a:rPr>
              <a:t>Blue: UI</a:t>
            </a:r>
            <a:endParaRPr lang="en-US" sz="1400" dirty="0"/>
          </a:p>
        </p:txBody>
      </p:sp>
      <p:sp>
        <p:nvSpPr>
          <p:cNvPr id="15" name="Text 12"/>
          <p:cNvSpPr/>
          <p:nvPr/>
        </p:nvSpPr>
        <p:spPr>
          <a:xfrm>
            <a:off x="6356350" y="4171900"/>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newly found control enriches the app map.</a:t>
            </a:r>
            <a:endParaRPr lang="en-US" sz="1200" dirty="0"/>
          </a:p>
        </p:txBody>
      </p:sp>
      <p:sp>
        <p:nvSpPr>
          <p:cNvPr id="16" name="Shape 13"/>
          <p:cNvSpPr/>
          <p:nvPr/>
        </p:nvSpPr>
        <p:spPr>
          <a:xfrm>
            <a:off x="8855075" y="3708995"/>
            <a:ext cx="2520950"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7" name="Text 14"/>
          <p:cNvSpPr/>
          <p:nvPr/>
        </p:nvSpPr>
        <p:spPr>
          <a:xfrm>
            <a:off x="9036050" y="3889970"/>
            <a:ext cx="2223770"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343A40"/>
                </a:solidFill>
                <a:latin typeface="IBM Plex Sans" pitchFamily="34" charset="0"/>
                <a:ea typeface="IBM Plex Sans" pitchFamily="34" charset="-122"/>
                <a:cs typeface="IBM Plex Sans" pitchFamily="34" charset="-120"/>
              </a:rPr>
              <a:t>Grey: agent</a:t>
            </a:r>
            <a:endParaRPr lang="en-US" sz="1400" dirty="0"/>
          </a:p>
        </p:txBody>
      </p:sp>
      <p:sp>
        <p:nvSpPr>
          <p:cNvPr id="18" name="Text 15"/>
          <p:cNvSpPr/>
          <p:nvPr/>
        </p:nvSpPr>
        <p:spPr>
          <a:xfrm>
            <a:off x="9036050" y="4171900"/>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Our own difficulties, never counted as app evidence.</a:t>
            </a:r>
            <a:endParaRPr lang="en-US" sz="1200" dirty="0"/>
          </a:p>
        </p:txBody>
      </p:sp>
      <p:sp>
        <p:nvSpPr>
          <p:cNvPr id="19" name="Text 16"/>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0" name="Text 17"/>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7">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INVESTIGATOR · DEDUPLICATION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Knowing a finding is the same finding</a:t>
            </a:r>
            <a:endParaRPr lang="en-US" sz="3000" dirty="0"/>
          </a:p>
        </p:txBody>
      </p:sp>
      <p:sp>
        <p:nvSpPr>
          <p:cNvPr id="4" name="Shape 2"/>
          <p:cNvSpPr/>
          <p:nvPr/>
        </p:nvSpPr>
        <p:spPr>
          <a:xfrm>
            <a:off x="815975" y="1778595"/>
            <a:ext cx="3414167"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5" name="Text 3"/>
          <p:cNvSpPr/>
          <p:nvPr/>
        </p:nvSpPr>
        <p:spPr>
          <a:xfrm>
            <a:off x="996950" y="1959570"/>
            <a:ext cx="3143783"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1 · Shown what is known</a:t>
            </a:r>
            <a:endParaRPr lang="en-US" sz="1400" dirty="0"/>
          </a:p>
        </p:txBody>
      </p:sp>
      <p:sp>
        <p:nvSpPr>
          <p:cNvPr id="6" name="Text 4"/>
          <p:cNvSpPr/>
          <p:nvPr/>
        </p:nvSpPr>
        <p:spPr>
          <a:xfrm>
            <a:off x="996950" y="2241500"/>
            <a:ext cx="31437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model sees up to 12 known findings for the screens this run touched.</a:t>
            </a:r>
            <a:endParaRPr lang="en-US" sz="1200" dirty="0"/>
          </a:p>
        </p:txBody>
      </p:sp>
      <p:sp>
        <p:nvSpPr>
          <p:cNvPr id="7" name="Shape 5"/>
          <p:cNvSpPr/>
          <p:nvPr/>
        </p:nvSpPr>
        <p:spPr>
          <a:xfrm>
            <a:off x="4388892" y="1778595"/>
            <a:ext cx="3414216"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8" name="Text 6"/>
          <p:cNvSpPr/>
          <p:nvPr/>
        </p:nvSpPr>
        <p:spPr>
          <a:xfrm>
            <a:off x="4569867" y="1959570"/>
            <a:ext cx="3143834"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2 · Says what it confirms</a:t>
            </a:r>
            <a:endParaRPr lang="en-US" sz="1400" dirty="0"/>
          </a:p>
        </p:txBody>
      </p:sp>
      <p:sp>
        <p:nvSpPr>
          <p:cNvPr id="9" name="Text 7"/>
          <p:cNvSpPr/>
          <p:nvPr/>
        </p:nvSpPr>
        <p:spPr>
          <a:xfrm>
            <a:off x="4569867" y="2241500"/>
            <a:ext cx="31438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confirmation reinforces the existing finding instead of adding a new one.</a:t>
            </a:r>
            <a:endParaRPr lang="en-US" sz="1200" dirty="0"/>
          </a:p>
        </p:txBody>
      </p:sp>
      <p:sp>
        <p:nvSpPr>
          <p:cNvPr id="10" name="Shape 8"/>
          <p:cNvSpPr/>
          <p:nvPr/>
        </p:nvSpPr>
        <p:spPr>
          <a:xfrm>
            <a:off x="7961858" y="1778595"/>
            <a:ext cx="3414167" cy="1070521"/>
          </a:xfrm>
          <a:prstGeom prst="roundRect">
            <a:avLst>
              <a:gd name="adj" fmla="val 9194"/>
            </a:avLst>
          </a:prstGeom>
          <a:solidFill>
            <a:srgbClr val="FDFEFE"/>
          </a:solidFill>
          <a:ln w="6350">
            <a:solidFill>
              <a:srgbClr val="D6E1E6"/>
            </a:solidFill>
            <a:prstDash val="solid"/>
          </a:ln>
        </p:spPr>
        <p:txBody>
          <a:bodyPr/>
          <a:lstStyle/>
          <a:p>
            <a:endParaRPr lang="en-US"/>
          </a:p>
        </p:txBody>
      </p:sp>
      <p:sp>
        <p:nvSpPr>
          <p:cNvPr id="11" name="Text 9"/>
          <p:cNvSpPr/>
          <p:nvPr/>
        </p:nvSpPr>
        <p:spPr>
          <a:xfrm>
            <a:off x="8142833" y="1959570"/>
            <a:ext cx="3143783"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3 · Embedding safety net</a:t>
            </a:r>
            <a:endParaRPr lang="en-US" sz="1400" dirty="0"/>
          </a:p>
        </p:txBody>
      </p:sp>
      <p:sp>
        <p:nvSpPr>
          <p:cNvPr id="12" name="Text 10"/>
          <p:cNvSpPr/>
          <p:nvPr/>
        </p:nvSpPr>
        <p:spPr>
          <a:xfrm>
            <a:off x="8142833" y="2241500"/>
            <a:ext cx="31437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new claim at 0.90 cosine or more to one in the same group is merged anyway.</a:t>
            </a:r>
            <a:endParaRPr lang="en-US" sz="1200" dirty="0"/>
          </a:p>
        </p:txBody>
      </p:sp>
      <p:sp>
        <p:nvSpPr>
          <p:cNvPr id="13" name="Text 11"/>
          <p:cNvSpPr/>
          <p:nvPr/>
        </p:nvSpPr>
        <p:spPr>
          <a:xfrm>
            <a:off x="812800" y="300469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Why the model decides, not similarity alone:</a:t>
            </a:r>
            <a:r>
              <a:rPr lang="en-US" sz="1200" dirty="0">
                <a:solidFill>
                  <a:srgbClr val="14303D"/>
                </a:solidFill>
                <a:latin typeface="IBM Plex Sans" pitchFamily="34" charset="0"/>
                <a:ea typeface="IBM Plex Sans" pitchFamily="34" charset="-122"/>
                <a:cs typeface="IBM Plex Sans" pitchFamily="34" charset="-120"/>
              </a:rPr>
              <a:t> a true restatement of one finding scored 0.846, while a genuinely different defect scored 0.853.</a:t>
            </a:r>
            <a:endParaRPr lang="en-US" sz="1200" dirty="0"/>
          </a:p>
        </p:txBody>
      </p:sp>
      <p:sp>
        <p:nvSpPr>
          <p:cNvPr id="14" name="Shape 12"/>
          <p:cNvSpPr/>
          <p:nvPr/>
        </p:nvSpPr>
        <p:spPr>
          <a:xfrm>
            <a:off x="815975" y="3373586"/>
            <a:ext cx="5207000" cy="1283841"/>
          </a:xfrm>
          <a:prstGeom prst="roundRect">
            <a:avLst>
              <a:gd name="adj" fmla="val 7666"/>
            </a:avLst>
          </a:prstGeom>
          <a:solidFill>
            <a:srgbClr val="FDFEFE"/>
          </a:solidFill>
          <a:ln w="6350">
            <a:solidFill>
              <a:srgbClr val="D6E1E6"/>
            </a:solidFill>
            <a:prstDash val="solid"/>
          </a:ln>
        </p:spPr>
        <p:txBody>
          <a:bodyPr/>
          <a:lstStyle/>
          <a:p>
            <a:endParaRPr lang="en-US"/>
          </a:p>
        </p:txBody>
      </p:sp>
      <p:sp>
        <p:nvSpPr>
          <p:cNvPr id="15" name="Text 13"/>
          <p:cNvSpPr/>
          <p:nvPr/>
        </p:nvSpPr>
        <p:spPr>
          <a:xfrm>
            <a:off x="996950" y="3554561"/>
            <a:ext cx="499040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Clusters become one claim</a:t>
            </a:r>
            <a:endParaRPr lang="en-US" sz="1400" dirty="0"/>
          </a:p>
        </p:txBody>
      </p:sp>
      <p:sp>
        <p:nvSpPr>
          <p:cNvPr id="16" name="Text 14"/>
          <p:cNvSpPr/>
          <p:nvPr/>
        </p:nvSpPr>
        <p:spPr>
          <a:xfrm>
            <a:off x="996950" y="3836491"/>
            <a:ext cx="499040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Three or more similar findings on one screen (0.72) can be merged into a general claim. On the contacts app, 5 general claims stand for 26 specific ones.</a:t>
            </a:r>
            <a:endParaRPr lang="en-US" sz="1200" dirty="0"/>
          </a:p>
        </p:txBody>
      </p:sp>
      <p:sp>
        <p:nvSpPr>
          <p:cNvPr id="17" name="Shape 15"/>
          <p:cNvSpPr/>
          <p:nvPr/>
        </p:nvSpPr>
        <p:spPr>
          <a:xfrm>
            <a:off x="6178550" y="3370411"/>
            <a:ext cx="5200650" cy="1290191"/>
          </a:xfrm>
          <a:prstGeom prst="roundRect">
            <a:avLst>
              <a:gd name="adj" fmla="val 7875"/>
            </a:avLst>
          </a:prstGeom>
          <a:solidFill>
            <a:srgbClr val="14303D"/>
          </a:solidFill>
          <a:ln/>
        </p:spPr>
        <p:txBody>
          <a:bodyPr/>
          <a:lstStyle/>
          <a:p>
            <a:endParaRPr lang="en-US"/>
          </a:p>
        </p:txBody>
      </p:sp>
      <p:sp>
        <p:nvSpPr>
          <p:cNvPr id="18" name="Text 16"/>
          <p:cNvSpPr/>
          <p:nvPr/>
        </p:nvSpPr>
        <p:spPr>
          <a:xfrm>
            <a:off x="6356350" y="3548211"/>
            <a:ext cx="499040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6F5"/>
                </a:solidFill>
                <a:latin typeface="IBM Plex Sans" pitchFamily="34" charset="0"/>
                <a:ea typeface="IBM Plex Sans" pitchFamily="34" charset="-122"/>
                <a:cs typeface="IBM Plex Sans" pitchFamily="34" charset="-120"/>
              </a:rPr>
              <a:t>Findings, not prose, keep input small</a:t>
            </a:r>
            <a:endParaRPr lang="en-US" sz="1400" dirty="0"/>
          </a:p>
        </p:txBody>
      </p:sp>
      <p:sp>
        <p:nvSpPr>
          <p:cNvPr id="19" name="Text 17"/>
          <p:cNvSpPr/>
          <p:nvPr/>
        </p:nvSpPr>
        <p:spPr>
          <a:xfrm>
            <a:off x="6356350" y="3830141"/>
            <a:ext cx="499040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A"/>
                </a:solidFill>
                <a:latin typeface="IBM Plex Sans" pitchFamily="34" charset="0"/>
                <a:ea typeface="IBM Plex Sans" pitchFamily="34" charset="-122"/>
                <a:cs typeface="IBM Plex Sans" pitchFamily="34" charset="-120"/>
              </a:rPr>
              <a:t>With prose reports the investigator's input grew from 28,344 to 97,796 characters over a campaign. With findings it shrank from 20,466 to 10,959.</a:t>
            </a:r>
            <a:endParaRPr lang="en-US" sz="1200" dirty="0"/>
          </a:p>
        </p:txBody>
      </p:sp>
      <p:sp>
        <p:nvSpPr>
          <p:cNvPr id="20" name="Text 18"/>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1" name="Text 19"/>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8">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INVESTIGATOR · OPEN QUESTIONS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From observations to conclusions</a:t>
            </a:r>
            <a:endParaRPr lang="en-US" sz="3000" dirty="0"/>
          </a:p>
        </p:txBody>
      </p:sp>
      <p:sp>
        <p:nvSpPr>
          <p:cNvPr id="4" name="Shape 2"/>
          <p:cNvSpPr/>
          <p:nvPr/>
        </p:nvSpPr>
        <p:spPr>
          <a:xfrm>
            <a:off x="819150" y="2101850"/>
            <a:ext cx="2146300" cy="939800"/>
          </a:xfrm>
          <a:prstGeom prst="roundRect">
            <a:avLst>
              <a:gd name="adj" fmla="val 10135"/>
            </a:avLst>
          </a:prstGeom>
          <a:solidFill>
            <a:srgbClr val="FDFEFE"/>
          </a:solidFill>
          <a:ln w="12700">
            <a:solidFill>
              <a:srgbClr val="0F7EA8"/>
            </a:solidFill>
            <a:prstDash val="solid"/>
          </a:ln>
        </p:spPr>
        <p:txBody>
          <a:bodyPr/>
          <a:lstStyle/>
          <a:p>
            <a:endParaRPr lang="en-US"/>
          </a:p>
        </p:txBody>
      </p:sp>
      <p:sp>
        <p:nvSpPr>
          <p:cNvPr id="5" name="Text 3"/>
          <p:cNvSpPr/>
          <p:nvPr/>
        </p:nvSpPr>
        <p:spPr>
          <a:xfrm>
            <a:off x="977900" y="2260600"/>
            <a:ext cx="1883664" cy="235099"/>
          </a:xfrm>
          <a:prstGeom prst="rect">
            <a:avLst/>
          </a:prstGeom>
          <a:noFill/>
          <a:ln/>
        </p:spPr>
        <p:txBody>
          <a:bodyPr wrap="square" lIns="0" tIns="0" rIns="0" bIns="0" rtlCol="0" anchor="t">
            <a:normAutofit/>
          </a:bodyPr>
          <a:lstStyle/>
          <a:p>
            <a:pPr marL="0" indent="0" algn="l">
              <a:lnSpc>
                <a:spcPts val="1672"/>
              </a:lnSpc>
              <a:buNone/>
            </a:pPr>
            <a:r>
              <a:rPr lang="en-US" sz="1286" b="1" dirty="0">
                <a:solidFill>
                  <a:srgbClr val="14303D"/>
                </a:solidFill>
                <a:latin typeface="IBM Plex Sans" pitchFamily="34" charset="0"/>
                <a:ea typeface="IBM Plex Sans" pitchFamily="34" charset="-122"/>
                <a:cs typeface="IBM Plex Sans" pitchFamily="34" charset="-120"/>
              </a:rPr>
              <a:t>Open</a:t>
            </a:r>
            <a:endParaRPr lang="en-US" sz="1286" dirty="0"/>
          </a:p>
        </p:txBody>
      </p:sp>
      <p:sp>
        <p:nvSpPr>
          <p:cNvPr id="6" name="Text 4"/>
          <p:cNvSpPr/>
          <p:nvPr/>
        </p:nvSpPr>
        <p:spPr>
          <a:xfrm>
            <a:off x="977900" y="2495699"/>
            <a:ext cx="1883664" cy="412601"/>
          </a:xfrm>
          <a:prstGeom prst="rect">
            <a:avLst/>
          </a:prstGeom>
          <a:noFill/>
          <a:ln/>
        </p:spPr>
        <p:txBody>
          <a:bodyPr wrap="square" lIns="0" tIns="0" rIns="0" bIns="0" rtlCol="0" anchor="t">
            <a:normAutofit/>
          </a:bodyPr>
          <a:lstStyle/>
          <a:p>
            <a:pPr marL="0" indent="0" algn="l">
              <a:lnSpc>
                <a:spcPts val="1533"/>
              </a:lnSpc>
              <a:buNone/>
            </a:pPr>
            <a:r>
              <a:rPr lang="en-US" sz="1095" dirty="0">
                <a:solidFill>
                  <a:srgbClr val="46596A"/>
                </a:solidFill>
                <a:latin typeface="IBM Plex Sans" pitchFamily="34" charset="0"/>
                <a:ea typeface="IBM Plex Sans" pitchFamily="34" charset="-122"/>
                <a:cs typeface="IBM Plex Sans" pitchFamily="34" charset="-120"/>
              </a:rPr>
              <a:t>a run raised a question it could not settle</a:t>
            </a:r>
            <a:endParaRPr lang="en-US" sz="1095" dirty="0"/>
          </a:p>
        </p:txBody>
      </p:sp>
      <p:sp>
        <p:nvSpPr>
          <p:cNvPr id="7" name="Shape 5"/>
          <p:cNvSpPr/>
          <p:nvPr/>
        </p:nvSpPr>
        <p:spPr>
          <a:xfrm>
            <a:off x="3943350" y="2101850"/>
            <a:ext cx="2146300" cy="939800"/>
          </a:xfrm>
          <a:prstGeom prst="roundRect">
            <a:avLst>
              <a:gd name="adj" fmla="val 10135"/>
            </a:avLst>
          </a:prstGeom>
          <a:solidFill>
            <a:srgbClr val="FDFEFE"/>
          </a:solidFill>
          <a:ln w="12700">
            <a:solidFill>
              <a:srgbClr val="0F7EA8"/>
            </a:solidFill>
            <a:prstDash val="solid"/>
          </a:ln>
        </p:spPr>
        <p:txBody>
          <a:bodyPr/>
          <a:lstStyle/>
          <a:p>
            <a:endParaRPr lang="en-US"/>
          </a:p>
        </p:txBody>
      </p:sp>
      <p:sp>
        <p:nvSpPr>
          <p:cNvPr id="8" name="Text 6"/>
          <p:cNvSpPr/>
          <p:nvPr/>
        </p:nvSpPr>
        <p:spPr>
          <a:xfrm>
            <a:off x="4102100" y="2260600"/>
            <a:ext cx="1883664" cy="235099"/>
          </a:xfrm>
          <a:prstGeom prst="rect">
            <a:avLst/>
          </a:prstGeom>
          <a:noFill/>
          <a:ln/>
        </p:spPr>
        <p:txBody>
          <a:bodyPr wrap="square" lIns="0" tIns="0" rIns="0" bIns="0" rtlCol="0" anchor="t">
            <a:normAutofit/>
          </a:bodyPr>
          <a:lstStyle/>
          <a:p>
            <a:pPr marL="0" indent="0" algn="l">
              <a:lnSpc>
                <a:spcPts val="1672"/>
              </a:lnSpc>
              <a:buNone/>
            </a:pPr>
            <a:r>
              <a:rPr lang="en-US" sz="1286" b="1" dirty="0">
                <a:solidFill>
                  <a:srgbClr val="14303D"/>
                </a:solidFill>
                <a:latin typeface="IBM Plex Sans" pitchFamily="34" charset="0"/>
                <a:ea typeface="IBM Plex Sans" pitchFamily="34" charset="-122"/>
                <a:cs typeface="IBM Plex Sans" pitchFamily="34" charset="-120"/>
              </a:rPr>
              <a:t>Attempted</a:t>
            </a:r>
            <a:endParaRPr lang="en-US" sz="1286" dirty="0"/>
          </a:p>
        </p:txBody>
      </p:sp>
      <p:sp>
        <p:nvSpPr>
          <p:cNvPr id="9" name="Text 7"/>
          <p:cNvSpPr/>
          <p:nvPr/>
        </p:nvSpPr>
        <p:spPr>
          <a:xfrm>
            <a:off x="4102100" y="2495699"/>
            <a:ext cx="1883664" cy="412601"/>
          </a:xfrm>
          <a:prstGeom prst="rect">
            <a:avLst/>
          </a:prstGeom>
          <a:noFill/>
          <a:ln/>
        </p:spPr>
        <p:txBody>
          <a:bodyPr wrap="square" lIns="0" tIns="0" rIns="0" bIns="0" rtlCol="0" anchor="t">
            <a:normAutofit/>
          </a:bodyPr>
          <a:lstStyle/>
          <a:p>
            <a:pPr marL="0" indent="0" algn="l">
              <a:lnSpc>
                <a:spcPts val="1533"/>
              </a:lnSpc>
              <a:buNone/>
            </a:pPr>
            <a:r>
              <a:rPr lang="en-US" sz="1095" dirty="0">
                <a:solidFill>
                  <a:srgbClr val="46596A"/>
                </a:solidFill>
                <a:latin typeface="IBM Plex Sans" pitchFamily="34" charset="0"/>
                <a:ea typeface="IBM Plex Sans" pitchFamily="34" charset="-122"/>
                <a:cs typeface="IBM Plex Sans" pitchFamily="34" charset="-120"/>
              </a:rPr>
              <a:t>a later test declares it addresses it</a:t>
            </a:r>
            <a:endParaRPr lang="en-US" sz="1095" dirty="0"/>
          </a:p>
        </p:txBody>
      </p:sp>
      <p:sp>
        <p:nvSpPr>
          <p:cNvPr id="10" name="Shape 8"/>
          <p:cNvSpPr/>
          <p:nvPr/>
        </p:nvSpPr>
        <p:spPr>
          <a:xfrm>
            <a:off x="7064375" y="1844675"/>
            <a:ext cx="4311650" cy="692150"/>
          </a:xfrm>
          <a:prstGeom prst="roundRect">
            <a:avLst>
              <a:gd name="adj" fmla="val 14220"/>
            </a:avLst>
          </a:prstGeom>
          <a:solidFill>
            <a:srgbClr val="FDFEFE"/>
          </a:solidFill>
          <a:ln w="6350">
            <a:solidFill>
              <a:srgbClr val="D6E1E6"/>
            </a:solidFill>
            <a:prstDash val="solid"/>
          </a:ln>
        </p:spPr>
        <p:txBody>
          <a:bodyPr/>
          <a:lstStyle/>
          <a:p>
            <a:endParaRPr lang="en-US"/>
          </a:p>
        </p:txBody>
      </p:sp>
      <p:sp>
        <p:nvSpPr>
          <p:cNvPr id="11" name="Text 9"/>
          <p:cNvSpPr/>
          <p:nvPr/>
        </p:nvSpPr>
        <p:spPr>
          <a:xfrm>
            <a:off x="7219950" y="1974850"/>
            <a:ext cx="4120515" cy="243334"/>
          </a:xfrm>
          <a:prstGeom prst="rect">
            <a:avLst/>
          </a:prstGeom>
          <a:noFill/>
          <a:ln/>
        </p:spPr>
        <p:txBody>
          <a:bodyPr wrap="square" lIns="0" tIns="0" rIns="0" bIns="0" rtlCol="0" anchor="t">
            <a:normAutofit/>
          </a:bodyPr>
          <a:lstStyle/>
          <a:p>
            <a:pPr marL="0" indent="0" algn="l">
              <a:lnSpc>
                <a:spcPts val="1723"/>
              </a:lnSpc>
              <a:buNone/>
            </a:pPr>
            <a:r>
              <a:rPr lang="en-US" sz="1326" b="1" dirty="0">
                <a:solidFill>
                  <a:srgbClr val="0B6A8F"/>
                </a:solidFill>
                <a:latin typeface="IBM Plex Sans" pitchFamily="34" charset="0"/>
                <a:ea typeface="IBM Plex Sans" pitchFamily="34" charset="-122"/>
                <a:cs typeface="IBM Plex Sans" pitchFamily="34" charset="-120"/>
              </a:rPr>
              <a:t>Resolved</a:t>
            </a:r>
            <a:endParaRPr lang="en-US" sz="1326" dirty="0"/>
          </a:p>
        </p:txBody>
      </p:sp>
      <p:sp>
        <p:nvSpPr>
          <p:cNvPr id="12" name="Text 10"/>
          <p:cNvSpPr/>
          <p:nvPr/>
        </p:nvSpPr>
        <p:spPr>
          <a:xfrm>
            <a:off x="7219950" y="2205484"/>
            <a:ext cx="4120515" cy="226566"/>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6596A"/>
                </a:solidFill>
                <a:latin typeface="IBM Plex Sans" pitchFamily="34" charset="0"/>
                <a:ea typeface="IBM Plex Sans" pitchFamily="34" charset="-122"/>
                <a:cs typeface="IBM Plex Sans" pitchFamily="34" charset="-120"/>
              </a:rPr>
              <a:t>the run settled it, confirmed or refuted</a:t>
            </a:r>
            <a:endParaRPr lang="en-US" sz="1159" dirty="0"/>
          </a:p>
        </p:txBody>
      </p:sp>
      <p:sp>
        <p:nvSpPr>
          <p:cNvPr id="13" name="Shape 11"/>
          <p:cNvSpPr/>
          <p:nvPr/>
        </p:nvSpPr>
        <p:spPr>
          <a:xfrm>
            <a:off x="7064375" y="2670175"/>
            <a:ext cx="4311650" cy="692150"/>
          </a:xfrm>
          <a:prstGeom prst="roundRect">
            <a:avLst>
              <a:gd name="adj" fmla="val 14220"/>
            </a:avLst>
          </a:prstGeom>
          <a:solidFill>
            <a:srgbClr val="FDFEFE"/>
          </a:solidFill>
          <a:ln w="6350">
            <a:solidFill>
              <a:srgbClr val="D6E1E6"/>
            </a:solidFill>
            <a:prstDash val="solid"/>
          </a:ln>
        </p:spPr>
        <p:txBody>
          <a:bodyPr/>
          <a:lstStyle/>
          <a:p>
            <a:endParaRPr lang="en-US"/>
          </a:p>
        </p:txBody>
      </p:sp>
      <p:sp>
        <p:nvSpPr>
          <p:cNvPr id="14" name="Text 12"/>
          <p:cNvSpPr/>
          <p:nvPr/>
        </p:nvSpPr>
        <p:spPr>
          <a:xfrm>
            <a:off x="7219950" y="2800350"/>
            <a:ext cx="4120515" cy="243334"/>
          </a:xfrm>
          <a:prstGeom prst="rect">
            <a:avLst/>
          </a:prstGeom>
          <a:noFill/>
          <a:ln/>
        </p:spPr>
        <p:txBody>
          <a:bodyPr wrap="square" lIns="0" tIns="0" rIns="0" bIns="0" rtlCol="0" anchor="t">
            <a:normAutofit/>
          </a:bodyPr>
          <a:lstStyle/>
          <a:p>
            <a:pPr marL="0" indent="0" algn="l">
              <a:lnSpc>
                <a:spcPts val="1723"/>
              </a:lnSpc>
              <a:buNone/>
            </a:pPr>
            <a:r>
              <a:rPr lang="en-US" sz="1326" b="1" dirty="0">
                <a:solidFill>
                  <a:srgbClr val="A9502C"/>
                </a:solidFill>
                <a:latin typeface="IBM Plex Sans" pitchFamily="34" charset="0"/>
                <a:ea typeface="IBM Plex Sans" pitchFamily="34" charset="-122"/>
                <a:cs typeface="IBM Plex Sans" pitchFamily="34" charset="-120"/>
              </a:rPr>
              <a:t>Inconclusive</a:t>
            </a:r>
            <a:endParaRPr lang="en-US" sz="1326" dirty="0"/>
          </a:p>
        </p:txBody>
      </p:sp>
      <p:sp>
        <p:nvSpPr>
          <p:cNvPr id="15" name="Text 13"/>
          <p:cNvSpPr/>
          <p:nvPr/>
        </p:nvSpPr>
        <p:spPr>
          <a:xfrm>
            <a:off x="7219950" y="3030984"/>
            <a:ext cx="4120515" cy="226566"/>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6596A"/>
                </a:solidFill>
                <a:latin typeface="IBM Plex Sans" pitchFamily="34" charset="0"/>
                <a:ea typeface="IBM Plex Sans" pitchFamily="34" charset="-122"/>
                <a:cs typeface="IBM Plex Sans" pitchFamily="34" charset="-120"/>
              </a:rPr>
              <a:t>retired after 3 attempts, instead of asked forever</a:t>
            </a:r>
            <a:endParaRPr lang="en-US" sz="1159" dirty="0"/>
          </a:p>
        </p:txBody>
      </p:sp>
      <p:pic>
        <p:nvPicPr>
          <p:cNvPr id="16" name="Image 0" descr="connector"/>
          <p:cNvPicPr>
            <a:picLocks noChangeAspect="1"/>
          </p:cNvPicPr>
          <p:nvPr/>
        </p:nvPicPr>
        <p:blipFill>
          <a:blip r:embed="rId3"/>
          <a:srcRect/>
          <a:stretch/>
        </p:blipFill>
        <p:spPr>
          <a:xfrm>
            <a:off x="2933700" y="2520950"/>
            <a:ext cx="1041400" cy="101600"/>
          </a:xfrm>
          <a:prstGeom prst="rect">
            <a:avLst/>
          </a:prstGeom>
        </p:spPr>
      </p:pic>
      <p:pic>
        <p:nvPicPr>
          <p:cNvPr id="17" name="Image 1" descr="connector"/>
          <p:cNvPicPr>
            <a:picLocks noChangeAspect="1"/>
          </p:cNvPicPr>
          <p:nvPr/>
        </p:nvPicPr>
        <p:blipFill>
          <a:blip r:embed="rId4"/>
          <a:srcRect/>
          <a:stretch/>
        </p:blipFill>
        <p:spPr>
          <a:xfrm>
            <a:off x="6057900" y="2139950"/>
            <a:ext cx="1041400" cy="323850"/>
          </a:xfrm>
          <a:prstGeom prst="rect">
            <a:avLst/>
          </a:prstGeom>
        </p:spPr>
      </p:pic>
      <p:pic>
        <p:nvPicPr>
          <p:cNvPr id="18" name="Image 2" descr="connector"/>
          <p:cNvPicPr>
            <a:picLocks noChangeAspect="1"/>
          </p:cNvPicPr>
          <p:nvPr/>
        </p:nvPicPr>
        <p:blipFill>
          <a:blip r:embed="rId5"/>
          <a:srcRect/>
          <a:stretch/>
        </p:blipFill>
        <p:spPr>
          <a:xfrm>
            <a:off x="6057900" y="2679700"/>
            <a:ext cx="1041400" cy="387350"/>
          </a:xfrm>
          <a:prstGeom prst="rect">
            <a:avLst/>
          </a:prstGeom>
        </p:spPr>
      </p:pic>
      <p:pic>
        <p:nvPicPr>
          <p:cNvPr id="19" name="Image 3" descr="connector"/>
          <p:cNvPicPr>
            <a:picLocks noChangeAspect="1"/>
          </p:cNvPicPr>
          <p:nvPr/>
        </p:nvPicPr>
        <p:blipFill>
          <a:blip r:embed="rId6"/>
          <a:srcRect/>
          <a:stretch/>
        </p:blipFill>
        <p:spPr>
          <a:xfrm>
            <a:off x="1841500" y="3009900"/>
            <a:ext cx="3225800" cy="406400"/>
          </a:xfrm>
          <a:prstGeom prst="rect">
            <a:avLst/>
          </a:prstGeom>
        </p:spPr>
      </p:pic>
      <p:pic>
        <p:nvPicPr>
          <p:cNvPr id="20" name="Image 4" descr="connector"/>
          <p:cNvPicPr>
            <a:picLocks noChangeAspect="1"/>
          </p:cNvPicPr>
          <p:nvPr/>
        </p:nvPicPr>
        <p:blipFill>
          <a:blip r:embed="rId7"/>
          <a:srcRect/>
          <a:stretch/>
        </p:blipFill>
        <p:spPr>
          <a:xfrm>
            <a:off x="1841500" y="3022600"/>
            <a:ext cx="101600" cy="393700"/>
          </a:xfrm>
          <a:prstGeom prst="rect">
            <a:avLst/>
          </a:prstGeom>
        </p:spPr>
      </p:pic>
      <p:sp>
        <p:nvSpPr>
          <p:cNvPr id="21" name="Text 14"/>
          <p:cNvSpPr/>
          <p:nvPr/>
        </p:nvSpPr>
        <p:spPr>
          <a:xfrm>
            <a:off x="2095500" y="3441700"/>
            <a:ext cx="28778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not settled, fewer than 3 attempts</a:t>
            </a:r>
            <a:endParaRPr lang="en-US" sz="1200" dirty="0"/>
          </a:p>
        </p:txBody>
      </p:sp>
      <p:sp>
        <p:nvSpPr>
          <p:cNvPr id="22" name="Shape 15"/>
          <p:cNvSpPr/>
          <p:nvPr/>
        </p:nvSpPr>
        <p:spPr>
          <a:xfrm>
            <a:off x="815975" y="3876675"/>
            <a:ext cx="6724650" cy="1083221"/>
          </a:xfrm>
          <a:prstGeom prst="roundRect">
            <a:avLst>
              <a:gd name="adj" fmla="val 9086"/>
            </a:avLst>
          </a:prstGeom>
          <a:solidFill>
            <a:srgbClr val="FDFEFE"/>
          </a:solidFill>
          <a:ln w="6350">
            <a:solidFill>
              <a:srgbClr val="D6E1E6"/>
            </a:solidFill>
            <a:prstDash val="solid"/>
          </a:ln>
        </p:spPr>
        <p:txBody>
          <a:bodyPr/>
          <a:lstStyle/>
          <a:p>
            <a:endParaRPr lang="en-US"/>
          </a:p>
        </p:txBody>
      </p:sp>
      <p:sp>
        <p:nvSpPr>
          <p:cNvPr id="23" name="Text 16"/>
          <p:cNvSpPr/>
          <p:nvPr/>
        </p:nvSpPr>
        <p:spPr>
          <a:xfrm>
            <a:off x="1022350" y="4057650"/>
            <a:ext cx="6501257"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Open questions become the planner's missions</a:t>
            </a:r>
            <a:endParaRPr lang="en-US" sz="1400" dirty="0"/>
          </a:p>
        </p:txBody>
      </p:sp>
      <p:sp>
        <p:nvSpPr>
          <p:cNvPr id="24" name="Text 17"/>
          <p:cNvSpPr/>
          <p:nvPr/>
        </p:nvSpPr>
        <p:spPr>
          <a:xfrm>
            <a:off x="1022350" y="4352280"/>
            <a:ext cx="650125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planner reserves room for open questions, so older ones are not crowded out by new ones. Its test declares which question it addresses, and the investigator records the answer.</a:t>
            </a:r>
            <a:endParaRPr lang="en-US" sz="1200" dirty="0"/>
          </a:p>
        </p:txBody>
      </p:sp>
      <p:sp>
        <p:nvSpPr>
          <p:cNvPr id="25" name="Text 18"/>
          <p:cNvSpPr/>
          <p:nvPr/>
        </p:nvSpPr>
        <p:spPr>
          <a:xfrm>
            <a:off x="7848600" y="3810000"/>
            <a:ext cx="1461145"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0F7EA8"/>
                </a:solidFill>
                <a:latin typeface="Source Serif 4" pitchFamily="34" charset="0"/>
                <a:ea typeface="Source Serif 4" pitchFamily="34" charset="-122"/>
                <a:cs typeface="Source Serif 4" pitchFamily="34" charset="-120"/>
              </a:rPr>
              <a:t>8</a:t>
            </a:r>
            <a:endParaRPr lang="en-US" sz="5600" dirty="0"/>
          </a:p>
        </p:txBody>
      </p:sp>
      <p:sp>
        <p:nvSpPr>
          <p:cNvPr id="26" name="Text 19"/>
          <p:cNvSpPr/>
          <p:nvPr/>
        </p:nvSpPr>
        <p:spPr>
          <a:xfrm>
            <a:off x="7848600" y="4556720"/>
            <a:ext cx="14611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settled by a later run</a:t>
            </a:r>
            <a:endParaRPr lang="en-US" sz="1200" dirty="0"/>
          </a:p>
        </p:txBody>
      </p:sp>
      <p:sp>
        <p:nvSpPr>
          <p:cNvPr id="27" name="Text 20"/>
          <p:cNvSpPr/>
          <p:nvPr/>
        </p:nvSpPr>
        <p:spPr>
          <a:xfrm>
            <a:off x="9512945" y="3810000"/>
            <a:ext cx="1218952" cy="772120"/>
          </a:xfrm>
          <a:prstGeom prst="rect">
            <a:avLst/>
          </a:prstGeom>
          <a:noFill/>
          <a:ln/>
        </p:spPr>
        <p:txBody>
          <a:bodyPr wrap="square" lIns="0" tIns="0" rIns="0" bIns="0" rtlCol="0" anchor="t">
            <a:normAutofit fontScale="92500"/>
          </a:bodyPr>
          <a:lstStyle/>
          <a:p>
            <a:pPr marL="0" indent="0" algn="l">
              <a:lnSpc>
                <a:spcPts val="5880"/>
              </a:lnSpc>
              <a:buNone/>
            </a:pPr>
            <a:r>
              <a:rPr lang="en-US" sz="5600" b="1" dirty="0">
                <a:solidFill>
                  <a:srgbClr val="14303D"/>
                </a:solidFill>
                <a:latin typeface="Source Serif 4" pitchFamily="34" charset="0"/>
                <a:ea typeface="Source Serif 4" pitchFamily="34" charset="-122"/>
                <a:cs typeface="Source Serif 4" pitchFamily="34" charset="-120"/>
              </a:rPr>
              <a:t>115</a:t>
            </a:r>
            <a:endParaRPr lang="en-US" sz="5600" dirty="0"/>
          </a:p>
        </p:txBody>
      </p:sp>
      <p:sp>
        <p:nvSpPr>
          <p:cNvPr id="28" name="Text 21"/>
          <p:cNvSpPr/>
          <p:nvPr/>
        </p:nvSpPr>
        <p:spPr>
          <a:xfrm>
            <a:off x="9512945" y="4556720"/>
            <a:ext cx="12189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still open</a:t>
            </a:r>
            <a:endParaRPr lang="en-US" sz="1200" dirty="0"/>
          </a:p>
        </p:txBody>
      </p:sp>
      <p:sp>
        <p:nvSpPr>
          <p:cNvPr id="29" name="Text 22"/>
          <p:cNvSpPr/>
          <p:nvPr/>
        </p:nvSpPr>
        <p:spPr>
          <a:xfrm>
            <a:off x="7848600" y="5080000"/>
            <a:ext cx="363651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Contacts app. The loop works; most questions need longer campaigns.</a:t>
            </a:r>
            <a:endParaRPr lang="en-US" sz="1200" dirty="0"/>
          </a:p>
        </p:txBody>
      </p:sp>
      <p:sp>
        <p:nvSpPr>
          <p:cNvPr id="30" name="Text 23"/>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1" name="Text 24"/>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FAULT ATTRIBUTION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Not every failure is the app's fault</a:t>
            </a:r>
            <a:endParaRPr lang="en-US" sz="3000" dirty="0"/>
          </a:p>
        </p:txBody>
      </p:sp>
      <p:sp>
        <p:nvSpPr>
          <p:cNvPr id="4" name="Shape 2"/>
          <p:cNvSpPr/>
          <p:nvPr/>
        </p:nvSpPr>
        <p:spPr>
          <a:xfrm>
            <a:off x="819150" y="1781770"/>
            <a:ext cx="3382417" cy="3101032"/>
          </a:xfrm>
          <a:prstGeom prst="roundRect">
            <a:avLst>
              <a:gd name="adj" fmla="val 3072"/>
            </a:avLst>
          </a:prstGeom>
          <a:solidFill>
            <a:srgbClr val="FDFEFE"/>
          </a:solidFill>
          <a:ln w="12700">
            <a:solidFill>
              <a:srgbClr val="C8663F"/>
            </a:solidFill>
            <a:prstDash val="solid"/>
          </a:ln>
        </p:spPr>
        <p:txBody>
          <a:bodyPr/>
          <a:lstStyle/>
          <a:p>
            <a:endParaRPr lang="en-US" dirty="0"/>
          </a:p>
        </p:txBody>
      </p:sp>
      <p:sp>
        <p:nvSpPr>
          <p:cNvPr id="5" name="Text 3"/>
          <p:cNvSpPr/>
          <p:nvPr/>
        </p:nvSpPr>
        <p:spPr>
          <a:xfrm>
            <a:off x="1028700" y="1991320"/>
            <a:ext cx="305221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9502C"/>
                </a:solidFill>
                <a:latin typeface="IBM Plex Sans" pitchFamily="34" charset="0"/>
                <a:ea typeface="IBM Plex Sans" pitchFamily="34" charset="-122"/>
                <a:cs typeface="IBM Plex Sans" pitchFamily="34" charset="-120"/>
              </a:rPr>
              <a:t>App fault</a:t>
            </a:r>
            <a:endParaRPr lang="en-US" sz="1800" dirty="0"/>
          </a:p>
        </p:txBody>
      </p:sp>
      <p:sp>
        <p:nvSpPr>
          <p:cNvPr id="6" name="Text 4"/>
          <p:cNvSpPr/>
          <p:nvPr/>
        </p:nvSpPr>
        <p:spPr>
          <a:xfrm>
            <a:off x="1028700" y="2341811"/>
            <a:ext cx="30522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agent reached its checkpoint and the app misbehaved. These are the findings.</a:t>
            </a:r>
            <a:endParaRPr lang="en-US" sz="1200" dirty="0"/>
          </a:p>
        </p:txBody>
      </p:sp>
      <p:sp>
        <p:nvSpPr>
          <p:cNvPr id="7" name="Text 5"/>
          <p:cNvSpPr/>
          <p:nvPr/>
        </p:nvSpPr>
        <p:spPr>
          <a:xfrm>
            <a:off x="1028700" y="2844651"/>
            <a:ext cx="30522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303D"/>
                </a:solidFill>
                <a:latin typeface="IBM Plex Mono" pitchFamily="34" charset="0"/>
                <a:ea typeface="IBM Plex Mono" pitchFamily="34" charset="-122"/>
                <a:cs typeface="IBM Plex Mono" pitchFamily="34" charset="-120"/>
              </a:rPr>
              <a:t>ASSERTION_FAILURE · CRASH · APP_UNRESPONSIVE</a:t>
            </a:r>
            <a:endParaRPr lang="en-US" sz="1200" dirty="0"/>
          </a:p>
        </p:txBody>
      </p:sp>
      <p:pic>
        <p:nvPicPr>
          <p:cNvPr id="8" name="Image 0" descr="line"/>
          <p:cNvPicPr>
            <a:picLocks noChangeAspect="1"/>
          </p:cNvPicPr>
          <p:nvPr/>
        </p:nvPicPr>
        <p:blipFill>
          <a:blip r:embed="rId3"/>
          <a:srcRect t="-35" b="-35"/>
          <a:stretch/>
        </p:blipFill>
        <p:spPr>
          <a:xfrm>
            <a:off x="1028700" y="3624312"/>
            <a:ext cx="2963317" cy="12700"/>
          </a:xfrm>
          <a:prstGeom prst="rect">
            <a:avLst/>
          </a:prstGeom>
        </p:spPr>
      </p:pic>
      <p:sp>
        <p:nvSpPr>
          <p:cNvPr id="9" name="Text 6"/>
          <p:cNvSpPr/>
          <p:nvPr/>
        </p:nvSpPr>
        <p:spPr>
          <a:xfrm>
            <a:off x="1028699" y="3713212"/>
            <a:ext cx="1043831"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A9502C"/>
                </a:solidFill>
                <a:latin typeface="Source Serif 4" pitchFamily="34" charset="0"/>
                <a:ea typeface="Source Serif 4" pitchFamily="34" charset="-122"/>
                <a:cs typeface="Source Serif 4" pitchFamily="34" charset="-120"/>
              </a:rPr>
              <a:t>11</a:t>
            </a:r>
            <a:endParaRPr lang="en-US" sz="5600" dirty="0"/>
          </a:p>
        </p:txBody>
      </p:sp>
      <p:sp>
        <p:nvSpPr>
          <p:cNvPr id="10" name="Text 7"/>
          <p:cNvSpPr/>
          <p:nvPr/>
        </p:nvSpPr>
        <p:spPr>
          <a:xfrm>
            <a:off x="1028700" y="4459932"/>
            <a:ext cx="8295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commerce</a:t>
            </a:r>
            <a:endParaRPr lang="en-US" sz="1200" dirty="0"/>
          </a:p>
        </p:txBody>
      </p:sp>
      <p:sp>
        <p:nvSpPr>
          <p:cNvPr id="11" name="Text 8"/>
          <p:cNvSpPr/>
          <p:nvPr/>
        </p:nvSpPr>
        <p:spPr>
          <a:xfrm>
            <a:off x="2112267" y="3713212"/>
            <a:ext cx="1083567"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A9502C"/>
                </a:solidFill>
                <a:latin typeface="Source Serif 4" pitchFamily="34" charset="0"/>
                <a:ea typeface="Source Serif 4" pitchFamily="34" charset="-122"/>
                <a:cs typeface="Source Serif 4" pitchFamily="34" charset="-120"/>
              </a:rPr>
              <a:t>32</a:t>
            </a:r>
            <a:endParaRPr lang="en-US" sz="5600" dirty="0"/>
          </a:p>
        </p:txBody>
      </p:sp>
      <p:sp>
        <p:nvSpPr>
          <p:cNvPr id="12" name="Text 9"/>
          <p:cNvSpPr/>
          <p:nvPr/>
        </p:nvSpPr>
        <p:spPr>
          <a:xfrm>
            <a:off x="2112268" y="4459932"/>
            <a:ext cx="8295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contacts</a:t>
            </a:r>
            <a:endParaRPr lang="en-US" sz="1200" dirty="0"/>
          </a:p>
        </p:txBody>
      </p:sp>
      <p:sp>
        <p:nvSpPr>
          <p:cNvPr id="13" name="Shape 10"/>
          <p:cNvSpPr/>
          <p:nvPr/>
        </p:nvSpPr>
        <p:spPr>
          <a:xfrm>
            <a:off x="4414292" y="1778595"/>
            <a:ext cx="3376116" cy="3107382"/>
          </a:xfrm>
          <a:prstGeom prst="roundRect">
            <a:avLst>
              <a:gd name="adj" fmla="val 3167"/>
            </a:avLst>
          </a:prstGeom>
          <a:solidFill>
            <a:srgbClr val="FDFEFE"/>
          </a:solidFill>
          <a:ln w="6350">
            <a:solidFill>
              <a:srgbClr val="B8C5CB"/>
            </a:solidFill>
            <a:prstDash val="solid"/>
          </a:ln>
        </p:spPr>
        <p:txBody>
          <a:bodyPr/>
          <a:lstStyle/>
          <a:p>
            <a:endParaRPr lang="en-US"/>
          </a:p>
        </p:txBody>
      </p:sp>
      <p:sp>
        <p:nvSpPr>
          <p:cNvPr id="14" name="Text 11"/>
          <p:cNvSpPr/>
          <p:nvPr/>
        </p:nvSpPr>
        <p:spPr>
          <a:xfrm>
            <a:off x="4620667" y="1984970"/>
            <a:ext cx="305226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Agent fault</a:t>
            </a:r>
            <a:endParaRPr lang="en-US" sz="1800" dirty="0"/>
          </a:p>
        </p:txBody>
      </p:sp>
      <p:sp>
        <p:nvSpPr>
          <p:cNvPr id="15" name="Text 12"/>
          <p:cNvSpPr/>
          <p:nvPr/>
        </p:nvSpPr>
        <p:spPr>
          <a:xfrm>
            <a:off x="4620667" y="2335461"/>
            <a:ext cx="305226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Our executor could not drive the app. Says nothing about its quality.</a:t>
            </a:r>
            <a:endParaRPr lang="en-US" sz="1200" dirty="0"/>
          </a:p>
        </p:txBody>
      </p:sp>
      <p:sp>
        <p:nvSpPr>
          <p:cNvPr id="16" name="Text 13"/>
          <p:cNvSpPr/>
          <p:nvPr/>
        </p:nvSpPr>
        <p:spPr>
          <a:xfrm>
            <a:off x="4620667" y="2838301"/>
            <a:ext cx="3052267"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303D"/>
                </a:solidFill>
                <a:latin typeface="IBM Plex Mono" pitchFamily="34" charset="0"/>
                <a:ea typeface="IBM Plex Mono" pitchFamily="34" charset="-122"/>
                <a:cs typeface="IBM Plex Mono" pitchFamily="34" charset="-120"/>
              </a:rPr>
              <a:t>NAVIGATION_FAILURE · ELEMENT_NOT_FOUND · TIMEOUT · NAVIGATION_LIVELOCK</a:t>
            </a:r>
            <a:endParaRPr lang="en-US" sz="1200" dirty="0"/>
          </a:p>
        </p:txBody>
      </p:sp>
      <p:pic>
        <p:nvPicPr>
          <p:cNvPr id="17" name="Image 1" descr="line"/>
          <p:cNvPicPr>
            <a:picLocks noChangeAspect="1"/>
          </p:cNvPicPr>
          <p:nvPr/>
        </p:nvPicPr>
        <p:blipFill>
          <a:blip r:embed="rId3"/>
          <a:srcRect t="-35" b="-35"/>
          <a:stretch/>
        </p:blipFill>
        <p:spPr>
          <a:xfrm>
            <a:off x="4620667" y="3630662"/>
            <a:ext cx="2963366" cy="12700"/>
          </a:xfrm>
          <a:prstGeom prst="rect">
            <a:avLst/>
          </a:prstGeom>
        </p:spPr>
      </p:pic>
      <p:sp>
        <p:nvSpPr>
          <p:cNvPr id="18" name="Text 14"/>
          <p:cNvSpPr/>
          <p:nvPr/>
        </p:nvSpPr>
        <p:spPr>
          <a:xfrm>
            <a:off x="4620667" y="3719562"/>
            <a:ext cx="776238"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2</a:t>
            </a:r>
            <a:endParaRPr lang="en-US" sz="5600" dirty="0"/>
          </a:p>
        </p:txBody>
      </p:sp>
      <p:sp>
        <p:nvSpPr>
          <p:cNvPr id="19" name="Text 15"/>
          <p:cNvSpPr/>
          <p:nvPr/>
        </p:nvSpPr>
        <p:spPr>
          <a:xfrm>
            <a:off x="4620667" y="4466282"/>
            <a:ext cx="7762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commerce</a:t>
            </a:r>
            <a:endParaRPr lang="en-US" sz="1200" dirty="0"/>
          </a:p>
        </p:txBody>
      </p:sp>
      <p:sp>
        <p:nvSpPr>
          <p:cNvPr id="20" name="Text 16"/>
          <p:cNvSpPr/>
          <p:nvPr/>
        </p:nvSpPr>
        <p:spPr>
          <a:xfrm>
            <a:off x="5650905" y="3719562"/>
            <a:ext cx="637729"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6</a:t>
            </a:r>
            <a:endParaRPr lang="en-US" sz="5600" dirty="0"/>
          </a:p>
        </p:txBody>
      </p:sp>
      <p:sp>
        <p:nvSpPr>
          <p:cNvPr id="21" name="Text 17"/>
          <p:cNvSpPr/>
          <p:nvPr/>
        </p:nvSpPr>
        <p:spPr>
          <a:xfrm>
            <a:off x="5650905" y="4466282"/>
            <a:ext cx="63772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contacts</a:t>
            </a:r>
            <a:endParaRPr lang="en-US" sz="1200" dirty="0"/>
          </a:p>
        </p:txBody>
      </p:sp>
      <p:sp>
        <p:nvSpPr>
          <p:cNvPr id="22" name="Shape 18"/>
          <p:cNvSpPr/>
          <p:nvPr/>
        </p:nvSpPr>
        <p:spPr>
          <a:xfrm>
            <a:off x="7999958" y="1778595"/>
            <a:ext cx="3376067" cy="3107382"/>
          </a:xfrm>
          <a:prstGeom prst="roundRect">
            <a:avLst>
              <a:gd name="adj" fmla="val 3167"/>
            </a:avLst>
          </a:prstGeom>
          <a:solidFill>
            <a:srgbClr val="FDFEFE"/>
          </a:solidFill>
          <a:ln w="6350">
            <a:solidFill>
              <a:srgbClr val="B8C5CB"/>
            </a:solidFill>
            <a:prstDash val="solid"/>
          </a:ln>
        </p:spPr>
        <p:txBody>
          <a:bodyPr/>
          <a:lstStyle/>
          <a:p>
            <a:endParaRPr lang="en-US" dirty="0"/>
          </a:p>
        </p:txBody>
      </p:sp>
      <p:sp>
        <p:nvSpPr>
          <p:cNvPr id="23" name="Text 19"/>
          <p:cNvSpPr/>
          <p:nvPr/>
        </p:nvSpPr>
        <p:spPr>
          <a:xfrm>
            <a:off x="8206333" y="1984970"/>
            <a:ext cx="305221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Environment</a:t>
            </a:r>
            <a:endParaRPr lang="en-US" sz="1800" dirty="0"/>
          </a:p>
        </p:txBody>
      </p:sp>
      <p:sp>
        <p:nvSpPr>
          <p:cNvPr id="24" name="Text 20"/>
          <p:cNvSpPr/>
          <p:nvPr/>
        </p:nvSpPr>
        <p:spPr>
          <a:xfrm>
            <a:off x="8206333" y="2335461"/>
            <a:ext cx="30522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 precondition was missing, or the step budget ran out before any evidence.</a:t>
            </a:r>
            <a:endParaRPr lang="en-US" sz="1200" dirty="0"/>
          </a:p>
        </p:txBody>
      </p:sp>
      <p:sp>
        <p:nvSpPr>
          <p:cNvPr id="25" name="Text 21"/>
          <p:cNvSpPr/>
          <p:nvPr/>
        </p:nvSpPr>
        <p:spPr>
          <a:xfrm>
            <a:off x="8206333" y="2838301"/>
            <a:ext cx="305221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303D"/>
                </a:solidFill>
                <a:latin typeface="IBM Plex Mono" pitchFamily="34" charset="0"/>
                <a:ea typeface="IBM Plex Mono" pitchFamily="34" charset="-122"/>
                <a:cs typeface="IBM Plex Mono" pitchFamily="34" charset="-120"/>
              </a:rPr>
              <a:t>PRECONDITION_NOT_MET · PERMISSION_DENIED · STEP_LIMIT_EXCEEDED</a:t>
            </a:r>
            <a:endParaRPr lang="en-US" sz="1200" dirty="0"/>
          </a:p>
        </p:txBody>
      </p:sp>
      <p:pic>
        <p:nvPicPr>
          <p:cNvPr id="26" name="Image 2" descr="line"/>
          <p:cNvPicPr>
            <a:picLocks noChangeAspect="1"/>
          </p:cNvPicPr>
          <p:nvPr/>
        </p:nvPicPr>
        <p:blipFill>
          <a:blip r:embed="rId3"/>
          <a:srcRect t="-35" b="-35"/>
          <a:stretch/>
        </p:blipFill>
        <p:spPr>
          <a:xfrm>
            <a:off x="8206333" y="3630662"/>
            <a:ext cx="2963317" cy="12700"/>
          </a:xfrm>
          <a:prstGeom prst="rect">
            <a:avLst/>
          </a:prstGeom>
        </p:spPr>
      </p:pic>
      <p:sp>
        <p:nvSpPr>
          <p:cNvPr id="27" name="Text 22"/>
          <p:cNvSpPr/>
          <p:nvPr/>
        </p:nvSpPr>
        <p:spPr>
          <a:xfrm>
            <a:off x="8206332" y="3719562"/>
            <a:ext cx="1340993"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12</a:t>
            </a:r>
            <a:endParaRPr lang="en-US" sz="5600" dirty="0"/>
          </a:p>
        </p:txBody>
      </p:sp>
      <p:sp>
        <p:nvSpPr>
          <p:cNvPr id="28" name="Text 23"/>
          <p:cNvSpPr/>
          <p:nvPr/>
        </p:nvSpPr>
        <p:spPr>
          <a:xfrm>
            <a:off x="8206333" y="4466282"/>
            <a:ext cx="8295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commerce</a:t>
            </a:r>
            <a:endParaRPr lang="en-US" sz="1200" dirty="0"/>
          </a:p>
        </p:txBody>
      </p:sp>
      <p:sp>
        <p:nvSpPr>
          <p:cNvPr id="29" name="Text 24"/>
          <p:cNvSpPr/>
          <p:nvPr/>
        </p:nvSpPr>
        <p:spPr>
          <a:xfrm>
            <a:off x="9289900" y="3719562"/>
            <a:ext cx="1340993" cy="91559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10</a:t>
            </a:r>
            <a:endParaRPr lang="en-US" sz="5600" dirty="0"/>
          </a:p>
        </p:txBody>
      </p:sp>
      <p:sp>
        <p:nvSpPr>
          <p:cNvPr id="30" name="Text 25"/>
          <p:cNvSpPr/>
          <p:nvPr/>
        </p:nvSpPr>
        <p:spPr>
          <a:xfrm>
            <a:off x="9289901" y="4466282"/>
            <a:ext cx="8295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contacts</a:t>
            </a:r>
            <a:endParaRPr lang="en-US" sz="1200" dirty="0"/>
          </a:p>
        </p:txBody>
      </p:sp>
      <p:sp>
        <p:nvSpPr>
          <p:cNvPr id="31" name="Text 26"/>
          <p:cNvSpPr/>
          <p:nvPr/>
        </p:nvSpPr>
        <p:spPr>
          <a:xfrm>
            <a:off x="812800" y="5143153"/>
            <a:ext cx="1088339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Only the first column counts as defects: 11 of 25 failures on the commerce app, 32 of 48 on the contacts app.</a:t>
            </a:r>
            <a:endParaRPr lang="en-US" sz="1400" dirty="0"/>
          </a:p>
        </p:txBody>
      </p:sp>
      <p:sp>
        <p:nvSpPr>
          <p:cNvPr id="32" name="Text 27"/>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3" name="Text 28"/>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0">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FAULT ATTRIBUTION · IN DETAIL</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Every error type, and where it goes</a:t>
            </a:r>
            <a:endParaRPr lang="en-US" sz="3000" dirty="0"/>
          </a:p>
        </p:txBody>
      </p:sp>
      <p:sp>
        <p:nvSpPr>
          <p:cNvPr id="4" name="Text 2"/>
          <p:cNvSpPr/>
          <p:nvPr/>
        </p:nvSpPr>
        <p:spPr>
          <a:xfrm>
            <a:off x="812800" y="1724620"/>
            <a:ext cx="5206238"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How to read it</a:t>
            </a:r>
            <a:endParaRPr lang="en-US" sz="1400" dirty="0"/>
          </a:p>
        </p:txBody>
      </p:sp>
      <p:sp>
        <p:nvSpPr>
          <p:cNvPr id="5" name="Shape 3"/>
          <p:cNvSpPr/>
          <p:nvPr/>
        </p:nvSpPr>
        <p:spPr>
          <a:xfrm>
            <a:off x="819150" y="2101800"/>
            <a:ext cx="139700" cy="139700"/>
          </a:xfrm>
          <a:prstGeom prst="roundRect">
            <a:avLst>
              <a:gd name="adj" fmla="val 22727"/>
            </a:avLst>
          </a:prstGeom>
          <a:solidFill>
            <a:srgbClr val="D3F9D8"/>
          </a:solidFill>
          <a:ln w="12700">
            <a:solidFill>
              <a:srgbClr val="2F9E44"/>
            </a:solidFill>
            <a:prstDash val="solid"/>
          </a:ln>
        </p:spPr>
        <p:txBody>
          <a:bodyPr/>
          <a:lstStyle/>
          <a:p>
            <a:endParaRPr lang="en-US"/>
          </a:p>
        </p:txBody>
      </p:sp>
      <p:sp>
        <p:nvSpPr>
          <p:cNvPr id="6" name="Text 4"/>
          <p:cNvSpPr/>
          <p:nvPr/>
        </p:nvSpPr>
        <p:spPr>
          <a:xfrm>
            <a:off x="1041400" y="2095450"/>
            <a:ext cx="49707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Green: pass, the app did what the test expected</a:t>
            </a:r>
            <a:endParaRPr lang="en-US" sz="1200" dirty="0"/>
          </a:p>
        </p:txBody>
      </p:sp>
      <p:sp>
        <p:nvSpPr>
          <p:cNvPr id="7" name="Shape 5"/>
          <p:cNvSpPr/>
          <p:nvPr/>
        </p:nvSpPr>
        <p:spPr>
          <a:xfrm>
            <a:off x="819150" y="2454821"/>
            <a:ext cx="139700" cy="139700"/>
          </a:xfrm>
          <a:prstGeom prst="roundRect">
            <a:avLst>
              <a:gd name="adj" fmla="val 22727"/>
            </a:avLst>
          </a:prstGeom>
          <a:solidFill>
            <a:srgbClr val="FFE3E3"/>
          </a:solidFill>
          <a:ln w="12700">
            <a:solidFill>
              <a:srgbClr val="E03131"/>
            </a:solidFill>
            <a:prstDash val="solid"/>
          </a:ln>
        </p:spPr>
        <p:txBody>
          <a:bodyPr/>
          <a:lstStyle/>
          <a:p>
            <a:endParaRPr lang="en-US"/>
          </a:p>
        </p:txBody>
      </p:sp>
      <p:sp>
        <p:nvSpPr>
          <p:cNvPr id="8" name="Text 6"/>
          <p:cNvSpPr/>
          <p:nvPr/>
        </p:nvSpPr>
        <p:spPr>
          <a:xfrm>
            <a:off x="1041400" y="2448471"/>
            <a:ext cx="49707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Red: app fault, the real finding count</a:t>
            </a:r>
            <a:endParaRPr lang="en-US" sz="1200" dirty="0"/>
          </a:p>
        </p:txBody>
      </p:sp>
      <p:sp>
        <p:nvSpPr>
          <p:cNvPr id="9" name="Shape 7"/>
          <p:cNvSpPr/>
          <p:nvPr/>
        </p:nvSpPr>
        <p:spPr>
          <a:xfrm>
            <a:off x="819150" y="2807841"/>
            <a:ext cx="139700" cy="139700"/>
          </a:xfrm>
          <a:prstGeom prst="roundRect">
            <a:avLst>
              <a:gd name="adj" fmla="val 22727"/>
            </a:avLst>
          </a:prstGeom>
          <a:solidFill>
            <a:srgbClr val="E9ECEF"/>
          </a:solidFill>
          <a:ln w="12700">
            <a:solidFill>
              <a:srgbClr val="868E96"/>
            </a:solidFill>
            <a:prstDash val="solid"/>
          </a:ln>
        </p:spPr>
        <p:txBody>
          <a:bodyPr/>
          <a:lstStyle/>
          <a:p>
            <a:endParaRPr lang="en-US"/>
          </a:p>
        </p:txBody>
      </p:sp>
      <p:sp>
        <p:nvSpPr>
          <p:cNvPr id="10" name="Text 8"/>
          <p:cNvSpPr/>
          <p:nvPr/>
        </p:nvSpPr>
        <p:spPr>
          <a:xfrm>
            <a:off x="1041400" y="2801491"/>
            <a:ext cx="49707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Grey: agent fault, our executor could not drive the app</a:t>
            </a:r>
            <a:endParaRPr lang="en-US" sz="1200" dirty="0"/>
          </a:p>
        </p:txBody>
      </p:sp>
      <p:sp>
        <p:nvSpPr>
          <p:cNvPr id="11" name="Shape 9"/>
          <p:cNvSpPr/>
          <p:nvPr/>
        </p:nvSpPr>
        <p:spPr>
          <a:xfrm>
            <a:off x="819150" y="3160861"/>
            <a:ext cx="139700" cy="139700"/>
          </a:xfrm>
          <a:prstGeom prst="roundRect">
            <a:avLst>
              <a:gd name="adj" fmla="val 22727"/>
            </a:avLst>
          </a:prstGeom>
          <a:solidFill>
            <a:srgbClr val="FFE8CC"/>
          </a:solidFill>
          <a:ln w="12700">
            <a:solidFill>
              <a:srgbClr val="E8892B"/>
            </a:solidFill>
            <a:prstDash val="solid"/>
          </a:ln>
        </p:spPr>
        <p:txBody>
          <a:bodyPr/>
          <a:lstStyle/>
          <a:p>
            <a:endParaRPr lang="en-US"/>
          </a:p>
        </p:txBody>
      </p:sp>
      <p:sp>
        <p:nvSpPr>
          <p:cNvPr id="12" name="Text 10"/>
          <p:cNvSpPr/>
          <p:nvPr/>
        </p:nvSpPr>
        <p:spPr>
          <a:xfrm>
            <a:off x="1041400" y="3154511"/>
            <a:ext cx="49707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Orange: environment fault, refused or out of budget before any evidence</a:t>
            </a:r>
            <a:endParaRPr lang="en-US" sz="1200" dirty="0"/>
          </a:p>
        </p:txBody>
      </p:sp>
      <p:sp>
        <p:nvSpPr>
          <p:cNvPr id="13" name="Text 11"/>
          <p:cNvSpPr/>
          <p:nvPr/>
        </p:nvSpPr>
        <p:spPr>
          <a:xfrm>
            <a:off x="812800" y="3720852"/>
            <a:ext cx="520623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The taxonomy has a single definition in the code, so the dashboard, the reports and these slides all count the same way.</a:t>
            </a:r>
            <a:endParaRPr lang="en-US" sz="1200" dirty="0"/>
          </a:p>
        </p:txBody>
      </p:sp>
      <p:sp>
        <p:nvSpPr>
          <p:cNvPr id="14" name="Shape 12"/>
          <p:cNvSpPr/>
          <p:nvPr/>
        </p:nvSpPr>
        <p:spPr>
          <a:xfrm>
            <a:off x="6172200" y="1724620"/>
            <a:ext cx="5207000" cy="4064000"/>
          </a:xfrm>
          <a:prstGeom prst="roundRect">
            <a:avLst>
              <a:gd name="adj" fmla="val 2500"/>
            </a:avLst>
          </a:prstGeom>
          <a:solidFill>
            <a:srgbClr val="FDFEFE"/>
          </a:solidFill>
          <a:ln/>
        </p:spPr>
        <p:txBody>
          <a:bodyPr/>
          <a:lstStyle/>
          <a:p>
            <a:endParaRPr lang="en-US"/>
          </a:p>
        </p:txBody>
      </p:sp>
      <p:pic>
        <p:nvPicPr>
          <p:cNvPr id="15" name="Image 0" descr="Fault attribution tree: a failed verdict's error type is routed to APP_FAULT, AGENT_FAULT or ENV_FAULT"/>
          <p:cNvPicPr>
            <a:picLocks noChangeAspect="1"/>
          </p:cNvPicPr>
          <p:nvPr/>
        </p:nvPicPr>
        <p:blipFill>
          <a:blip r:embed="rId3"/>
          <a:stretch>
            <a:fillRect/>
          </a:stretch>
        </p:blipFill>
        <p:spPr>
          <a:xfrm>
            <a:off x="6236240" y="1730970"/>
            <a:ext cx="5078921" cy="4051300"/>
          </a:xfrm>
          <a:custGeom>
            <a:avLst/>
            <a:gdLst/>
            <a:ahLst/>
            <a:cxnLst/>
            <a:rect l="l" t="t" r="r" b="b"/>
            <a:pathLst>
              <a:path w="5078921" h="4051300">
                <a:moveTo>
                  <a:pt x="0" y="7718"/>
                </a:moveTo>
                <a:arcTo wR="95250" hR="95250" stAng="14806534" swAng="1393466"/>
                <a:lnTo>
                  <a:pt x="5041360" y="0"/>
                </a:lnTo>
                <a:arcTo wR="95250" hR="95250" stAng="16200000" swAng="1393466"/>
                <a:lnTo>
                  <a:pt x="5078921" y="4043582"/>
                </a:lnTo>
                <a:arcTo wR="95250" hR="95250" stAng="4006534" swAng="1393466"/>
                <a:lnTo>
                  <a:pt x="37560" y="4051300"/>
                </a:lnTo>
                <a:arcTo wR="95250" hR="95250" stAng="5400000" swAng="1393466"/>
                <a:close/>
              </a:path>
            </a:pathLst>
          </a:custGeom>
        </p:spPr>
      </p:pic>
      <p:sp>
        <p:nvSpPr>
          <p:cNvPr id="16" name="Shape 13"/>
          <p:cNvSpPr/>
          <p:nvPr/>
        </p:nvSpPr>
        <p:spPr>
          <a:xfrm>
            <a:off x="6175375" y="1727795"/>
            <a:ext cx="5200650" cy="4057650"/>
          </a:xfrm>
          <a:prstGeom prst="roundRect">
            <a:avLst>
              <a:gd name="adj" fmla="val 2426"/>
            </a:avLst>
          </a:prstGeom>
          <a:noFill/>
          <a:ln w="6350">
            <a:solidFill>
              <a:srgbClr val="D6E1E6"/>
            </a:solidFill>
            <a:prstDash val="solid"/>
          </a:ln>
        </p:spPr>
        <p:txBody>
          <a:bodyPr/>
          <a:lstStyle/>
          <a:p>
            <a:endParaRPr lang="en-US"/>
          </a:p>
        </p:txBody>
      </p:sp>
      <p:sp>
        <p:nvSpPr>
          <p:cNvPr id="17" name="Text 14"/>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8" name="Text 15"/>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30</a:t>
            </a:r>
            <a:endParaRPr lang="en-US" sz="12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aihan-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aihan-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aihan-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aihan-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aihan-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aihan-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aihan-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aihan-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aihan-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aihan-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iloy-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iloy-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iloy-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iloy-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iloy-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iloy-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Testing Automation</dc:title>
  <dc:subject>PptxGenJS Presentation</dc:subject>
  <dc:creator>PptxGenJS</dc:creator>
  <cp:lastModifiedBy>PptxGenJS</cp:lastModifiedBy>
  <cp:revision>1</cp:revision>
  <dcterms:created xsi:type="dcterms:W3CDTF">2026-09-30T03:50:15Z</dcterms:created>
  <dcterms:modified xsi:type="dcterms:W3CDTF">2026-09-30T03:50:15Z</dcterms:modified>
</cp:coreProperties>
</file>