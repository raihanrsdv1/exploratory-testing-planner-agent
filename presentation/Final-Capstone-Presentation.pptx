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0605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project and the team. One sentence on what it is: an agent that plans its own tests, runs them on a real Android device and learns from every run. Mention the industry partner, because slide 4 quotes their brief.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ways to test an app, and why none is enough. Manual exploratory testing finds real bugs but does not scale. Scripts only check what someone already expected. Random testing scales but has no notion of correct behaviour, so the only bug it can report is a crash. The quote at the bottom is the whole problem: without knowing what the app should do, a tool cannot tell a wrong result from a right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Recent research uses language models to drive Android apps. We read seven of these systems closely. None of them reads a specification, so a crash is the only thing they can call a bug. Their memory does not survive the session. None separates the agent failing from the app failing, which inflates their defect counts. And five of the seven are handed their task rather than choosing it. Our system is built on exactly these four gaps.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This is the requirement that shaped the whole design. The partner asked for an agent that improves with every run. Our answer has two parts. First, three separate agents, each with one job. Second, none of them keeps any memory of its own: every call starts fresh. So the only way the system can improve is that the shared knowledge graph grows. That makes the learning inspectable, because you can look at exactly what was learned.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architecture is three agents around one knowledge graph. The planner reads the graph and writes one test case. The executor runs it on a real Android device through mobilerun, and records every screen it sees. The investigator reads the step-by-step trajectory and writes findings back. They hand each other a test case and a trajectory, but none of them remembers anything between calls. Everything durable lives in the graph: the requirements from the specification, the screens observed, every test and its result, and the findings. The next slide shows the same architecture with every component named.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same architecture with every component named. Walk it by colour. Amber is what a person supplies: the specification, an optional design export and defect history. Green is the knowledge: the Neo4j graph and the vector index. Blue is the two services: the RAG API on port 9010, which owns the graph, and the agent gateway on 9100, which hosts the planner and the investigator. Purple is the three agents. Red is the model provider, which every agent calls. Grey is the device, reached over adb through the on-device portal.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One test is one round of four steps. The planner takes about a minute to decide and write the test. The executor then drives the real app, and this is the long part: every step is a vision model call of about 20 seconds, with a budget of 50 steps. The investigator reads the result in about 20 seconds. Everything it learned is written to the graph, and the next round is planned from that larger graph. A campaign is simply this loop repeated. The timings are measured from our own campaigns.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skip if short on time. The full sequence of one round, message by message. Steps 1 to 5 are the planner: it asks the graph what is known, proposes a test, and stores it before the executor sees it. Steps 6 to 9 are the executor looping on the device, and on every step it posts the screen back to the graph. Steps 10 to 14 are the investigator: note step 11, where it first fetches what is already known about those screens, which is what lets a repeat observation reinforce an existing finding instead of creating a duplicate.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how the shared memory is organised, taken from the live Neo4j database. Orange is the specification: the document is split into passages, each requirement is traced to the passage it came from, with its validation rules and the entities it involves. Purple is testing: a test case covers requirements and a feature area, and every execution leaves a log with its verdict, its error type and the ordered path of screens it went through. Blue is the app model the executor builds: one node per distinct screen, with the transitions between them and learned navigation routes. Red is findings, written by the investigator: each one points to the run that found it, the screen it is about and the requirement it concerns, and related findings are grouped under a more general one. The point to make: every agent reads and writes this one structure, and nothing else survives between calls. Every node is scoped to a project, so two apps never mix.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Each role has its own model, chosen for what that role needs. The planner needs long context and output that parses reliably, not deep reasoning, so a fast tier is right, and it is only about 8 percent of the cost. The executor has to see: it reads the accessibility tree and a screenshot on every step, which makes it about 92 percent of the cost. The investigator is deliberately a different model family, so no model is grading its own work, and setting its reasoning effort to low cut an evaluation from almost two minutes to 23 seconds. Specification extraction runs once per document but everything depends on it, so that is the one place we pay for a large model. Embeddings run locally for free. The history, briefly: we started on a free tier to prove the loop worked, tried self-hosting through a tunnel and dropped it, then moved each role down a tier once we had measured that quality held.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Before it writes anything, the planner can draw on six kinds of knowledge. The specification, as individual requirements it can search by meaning or keyword. A live map of every screen the agent has actually seen, 79 screens on the contacts app. Learned navigation paths. Findings from earlier runs. Coverage, meaning what is still untested. And defect history when a project has it. All of it is capped, so the prompt does not grow with the campaign. The clearest example: the block describing earlier runs used to be 35,000 characters, 69 percent of one prompt. Storing findings as structured knowledge brought it down to about 2,000.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planner is a LangGraph state machine. It first loads what is already known, with no model call. Then the key step: planner_step asks the model what it still needs. It either picks tools to fetch more, from the specification, the screens it has seen, navigation paths or past defects, and execute_retrieval runs them, or it decides it has enough. That loop is what lets it reason about its own knowledge gaps instead of taking a fixed bundle of context. Then it writes the test, and a duplicate check compares it with every earlier test by title and by meaning, and forces a rewrite if it is too similar. The loop stops when the model says it is ready, after two rounds, which is what our runner asks for, when the context passes 9,000 characters, or when a retrieval brings nothing new. This pipeline planned the contacts campaign. The commerce campaign used the tools mode, two slides 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planning pipeline in full, left to right. Read it by colour. Blue is where the planner uses its tools: in planner_step the model looks at what it has and names up to three lookups, each a source and a query. It can search the specification, pull up a screen it has already seen, ask how to reach a screen, or check past failures there. execute_retrieval runs those lookups, with no model call, and the results go back into the context for the next planner_step. Green steps are plain graph reads and writes; red steps are model calls; amber steps are decisions. Only two model calls are guaranteed per test, the small planner_step and the large generate_testcase; the retry fires only when the duplicate check rejects a draft. The test is logged to the graph as planned before the executor ever sees it. The next slide is the planner's other mode, where the model calls its tools directly.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the planner's second mode, and it is the one that planned the 45-test commerce campaign. In the pipeline, the model writes down which lookups it wants and code runs them as a batch. Here the loop of planner_step and execute_retrieval is replaced by real function calls. The model starts from a short brief: the coverage map, the last few runs and the open questions. Then it investigates: it calls a tool, reads the answer, and decides what to ask next, so each question can depend on the last result. Finally it proposes one test case, and that proposal goes through a validation gate: a screen it has never seen, a requirement id that does not exist, a repeat, a precondition the tester cannot create, or something out of scope is rejected with a reason it can act on, up to three times. Across all its runs on the commerce app it made 989 tool calls for 101 proposals and used all nine tools. The next slides show the tools, a real round, and what it emits. The contacts campaign ran on the pipeline.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These are the nine tools the planner can call in tools mode. All of them only read; none can change the graph. Two answer what the specification says should exist. Three answer what the app actually has: a screen's real controls, the list of screens seen, and a known route to a screen. Three answer what earlier runs already established: a summary count, the findings themselves, and the questions still open. And one reports coverage: where tests have gone, what keeps failing, and what is exhausted. The right-hand column is the safety rule: a tool is only offered when its source has data. On a brand-new app with no screens yet, get_screen simply does not exist for the model, so it cannot be misled by an empty answer into planning against a screen that is not there.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what a planning round actually looks like, measured from the logs of 62 rounds on the commerce app rather than how we hoped it would behave. Nothing in the code fixes this order; the prompt only sets rules, such as never naming a screen you have not confirmed. In practice the model orients first: a summary of what earlier runs found, the coverage state, and the list of screens. Then it picks up an unfinished thread, an open question or an existing finding. Only then does it ground the test: searching the specification for the exact requirement and confirming the screen exists. A round takes a median of 13 tool calls, often several in one turn. After six free turns it is told to propose, and the tool choice is pinned so that it must. That rule exists because the first live run investigated for ten turns and never produced a test at all. The proposal then goes through the validation gate from slide 14.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contract between the planner and the executor, and both planner modes produce exactly these fields. It is a test case in plain language: a title, an objective, an expected result, preconditions, the screen to start from, and labels for area, priority and type. Never a sequence of taps; the executor works those out on the device. Two fields do the most work. requirement_ids are what let us report requirement coverage at all, instead of counting screens visited as a proxy. And addresses links the test to an open question from an earlier run. Here, TC-003 from the commerce campaign: an earlier run suspected the farm name was never validated, so the planner wrote a test aimed at exactly that, citing FR-FARM-04, the requirement that mandatory fields show a specific error.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mechanisms decide where the next test goes. A coverage map points the planner at requirements and areas nobody has tested. A cap retires an area after five tests, whatever happened in them. And a duplicate check compares each new title with every earlier test, both by word overlap and by meaning. The cap exists because of a real failure: in one 13-round campaign, nine tests landed on the same screen. A failing area kept getting promoted and nothing retired it. We considered stopping when an area stops yielding new findings, and rejected it: the ninth test was still technically producing new ones, so that rule would never have fired.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one real test from the contacts campaign, and it shows the loop working. Earlier runs had seen duplicate contacts saved silently, but detection on a phone-number match alone was still marked unverified, an open question the investigator had left in the graph. The planner picked it up. Its own rationale: give the new contact a completely different name, so that only the phone number matches, which tests FR-DUP-02 on its own instead of mixing it up with the name rule. The executor created the contact with an existing contact’s number, saved it, and found both entries side by side in the list: no duplicate dialog. It took 48 steps, but the evidence is in the first 15; the rest went to a search box that did not respond, and the investigator’s summary says so. The verdict: objective refuted, a high-severity spec violation of FR-DUP-02 and FR-DUP-04, and in its words it directly answers the earlier open question. Nobody told the agent to look at duplicates. It chose this from the specification and from what earlier runs had left unresolved.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executor, which we also call the player, is the one component we did not build, so we chose it carefully. We surveyed the mobile GUI-agent benchmarks and then tried several executors hands-on, among them MUI, GeLab and MobileAgent-V3, before selecting mobilerun, also known as Droidrun. [Add one line per alternative on why it was not chosen.] What decided it was what our design needs: it works from a goal in plain language rather than a script, drives a real device through the accessibility tree and screenshots, lets us plug in our own model provider, saves a step-by-step trajectory for the investigator, and streams every screen it sees, which is how we build the map of the app.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executor receives a goal, not a script: the planner's objective and screen hint, plus login and input details. It then loops: observe the screen through the accessibility tree and a screenshot, let the model decide the next action, and act, tapping, typing or swiping over adb. Up to 50 steps, about 20 seconds each. It returns a trajectory: every step's reasoning, action and result. The loop is mobilerun, but the harness around it is ours: building the goal from the test case, the on-device portal that makes typing reliable, resetting the app between tests and keeping the agent inside it, keeping login secrets out of the planner's prompt, streaming every screen into the live map, and surviving network loss mid-campaign.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Every screen the executor passes through is matched against the screens already seen, and this is how the agent builds its own map of an app with no documentation. The checks run cheapest first: an exact signature; then structural similarity, which tolerates counters and timestamps; then containment, for a screen captured before it finished drawing; and finally a perceptual hash of the screenshot, for screens whose accessibility tree says almost nothing. A match counts a visit; a miss creates a new screen and records how we got there. On the contacts app that is 79 distinct screens from over two thousand observations, and 797 transitions. The planner uses this map to ground its screen hints and find paths.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screen-identity cascade, left to right. Each check exists because the previous one failed on a real case, and the grey notes say which. Structural similarity handles counters and timestamps. Containment handles a screen captured before it finished drawing, which similarity scores as different. Skeleton containment handles form fields, where typing changes the labels: one wizard once produced nine separate states. And the perceptual hash is the last resort for screens built with Compose, games or web views, whose accessibility tree says almost nothing.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result of the screen matching on the previous slide, as it appears on our dashboard. Every circle is one distinct screen of the contacts app, 79 in all, joined by 797 recorded transitions. Nothing here came from documentation; it is only what the agent reached. Every execution stores the ordered list of screens it passed through, so we can pick any run and see exactly where it went: in orange, the path of TC-088, which imported a vCard of duplicates and then searched: from the contact list through Organize, the import screen and the close sheet, and back. Clicking a screen shows the screenshot we stored for it, here Contact List number 12, visited 19 times, with 14 controls. The same map is what the planner draws on when it looks up a screen or a route to 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Before the investigator, nothing a run observed ever reached the next plan. Now it reads each trajectory against what the test intended and writes typed findings. Each finding is one claim, and repeats are merged, so the graph records how often something was seen rather than piling up duplicates. There are eight kinds in four groups. Defects go to a human. Oracle findings feed back to the planner, which is how the next test is better informed. And the agent's own difficulties are kept separate, because they say nothing about the app. Open questions have a lifecycle, so the agent reaches conclusions instead of asking the same thing forever.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eight finding kinds across the top, each routed to exactly one destination. Red is defects, which a human reviews. Green is the oracle group, which is what the planner reads back next round. Blue is new controls, which enrich the map. Grey is the agent's own difficulties, kept apart so they can never inflate the defect count.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hard question is how the system knows it has seen something before, when every run is described by a model in different words. We first tried embedding similarity alone, and measured that it cannot work: a true restatement of a finding scored 0.846, while a genuinely different defect scored higher, 0.853. So the model decides. It is shown the known findings for the screens it touched and states which ones this run confirms; a confirmation reinforces the existing finding. Similarity is kept only as a safety net at 0.90. Similar findings on one screen can also be collapsed into one general claim. And storing findings rather than prose reports reversed the growth of the investigator's input: under prose it grew to almost 98,000 characters over a campaign; with findings it shrinks as the campaign goes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 finding that poses a question, such as "does this field really accept anything?", stays open until a later run settles it. The planner treats open questions as missions: it reserves room for them so old ones are not forgotten, and its test declares which question it is addressing. If the run settles it, it is resolved, confirmed or refuted. If three attempts fail to settle it, it is retired as inconclusive rather than asked forever. This is how the agent reaches conclusions instead of re-testing the same doubt. To be honest about scale: on the contacts app, 8 questions have been settled by a later run and 115 are still open, mostly unverified observations. The mechanism works end to end; it needs longer campaigns to pay off fully.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slide answers the question you will be asked about the pass rate. When a test fails, we record why, and classify it three ways. An app fault means the agent reached its checkpoint and the app really did the wrong thing: that is a finding. An agent fault means our executor could not drive the app, which says nothing about the app. An environment fault means a precondition was missing or the step budget ran out before any evidence. On the commerce app only 11 of 25 failures were about the app. Reporting the raw failure rate would have more than doubled the apparent defect count. None of the research systems we reviewed makes this distinction.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tree behind the previous slide. A pass needs no classification. A failure is routed by its error type into exactly one of three classes: red is an app fault, and only these count as findings; grey is our executor failing to drive the app; orange is the environment, including running out of step budget before any evidence was produced. There is one definition of this mapping in the code, so every number in this deck is counted the same way.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We ran the same unmodified system on two very different Android apps, which is our evidence that it is application-agnostic. The first is a production commerce app with live users, in Bengali. The second is Google Contacts, tested against a 141-requirement specification we wrote independently, before testing, so that it acts as a real oracle. Requirement coverage is the number to notice: no existing tool can report it, because none reads a specification. It rose from 31 percent on the first app to 56 percent on the second. The cost figure is the one in our report, reconciled against the provider's billing. Every one of these tests was designed by the agent itself.</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Running a test costs about 0.8 US cents, roughly one taka. It is built bottom-up from measurements: about 10 device steps per test, an accessibility tree of about 4,700 bytes per step, and the planner's logged tokens, then checked against the provider's billing record. 92 percent of it is the device agent, because it calls a vision model on every step, which is why cutting steps per test saved real money and optimising the planner's prompt would not have. So a 25-test campaign is about 20 cents and a 500-test nightly suite about 4 dollars. Ingesting a specification is the opposite shape: about 30 cents, the price of some 40 test runs, because it uses the most accurate model tier, but it is paid once per document. The whole project cost under 50 dollars in cash, almost all of it development, because every change to ingestion meant re-reading the specification. We had no GPU, so hosted inference was the only option, not a cost optimisation. [Confirm before presenting: the report's budget table says USD 2.69 was consumed across 88 device executions, which works out to about 3 cents per run, not 0.8. Ask whoever wrote the budget section what else that balance paid for, so you can answer if a sir divides the two.]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rebuilt the planner during the project, so we compared the two on the same commerce app, with the same specification loaded in both. The old one, on 30 August, was the pipeline planner: it wrote a step-by-step script, the executor decided for itself whether it had succeeded, and there was no investigator, no findings memory and no validation gate. The new one, on 20 September, ran in tools mode with the validation gate; it writes a goal and lets the executor work out the steps, and the investigator judges every run and writes findings the next plan reads. Two things improved significantly. Vague titles like "verify it works correctly" fell from 64 percent to 2 percent, and titles citing a requirement rose from none to a quarter, even though both runs had the same specification. The share of runs producing evidence about the app doubled, but that is not significant at this sample size, and the two runs were judged differently, so we do not claim it. Be clear if asked: this is two whole configurations compared, not one change isolated, which is why an ablation is on our next-steps slide. Also, the area cap and a duplicate-generation fix were added during the new campaign itself.</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Four things the agent found without anyone telling it where to look. Notice that every one is tied to a requirement in the specification. That is the point of reading the spec: a random tester would never flag these, because nothing crashed. A name of only spaces is accepted with a success message and then vanishes from the list. Identical contacts are saved twice with no warning. An import never says how many contacts it brought in. And deletion is permanent, while the spec asks for a recovery period. Some of these may be deliberate design choices by the app's makers rather than bugs, and that is exactly the judgement the tool hands to a human.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This is a frame from a real campaign. The dashboard shows which of the three agents is working at that moment. Here the executor is on step 16 of 50, and the feed below lists every step. On the right is the phone at that instant, showing the deletion dialog behind one of the findings on the previous slide. When the planner is working, the same panel shows each pipeline stage, each retrieval and each model call with its latency.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We want to be precise about what these results do not show. Both apps are closed-source, so there is no list of known bugs to measure against, and we cannot compute precision or recall. We have not yet switched components off one at a time, so we cannot say how much each contributes. The findings are the model's claims and need a human. And a third of the contacts failures were the agent or the environment, not the app. The next step fixes the biggest of these: running on an open-source benchmark of real, reproducible bugs, with ablations and a random baseline.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Thank the supervisor and the partner, and invite questions. If a question needs a diagram, the detailed ones are slides 6, 8, 9, 13, 23, 24, 26 and 30.</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3D"/>
        </a:solidFill>
        <a:effectLst/>
      </p:bgPr>
    </p:bg>
    <p:spTree>
      <p:nvGrpSpPr>
        <p:cNvPr id="1" name=""/>
        <p:cNvGrpSpPr/>
        <p:nvPr/>
      </p:nvGrpSpPr>
      <p:grpSpPr>
        <a:xfrm>
          <a:off x="0" y="0"/>
          <a:ext cx="0" cy="0"/>
          <a:chOff x="0" y="0"/>
          <a:chExt cx="0" cy="0"/>
        </a:xfrm>
      </p:grpSpPr>
      <p:sp>
        <p:nvSpPr>
          <p:cNvPr id="2" name="Shape 0"/>
          <p:cNvSpPr/>
          <p:nvPr/>
        </p:nvSpPr>
        <p:spPr>
          <a:xfrm>
            <a:off x="9855200" y="812800"/>
            <a:ext cx="1524000" cy="1524000"/>
          </a:xfrm>
          <a:prstGeom prst="roundRect">
            <a:avLst>
              <a:gd name="adj" fmla="val 10000"/>
            </a:avLst>
          </a:prstGeom>
          <a:solidFill>
            <a:srgbClr val="F6F8F7"/>
          </a:solidFill>
          <a:ln/>
        </p:spPr>
        <p:txBody>
          <a:bodyPr/>
          <a:lstStyle/>
          <a:p>
            <a:endParaRPr lang="en-US"/>
          </a:p>
        </p:txBody>
      </p:sp>
      <p:pic>
        <p:nvPicPr>
          <p:cNvPr id="3" name="Image 0" descr="BUET logo"/>
          <p:cNvPicPr>
            <a:picLocks noChangeAspect="1"/>
          </p:cNvPicPr>
          <p:nvPr/>
        </p:nvPicPr>
        <p:blipFill>
          <a:blip r:embed="rId3"/>
          <a:srcRect/>
          <a:stretch/>
        </p:blipFill>
        <p:spPr>
          <a:xfrm>
            <a:off x="9994900" y="952500"/>
            <a:ext cx="1244600" cy="1244600"/>
          </a:xfrm>
          <a:prstGeom prst="rect">
            <a:avLst/>
          </a:prstGeom>
        </p:spPr>
      </p:pic>
      <p:sp>
        <p:nvSpPr>
          <p:cNvPr id="4" name="Text 1"/>
          <p:cNvSpPr/>
          <p:nvPr/>
        </p:nvSpPr>
        <p:spPr>
          <a:xfrm>
            <a:off x="812800" y="812800"/>
            <a:ext cx="850265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CSE 450 CAPSTONE PROJECT · DEPARTMENT OF CSE, BUET</a:t>
            </a:r>
            <a:endParaRPr lang="en-US" sz="1200" dirty="0"/>
          </a:p>
        </p:txBody>
      </p:sp>
      <p:sp>
        <p:nvSpPr>
          <p:cNvPr id="5" name="Text 2"/>
          <p:cNvSpPr/>
          <p:nvPr/>
        </p:nvSpPr>
        <p:spPr>
          <a:xfrm>
            <a:off x="812800" y="1203920"/>
            <a:ext cx="8502650" cy="1518841"/>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3F6F5"/>
                </a:solidFill>
                <a:latin typeface="Source Serif 4" pitchFamily="34" charset="0"/>
                <a:ea typeface="Source Serif 4" pitchFamily="34" charset="-122"/>
                <a:cs typeface="Source Serif 4" pitchFamily="34" charset="-120"/>
              </a:rPr>
              <a:t>Exploratory Testing Automation</a:t>
            </a:r>
            <a:endParaRPr lang="en-US" sz="5600" dirty="0"/>
          </a:p>
        </p:txBody>
      </p:sp>
      <p:sp>
        <p:nvSpPr>
          <p:cNvPr id="6" name="Text 3"/>
          <p:cNvSpPr/>
          <p:nvPr/>
        </p:nvSpPr>
        <p:spPr>
          <a:xfrm>
            <a:off x="812800" y="2875161"/>
            <a:ext cx="85026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FD3DA"/>
                </a:solidFill>
                <a:latin typeface="IBM Plex Sans" pitchFamily="34" charset="0"/>
                <a:ea typeface="IBM Plex Sans" pitchFamily="34" charset="-122"/>
                <a:cs typeface="IBM Plex Sans" pitchFamily="34" charset="-120"/>
              </a:rPr>
              <a:t>An autonomous agent that decides what to test, runs it on a real Android device, and learns from every run.</a:t>
            </a:r>
            <a:endParaRPr lang="en-US" sz="1800" dirty="0"/>
          </a:p>
        </p:txBody>
      </p:sp>
      <p:sp>
        <p:nvSpPr>
          <p:cNvPr id="7" name="Text 4"/>
          <p:cNvSpPr/>
          <p:nvPr/>
        </p:nvSpPr>
        <p:spPr>
          <a:xfrm>
            <a:off x="812800" y="4663579"/>
            <a:ext cx="26927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TEAM</a:t>
            </a:r>
            <a:endParaRPr lang="en-US" sz="1200" dirty="0"/>
          </a:p>
        </p:txBody>
      </p:sp>
      <p:sp>
        <p:nvSpPr>
          <p:cNvPr id="8" name="Text 5"/>
          <p:cNvSpPr/>
          <p:nvPr/>
        </p:nvSpPr>
        <p:spPr>
          <a:xfrm>
            <a:off x="812800" y="4940399"/>
            <a:ext cx="2692744" cy="113020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Mohammad Raihan Rashid · 2105046</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Mehemud Azad · 2105014</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Jonayed Mohiuddin Shanto · 2105060</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Khalid Hasan Tuhin · 2105002</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Niloy Kumar Mondal · 2105044</a:t>
            </a:r>
            <a:endParaRPr lang="en-US" sz="1200" dirty="0"/>
          </a:p>
        </p:txBody>
      </p:sp>
      <p:sp>
        <p:nvSpPr>
          <p:cNvPr id="9" name="Text 6"/>
          <p:cNvSpPr/>
          <p:nvPr/>
        </p:nvSpPr>
        <p:spPr>
          <a:xfrm>
            <a:off x="3884315" y="4663579"/>
            <a:ext cx="254767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SUPERVISOR</a:t>
            </a:r>
            <a:endParaRPr lang="en-US" sz="1200" dirty="0"/>
          </a:p>
        </p:txBody>
      </p:sp>
      <p:sp>
        <p:nvSpPr>
          <p:cNvPr id="10" name="Text 7"/>
          <p:cNvSpPr/>
          <p:nvPr/>
        </p:nvSpPr>
        <p:spPr>
          <a:xfrm>
            <a:off x="3884315" y="4940399"/>
            <a:ext cx="2547678"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Dr. A. B. M. Alim Al Islam</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Professor, Department of CSE, BUET</a:t>
            </a:r>
            <a:endParaRPr lang="en-US" sz="1200" dirty="0"/>
          </a:p>
        </p:txBody>
      </p:sp>
      <p:sp>
        <p:nvSpPr>
          <p:cNvPr id="11" name="Text 8"/>
          <p:cNvSpPr/>
          <p:nvPr/>
        </p:nvSpPr>
        <p:spPr>
          <a:xfrm>
            <a:off x="6814989" y="4663579"/>
            <a:ext cx="250593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INDUSTRY PARTNER</a:t>
            </a:r>
            <a:endParaRPr lang="en-US" sz="1200" dirty="0"/>
          </a:p>
        </p:txBody>
      </p:sp>
      <p:sp>
        <p:nvSpPr>
          <p:cNvPr id="12" name="Text 9"/>
          <p:cNvSpPr/>
          <p:nvPr/>
        </p:nvSpPr>
        <p:spPr>
          <a:xfrm>
            <a:off x="6814989" y="4940399"/>
            <a:ext cx="2505931"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Samsung R&amp;D Institute Bangladesh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Why exploratory testing is hard to automate</a:t>
            </a:r>
            <a:endParaRPr lang="en-US" sz="3000" dirty="0"/>
          </a:p>
        </p:txBody>
      </p:sp>
      <p:sp>
        <p:nvSpPr>
          <p:cNvPr id="4" name="Shape 2"/>
          <p:cNvSpPr/>
          <p:nvPr/>
        </p:nvSpPr>
        <p:spPr>
          <a:xfrm>
            <a:off x="815975" y="1778595"/>
            <a:ext cx="3380284" cy="2038201"/>
          </a:xfrm>
          <a:prstGeom prst="roundRect">
            <a:avLst>
              <a:gd name="adj" fmla="val 4829"/>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47750" y="2010370"/>
            <a:ext cx="300423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Manual exploratory testing</a:t>
            </a:r>
            <a:endParaRPr lang="en-US" sz="1800" dirty="0"/>
          </a:p>
        </p:txBody>
      </p:sp>
      <p:sp>
        <p:nvSpPr>
          <p:cNvPr id="6" name="Text 4"/>
          <p:cNvSpPr/>
          <p:nvPr/>
        </p:nvSpPr>
        <p:spPr>
          <a:xfrm>
            <a:off x="1047750" y="2386261"/>
            <a:ext cx="30042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Finds real bugs, because a person knows what correct looks like.</a:t>
            </a:r>
            <a:endParaRPr lang="en-US" sz="1400" dirty="0"/>
          </a:p>
        </p:txBody>
      </p:sp>
      <p:sp>
        <p:nvSpPr>
          <p:cNvPr id="7" name="Text 5"/>
          <p:cNvSpPr/>
          <p:nvPr/>
        </p:nvSpPr>
        <p:spPr>
          <a:xfrm>
            <a:off x="1047750" y="3087241"/>
            <a:ext cx="3004236"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does not scale, and the knowledge leaves with the tester.</a:t>
            </a:r>
            <a:endParaRPr lang="en-US" sz="1400" dirty="0"/>
          </a:p>
        </p:txBody>
      </p:sp>
      <p:sp>
        <p:nvSpPr>
          <p:cNvPr id="8" name="Shape 6"/>
          <p:cNvSpPr/>
          <p:nvPr/>
        </p:nvSpPr>
        <p:spPr>
          <a:xfrm>
            <a:off x="4405809" y="1778595"/>
            <a:ext cx="3380333" cy="2038201"/>
          </a:xfrm>
          <a:prstGeom prst="roundRect">
            <a:avLst>
              <a:gd name="adj" fmla="val 4829"/>
            </a:avLst>
          </a:prstGeom>
          <a:solidFill>
            <a:srgbClr val="FDFEFE"/>
          </a:solidFill>
          <a:ln w="6350">
            <a:solidFill>
              <a:srgbClr val="D6E1E6"/>
            </a:solidFill>
            <a:prstDash val="solid"/>
          </a:ln>
        </p:spPr>
        <p:txBody>
          <a:bodyPr/>
          <a:lstStyle/>
          <a:p>
            <a:endParaRPr lang="en-US"/>
          </a:p>
        </p:txBody>
      </p:sp>
      <p:sp>
        <p:nvSpPr>
          <p:cNvPr id="9" name="Text 7"/>
          <p:cNvSpPr/>
          <p:nvPr/>
        </p:nvSpPr>
        <p:spPr>
          <a:xfrm>
            <a:off x="4637584" y="201037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Scripted automation</a:t>
            </a:r>
            <a:endParaRPr lang="en-US" sz="1800" dirty="0"/>
          </a:p>
        </p:txBody>
      </p:sp>
      <p:sp>
        <p:nvSpPr>
          <p:cNvPr id="10" name="Text 8"/>
          <p:cNvSpPr/>
          <p:nvPr/>
        </p:nvSpPr>
        <p:spPr>
          <a:xfrm>
            <a:off x="4637584" y="2386261"/>
            <a:ext cx="300428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Repeatable, and cheap to run again.</a:t>
            </a:r>
            <a:endParaRPr lang="en-US" sz="1400" dirty="0"/>
          </a:p>
        </p:txBody>
      </p:sp>
      <p:sp>
        <p:nvSpPr>
          <p:cNvPr id="11" name="Text 9"/>
          <p:cNvSpPr/>
          <p:nvPr/>
        </p:nvSpPr>
        <p:spPr>
          <a:xfrm>
            <a:off x="4637584" y="2838351"/>
            <a:ext cx="3004287" cy="77207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only checks what its author thought to check. It confirms; it does not discover.</a:t>
            </a:r>
            <a:endParaRPr lang="en-US" sz="1400" dirty="0"/>
          </a:p>
        </p:txBody>
      </p:sp>
      <p:sp>
        <p:nvSpPr>
          <p:cNvPr id="12" name="Shape 10"/>
          <p:cNvSpPr/>
          <p:nvPr/>
        </p:nvSpPr>
        <p:spPr>
          <a:xfrm>
            <a:off x="7995692" y="1778595"/>
            <a:ext cx="3380333" cy="2038201"/>
          </a:xfrm>
          <a:prstGeom prst="roundRect">
            <a:avLst>
              <a:gd name="adj" fmla="val 4829"/>
            </a:avLst>
          </a:prstGeom>
          <a:solidFill>
            <a:srgbClr val="FDFEFE"/>
          </a:solidFill>
          <a:ln w="6350">
            <a:solidFill>
              <a:srgbClr val="D6E1E6"/>
            </a:solidFill>
            <a:prstDash val="solid"/>
          </a:ln>
        </p:spPr>
        <p:txBody>
          <a:bodyPr/>
          <a:lstStyle/>
          <a:p>
            <a:endParaRPr lang="en-US"/>
          </a:p>
        </p:txBody>
      </p:sp>
      <p:sp>
        <p:nvSpPr>
          <p:cNvPr id="13" name="Text 11"/>
          <p:cNvSpPr/>
          <p:nvPr/>
        </p:nvSpPr>
        <p:spPr>
          <a:xfrm>
            <a:off x="8227467" y="201037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Random (Monkey) testing</a:t>
            </a:r>
            <a:endParaRPr lang="en-US" sz="1800" dirty="0"/>
          </a:p>
        </p:txBody>
      </p:sp>
      <p:sp>
        <p:nvSpPr>
          <p:cNvPr id="14" name="Text 12"/>
          <p:cNvSpPr/>
          <p:nvPr/>
        </p:nvSpPr>
        <p:spPr>
          <a:xfrm>
            <a:off x="8227467" y="2386261"/>
            <a:ext cx="300428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Explores at scale, with no setup.</a:t>
            </a:r>
            <a:endParaRPr lang="en-US" sz="1400" dirty="0"/>
          </a:p>
        </p:txBody>
      </p:sp>
      <p:sp>
        <p:nvSpPr>
          <p:cNvPr id="15" name="Text 13"/>
          <p:cNvSpPr/>
          <p:nvPr/>
        </p:nvSpPr>
        <p:spPr>
          <a:xfrm>
            <a:off x="8227467" y="2838351"/>
            <a:ext cx="3004287" cy="77207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has no idea what correct looks like. It can report a crash, not a wrong result.</a:t>
            </a:r>
            <a:endParaRPr lang="en-US" sz="1400" dirty="0"/>
          </a:p>
        </p:txBody>
      </p:sp>
      <p:sp>
        <p:nvSpPr>
          <p:cNvPr id="16" name="Text 14"/>
          <p:cNvSpPr/>
          <p:nvPr/>
        </p:nvSpPr>
        <p:spPr>
          <a:xfrm>
            <a:off x="812800" y="4073971"/>
            <a:ext cx="10883392" cy="52318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46596A"/>
                </a:solidFill>
                <a:latin typeface="Source Serif 4" pitchFamily="34" charset="0"/>
                <a:ea typeface="Source Serif 4" pitchFamily="34" charset="-122"/>
                <a:cs typeface="Source Serif 4" pitchFamily="34" charset="-120"/>
              </a:rPr>
              <a:t>“An automated tool can tell you an application crashed. It cannot tell you it quietly charged the wrong price, because it has no idea what the right price was.”</a:t>
            </a:r>
            <a:endParaRPr lang="en-US" sz="1400" dirty="0"/>
          </a:p>
        </p:txBody>
      </p:sp>
      <p:sp>
        <p:nvSpPr>
          <p:cNvPr id="17" name="Text 1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6"/>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RELATED WORK</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existing research agents miss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427835"/>
        </p:xfrm>
        <a:graphic>
          <a:graphicData uri="http://schemas.openxmlformats.org/drawingml/2006/table">
            <a:tbl>
              <a:tblPr/>
              <a:tblGrid>
                <a:gridCol w="3588258">
                  <a:extLst>
                    <a:ext uri="{9D8B030D-6E8A-4147-A177-3AD203B41FA5}">
                      <a16:colId xmlns:a16="http://schemas.microsoft.com/office/drawing/2014/main" val="20000"/>
                    </a:ext>
                  </a:extLst>
                </a:gridCol>
                <a:gridCol w="3482721">
                  <a:extLst>
                    <a:ext uri="{9D8B030D-6E8A-4147-A177-3AD203B41FA5}">
                      <a16:colId xmlns:a16="http://schemas.microsoft.com/office/drawing/2014/main" val="20001"/>
                    </a:ext>
                  </a:extLst>
                </a:gridCol>
                <a:gridCol w="3482721">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Capability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Research agents today</a:t>
                      </a:r>
                      <a:endParaRPr lang="en-US" sz="1400" dirty="0">
                        <a:latin typeface="IBM Plex Sans" charset="0"/>
                        <a:ea typeface="IBM Plex Sans" charset="0"/>
                        <a:cs typeface="IBM Plex Sans" charset="0"/>
                      </a:endParaRPr>
                    </a:p>
                  </a:txBody>
                  <a:tcPr marL="62230" marR="62230" marT="62230" marB="6223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Our system</a:t>
                      </a:r>
                      <a:endParaRPr lang="en-US" sz="1400" dirty="0">
                        <a:latin typeface="IBM Plex Sans" charset="0"/>
                        <a:ea typeface="IBM Plex Sans" charset="0"/>
                        <a:cs typeface="IBM Plex Sans" charset="0"/>
                      </a:endParaRPr>
                    </a:p>
                  </a:txBody>
                  <a:tcPr marL="62230" marR="62230" marT="62230" marB="6223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63490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Reads the requirements specification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 so no oracle beyond a crash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every requirement becomes a queryable node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Remembers across runs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Only within one session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A persistent knowledge graph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63490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Separates its own failures from app defects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Three-way fault attribution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Chooses its own test objectives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5 of 7 are handed a task</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and each test cites a requirement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46995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From our review of seven LLM-based GUI testing systems, among them GPTDroid, DroidAgent and AutoDroid.</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03D"/>
        </a:solidFill>
        <a:effectLst/>
      </p:bgPr>
    </p:bg>
    <p:spTree>
      <p:nvGrpSpPr>
        <p:cNvPr id="1" name=""/>
        <p:cNvGrpSpPr/>
        <p:nvPr/>
      </p:nvGrpSpPr>
      <p:grpSpPr>
        <a:xfrm>
          <a:off x="0" y="0"/>
          <a:ext cx="0" cy="0"/>
          <a:chOff x="0" y="0"/>
          <a:chExt cx="0" cy="0"/>
        </a:xfrm>
      </p:grpSpPr>
      <p:sp>
        <p:nvSpPr>
          <p:cNvPr id="2" name="Text 0"/>
          <p:cNvSpPr/>
          <p:nvPr/>
        </p:nvSpPr>
        <p:spPr>
          <a:xfrm>
            <a:off x="812800" y="160769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THE PARTNER'S BRIEF · SAMSUNG R&amp;D INSTITUTE BANGLADESH</a:t>
            </a:r>
            <a:endParaRPr lang="en-US" sz="1200" dirty="0"/>
          </a:p>
        </p:txBody>
      </p:sp>
      <p:sp>
        <p:nvSpPr>
          <p:cNvPr id="3" name="Text 1"/>
          <p:cNvSpPr/>
          <p:nvPr/>
        </p:nvSpPr>
        <p:spPr>
          <a:xfrm>
            <a:off x="812800" y="2075011"/>
            <a:ext cx="10883392" cy="2329557"/>
          </a:xfrm>
          <a:prstGeom prst="rect">
            <a:avLst/>
          </a:prstGeom>
          <a:noFill/>
          <a:ln/>
        </p:spPr>
        <p:txBody>
          <a:bodyPr wrap="square" lIns="0" tIns="0" rIns="0" bIns="0" rtlCol="0" anchor="t">
            <a:normAutofit/>
          </a:bodyPr>
          <a:lstStyle/>
          <a:p>
            <a:pPr marL="0" indent="0" algn="l">
              <a:lnSpc>
                <a:spcPts val="6048"/>
              </a:lnSpc>
              <a:buNone/>
            </a:pPr>
            <a:r>
              <a:rPr lang="en-US" sz="5600" b="1" dirty="0">
                <a:solidFill>
                  <a:srgbClr val="F3F6F5"/>
                </a:solidFill>
                <a:latin typeface="Source Serif 4" pitchFamily="34" charset="0"/>
                <a:ea typeface="Source Serif 4" pitchFamily="34" charset="-122"/>
                <a:cs typeface="Source Serif 4" pitchFamily="34" charset="-120"/>
              </a:rPr>
              <a:t>“Every execution cycle must make the agent smarter than the last.”</a:t>
            </a:r>
            <a:endParaRPr lang="en-US" sz="5600" dirty="0"/>
          </a:p>
        </p:txBody>
      </p:sp>
      <p:sp>
        <p:nvSpPr>
          <p:cNvPr id="4" name="Text 2"/>
          <p:cNvSpPr/>
          <p:nvPr/>
        </p:nvSpPr>
        <p:spPr>
          <a:xfrm>
            <a:off x="812800" y="4633168"/>
            <a:ext cx="98107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FD3DA"/>
                </a:solidFill>
                <a:latin typeface="IBM Plex Sans" pitchFamily="34" charset="0"/>
                <a:ea typeface="IBM Plex Sans" pitchFamily="34" charset="-122"/>
                <a:cs typeface="IBM Plex Sans" pitchFamily="34" charset="-120"/>
              </a:rPr>
              <a:t>Our answer: three stateless AI agents that never talk to each other. Everything they learn goes into one shared knowledge graph, and every new test is planned from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Three agents, one shared memory</a:t>
            </a:r>
            <a:endParaRPr lang="en-US" sz="3000" dirty="0"/>
          </a:p>
        </p:txBody>
      </p:sp>
      <p:sp>
        <p:nvSpPr>
          <p:cNvPr id="4" name="Shape 2"/>
          <p:cNvSpPr/>
          <p:nvPr/>
        </p:nvSpPr>
        <p:spPr>
          <a:xfrm>
            <a:off x="812800" y="1841500"/>
            <a:ext cx="10566400" cy="825500"/>
          </a:xfrm>
          <a:prstGeom prst="roundRect">
            <a:avLst>
              <a:gd name="adj" fmla="val 12308"/>
            </a:avLst>
          </a:prstGeom>
          <a:solidFill>
            <a:srgbClr val="14303D"/>
          </a:solidFill>
          <a:ln/>
        </p:spPr>
        <p:txBody>
          <a:bodyPr/>
          <a:lstStyle/>
          <a:p>
            <a:endParaRPr lang="en-US"/>
          </a:p>
        </p:txBody>
      </p:sp>
      <p:sp>
        <p:nvSpPr>
          <p:cNvPr id="5" name="Text 3"/>
          <p:cNvSpPr/>
          <p:nvPr/>
        </p:nvSpPr>
        <p:spPr>
          <a:xfrm>
            <a:off x="1016000" y="1997720"/>
            <a:ext cx="1046480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6F5"/>
                </a:solidFill>
                <a:latin typeface="IBM Plex Sans" pitchFamily="34" charset="0"/>
                <a:ea typeface="IBM Plex Sans" pitchFamily="34" charset="-122"/>
                <a:cs typeface="IBM Plex Sans" pitchFamily="34" charset="-120"/>
              </a:rPr>
              <a:t>Knowledge graph · Neo4j</a:t>
            </a:r>
            <a:endParaRPr lang="en-US" sz="1800" dirty="0"/>
          </a:p>
        </p:txBody>
      </p:sp>
      <p:sp>
        <p:nvSpPr>
          <p:cNvPr id="6" name="Text 4"/>
          <p:cNvSpPr/>
          <p:nvPr/>
        </p:nvSpPr>
        <p:spPr>
          <a:xfrm>
            <a:off x="1016000" y="229741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A"/>
                </a:solidFill>
                <a:latin typeface="IBM Plex Sans" pitchFamily="34" charset="0"/>
                <a:ea typeface="IBM Plex Sans" pitchFamily="34" charset="-122"/>
                <a:cs typeface="IBM Plex Sans" pitchFamily="34" charset="-120"/>
              </a:rPr>
              <a:t>requirements · observed screens · test cases · execution history · findings</a:t>
            </a:r>
            <a:endParaRPr lang="en-US" sz="1200" dirty="0"/>
          </a:p>
        </p:txBody>
      </p:sp>
      <p:sp>
        <p:nvSpPr>
          <p:cNvPr id="7" name="Shape 5"/>
          <p:cNvSpPr/>
          <p:nvPr/>
        </p:nvSpPr>
        <p:spPr>
          <a:xfrm>
            <a:off x="819150" y="3308350"/>
            <a:ext cx="2781300" cy="1257300"/>
          </a:xfrm>
          <a:prstGeom prst="roundRect">
            <a:avLst>
              <a:gd name="adj" fmla="val 7576"/>
            </a:avLst>
          </a:prstGeom>
          <a:solidFill>
            <a:srgbClr val="FDFEFE"/>
          </a:solidFill>
          <a:ln w="12700">
            <a:solidFill>
              <a:srgbClr val="0F7EA8"/>
            </a:solidFill>
            <a:prstDash val="solid"/>
          </a:ln>
        </p:spPr>
        <p:txBody>
          <a:bodyPr/>
          <a:lstStyle/>
          <a:p>
            <a:endParaRPr lang="en-US"/>
          </a:p>
        </p:txBody>
      </p:sp>
      <p:sp>
        <p:nvSpPr>
          <p:cNvPr id="8" name="Text 6"/>
          <p:cNvSpPr/>
          <p:nvPr/>
        </p:nvSpPr>
        <p:spPr>
          <a:xfrm>
            <a:off x="1003300" y="3492500"/>
            <a:ext cx="248539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Planner</a:t>
            </a:r>
            <a:endParaRPr lang="en-US" sz="1800" dirty="0"/>
          </a:p>
        </p:txBody>
      </p:sp>
      <p:sp>
        <p:nvSpPr>
          <p:cNvPr id="9" name="Text 7"/>
          <p:cNvSpPr/>
          <p:nvPr/>
        </p:nvSpPr>
        <p:spPr>
          <a:xfrm>
            <a:off x="1003300" y="3817590"/>
            <a:ext cx="24853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to test next and writes the test case</a:t>
            </a:r>
            <a:endParaRPr lang="en-US" sz="1200" dirty="0"/>
          </a:p>
        </p:txBody>
      </p:sp>
      <p:sp>
        <p:nvSpPr>
          <p:cNvPr id="10" name="Shape 8"/>
          <p:cNvSpPr/>
          <p:nvPr/>
        </p:nvSpPr>
        <p:spPr>
          <a:xfrm>
            <a:off x="4705350" y="3308350"/>
            <a:ext cx="2781300" cy="1257300"/>
          </a:xfrm>
          <a:prstGeom prst="roundRect">
            <a:avLst>
              <a:gd name="adj" fmla="val 7576"/>
            </a:avLst>
          </a:prstGeom>
          <a:solidFill>
            <a:srgbClr val="FDFEFE"/>
          </a:solidFill>
          <a:ln w="12700">
            <a:solidFill>
              <a:srgbClr val="0F7EA8"/>
            </a:solidFill>
            <a:prstDash val="solid"/>
          </a:ln>
        </p:spPr>
        <p:txBody>
          <a:bodyPr/>
          <a:lstStyle/>
          <a:p>
            <a:endParaRPr lang="en-US"/>
          </a:p>
        </p:txBody>
      </p:sp>
      <p:sp>
        <p:nvSpPr>
          <p:cNvPr id="11" name="Text 9"/>
          <p:cNvSpPr/>
          <p:nvPr/>
        </p:nvSpPr>
        <p:spPr>
          <a:xfrm>
            <a:off x="4889500" y="3492500"/>
            <a:ext cx="248539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Executor</a:t>
            </a:r>
            <a:endParaRPr lang="en-US" sz="1800" dirty="0"/>
          </a:p>
        </p:txBody>
      </p:sp>
      <p:sp>
        <p:nvSpPr>
          <p:cNvPr id="12" name="Text 10"/>
          <p:cNvSpPr/>
          <p:nvPr/>
        </p:nvSpPr>
        <p:spPr>
          <a:xfrm>
            <a:off x="4889500" y="3817590"/>
            <a:ext cx="24853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on an Android device</a:t>
            </a:r>
            <a:endParaRPr lang="en-US" sz="1200" dirty="0"/>
          </a:p>
        </p:txBody>
      </p:sp>
      <p:sp>
        <p:nvSpPr>
          <p:cNvPr id="13" name="Shape 11"/>
          <p:cNvSpPr/>
          <p:nvPr/>
        </p:nvSpPr>
        <p:spPr>
          <a:xfrm>
            <a:off x="8591550" y="3308350"/>
            <a:ext cx="2781300" cy="1257300"/>
          </a:xfrm>
          <a:prstGeom prst="roundRect">
            <a:avLst>
              <a:gd name="adj" fmla="val 7576"/>
            </a:avLst>
          </a:prstGeom>
          <a:solidFill>
            <a:srgbClr val="FDFEFE"/>
          </a:solidFill>
          <a:ln w="12700">
            <a:solidFill>
              <a:srgbClr val="0F7EA8"/>
            </a:solidFill>
            <a:prstDash val="solid"/>
          </a:ln>
        </p:spPr>
        <p:txBody>
          <a:bodyPr/>
          <a:lstStyle/>
          <a:p>
            <a:endParaRPr lang="en-US"/>
          </a:p>
        </p:txBody>
      </p:sp>
      <p:sp>
        <p:nvSpPr>
          <p:cNvPr id="14" name="Text 12"/>
          <p:cNvSpPr/>
          <p:nvPr/>
        </p:nvSpPr>
        <p:spPr>
          <a:xfrm>
            <a:off x="8775700" y="3492500"/>
            <a:ext cx="248539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Investigator</a:t>
            </a:r>
            <a:endParaRPr lang="en-US" sz="1800" dirty="0"/>
          </a:p>
        </p:txBody>
      </p:sp>
      <p:sp>
        <p:nvSpPr>
          <p:cNvPr id="15" name="Text 13"/>
          <p:cNvSpPr/>
          <p:nvPr/>
        </p:nvSpPr>
        <p:spPr>
          <a:xfrm>
            <a:off x="8775700" y="3817590"/>
            <a:ext cx="24853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each run actually proved</a:t>
            </a:r>
            <a:endParaRPr lang="en-US" sz="1200" dirty="0"/>
          </a:p>
        </p:txBody>
      </p:sp>
      <p:sp>
        <p:nvSpPr>
          <p:cNvPr id="16" name="Shape 14"/>
          <p:cNvSpPr/>
          <p:nvPr/>
        </p:nvSpPr>
        <p:spPr>
          <a:xfrm>
            <a:off x="4702175" y="5019675"/>
            <a:ext cx="2787650" cy="755650"/>
          </a:xfrm>
          <a:prstGeom prst="roundRect">
            <a:avLst>
              <a:gd name="adj" fmla="val 13025"/>
            </a:avLst>
          </a:prstGeom>
          <a:solidFill>
            <a:srgbClr val="E8EDEF"/>
          </a:solidFill>
          <a:ln w="6350">
            <a:solidFill>
              <a:srgbClr val="B8C5CB"/>
            </a:solidFill>
            <a:prstDash val="solid"/>
          </a:ln>
        </p:spPr>
        <p:txBody>
          <a:bodyPr/>
          <a:lstStyle/>
          <a:p>
            <a:endParaRPr lang="en-US"/>
          </a:p>
        </p:txBody>
      </p:sp>
      <p:sp>
        <p:nvSpPr>
          <p:cNvPr id="17" name="Text 15"/>
          <p:cNvSpPr/>
          <p:nvPr/>
        </p:nvSpPr>
        <p:spPr>
          <a:xfrm>
            <a:off x="4883150" y="5162550"/>
            <a:ext cx="2498471"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Android device</a:t>
            </a:r>
            <a:endParaRPr lang="en-US" sz="1400" dirty="0"/>
          </a:p>
        </p:txBody>
      </p:sp>
      <p:sp>
        <p:nvSpPr>
          <p:cNvPr id="18" name="Text 16"/>
          <p:cNvSpPr/>
          <p:nvPr/>
        </p:nvSpPr>
        <p:spPr>
          <a:xfrm>
            <a:off x="4883150" y="5419080"/>
            <a:ext cx="24984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 under test · on-device portal</a:t>
            </a:r>
            <a:endParaRPr lang="en-US" sz="1200" dirty="0"/>
          </a:p>
        </p:txBody>
      </p:sp>
      <p:sp>
        <p:nvSpPr>
          <p:cNvPr id="19" name="Text 17"/>
          <p:cNvSpPr/>
          <p:nvPr/>
        </p:nvSpPr>
        <p:spPr>
          <a:xfrm>
            <a:off x="812800" y="5016500"/>
            <a:ext cx="28778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Stateless: no conversation history. Every call is rebuilt from the graph.</a:t>
            </a:r>
            <a:endParaRPr lang="en-US" sz="1200" dirty="0"/>
          </a:p>
        </p:txBody>
      </p:sp>
      <p:sp>
        <p:nvSpPr>
          <p:cNvPr id="20" name="Text 18"/>
          <p:cNvSpPr/>
          <p:nvPr/>
        </p:nvSpPr>
        <p:spPr>
          <a:xfrm>
            <a:off x="8585200" y="5016500"/>
            <a:ext cx="28778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qwen3.7-flash plans and drives; glm-5.3-flash evaluates. All via OpenRouter.</a:t>
            </a:r>
            <a:endParaRPr lang="en-US" sz="1200" dirty="0"/>
          </a:p>
        </p:txBody>
      </p:sp>
      <p:pic>
        <p:nvPicPr>
          <p:cNvPr id="21" name="Image 0" descr="connector"/>
          <p:cNvPicPr>
            <a:picLocks noChangeAspect="1"/>
          </p:cNvPicPr>
          <p:nvPr/>
        </p:nvPicPr>
        <p:blipFill>
          <a:blip r:embed="rId3"/>
          <a:srcRect/>
          <a:stretch/>
        </p:blipFill>
        <p:spPr>
          <a:xfrm>
            <a:off x="2159000" y="2628900"/>
            <a:ext cx="101600" cy="711200"/>
          </a:xfrm>
          <a:prstGeom prst="rect">
            <a:avLst/>
          </a:prstGeom>
        </p:spPr>
      </p:pic>
      <p:pic>
        <p:nvPicPr>
          <p:cNvPr id="22" name="Image 1" descr="connector"/>
          <p:cNvPicPr>
            <a:picLocks noChangeAspect="1"/>
          </p:cNvPicPr>
          <p:nvPr/>
        </p:nvPicPr>
        <p:blipFill>
          <a:blip r:embed="rId4"/>
          <a:srcRect/>
          <a:stretch/>
        </p:blipFill>
        <p:spPr>
          <a:xfrm>
            <a:off x="6045200" y="2628900"/>
            <a:ext cx="101600" cy="711200"/>
          </a:xfrm>
          <a:prstGeom prst="rect">
            <a:avLst/>
          </a:prstGeom>
        </p:spPr>
      </p:pic>
      <p:pic>
        <p:nvPicPr>
          <p:cNvPr id="23" name="Image 2" descr="connector"/>
          <p:cNvPicPr>
            <a:picLocks noChangeAspect="1"/>
          </p:cNvPicPr>
          <p:nvPr/>
        </p:nvPicPr>
        <p:blipFill>
          <a:blip r:embed="rId4"/>
          <a:srcRect/>
          <a:stretch/>
        </p:blipFill>
        <p:spPr>
          <a:xfrm>
            <a:off x="9931400" y="2628900"/>
            <a:ext cx="101600" cy="711200"/>
          </a:xfrm>
          <a:prstGeom prst="rect">
            <a:avLst/>
          </a:prstGeom>
        </p:spPr>
      </p:pic>
      <p:pic>
        <p:nvPicPr>
          <p:cNvPr id="24" name="Image 3" descr="connector"/>
          <p:cNvPicPr>
            <a:picLocks noChangeAspect="1"/>
          </p:cNvPicPr>
          <p:nvPr/>
        </p:nvPicPr>
        <p:blipFill>
          <a:blip r:embed="rId5"/>
          <a:srcRect/>
          <a:stretch/>
        </p:blipFill>
        <p:spPr>
          <a:xfrm>
            <a:off x="3568700" y="3886200"/>
            <a:ext cx="1168400" cy="101600"/>
          </a:xfrm>
          <a:prstGeom prst="rect">
            <a:avLst/>
          </a:prstGeom>
        </p:spPr>
      </p:pic>
      <p:pic>
        <p:nvPicPr>
          <p:cNvPr id="25" name="Image 4" descr="connector"/>
          <p:cNvPicPr>
            <a:picLocks noChangeAspect="1"/>
          </p:cNvPicPr>
          <p:nvPr/>
        </p:nvPicPr>
        <p:blipFill>
          <a:blip r:embed="rId5"/>
          <a:srcRect/>
          <a:stretch/>
        </p:blipFill>
        <p:spPr>
          <a:xfrm>
            <a:off x="7454900" y="3886200"/>
            <a:ext cx="1168400" cy="101600"/>
          </a:xfrm>
          <a:prstGeom prst="rect">
            <a:avLst/>
          </a:prstGeom>
        </p:spPr>
      </p:pic>
      <p:pic>
        <p:nvPicPr>
          <p:cNvPr id="26" name="Image 5" descr="connector"/>
          <p:cNvPicPr>
            <a:picLocks noChangeAspect="1"/>
          </p:cNvPicPr>
          <p:nvPr/>
        </p:nvPicPr>
        <p:blipFill>
          <a:blip r:embed="rId6"/>
          <a:srcRect/>
          <a:stretch/>
        </p:blipFill>
        <p:spPr>
          <a:xfrm>
            <a:off x="6045200" y="4533900"/>
            <a:ext cx="101600" cy="520700"/>
          </a:xfrm>
          <a:prstGeom prst="rect">
            <a:avLst/>
          </a:prstGeom>
        </p:spPr>
      </p:pic>
      <p:sp>
        <p:nvSpPr>
          <p:cNvPr id="27" name="Text 19"/>
          <p:cNvSpPr/>
          <p:nvPr/>
        </p:nvSpPr>
        <p:spPr>
          <a:xfrm>
            <a:off x="2311400" y="2870200"/>
            <a:ext cx="1066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Sans" pitchFamily="34" charset="0"/>
                <a:ea typeface="IBM Plex Sans" pitchFamily="34" charset="-122"/>
                <a:cs typeface="IBM Plex Sans" pitchFamily="34" charset="-120"/>
              </a:rPr>
              <a:t>reads</a:t>
            </a:r>
            <a:endParaRPr lang="en-US" sz="1200" dirty="0"/>
          </a:p>
        </p:txBody>
      </p:sp>
      <p:sp>
        <p:nvSpPr>
          <p:cNvPr id="28" name="Text 20"/>
          <p:cNvSpPr/>
          <p:nvPr/>
        </p:nvSpPr>
        <p:spPr>
          <a:xfrm>
            <a:off x="6197600" y="2870200"/>
            <a:ext cx="2092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screens seen</a:t>
            </a:r>
            <a:endParaRPr lang="en-US" sz="1200" dirty="0"/>
          </a:p>
        </p:txBody>
      </p:sp>
      <p:sp>
        <p:nvSpPr>
          <p:cNvPr id="29" name="Text 21"/>
          <p:cNvSpPr/>
          <p:nvPr/>
        </p:nvSpPr>
        <p:spPr>
          <a:xfrm>
            <a:off x="10083800" y="2870200"/>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findings</a:t>
            </a:r>
            <a:endParaRPr lang="en-US" sz="1200" dirty="0"/>
          </a:p>
        </p:txBody>
      </p:sp>
      <p:sp>
        <p:nvSpPr>
          <p:cNvPr id="30" name="Text 22"/>
          <p:cNvSpPr/>
          <p:nvPr/>
        </p:nvSpPr>
        <p:spPr>
          <a:xfrm>
            <a:off x="3594100" y="3606800"/>
            <a:ext cx="1117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A8F"/>
                </a:solidFill>
                <a:latin typeface="IBM Plex Sans" pitchFamily="34" charset="0"/>
                <a:ea typeface="IBM Plex Sans" pitchFamily="34" charset="-122"/>
                <a:cs typeface="IBM Plex Sans" pitchFamily="34" charset="-120"/>
              </a:rPr>
              <a:t>test case</a:t>
            </a:r>
            <a:endParaRPr lang="en-US" sz="1200" dirty="0"/>
          </a:p>
        </p:txBody>
      </p:sp>
      <p:sp>
        <p:nvSpPr>
          <p:cNvPr id="31" name="Text 23"/>
          <p:cNvSpPr/>
          <p:nvPr/>
        </p:nvSpPr>
        <p:spPr>
          <a:xfrm>
            <a:off x="7480300" y="3606800"/>
            <a:ext cx="1117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A8F"/>
                </a:solidFill>
                <a:latin typeface="IBM Plex Sans" pitchFamily="34" charset="0"/>
                <a:ea typeface="IBM Plex Sans" pitchFamily="34" charset="-122"/>
                <a:cs typeface="IBM Plex Sans" pitchFamily="34" charset="-120"/>
              </a:rPr>
              <a:t>trajectory</a:t>
            </a:r>
            <a:endParaRPr lang="en-US" sz="1200" dirty="0"/>
          </a:p>
        </p:txBody>
      </p:sp>
      <p:sp>
        <p:nvSpPr>
          <p:cNvPr id="32" name="Text 2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5"/>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7133"/>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ARCHITECTURE · IN DETAIL</a:t>
            </a:r>
            <a:endParaRPr lang="en-US" sz="1196" dirty="0"/>
          </a:p>
        </p:txBody>
      </p:sp>
      <p:sp>
        <p:nvSpPr>
          <p:cNvPr id="3" name="Text 1"/>
          <p:cNvSpPr/>
          <p:nvPr/>
        </p:nvSpPr>
        <p:spPr>
          <a:xfrm>
            <a:off x="812800" y="897533"/>
            <a:ext cx="10883392" cy="441375"/>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component, and how they connect</a:t>
            </a:r>
            <a:endParaRPr lang="en-US" sz="3000" dirty="0"/>
          </a:p>
        </p:txBody>
      </p:sp>
      <p:sp>
        <p:nvSpPr>
          <p:cNvPr id="4" name="Shape 2"/>
          <p:cNvSpPr/>
          <p:nvPr/>
        </p:nvSpPr>
        <p:spPr>
          <a:xfrm>
            <a:off x="812800" y="1491307"/>
            <a:ext cx="10566400" cy="4604693"/>
          </a:xfrm>
          <a:prstGeom prst="roundRect">
            <a:avLst>
              <a:gd name="adj" fmla="val 2206"/>
            </a:avLst>
          </a:prstGeom>
          <a:solidFill>
            <a:srgbClr val="FDFEFE"/>
          </a:solidFill>
          <a:ln/>
        </p:spPr>
        <p:txBody>
          <a:bodyPr/>
          <a:lstStyle/>
          <a:p>
            <a:endParaRPr lang="en-US"/>
          </a:p>
        </p:txBody>
      </p:sp>
      <p:pic>
        <p:nvPicPr>
          <p:cNvPr id="5" name="Image 0" descr="Full system architecture: inputs (SRS, Figma, defect history) feed the RAG API and Neo4j knowledge graph; the gateway hosts the planner and investigator; the executor drives the device through the on-device portal; all agents call OpenRouter models"/>
          <p:cNvPicPr>
            <a:picLocks noChangeAspect="1"/>
          </p:cNvPicPr>
          <p:nvPr/>
        </p:nvPicPr>
        <p:blipFill>
          <a:blip r:embed="rId3"/>
          <a:stretch>
            <a:fillRect/>
          </a:stretch>
        </p:blipFill>
        <p:spPr>
          <a:xfrm>
            <a:off x="1753528" y="1497657"/>
            <a:ext cx="8684943" cy="4591993"/>
          </a:xfrm>
          <a:prstGeom prst="rect">
            <a:avLst/>
          </a:prstGeom>
        </p:spPr>
      </p:pic>
      <p:sp>
        <p:nvSpPr>
          <p:cNvPr id="6" name="Shape 3"/>
          <p:cNvSpPr/>
          <p:nvPr/>
        </p:nvSpPr>
        <p:spPr>
          <a:xfrm>
            <a:off x="815975" y="1494482"/>
            <a:ext cx="10560050" cy="4598343"/>
          </a:xfrm>
          <a:prstGeom prst="roundRect">
            <a:avLst>
              <a:gd name="adj" fmla="val 2140"/>
            </a:avLst>
          </a:prstGeom>
          <a:noFill/>
          <a:ln w="6350">
            <a:solidFill>
              <a:srgbClr val="D6E1E6"/>
            </a:solidFill>
            <a:prstDash val="solid"/>
          </a:ln>
        </p:spPr>
        <p:txBody>
          <a:bodyPr/>
          <a:lstStyle/>
          <a:p>
            <a:endParaRPr lang="en-US"/>
          </a:p>
        </p:txBody>
      </p:sp>
      <p:sp>
        <p:nvSpPr>
          <p:cNvPr id="7" name="Text 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8" name="Text 5"/>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HOW A TEST RUNS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round: plan, run, interpret, remember</a:t>
            </a:r>
            <a:endParaRPr lang="en-US" sz="3000" dirty="0"/>
          </a:p>
        </p:txBody>
      </p:sp>
      <p:sp>
        <p:nvSpPr>
          <p:cNvPr id="4" name="Shape 2"/>
          <p:cNvSpPr/>
          <p:nvPr/>
        </p:nvSpPr>
        <p:spPr>
          <a:xfrm>
            <a:off x="8159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5" name="Shape 3"/>
          <p:cNvSpPr/>
          <p:nvPr/>
        </p:nvSpPr>
        <p:spPr>
          <a:xfrm>
            <a:off x="1022350" y="2114550"/>
            <a:ext cx="294680" cy="264120"/>
          </a:xfrm>
          <a:prstGeom prst="roundRect">
            <a:avLst>
              <a:gd name="adj" fmla="val 50000"/>
            </a:avLst>
          </a:prstGeom>
          <a:solidFill>
            <a:srgbClr val="0F7EA8"/>
          </a:solidFill>
          <a:ln/>
        </p:spPr>
        <p:txBody>
          <a:bodyPr/>
          <a:lstStyle/>
          <a:p>
            <a:endParaRPr lang="en-US"/>
          </a:p>
        </p:txBody>
      </p:sp>
      <p:sp>
        <p:nvSpPr>
          <p:cNvPr id="6" name="Text 4"/>
          <p:cNvSpPr/>
          <p:nvPr/>
        </p:nvSpPr>
        <p:spPr>
          <a:xfrm>
            <a:off x="11239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7" name="Text 5"/>
          <p:cNvSpPr/>
          <p:nvPr/>
        </p:nvSpPr>
        <p:spPr>
          <a:xfrm>
            <a:off x="10223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a:t>
            </a:r>
            <a:endParaRPr lang="en-US" sz="1800" dirty="0"/>
          </a:p>
        </p:txBody>
      </p:sp>
      <p:sp>
        <p:nvSpPr>
          <p:cNvPr id="8" name="Text 6"/>
          <p:cNvSpPr/>
          <p:nvPr/>
        </p:nvSpPr>
        <p:spPr>
          <a:xfrm>
            <a:off x="10223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1 minute</a:t>
            </a:r>
            <a:endParaRPr lang="en-US" sz="1200" dirty="0"/>
          </a:p>
        </p:txBody>
      </p:sp>
      <p:sp>
        <p:nvSpPr>
          <p:cNvPr id="9" name="Text 7"/>
          <p:cNvSpPr/>
          <p:nvPr/>
        </p:nvSpPr>
        <p:spPr>
          <a:xfrm>
            <a:off x="1022350" y="3056781"/>
            <a:ext cx="19359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what is known, then writes one test case.</a:t>
            </a:r>
            <a:endParaRPr lang="en-US" sz="1200" dirty="0"/>
          </a:p>
        </p:txBody>
      </p:sp>
      <p:sp>
        <p:nvSpPr>
          <p:cNvPr id="10" name="Shape 8"/>
          <p:cNvSpPr/>
          <p:nvPr/>
        </p:nvSpPr>
        <p:spPr>
          <a:xfrm>
            <a:off x="35718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11" name="Shape 9"/>
          <p:cNvSpPr/>
          <p:nvPr/>
        </p:nvSpPr>
        <p:spPr>
          <a:xfrm>
            <a:off x="3778250" y="2114550"/>
            <a:ext cx="294680" cy="264120"/>
          </a:xfrm>
          <a:prstGeom prst="roundRect">
            <a:avLst>
              <a:gd name="adj" fmla="val 50000"/>
            </a:avLst>
          </a:prstGeom>
          <a:solidFill>
            <a:srgbClr val="0F7EA8"/>
          </a:solidFill>
          <a:ln/>
        </p:spPr>
        <p:txBody>
          <a:bodyPr/>
          <a:lstStyle/>
          <a:p>
            <a:endParaRPr lang="en-US"/>
          </a:p>
        </p:txBody>
      </p:sp>
      <p:sp>
        <p:nvSpPr>
          <p:cNvPr id="12" name="Text 10"/>
          <p:cNvSpPr/>
          <p:nvPr/>
        </p:nvSpPr>
        <p:spPr>
          <a:xfrm>
            <a:off x="38798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3" name="Text 11"/>
          <p:cNvSpPr/>
          <p:nvPr/>
        </p:nvSpPr>
        <p:spPr>
          <a:xfrm>
            <a:off x="37782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Run</a:t>
            </a:r>
            <a:endParaRPr lang="en-US" sz="1800" dirty="0"/>
          </a:p>
        </p:txBody>
      </p:sp>
      <p:sp>
        <p:nvSpPr>
          <p:cNvPr id="14" name="Text 12"/>
          <p:cNvSpPr/>
          <p:nvPr/>
        </p:nvSpPr>
        <p:spPr>
          <a:xfrm>
            <a:off x="37782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5 to 15 minutes</a:t>
            </a:r>
            <a:endParaRPr lang="en-US" sz="1200" dirty="0"/>
          </a:p>
        </p:txBody>
      </p:sp>
      <p:sp>
        <p:nvSpPr>
          <p:cNvPr id="15" name="Text 13"/>
          <p:cNvSpPr/>
          <p:nvPr/>
        </p:nvSpPr>
        <p:spPr>
          <a:xfrm>
            <a:off x="3778250" y="3056781"/>
            <a:ext cx="193598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about 20 s per step, at most 50 steps.</a:t>
            </a:r>
            <a:endParaRPr lang="en-US" sz="1200" dirty="0"/>
          </a:p>
        </p:txBody>
      </p:sp>
      <p:sp>
        <p:nvSpPr>
          <p:cNvPr id="16" name="Shape 14"/>
          <p:cNvSpPr/>
          <p:nvPr/>
        </p:nvSpPr>
        <p:spPr>
          <a:xfrm>
            <a:off x="63277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17" name="Shape 15"/>
          <p:cNvSpPr/>
          <p:nvPr/>
        </p:nvSpPr>
        <p:spPr>
          <a:xfrm>
            <a:off x="6534150" y="2114550"/>
            <a:ext cx="294680" cy="264120"/>
          </a:xfrm>
          <a:prstGeom prst="roundRect">
            <a:avLst>
              <a:gd name="adj" fmla="val 50000"/>
            </a:avLst>
          </a:prstGeom>
          <a:solidFill>
            <a:srgbClr val="0F7EA8"/>
          </a:solidFill>
          <a:ln/>
        </p:spPr>
        <p:txBody>
          <a:bodyPr/>
          <a:lstStyle/>
          <a:p>
            <a:endParaRPr lang="en-US"/>
          </a:p>
        </p:txBody>
      </p:sp>
      <p:sp>
        <p:nvSpPr>
          <p:cNvPr id="18" name="Text 16"/>
          <p:cNvSpPr/>
          <p:nvPr/>
        </p:nvSpPr>
        <p:spPr>
          <a:xfrm>
            <a:off x="66357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9" name="Text 17"/>
          <p:cNvSpPr/>
          <p:nvPr/>
        </p:nvSpPr>
        <p:spPr>
          <a:xfrm>
            <a:off x="65341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Interpret</a:t>
            </a:r>
            <a:endParaRPr lang="en-US" sz="1800" dirty="0"/>
          </a:p>
        </p:txBody>
      </p:sp>
      <p:sp>
        <p:nvSpPr>
          <p:cNvPr id="20" name="Text 18"/>
          <p:cNvSpPr/>
          <p:nvPr/>
        </p:nvSpPr>
        <p:spPr>
          <a:xfrm>
            <a:off x="65341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20 seconds</a:t>
            </a:r>
            <a:endParaRPr lang="en-US" sz="1200" dirty="0"/>
          </a:p>
        </p:txBody>
      </p:sp>
      <p:sp>
        <p:nvSpPr>
          <p:cNvPr id="21" name="Text 19"/>
          <p:cNvSpPr/>
          <p:nvPr/>
        </p:nvSpPr>
        <p:spPr>
          <a:xfrm>
            <a:off x="6534150" y="3056781"/>
            <a:ext cx="193598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the step log against the goal and writes findings.</a:t>
            </a:r>
            <a:endParaRPr lang="en-US" sz="1200" dirty="0"/>
          </a:p>
        </p:txBody>
      </p:sp>
      <p:sp>
        <p:nvSpPr>
          <p:cNvPr id="22" name="Shape 20"/>
          <p:cNvSpPr/>
          <p:nvPr/>
        </p:nvSpPr>
        <p:spPr>
          <a:xfrm>
            <a:off x="90836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23" name="Shape 21"/>
          <p:cNvSpPr/>
          <p:nvPr/>
        </p:nvSpPr>
        <p:spPr>
          <a:xfrm>
            <a:off x="9290050" y="2114550"/>
            <a:ext cx="294680" cy="264120"/>
          </a:xfrm>
          <a:prstGeom prst="roundRect">
            <a:avLst>
              <a:gd name="adj" fmla="val 50000"/>
            </a:avLst>
          </a:prstGeom>
          <a:solidFill>
            <a:srgbClr val="0F7EA8"/>
          </a:solidFill>
          <a:ln/>
        </p:spPr>
        <p:txBody>
          <a:bodyPr/>
          <a:lstStyle/>
          <a:p>
            <a:endParaRPr lang="en-US"/>
          </a:p>
        </p:txBody>
      </p:sp>
      <p:sp>
        <p:nvSpPr>
          <p:cNvPr id="24" name="Text 22"/>
          <p:cNvSpPr/>
          <p:nvPr/>
        </p:nvSpPr>
        <p:spPr>
          <a:xfrm>
            <a:off x="93916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4</a:t>
            </a:r>
            <a:endParaRPr lang="en-US" sz="1200" dirty="0"/>
          </a:p>
        </p:txBody>
      </p:sp>
      <p:sp>
        <p:nvSpPr>
          <p:cNvPr id="25" name="Text 23"/>
          <p:cNvSpPr/>
          <p:nvPr/>
        </p:nvSpPr>
        <p:spPr>
          <a:xfrm>
            <a:off x="92900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Remember</a:t>
            </a:r>
            <a:endParaRPr lang="en-US" sz="1800" dirty="0"/>
          </a:p>
        </p:txBody>
      </p:sp>
      <p:sp>
        <p:nvSpPr>
          <p:cNvPr id="26" name="Text 24"/>
          <p:cNvSpPr/>
          <p:nvPr/>
        </p:nvSpPr>
        <p:spPr>
          <a:xfrm>
            <a:off x="92900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end of every round</a:t>
            </a:r>
            <a:endParaRPr lang="en-US" sz="1200" dirty="0"/>
          </a:p>
        </p:txBody>
      </p:sp>
      <p:sp>
        <p:nvSpPr>
          <p:cNvPr id="27" name="Text 25"/>
          <p:cNvSpPr/>
          <p:nvPr/>
        </p:nvSpPr>
        <p:spPr>
          <a:xfrm>
            <a:off x="9290050" y="3056781"/>
            <a:ext cx="19359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Findings, screens and coverage go into the graph.</a:t>
            </a:r>
            <a:endParaRPr lang="en-US" sz="1200" dirty="0"/>
          </a:p>
        </p:txBody>
      </p:sp>
      <p:pic>
        <p:nvPicPr>
          <p:cNvPr id="28" name="Image 0" descr="connector"/>
          <p:cNvPicPr>
            <a:picLocks noChangeAspect="1"/>
          </p:cNvPicPr>
          <p:nvPr/>
        </p:nvPicPr>
        <p:blipFill>
          <a:blip r:embed="rId3"/>
          <a:srcRect/>
          <a:stretch/>
        </p:blipFill>
        <p:spPr>
          <a:xfrm>
            <a:off x="3073400" y="3060700"/>
            <a:ext cx="533400" cy="101600"/>
          </a:xfrm>
          <a:prstGeom prst="rect">
            <a:avLst/>
          </a:prstGeom>
        </p:spPr>
      </p:pic>
      <p:pic>
        <p:nvPicPr>
          <p:cNvPr id="29" name="Image 1" descr="connector"/>
          <p:cNvPicPr>
            <a:picLocks noChangeAspect="1"/>
          </p:cNvPicPr>
          <p:nvPr/>
        </p:nvPicPr>
        <p:blipFill>
          <a:blip r:embed="rId3"/>
          <a:srcRect/>
          <a:stretch/>
        </p:blipFill>
        <p:spPr>
          <a:xfrm>
            <a:off x="5829300" y="3060700"/>
            <a:ext cx="533400" cy="101600"/>
          </a:xfrm>
          <a:prstGeom prst="rect">
            <a:avLst/>
          </a:prstGeom>
        </p:spPr>
      </p:pic>
      <p:pic>
        <p:nvPicPr>
          <p:cNvPr id="30" name="Image 2" descr="connector"/>
          <p:cNvPicPr>
            <a:picLocks noChangeAspect="1"/>
          </p:cNvPicPr>
          <p:nvPr/>
        </p:nvPicPr>
        <p:blipFill>
          <a:blip r:embed="rId3"/>
          <a:srcRect/>
          <a:stretch/>
        </p:blipFill>
        <p:spPr>
          <a:xfrm>
            <a:off x="8585200" y="3060700"/>
            <a:ext cx="533400" cy="101600"/>
          </a:xfrm>
          <a:prstGeom prst="rect">
            <a:avLst/>
          </a:prstGeom>
        </p:spPr>
      </p:pic>
      <p:pic>
        <p:nvPicPr>
          <p:cNvPr id="31" name="Image 3" descr="connector"/>
          <p:cNvPicPr>
            <a:picLocks noChangeAspect="1"/>
          </p:cNvPicPr>
          <p:nvPr/>
        </p:nvPicPr>
        <p:blipFill>
          <a:blip r:embed="rId4"/>
          <a:srcRect/>
          <a:stretch/>
        </p:blipFill>
        <p:spPr>
          <a:xfrm>
            <a:off x="1911350" y="4279900"/>
            <a:ext cx="8369300" cy="482600"/>
          </a:xfrm>
          <a:prstGeom prst="rect">
            <a:avLst/>
          </a:prstGeom>
        </p:spPr>
      </p:pic>
      <p:pic>
        <p:nvPicPr>
          <p:cNvPr id="32" name="Image 4" descr="connector"/>
          <p:cNvPicPr>
            <a:picLocks noChangeAspect="1"/>
          </p:cNvPicPr>
          <p:nvPr/>
        </p:nvPicPr>
        <p:blipFill>
          <a:blip r:embed="rId5"/>
          <a:srcRect/>
          <a:stretch/>
        </p:blipFill>
        <p:spPr>
          <a:xfrm>
            <a:off x="1911350" y="4292600"/>
            <a:ext cx="101600" cy="469900"/>
          </a:xfrm>
          <a:prstGeom prst="rect">
            <a:avLst/>
          </a:prstGeom>
        </p:spPr>
      </p:pic>
      <p:sp>
        <p:nvSpPr>
          <p:cNvPr id="33" name="Text 26"/>
          <p:cNvSpPr/>
          <p:nvPr/>
        </p:nvSpPr>
        <p:spPr>
          <a:xfrm>
            <a:off x="3806825" y="4787900"/>
            <a:ext cx="457835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A8F"/>
                </a:solidFill>
                <a:latin typeface="IBM Plex Sans" pitchFamily="34" charset="0"/>
                <a:ea typeface="IBM Plex Sans" pitchFamily="34" charset="-122"/>
                <a:cs typeface="IBM Plex Sans" pitchFamily="34" charset="-120"/>
              </a:rPr>
              <a:t>the next round starts from the larger graph</a:t>
            </a:r>
            <a:endParaRPr lang="en-US" sz="1200" dirty="0"/>
          </a:p>
        </p:txBody>
      </p:sp>
      <p:sp>
        <p:nvSpPr>
          <p:cNvPr id="34" name="Text 27"/>
          <p:cNvSpPr/>
          <p:nvPr/>
        </p:nvSpPr>
        <p:spPr>
          <a:xfrm>
            <a:off x="812800" y="5308600"/>
            <a:ext cx="1088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model call is stateless. The agent improves only because the graph grew.</a:t>
            </a:r>
            <a:endParaRPr lang="en-US" sz="1400" dirty="0"/>
          </a:p>
        </p:txBody>
      </p:sp>
      <p:sp>
        <p:nvSpPr>
          <p:cNvPr id="35" name="Text 28"/>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6" name="Text 29"/>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11283950" y="6346230"/>
            <a:ext cx="1460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8</a:t>
            </a:r>
            <a:endParaRPr lang="en-US" sz="1200" dirty="0"/>
          </a:p>
        </p:txBody>
      </p:sp>
      <p:sp>
        <p:nvSpPr>
          <p:cNvPr id="3" name="Text 1"/>
          <p:cNvSpPr/>
          <p:nvPr/>
        </p:nvSpPr>
        <p:spPr>
          <a:xfrm>
            <a:off x="812800" y="431006"/>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fourteen messages of one round</a:t>
            </a:r>
            <a:endParaRPr lang="en-US" sz="3000" dirty="0"/>
          </a:p>
        </p:txBody>
      </p:sp>
      <p:sp>
        <p:nvSpPr>
          <p:cNvPr id="4" name="Text 2"/>
          <p:cNvSpPr/>
          <p:nvPr/>
        </p:nvSpPr>
        <p:spPr>
          <a:xfrm>
            <a:off x="812800" y="2616299"/>
            <a:ext cx="368884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1–5 · Planner</a:t>
            </a:r>
            <a:endParaRPr lang="en-US" sz="1400" dirty="0"/>
          </a:p>
        </p:txBody>
      </p:sp>
      <p:sp>
        <p:nvSpPr>
          <p:cNvPr id="5" name="Text 3"/>
          <p:cNvSpPr/>
          <p:nvPr/>
        </p:nvSpPr>
        <p:spPr>
          <a:xfrm>
            <a:off x="812800" y="2890589"/>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proposes and stores the test</a:t>
            </a:r>
            <a:endParaRPr lang="en-US" sz="1200" dirty="0"/>
          </a:p>
        </p:txBody>
      </p:sp>
      <p:sp>
        <p:nvSpPr>
          <p:cNvPr id="6" name="Text 4"/>
          <p:cNvSpPr/>
          <p:nvPr/>
        </p:nvSpPr>
        <p:spPr>
          <a:xfrm>
            <a:off x="812800" y="3281710"/>
            <a:ext cx="368884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6–9 · Executor</a:t>
            </a:r>
            <a:endParaRPr lang="en-US" sz="1400" dirty="0"/>
          </a:p>
        </p:txBody>
      </p:sp>
      <p:sp>
        <p:nvSpPr>
          <p:cNvPr id="7" name="Text 5"/>
          <p:cNvSpPr/>
          <p:nvPr/>
        </p:nvSpPr>
        <p:spPr>
          <a:xfrm>
            <a:off x="812800" y="3556000"/>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runs it, posting every screen</a:t>
            </a:r>
            <a:endParaRPr lang="en-US" sz="1200" dirty="0"/>
          </a:p>
        </p:txBody>
      </p:sp>
      <p:sp>
        <p:nvSpPr>
          <p:cNvPr id="8" name="Text 6"/>
          <p:cNvSpPr/>
          <p:nvPr/>
        </p:nvSpPr>
        <p:spPr>
          <a:xfrm>
            <a:off x="812800" y="3947120"/>
            <a:ext cx="368884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10–14 · Investigator</a:t>
            </a:r>
            <a:endParaRPr lang="en-US" sz="1400" dirty="0"/>
          </a:p>
        </p:txBody>
      </p:sp>
      <p:sp>
        <p:nvSpPr>
          <p:cNvPr id="9" name="Text 7"/>
          <p:cNvSpPr/>
          <p:nvPr/>
        </p:nvSpPr>
        <p:spPr>
          <a:xfrm>
            <a:off x="812800" y="4221411"/>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judges it, writes findings</a:t>
            </a:r>
            <a:endParaRPr lang="en-US" sz="1200" dirty="0"/>
          </a:p>
        </p:txBody>
      </p:sp>
      <p:sp>
        <p:nvSpPr>
          <p:cNvPr id="10" name="Text 8"/>
          <p:cNvSpPr/>
          <p:nvPr/>
        </p:nvSpPr>
        <p:spPr>
          <a:xfrm>
            <a:off x="812800" y="4612531"/>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Only the graph carries over.</a:t>
            </a:r>
            <a:endParaRPr lang="en-US" sz="1200" dirty="0"/>
          </a:p>
        </p:txBody>
      </p:sp>
      <p:sp>
        <p:nvSpPr>
          <p:cNvPr id="11" name="Shape 9"/>
          <p:cNvSpPr/>
          <p:nvPr/>
        </p:nvSpPr>
        <p:spPr>
          <a:xfrm>
            <a:off x="3531394" y="945852"/>
            <a:ext cx="7847806" cy="5292427"/>
          </a:xfrm>
          <a:prstGeom prst="roundRect">
            <a:avLst>
              <a:gd name="adj" fmla="val 1920"/>
            </a:avLst>
          </a:prstGeom>
          <a:solidFill>
            <a:srgbClr val="FDFEFE"/>
          </a:solidFill>
          <a:ln/>
        </p:spPr>
        <p:txBody>
          <a:bodyPr/>
          <a:lstStyle/>
          <a:p>
            <a:endParaRPr lang="en-US"/>
          </a:p>
        </p:txBody>
      </p:sp>
      <p:pic>
        <p:nvPicPr>
          <p:cNvPr id="12" name="Image 0" descr="Sequence diagram of one test round between the planner, knowledge graph, executor, device and investigator, numbered 1 to 14"/>
          <p:cNvPicPr>
            <a:picLocks noChangeAspect="1"/>
          </p:cNvPicPr>
          <p:nvPr/>
        </p:nvPicPr>
        <p:blipFill>
          <a:blip r:embed="rId3"/>
          <a:stretch>
            <a:fillRect/>
          </a:stretch>
        </p:blipFill>
        <p:spPr>
          <a:xfrm>
            <a:off x="4229545" y="952202"/>
            <a:ext cx="6451504" cy="5279727"/>
          </a:xfrm>
          <a:prstGeom prst="rect">
            <a:avLst/>
          </a:prstGeom>
        </p:spPr>
      </p:pic>
      <p:sp>
        <p:nvSpPr>
          <p:cNvPr id="13" name="Shape 10"/>
          <p:cNvSpPr/>
          <p:nvPr/>
        </p:nvSpPr>
        <p:spPr>
          <a:xfrm>
            <a:off x="3534569" y="949027"/>
            <a:ext cx="7841456" cy="5286077"/>
          </a:xfrm>
          <a:prstGeom prst="roundRect">
            <a:avLst>
              <a:gd name="adj" fmla="val 1862"/>
            </a:avLst>
          </a:prstGeom>
          <a:noFill/>
          <a:ln w="6350">
            <a:solidFill>
              <a:srgbClr val="D6E1E6"/>
            </a:solidFill>
            <a:prstDash val="solid"/>
          </a:ln>
        </p:spPr>
        <p:txBody>
          <a:bodyPr/>
          <a:lstStyle/>
          <a:p>
            <a:endParaRPr lang="en-US"/>
          </a:p>
        </p:txBody>
      </p:sp>
      <p:sp>
        <p:nvSpPr>
          <p:cNvPr id="14" name="Text 11"/>
          <p:cNvSpPr/>
          <p:nvPr/>
        </p:nvSpPr>
        <p:spPr>
          <a:xfrm>
            <a:off x="812800" y="217736"/>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HOW A TEST RUNS · IN DETAIL</a:t>
            </a:r>
            <a:endParaRPr lang="en-US" sz="1200" dirty="0"/>
          </a:p>
        </p:txBody>
      </p:sp>
      <p:sp>
        <p:nvSpPr>
          <p:cNvPr id="15" name="Text 12"/>
          <p:cNvSpPr/>
          <p:nvPr/>
        </p:nvSpPr>
        <p:spPr>
          <a:xfrm>
            <a:off x="812800" y="6346230"/>
            <a:ext cx="34599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1279"/>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0B6A8F"/>
                </a:solidFill>
                <a:latin typeface="IBM Plex Sans" pitchFamily="34" charset="0"/>
                <a:ea typeface="IBM Plex Sans" pitchFamily="34" charset="-122"/>
                <a:cs typeface="IBM Plex Sans" pitchFamily="34" charset="-120"/>
              </a:rPr>
              <a:t>ARCHITECTURE · THE SHARED MEMORY</a:t>
            </a:r>
            <a:endParaRPr lang="en-US" sz="1159" dirty="0"/>
          </a:p>
        </p:txBody>
      </p:sp>
      <p:sp>
        <p:nvSpPr>
          <p:cNvPr id="3" name="Text 1"/>
          <p:cNvSpPr/>
          <p:nvPr/>
        </p:nvSpPr>
        <p:spPr>
          <a:xfrm>
            <a:off x="812800" y="790079"/>
            <a:ext cx="10883392" cy="429816"/>
          </a:xfrm>
          <a:prstGeom prst="rect">
            <a:avLst/>
          </a:prstGeom>
          <a:noFill/>
          <a:ln/>
        </p:spPr>
        <p:txBody>
          <a:bodyPr wrap="square" lIns="0" tIns="0" rIns="0" bIns="0" rtlCol="0" anchor="t">
            <a:normAutofit/>
          </a:bodyPr>
          <a:lstStyle/>
          <a:p>
            <a:pPr marL="0" indent="0" algn="l">
              <a:lnSpc>
                <a:spcPts val="3218"/>
              </a:lnSpc>
              <a:buNone/>
            </a:pPr>
            <a:r>
              <a:rPr lang="en-US" sz="2925" b="1" dirty="0">
                <a:solidFill>
                  <a:srgbClr val="14303D"/>
                </a:solidFill>
                <a:latin typeface="Source Serif 4" pitchFamily="34" charset="0"/>
                <a:ea typeface="Source Serif 4" pitchFamily="34" charset="-122"/>
                <a:cs typeface="Source Serif 4" pitchFamily="34" charset="-120"/>
              </a:rPr>
              <a:t>What the knowledge graph stores</a:t>
            </a:r>
            <a:endParaRPr lang="en-US" sz="2925" dirty="0"/>
          </a:p>
        </p:txBody>
      </p:sp>
      <p:sp>
        <p:nvSpPr>
          <p:cNvPr id="4" name="Shape 2"/>
          <p:cNvSpPr/>
          <p:nvPr/>
        </p:nvSpPr>
        <p:spPr>
          <a:xfrm>
            <a:off x="812800" y="1346895"/>
            <a:ext cx="10566400" cy="4183410"/>
          </a:xfrm>
          <a:prstGeom prst="roundRect">
            <a:avLst>
              <a:gd name="adj" fmla="val 2429"/>
            </a:avLst>
          </a:prstGeom>
          <a:solidFill>
            <a:srgbClr val="FDFEFE"/>
          </a:solidFill>
          <a:ln/>
        </p:spPr>
        <p:txBody>
          <a:bodyPr/>
          <a:lstStyle/>
          <a:p>
            <a:endParaRPr lang="en-US"/>
          </a:p>
        </p:txBody>
      </p:sp>
      <p:pic>
        <p:nvPicPr>
          <p:cNvPr id="5" name="Image 0" descr="Neo4j schema. Specification side: SRS has chunks; each Requirement is derived from a chunk, has validation rules and involves entities. Tests: a TestCase covers requirements and a feature area and has runs; an ExecutionLog points to its test case and stores the ordered path of screens. App model: UIState transitions to UIState, and navigation-tree nodes lead to screens. A Finding is found by an execution log, is about a screen, concerns a requirement, and can be generalised by another finding."/>
          <p:cNvPicPr>
            <a:picLocks noChangeAspect="1"/>
          </p:cNvPicPr>
          <p:nvPr/>
        </p:nvPicPr>
        <p:blipFill>
          <a:blip r:embed="rId3"/>
          <a:stretch>
            <a:fillRect/>
          </a:stretch>
        </p:blipFill>
        <p:spPr>
          <a:xfrm>
            <a:off x="1330082" y="1353245"/>
            <a:ext cx="9531836" cy="4170710"/>
          </a:xfrm>
          <a:prstGeom prst="rect">
            <a:avLst/>
          </a:prstGeom>
        </p:spPr>
      </p:pic>
      <p:sp>
        <p:nvSpPr>
          <p:cNvPr id="6" name="Shape 3"/>
          <p:cNvSpPr/>
          <p:nvPr/>
        </p:nvSpPr>
        <p:spPr>
          <a:xfrm>
            <a:off x="815975" y="1350070"/>
            <a:ext cx="10560050" cy="4177060"/>
          </a:xfrm>
          <a:prstGeom prst="roundRect">
            <a:avLst>
              <a:gd name="adj" fmla="val 2356"/>
            </a:avLst>
          </a:prstGeom>
          <a:noFill/>
          <a:ln w="6350">
            <a:solidFill>
              <a:srgbClr val="D6E1E6"/>
            </a:solidFill>
            <a:prstDash val="solid"/>
          </a:ln>
        </p:spPr>
        <p:txBody>
          <a:bodyPr/>
          <a:lstStyle/>
          <a:p>
            <a:endParaRPr lang="en-US"/>
          </a:p>
        </p:txBody>
      </p:sp>
      <p:sp>
        <p:nvSpPr>
          <p:cNvPr id="7" name="Text 4"/>
          <p:cNvSpPr/>
          <p:nvPr/>
        </p:nvSpPr>
        <p:spPr>
          <a:xfrm>
            <a:off x="812800" y="5682704"/>
            <a:ext cx="10883392" cy="438696"/>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46596A"/>
                </a:solidFill>
                <a:latin typeface="IBM Plex Sans" pitchFamily="34" charset="0"/>
                <a:ea typeface="IBM Plex Sans" pitchFamily="34" charset="-122"/>
                <a:cs typeface="IBM Plex Sans" pitchFamily="34" charset="-120"/>
              </a:rPr>
              <a:t>Orange: from the specification · Purple: tests and runs · Blue: the app model · Red: findings · Dashed: stored as a property, not a relationship. Every node belongs to one project.</a:t>
            </a:r>
            <a:endParaRPr lang="en-US" sz="1166"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MODELS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Which model does what, and why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849364"/>
        </p:xfrm>
        <a:graphic>
          <a:graphicData uri="http://schemas.openxmlformats.org/drawingml/2006/table">
            <a:tbl>
              <a:tblPr/>
              <a:tblGrid>
                <a:gridCol w="2321814">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this choice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Planner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Long context and dependable structured output matter more than deep reasoning. About 8% of a test's 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Executor (Android)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 with vision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Reads the accessibility tree and a screenshot on every step, so it is about 92% of a test's 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Investigator and rate-limit fallback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z-ai/glm-5.3-flash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different model family, so no model grades its own execution. Low reasoning effort cut an evaluation from 113.8 s to 22.7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Specification extraction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qwen/qwen3-235b-a22b</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 once per document, and every later decision rests on it, so accuracy is worth paying for here.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Embeddings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BAAI/bge-small-en-v1.5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Runs locally through fastembed, with no per-call charge.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739084"/>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All routed through OpenRouter. Every campaign in this deck ran on the planner, executor and investigator above; the planner is next moving to deepseek-v4-flash.</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WHAT IT KNOWS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knows before it writes a test</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Specification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requirement as a node, retrieved by meaning and by keyword.</a:t>
            </a:r>
            <a:endParaRPr lang="en-US" sz="1200" dirty="0"/>
          </a:p>
        </p:txBody>
      </p:sp>
      <p:sp>
        <p:nvSpPr>
          <p:cNvPr id="7" name="Shape 5"/>
          <p:cNvSpPr/>
          <p:nvPr/>
        </p:nvSpPr>
        <p:spPr>
          <a:xfrm>
            <a:off x="4388892"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8" name="Text 6"/>
          <p:cNvSpPr/>
          <p:nvPr/>
        </p:nvSpPr>
        <p:spPr>
          <a:xfrm>
            <a:off x="4569867"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Screens seen</a:t>
            </a:r>
            <a:endParaRPr lang="en-US" sz="1400" dirty="0"/>
          </a:p>
        </p:txBody>
      </p:sp>
      <p:sp>
        <p:nvSpPr>
          <p:cNvPr id="9" name="Text 7"/>
          <p:cNvSpPr/>
          <p:nvPr/>
        </p:nvSpPr>
        <p:spPr>
          <a:xfrm>
            <a:off x="4569867"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live map of the app: 79 screens and 797 transitions on the contacts app.</a:t>
            </a:r>
            <a:endParaRPr lang="en-US" sz="1200" dirty="0"/>
          </a:p>
        </p:txBody>
      </p:sp>
      <p:sp>
        <p:nvSpPr>
          <p:cNvPr id="10" name="Shape 8"/>
          <p:cNvSpPr/>
          <p:nvPr/>
        </p:nvSpPr>
        <p:spPr>
          <a:xfrm>
            <a:off x="7961809" y="1778595"/>
            <a:ext cx="3414216"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8142784" y="1959570"/>
            <a:ext cx="3143834"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Navigation paths</a:t>
            </a:r>
            <a:endParaRPr lang="en-US" sz="1400" dirty="0"/>
          </a:p>
        </p:txBody>
      </p:sp>
      <p:sp>
        <p:nvSpPr>
          <p:cNvPr id="12" name="Text 10"/>
          <p:cNvSpPr/>
          <p:nvPr/>
        </p:nvSpPr>
        <p:spPr>
          <a:xfrm>
            <a:off x="8142784" y="2241500"/>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Learned routes to each screen, and the routes known to fail.</a:t>
            </a:r>
            <a:endParaRPr lang="en-US" sz="1200" dirty="0"/>
          </a:p>
        </p:txBody>
      </p:sp>
      <p:sp>
        <p:nvSpPr>
          <p:cNvPr id="13" name="Shape 11"/>
          <p:cNvSpPr/>
          <p:nvPr/>
        </p:nvSpPr>
        <p:spPr>
          <a:xfrm>
            <a:off x="815975" y="3007866"/>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4" name="Text 12"/>
          <p:cNvSpPr/>
          <p:nvPr/>
        </p:nvSpPr>
        <p:spPr>
          <a:xfrm>
            <a:off x="996950" y="3188841"/>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Findings</a:t>
            </a:r>
            <a:endParaRPr lang="en-US" sz="1400" dirty="0"/>
          </a:p>
        </p:txBody>
      </p:sp>
      <p:sp>
        <p:nvSpPr>
          <p:cNvPr id="15" name="Text 13"/>
          <p:cNvSpPr/>
          <p:nvPr/>
        </p:nvSpPr>
        <p:spPr>
          <a:xfrm>
            <a:off x="996950" y="3470771"/>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earlier runs confirmed, contradicted or left open.</a:t>
            </a:r>
            <a:endParaRPr lang="en-US" sz="1200" dirty="0"/>
          </a:p>
        </p:txBody>
      </p:sp>
      <p:sp>
        <p:nvSpPr>
          <p:cNvPr id="16" name="Shape 14"/>
          <p:cNvSpPr/>
          <p:nvPr/>
        </p:nvSpPr>
        <p:spPr>
          <a:xfrm>
            <a:off x="4388892" y="3007866"/>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7" name="Text 15"/>
          <p:cNvSpPr/>
          <p:nvPr/>
        </p:nvSpPr>
        <p:spPr>
          <a:xfrm>
            <a:off x="4569867" y="3188841"/>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Coverage</a:t>
            </a:r>
            <a:endParaRPr lang="en-US" sz="1400" dirty="0"/>
          </a:p>
        </p:txBody>
      </p:sp>
      <p:sp>
        <p:nvSpPr>
          <p:cNvPr id="18" name="Text 16"/>
          <p:cNvSpPr/>
          <p:nvPr/>
        </p:nvSpPr>
        <p:spPr>
          <a:xfrm>
            <a:off x="4569867" y="3470771"/>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Which requirements and feature areas are still untested.</a:t>
            </a:r>
            <a:endParaRPr lang="en-US" sz="1200" dirty="0"/>
          </a:p>
        </p:txBody>
      </p:sp>
      <p:sp>
        <p:nvSpPr>
          <p:cNvPr id="19" name="Shape 17"/>
          <p:cNvSpPr/>
          <p:nvPr/>
        </p:nvSpPr>
        <p:spPr>
          <a:xfrm>
            <a:off x="7961809" y="3007866"/>
            <a:ext cx="3414216"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20" name="Text 18"/>
          <p:cNvSpPr/>
          <p:nvPr/>
        </p:nvSpPr>
        <p:spPr>
          <a:xfrm>
            <a:off x="8142784" y="3188841"/>
            <a:ext cx="3143834"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Defect history</a:t>
            </a:r>
            <a:endParaRPr lang="en-US" sz="1400" dirty="0"/>
          </a:p>
        </p:txBody>
      </p:sp>
      <p:sp>
        <p:nvSpPr>
          <p:cNvPr id="21" name="Text 19"/>
          <p:cNvSpPr/>
          <p:nvPr/>
        </p:nvSpPr>
        <p:spPr>
          <a:xfrm>
            <a:off x="8142784" y="3470771"/>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Past bug reports, when a project has them.</a:t>
            </a:r>
            <a:endParaRPr lang="en-US" sz="1200" dirty="0"/>
          </a:p>
        </p:txBody>
      </p:sp>
      <p:sp>
        <p:nvSpPr>
          <p:cNvPr id="22" name="Shape 20"/>
          <p:cNvSpPr/>
          <p:nvPr/>
        </p:nvSpPr>
        <p:spPr>
          <a:xfrm>
            <a:off x="812800" y="4284762"/>
            <a:ext cx="10566400" cy="850850"/>
          </a:xfrm>
          <a:prstGeom prst="roundRect">
            <a:avLst>
              <a:gd name="adj" fmla="val 11941"/>
            </a:avLst>
          </a:prstGeom>
          <a:solidFill>
            <a:srgbClr val="14303D"/>
          </a:solidFill>
          <a:ln/>
        </p:spPr>
        <p:txBody>
          <a:bodyPr/>
          <a:lstStyle/>
          <a:p>
            <a:endParaRPr lang="en-US"/>
          </a:p>
        </p:txBody>
      </p:sp>
      <p:sp>
        <p:nvSpPr>
          <p:cNvPr id="23" name="Text 21"/>
          <p:cNvSpPr/>
          <p:nvPr/>
        </p:nvSpPr>
        <p:spPr>
          <a:xfrm>
            <a:off x="1016000" y="4462562"/>
            <a:ext cx="10464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Bounded context, so long campaigns stay cheap</a:t>
            </a:r>
            <a:endParaRPr lang="en-US" sz="1400" dirty="0"/>
          </a:p>
        </p:txBody>
      </p:sp>
      <p:sp>
        <p:nvSpPr>
          <p:cNvPr id="24" name="Text 22"/>
          <p:cNvSpPr/>
          <p:nvPr/>
        </p:nvSpPr>
        <p:spPr>
          <a:xfrm>
            <a:off x="1016000" y="4744492"/>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A"/>
                </a:solidFill>
                <a:latin typeface="IBM Plex Sans" pitchFamily="34" charset="0"/>
                <a:ea typeface="IBM Plex Sans" pitchFamily="34" charset="-122"/>
                <a:cs typeface="IBM Plex Sans" pitchFamily="34" charset="-120"/>
              </a:rPr>
              <a:t>The block summarising earlier runs was 35,233 characters, 69% of one prompt. Stored as findings instead of prose, it is now about 2,000.</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PIPELINE MODE · A LANGGRAPH STATE MACHINE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planner asks what it still needs</a:t>
            </a:r>
            <a:endParaRPr lang="en-US" sz="3000" dirty="0"/>
          </a:p>
        </p:txBody>
      </p:sp>
      <p:sp>
        <p:nvSpPr>
          <p:cNvPr id="4" name="Shape 2"/>
          <p:cNvSpPr/>
          <p:nvPr/>
        </p:nvSpPr>
        <p:spPr>
          <a:xfrm>
            <a:off x="815975" y="1908175"/>
            <a:ext cx="1898650" cy="1835150"/>
          </a:xfrm>
          <a:prstGeom prst="roundRect">
            <a:avLst>
              <a:gd name="adj" fmla="val 5363"/>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71550" y="2063750"/>
            <a:ext cx="163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bootstrap_context</a:t>
            </a:r>
            <a:endParaRPr lang="en-US" sz="1200" dirty="0"/>
          </a:p>
        </p:txBody>
      </p:sp>
      <p:sp>
        <p:nvSpPr>
          <p:cNvPr id="6" name="Text 4"/>
          <p:cNvSpPr/>
          <p:nvPr/>
        </p:nvSpPr>
        <p:spPr>
          <a:xfrm>
            <a:off x="971550" y="2327870"/>
            <a:ext cx="1638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loads coverage, tests and findings</a:t>
            </a:r>
            <a:endParaRPr lang="en-US" sz="1200" dirty="0"/>
          </a:p>
        </p:txBody>
      </p:sp>
      <p:sp>
        <p:nvSpPr>
          <p:cNvPr id="7" name="Shape 5"/>
          <p:cNvSpPr/>
          <p:nvPr/>
        </p:nvSpPr>
        <p:spPr>
          <a:xfrm>
            <a:off x="971550" y="3323630"/>
            <a:ext cx="1068338" cy="264120"/>
          </a:xfrm>
          <a:prstGeom prst="roundRect">
            <a:avLst>
              <a:gd name="adj" fmla="val 19234"/>
            </a:avLst>
          </a:prstGeom>
          <a:solidFill>
            <a:srgbClr val="EDF2F4"/>
          </a:solidFill>
          <a:ln/>
        </p:spPr>
        <p:txBody>
          <a:bodyPr/>
          <a:lstStyle/>
          <a:p>
            <a:endParaRPr lang="en-US"/>
          </a:p>
        </p:txBody>
      </p:sp>
      <p:sp>
        <p:nvSpPr>
          <p:cNvPr id="8" name="Text 6"/>
          <p:cNvSpPr/>
          <p:nvPr/>
        </p:nvSpPr>
        <p:spPr>
          <a:xfrm>
            <a:off x="1047750" y="3349030"/>
            <a:ext cx="9667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no model call</a:t>
            </a:r>
            <a:endParaRPr lang="en-US" sz="1200" dirty="0"/>
          </a:p>
        </p:txBody>
      </p:sp>
      <p:sp>
        <p:nvSpPr>
          <p:cNvPr id="9" name="Shape 7"/>
          <p:cNvSpPr/>
          <p:nvPr/>
        </p:nvSpPr>
        <p:spPr>
          <a:xfrm>
            <a:off x="3327400" y="1911350"/>
            <a:ext cx="3035300" cy="1828800"/>
          </a:xfrm>
          <a:prstGeom prst="roundRect">
            <a:avLst>
              <a:gd name="adj" fmla="val 5208"/>
            </a:avLst>
          </a:prstGeom>
          <a:solidFill>
            <a:srgbClr val="EDF2F4"/>
          </a:solidFill>
          <a:ln w="12700">
            <a:solidFill>
              <a:srgbClr val="0F7EA8"/>
            </a:solidFill>
            <a:prstDash val="dash"/>
          </a:ln>
        </p:spPr>
        <p:txBody>
          <a:bodyPr/>
          <a:lstStyle/>
          <a:p>
            <a:endParaRPr lang="en-US"/>
          </a:p>
        </p:txBody>
      </p:sp>
      <p:sp>
        <p:nvSpPr>
          <p:cNvPr id="10" name="Shape 8"/>
          <p:cNvSpPr/>
          <p:nvPr/>
        </p:nvSpPr>
        <p:spPr>
          <a:xfrm>
            <a:off x="3448050" y="2032000"/>
            <a:ext cx="2794000" cy="468660"/>
          </a:xfrm>
          <a:prstGeom prst="roundRect">
            <a:avLst>
              <a:gd name="adj" fmla="val 13549"/>
            </a:avLst>
          </a:prstGeom>
          <a:solidFill>
            <a:srgbClr val="FDFEFE"/>
          </a:solidFill>
          <a:ln/>
        </p:spPr>
        <p:txBody>
          <a:bodyPr/>
          <a:lstStyle/>
          <a:p>
            <a:endParaRPr lang="en-US"/>
          </a:p>
        </p:txBody>
      </p:sp>
      <p:sp>
        <p:nvSpPr>
          <p:cNvPr id="11" name="Text 9"/>
          <p:cNvSpPr/>
          <p:nvPr/>
        </p:nvSpPr>
        <p:spPr>
          <a:xfrm>
            <a:off x="3549650" y="2095500"/>
            <a:ext cx="2668524" cy="189905"/>
          </a:xfrm>
          <a:prstGeom prst="rect">
            <a:avLst/>
          </a:prstGeom>
          <a:noFill/>
          <a:ln/>
        </p:spPr>
        <p:txBody>
          <a:bodyPr wrap="square" lIns="0" tIns="0" rIns="0" bIns="0" rtlCol="0" anchor="t">
            <a:normAutofit/>
          </a:bodyPr>
          <a:lstStyle/>
          <a:p>
            <a:pPr marL="0" indent="0" algn="l">
              <a:lnSpc>
                <a:spcPts val="1323"/>
              </a:lnSpc>
              <a:buNone/>
            </a:pPr>
            <a:r>
              <a:rPr lang="en-US" sz="945" dirty="0">
                <a:solidFill>
                  <a:srgbClr val="14303D"/>
                </a:solidFill>
                <a:latin typeface="IBM Plex Mono" pitchFamily="34" charset="0"/>
                <a:ea typeface="IBM Plex Mono" pitchFamily="34" charset="-122"/>
                <a:cs typeface="IBM Plex Mono" pitchFamily="34" charset="-120"/>
              </a:rPr>
              <a:t>planner_step</a:t>
            </a:r>
            <a:endParaRPr lang="en-US" sz="945" dirty="0"/>
          </a:p>
        </p:txBody>
      </p:sp>
      <p:sp>
        <p:nvSpPr>
          <p:cNvPr id="12" name="Text 10"/>
          <p:cNvSpPr/>
          <p:nvPr/>
        </p:nvSpPr>
        <p:spPr>
          <a:xfrm>
            <a:off x="3549650" y="2272705"/>
            <a:ext cx="2668524" cy="189855"/>
          </a:xfrm>
          <a:prstGeom prst="rect">
            <a:avLst/>
          </a:prstGeom>
          <a:noFill/>
          <a:ln/>
        </p:spPr>
        <p:txBody>
          <a:bodyPr wrap="square" lIns="0" tIns="0" rIns="0" bIns="0" rtlCol="0" anchor="t">
            <a:normAutofit/>
          </a:bodyPr>
          <a:lstStyle/>
          <a:p>
            <a:pPr marL="0" indent="0" algn="l">
              <a:lnSpc>
                <a:spcPts val="1323"/>
              </a:lnSpc>
              <a:buNone/>
            </a:pPr>
            <a:r>
              <a:rPr lang="en-US" sz="945" dirty="0">
                <a:solidFill>
                  <a:srgbClr val="46596A"/>
                </a:solidFill>
                <a:latin typeface="IBM Plex Sans" pitchFamily="34" charset="0"/>
                <a:ea typeface="IBM Plex Sans" pitchFamily="34" charset="-122"/>
                <a:cs typeface="IBM Plex Sans" pitchFamily="34" charset="-120"/>
              </a:rPr>
              <a:t>model: “what do I still need?”</a:t>
            </a:r>
            <a:endParaRPr lang="en-US" sz="945" dirty="0"/>
          </a:p>
        </p:txBody>
      </p:sp>
      <p:sp>
        <p:nvSpPr>
          <p:cNvPr id="13" name="Shape 11"/>
          <p:cNvSpPr/>
          <p:nvPr/>
        </p:nvSpPr>
        <p:spPr>
          <a:xfrm>
            <a:off x="3448050" y="2576860"/>
            <a:ext cx="2794000" cy="634603"/>
          </a:xfrm>
          <a:prstGeom prst="roundRect">
            <a:avLst>
              <a:gd name="adj" fmla="val 10006"/>
            </a:avLst>
          </a:prstGeom>
          <a:solidFill>
            <a:srgbClr val="FDFEFE"/>
          </a:solidFill>
          <a:ln/>
        </p:spPr>
        <p:txBody>
          <a:bodyPr/>
          <a:lstStyle/>
          <a:p>
            <a:endParaRPr lang="en-US"/>
          </a:p>
        </p:txBody>
      </p:sp>
      <p:sp>
        <p:nvSpPr>
          <p:cNvPr id="14" name="Text 12"/>
          <p:cNvSpPr/>
          <p:nvPr/>
        </p:nvSpPr>
        <p:spPr>
          <a:xfrm>
            <a:off x="3549650" y="2640360"/>
            <a:ext cx="2668524" cy="190351"/>
          </a:xfrm>
          <a:prstGeom prst="rect">
            <a:avLst/>
          </a:prstGeom>
          <a:noFill/>
          <a:ln/>
        </p:spPr>
        <p:txBody>
          <a:bodyPr wrap="square" lIns="0" tIns="0" rIns="0" bIns="0" rtlCol="0" anchor="t">
            <a:normAutofit/>
          </a:bodyPr>
          <a:lstStyle/>
          <a:p>
            <a:pPr marL="0" indent="0" algn="l">
              <a:lnSpc>
                <a:spcPts val="1323"/>
              </a:lnSpc>
              <a:buNone/>
            </a:pPr>
            <a:r>
              <a:rPr lang="en-US" sz="945" dirty="0">
                <a:solidFill>
                  <a:srgbClr val="14303D"/>
                </a:solidFill>
                <a:latin typeface="IBM Plex Mono" pitchFamily="34" charset="0"/>
                <a:ea typeface="IBM Plex Mono" pitchFamily="34" charset="-122"/>
                <a:cs typeface="IBM Plex Mono" pitchFamily="34" charset="-120"/>
              </a:rPr>
              <a:t>execute_retrieval</a:t>
            </a:r>
            <a:endParaRPr lang="en-US" sz="945" dirty="0"/>
          </a:p>
        </p:txBody>
      </p:sp>
      <p:sp>
        <p:nvSpPr>
          <p:cNvPr id="15" name="Text 13"/>
          <p:cNvSpPr/>
          <p:nvPr/>
        </p:nvSpPr>
        <p:spPr>
          <a:xfrm>
            <a:off x="3549650" y="2818011"/>
            <a:ext cx="2668524" cy="355352"/>
          </a:xfrm>
          <a:prstGeom prst="rect">
            <a:avLst/>
          </a:prstGeom>
          <a:noFill/>
          <a:ln/>
        </p:spPr>
        <p:txBody>
          <a:bodyPr wrap="square" lIns="0" tIns="0" rIns="0" bIns="0" rtlCol="0" anchor="t">
            <a:normAutofit/>
          </a:bodyPr>
          <a:lstStyle/>
          <a:p>
            <a:pPr marL="0" indent="0" algn="l">
              <a:lnSpc>
                <a:spcPts val="1475"/>
              </a:lnSpc>
              <a:buNone/>
            </a:pPr>
            <a:r>
              <a:rPr lang="en-US" sz="1054" dirty="0">
                <a:solidFill>
                  <a:srgbClr val="46596A"/>
                </a:solidFill>
                <a:latin typeface="IBM Plex Sans" pitchFamily="34" charset="0"/>
                <a:ea typeface="IBM Plex Sans" pitchFamily="34" charset="-122"/>
                <a:cs typeface="IBM Plex Sans" pitchFamily="34" charset="-120"/>
              </a:rPr>
              <a:t>runs its tools: spec, screens, paths, defects</a:t>
            </a:r>
            <a:endParaRPr lang="en-US" sz="1054" dirty="0"/>
          </a:p>
        </p:txBody>
      </p:sp>
      <p:sp>
        <p:nvSpPr>
          <p:cNvPr id="16" name="Text 14"/>
          <p:cNvSpPr/>
          <p:nvPr/>
        </p:nvSpPr>
        <p:spPr>
          <a:xfrm>
            <a:off x="3448050" y="3287663"/>
            <a:ext cx="2877820" cy="357237"/>
          </a:xfrm>
          <a:prstGeom prst="rect">
            <a:avLst/>
          </a:prstGeom>
          <a:noFill/>
          <a:ln/>
        </p:spPr>
        <p:txBody>
          <a:bodyPr wrap="square" lIns="0" tIns="0" rIns="0" bIns="0" rtlCol="0" anchor="t">
            <a:normAutofit/>
          </a:bodyPr>
          <a:lstStyle/>
          <a:p>
            <a:pPr marL="0" indent="0" algn="l">
              <a:lnSpc>
                <a:spcPts val="1412"/>
              </a:lnSpc>
              <a:buNone/>
            </a:pPr>
            <a:r>
              <a:rPr lang="en-US" sz="1009" b="1" dirty="0">
                <a:solidFill>
                  <a:srgbClr val="0B6A8F"/>
                </a:solidFill>
                <a:latin typeface="IBM Plex Sans" pitchFamily="34" charset="0"/>
                <a:ea typeface="IBM Plex Sans" pitchFamily="34" charset="-122"/>
                <a:cs typeface="IBM Plex Sans" pitchFamily="34" charset="-120"/>
              </a:rPr>
              <a:t>repeats until ready · 2 rounds in our campaigns</a:t>
            </a:r>
            <a:endParaRPr lang="en-US" sz="1009" dirty="0"/>
          </a:p>
        </p:txBody>
      </p:sp>
      <p:sp>
        <p:nvSpPr>
          <p:cNvPr id="17" name="Shape 15"/>
          <p:cNvSpPr/>
          <p:nvPr/>
        </p:nvSpPr>
        <p:spPr>
          <a:xfrm>
            <a:off x="6975475" y="1908175"/>
            <a:ext cx="1898650" cy="1835150"/>
          </a:xfrm>
          <a:prstGeom prst="roundRect">
            <a:avLst>
              <a:gd name="adj" fmla="val 5363"/>
            </a:avLst>
          </a:prstGeom>
          <a:solidFill>
            <a:srgbClr val="FDFEFE"/>
          </a:solidFill>
          <a:ln w="6350">
            <a:solidFill>
              <a:srgbClr val="D6E1E6"/>
            </a:solidFill>
            <a:prstDash val="solid"/>
          </a:ln>
        </p:spPr>
        <p:txBody>
          <a:bodyPr/>
          <a:lstStyle/>
          <a:p>
            <a:endParaRPr lang="en-US"/>
          </a:p>
        </p:txBody>
      </p:sp>
      <p:sp>
        <p:nvSpPr>
          <p:cNvPr id="18" name="Text 16"/>
          <p:cNvSpPr/>
          <p:nvPr/>
        </p:nvSpPr>
        <p:spPr>
          <a:xfrm>
            <a:off x="7131050" y="2063750"/>
            <a:ext cx="163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generate_testcase</a:t>
            </a:r>
            <a:endParaRPr lang="en-US" sz="1200" dirty="0"/>
          </a:p>
        </p:txBody>
      </p:sp>
      <p:sp>
        <p:nvSpPr>
          <p:cNvPr id="19" name="Text 17"/>
          <p:cNvSpPr/>
          <p:nvPr/>
        </p:nvSpPr>
        <p:spPr>
          <a:xfrm>
            <a:off x="7131050" y="2327870"/>
            <a:ext cx="1638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writes the test as structured JSON</a:t>
            </a:r>
            <a:endParaRPr lang="en-US" sz="1200" dirty="0"/>
          </a:p>
        </p:txBody>
      </p:sp>
      <p:sp>
        <p:nvSpPr>
          <p:cNvPr id="20" name="Shape 18"/>
          <p:cNvSpPr/>
          <p:nvPr/>
        </p:nvSpPr>
        <p:spPr>
          <a:xfrm>
            <a:off x="7131050" y="3323630"/>
            <a:ext cx="1362323" cy="264120"/>
          </a:xfrm>
          <a:prstGeom prst="roundRect">
            <a:avLst>
              <a:gd name="adj" fmla="val 19234"/>
            </a:avLst>
          </a:prstGeom>
          <a:solidFill>
            <a:srgbClr val="E4F2F8"/>
          </a:solidFill>
          <a:ln/>
        </p:spPr>
        <p:txBody>
          <a:bodyPr/>
          <a:lstStyle/>
          <a:p>
            <a:endParaRPr lang="en-US"/>
          </a:p>
        </p:txBody>
      </p:sp>
      <p:sp>
        <p:nvSpPr>
          <p:cNvPr id="21" name="Text 19"/>
          <p:cNvSpPr/>
          <p:nvPr/>
        </p:nvSpPr>
        <p:spPr>
          <a:xfrm>
            <a:off x="7207250" y="3349030"/>
            <a:ext cx="12607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Sans" pitchFamily="34" charset="0"/>
                <a:ea typeface="IBM Plex Sans" pitchFamily="34" charset="-122"/>
                <a:cs typeface="IBM Plex Sans" pitchFamily="34" charset="-120"/>
              </a:rPr>
              <a:t>1 large model call</a:t>
            </a:r>
            <a:endParaRPr lang="en-US" sz="1200" dirty="0"/>
          </a:p>
        </p:txBody>
      </p:sp>
      <p:sp>
        <p:nvSpPr>
          <p:cNvPr id="22" name="Shape 20"/>
          <p:cNvSpPr/>
          <p:nvPr/>
        </p:nvSpPr>
        <p:spPr>
          <a:xfrm>
            <a:off x="9483725" y="1908175"/>
            <a:ext cx="1892300" cy="1835150"/>
          </a:xfrm>
          <a:prstGeom prst="roundRect">
            <a:avLst>
              <a:gd name="adj" fmla="val 5363"/>
            </a:avLst>
          </a:prstGeom>
          <a:solidFill>
            <a:srgbClr val="FDFEFE"/>
          </a:solidFill>
          <a:ln w="6350">
            <a:solidFill>
              <a:srgbClr val="D6E1E6"/>
            </a:solidFill>
            <a:prstDash val="solid"/>
          </a:ln>
        </p:spPr>
        <p:txBody>
          <a:bodyPr/>
          <a:lstStyle/>
          <a:p>
            <a:endParaRPr lang="en-US"/>
          </a:p>
        </p:txBody>
      </p:sp>
      <p:sp>
        <p:nvSpPr>
          <p:cNvPr id="23" name="Text 21"/>
          <p:cNvSpPr/>
          <p:nvPr/>
        </p:nvSpPr>
        <p:spPr>
          <a:xfrm>
            <a:off x="9639300" y="2063750"/>
            <a:ext cx="16319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duplicate_check</a:t>
            </a:r>
            <a:endParaRPr lang="en-US" sz="1200" dirty="0"/>
          </a:p>
        </p:txBody>
      </p:sp>
      <p:sp>
        <p:nvSpPr>
          <p:cNvPr id="24" name="Text 22"/>
          <p:cNvSpPr/>
          <p:nvPr/>
        </p:nvSpPr>
        <p:spPr>
          <a:xfrm>
            <a:off x="9639300" y="2327870"/>
            <a:ext cx="16319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rejects near-duplicates by title and meaning</a:t>
            </a:r>
            <a:endParaRPr lang="en-US" sz="1200" dirty="0"/>
          </a:p>
        </p:txBody>
      </p:sp>
      <p:sp>
        <p:nvSpPr>
          <p:cNvPr id="25" name="Shape 23"/>
          <p:cNvSpPr/>
          <p:nvPr/>
        </p:nvSpPr>
        <p:spPr>
          <a:xfrm>
            <a:off x="9639300" y="3323630"/>
            <a:ext cx="1333054" cy="264120"/>
          </a:xfrm>
          <a:prstGeom prst="roundRect">
            <a:avLst>
              <a:gd name="adj" fmla="val 19234"/>
            </a:avLst>
          </a:prstGeom>
          <a:solidFill>
            <a:srgbClr val="FBEDE6"/>
          </a:solidFill>
          <a:ln/>
        </p:spPr>
        <p:txBody>
          <a:bodyPr/>
          <a:lstStyle/>
          <a:p>
            <a:endParaRPr lang="en-US"/>
          </a:p>
        </p:txBody>
      </p:sp>
      <p:sp>
        <p:nvSpPr>
          <p:cNvPr id="26" name="Text 24"/>
          <p:cNvSpPr/>
          <p:nvPr/>
        </p:nvSpPr>
        <p:spPr>
          <a:xfrm>
            <a:off x="9715500" y="3349030"/>
            <a:ext cx="12314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502C"/>
                </a:solidFill>
                <a:latin typeface="IBM Plex Sans" pitchFamily="34" charset="0"/>
                <a:ea typeface="IBM Plex Sans" pitchFamily="34" charset="-122"/>
                <a:cs typeface="IBM Plex Sans" pitchFamily="34" charset="-120"/>
              </a:rPr>
              <a:t>+1 call if rejected</a:t>
            </a:r>
            <a:endParaRPr lang="en-US" sz="1200" dirty="0"/>
          </a:p>
        </p:txBody>
      </p:sp>
      <p:pic>
        <p:nvPicPr>
          <p:cNvPr id="27" name="Image 0" descr="connector"/>
          <p:cNvPicPr>
            <a:picLocks noChangeAspect="1"/>
          </p:cNvPicPr>
          <p:nvPr/>
        </p:nvPicPr>
        <p:blipFill>
          <a:blip r:embed="rId3"/>
          <a:srcRect/>
          <a:stretch/>
        </p:blipFill>
        <p:spPr>
          <a:xfrm>
            <a:off x="2679700" y="2774950"/>
            <a:ext cx="679450" cy="101600"/>
          </a:xfrm>
          <a:prstGeom prst="rect">
            <a:avLst/>
          </a:prstGeom>
        </p:spPr>
      </p:pic>
      <p:pic>
        <p:nvPicPr>
          <p:cNvPr id="28" name="Image 1" descr="connector"/>
          <p:cNvPicPr>
            <a:picLocks noChangeAspect="1"/>
          </p:cNvPicPr>
          <p:nvPr/>
        </p:nvPicPr>
        <p:blipFill>
          <a:blip r:embed="rId3"/>
          <a:srcRect/>
          <a:stretch/>
        </p:blipFill>
        <p:spPr>
          <a:xfrm>
            <a:off x="6330950" y="2774950"/>
            <a:ext cx="679450" cy="101600"/>
          </a:xfrm>
          <a:prstGeom prst="rect">
            <a:avLst/>
          </a:prstGeom>
        </p:spPr>
      </p:pic>
      <p:pic>
        <p:nvPicPr>
          <p:cNvPr id="29" name="Image 2" descr="connector"/>
          <p:cNvPicPr>
            <a:picLocks noChangeAspect="1"/>
          </p:cNvPicPr>
          <p:nvPr/>
        </p:nvPicPr>
        <p:blipFill>
          <a:blip r:embed="rId3"/>
          <a:srcRect/>
          <a:stretch/>
        </p:blipFill>
        <p:spPr>
          <a:xfrm>
            <a:off x="8839200" y="2774950"/>
            <a:ext cx="679450" cy="101600"/>
          </a:xfrm>
          <a:prstGeom prst="rect">
            <a:avLst/>
          </a:prstGeom>
        </p:spPr>
      </p:pic>
      <p:sp>
        <p:nvSpPr>
          <p:cNvPr id="30" name="Shape 25"/>
          <p:cNvSpPr/>
          <p:nvPr/>
        </p:nvSpPr>
        <p:spPr>
          <a:xfrm>
            <a:off x="815975" y="4067175"/>
            <a:ext cx="5149850" cy="1309241"/>
          </a:xfrm>
          <a:prstGeom prst="roundRect">
            <a:avLst>
              <a:gd name="adj" fmla="val 7518"/>
            </a:avLst>
          </a:prstGeom>
          <a:solidFill>
            <a:srgbClr val="FDFEFE"/>
          </a:solidFill>
          <a:ln w="6350">
            <a:solidFill>
              <a:srgbClr val="D6E1E6"/>
            </a:solidFill>
            <a:prstDash val="solid"/>
          </a:ln>
        </p:spPr>
        <p:txBody>
          <a:bodyPr/>
          <a:lstStyle/>
          <a:p>
            <a:endParaRPr lang="en-US"/>
          </a:p>
        </p:txBody>
      </p:sp>
      <p:sp>
        <p:nvSpPr>
          <p:cNvPr id="31" name="Text 26"/>
          <p:cNvSpPr/>
          <p:nvPr/>
        </p:nvSpPr>
        <p:spPr>
          <a:xfrm>
            <a:off x="996950" y="4248150"/>
            <a:ext cx="493153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Its tools: four sources it can look things up in</a:t>
            </a:r>
            <a:endParaRPr lang="en-US" sz="1400" dirty="0"/>
          </a:p>
        </p:txBody>
      </p:sp>
      <p:sp>
        <p:nvSpPr>
          <p:cNvPr id="32" name="Text 27"/>
          <p:cNvSpPr/>
          <p:nvPr/>
        </p:nvSpPr>
        <p:spPr>
          <a:xfrm>
            <a:off x="996950" y="4555480"/>
            <a:ext cx="493153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round the model picks up to three lookups: search the specification, pull up a screen already seen, find a path to a screen, or check past defects there.</a:t>
            </a:r>
            <a:endParaRPr lang="en-US" sz="1200" dirty="0"/>
          </a:p>
        </p:txBody>
      </p:sp>
      <p:sp>
        <p:nvSpPr>
          <p:cNvPr id="33" name="Shape 28"/>
          <p:cNvSpPr/>
          <p:nvPr/>
        </p:nvSpPr>
        <p:spPr>
          <a:xfrm>
            <a:off x="6226175" y="4067175"/>
            <a:ext cx="5149850" cy="1095921"/>
          </a:xfrm>
          <a:prstGeom prst="roundRect">
            <a:avLst>
              <a:gd name="adj" fmla="val 8981"/>
            </a:avLst>
          </a:prstGeom>
          <a:solidFill>
            <a:srgbClr val="FDFEFE"/>
          </a:solidFill>
          <a:ln w="6350">
            <a:solidFill>
              <a:srgbClr val="D6E1E6"/>
            </a:solidFill>
            <a:prstDash val="solid"/>
          </a:ln>
        </p:spPr>
        <p:txBody>
          <a:bodyPr/>
          <a:lstStyle/>
          <a:p>
            <a:endParaRPr lang="en-US"/>
          </a:p>
        </p:txBody>
      </p:sp>
      <p:sp>
        <p:nvSpPr>
          <p:cNvPr id="34" name="Text 29"/>
          <p:cNvSpPr/>
          <p:nvPr/>
        </p:nvSpPr>
        <p:spPr>
          <a:xfrm>
            <a:off x="6407150" y="4248150"/>
            <a:ext cx="493153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When it stops looking</a:t>
            </a:r>
            <a:endParaRPr lang="en-US" sz="1400" dirty="0"/>
          </a:p>
        </p:txBody>
      </p:sp>
      <p:sp>
        <p:nvSpPr>
          <p:cNvPr id="35" name="Text 30"/>
          <p:cNvSpPr/>
          <p:nvPr/>
        </p:nvSpPr>
        <p:spPr>
          <a:xfrm>
            <a:off x="6407150" y="4555480"/>
            <a:ext cx="49315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When the model says it is ready, after 2 rounds, when the context passes 9,000 characters, or when a retrieval returns nothing new.</a:t>
            </a:r>
            <a:endParaRPr lang="en-US" sz="1200" dirty="0"/>
          </a:p>
        </p:txBody>
      </p:sp>
      <p:sp>
        <p:nvSpPr>
          <p:cNvPr id="36" name="Text 31"/>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7" name="Text 32"/>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 name="Text 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13</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IN DETAIL</a:t>
            </a:r>
            <a:endParaRPr lang="en-US" sz="1200" dirty="0"/>
          </a:p>
        </p:txBody>
      </p:sp>
      <p:sp>
        <p:nvSpPr>
          <p:cNvPr id="5" name="Text 3"/>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full planning pipeline</a:t>
            </a:r>
            <a:endParaRPr lang="en-US" sz="3000" dirty="0"/>
          </a:p>
        </p:txBody>
      </p:sp>
      <p:sp>
        <p:nvSpPr>
          <p:cNvPr id="6" name="Shape 4"/>
          <p:cNvSpPr/>
          <p:nvPr/>
        </p:nvSpPr>
        <p:spPr>
          <a:xfrm>
            <a:off x="812800" y="1634133"/>
            <a:ext cx="10566400" cy="2489200"/>
          </a:xfrm>
          <a:prstGeom prst="roundRect">
            <a:avLst>
              <a:gd name="adj" fmla="val 4082"/>
            </a:avLst>
          </a:prstGeom>
          <a:solidFill>
            <a:srgbClr val="FDFEFE"/>
          </a:solidFill>
          <a:ln/>
        </p:spPr>
        <p:txBody>
          <a:bodyPr/>
          <a:lstStyle/>
          <a:p>
            <a:endParaRPr lang="en-US"/>
          </a:p>
        </p:txBody>
      </p:sp>
      <p:pic>
        <p:nvPicPr>
          <p:cNvPr id="7" name="Image 0" descr="Planner pipeline, left to right: bootstrap_context, planner_step, a should_continue decision that loops through execute_retrieval, shown in blue as the planner's tools with its four sources srs, live_ui, navtree and defects, then generate_testcase, duplicate_check with a retry path, auto-log to Neo4j, and return to the executor"/>
          <p:cNvPicPr>
            <a:picLocks noChangeAspect="1"/>
          </p:cNvPicPr>
          <p:nvPr/>
        </p:nvPicPr>
        <p:blipFill>
          <a:blip r:embed="rId3"/>
          <a:stretch>
            <a:fillRect/>
          </a:stretch>
        </p:blipFill>
        <p:spPr>
          <a:xfrm>
            <a:off x="819150" y="1745219"/>
            <a:ext cx="10553700" cy="2267028"/>
          </a:xfrm>
          <a:prstGeom prst="rect">
            <a:avLst/>
          </a:prstGeom>
        </p:spPr>
      </p:pic>
      <p:sp>
        <p:nvSpPr>
          <p:cNvPr id="8" name="Shape 5"/>
          <p:cNvSpPr/>
          <p:nvPr/>
        </p:nvSpPr>
        <p:spPr>
          <a:xfrm>
            <a:off x="815975" y="1637308"/>
            <a:ext cx="10560050" cy="2482850"/>
          </a:xfrm>
          <a:prstGeom prst="roundRect">
            <a:avLst>
              <a:gd name="adj" fmla="val 3964"/>
            </a:avLst>
          </a:prstGeom>
          <a:noFill/>
          <a:ln w="6350">
            <a:solidFill>
              <a:srgbClr val="D6E1E6"/>
            </a:solidFill>
            <a:prstDash val="solid"/>
          </a:ln>
        </p:spPr>
        <p:txBody>
          <a:bodyPr/>
          <a:lstStyle/>
          <a:p>
            <a:endParaRPr lang="en-US"/>
          </a:p>
        </p:txBody>
      </p:sp>
      <p:sp>
        <p:nvSpPr>
          <p:cNvPr id="9" name="Shape 6"/>
          <p:cNvSpPr/>
          <p:nvPr/>
        </p:nvSpPr>
        <p:spPr>
          <a:xfrm>
            <a:off x="815975" y="4219575"/>
            <a:ext cx="2540000" cy="1498600"/>
          </a:xfrm>
          <a:prstGeom prst="roundRect">
            <a:avLst>
              <a:gd name="adj" fmla="val 6568"/>
            </a:avLst>
          </a:prstGeom>
          <a:solidFill>
            <a:srgbClr val="FDFEFE"/>
          </a:solidFill>
          <a:ln w="6350">
            <a:solidFill>
              <a:srgbClr val="D6E1E6"/>
            </a:solidFill>
            <a:prstDash val="solid"/>
          </a:ln>
        </p:spPr>
        <p:txBody>
          <a:bodyPr/>
          <a:lstStyle/>
          <a:p>
            <a:endParaRPr lang="en-US"/>
          </a:p>
        </p:txBody>
      </p:sp>
      <p:sp>
        <p:nvSpPr>
          <p:cNvPr id="10" name="Text 7"/>
          <p:cNvSpPr/>
          <p:nvPr/>
        </p:nvSpPr>
        <p:spPr>
          <a:xfrm>
            <a:off x="996950" y="4400550"/>
            <a:ext cx="224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B5E27"/>
                </a:solidFill>
                <a:latin typeface="IBM Plex Sans" pitchFamily="34" charset="0"/>
                <a:ea typeface="IBM Plex Sans" pitchFamily="34" charset="-122"/>
                <a:cs typeface="IBM Plex Sans" pitchFamily="34" charset="-120"/>
              </a:rPr>
              <a:t>Green: no model call</a:t>
            </a:r>
            <a:endParaRPr lang="en-US" sz="1400" dirty="0"/>
          </a:p>
        </p:txBody>
      </p:sp>
      <p:sp>
        <p:nvSpPr>
          <p:cNvPr id="11" name="Text 8"/>
          <p:cNvSpPr/>
          <p:nvPr/>
        </p:nvSpPr>
        <p:spPr>
          <a:xfrm>
            <a:off x="996950" y="4682480"/>
            <a:ext cx="224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bootstrap_context and the final auto-log are plain graph work.</a:t>
            </a:r>
            <a:endParaRPr lang="en-US" sz="1200" dirty="0"/>
          </a:p>
        </p:txBody>
      </p:sp>
      <p:sp>
        <p:nvSpPr>
          <p:cNvPr id="12" name="Shape 9"/>
          <p:cNvSpPr/>
          <p:nvPr/>
        </p:nvSpPr>
        <p:spPr>
          <a:xfrm>
            <a:off x="3489325" y="4219575"/>
            <a:ext cx="2540000" cy="1498600"/>
          </a:xfrm>
          <a:prstGeom prst="roundRect">
            <a:avLst>
              <a:gd name="adj" fmla="val 6568"/>
            </a:avLst>
          </a:prstGeom>
          <a:solidFill>
            <a:srgbClr val="FDFEFE"/>
          </a:solidFill>
          <a:ln w="6350">
            <a:solidFill>
              <a:srgbClr val="D6E1E6"/>
            </a:solidFill>
            <a:prstDash val="solid"/>
          </a:ln>
        </p:spPr>
        <p:txBody>
          <a:bodyPr/>
          <a:lstStyle/>
          <a:p>
            <a:endParaRPr lang="en-US"/>
          </a:p>
        </p:txBody>
      </p:sp>
      <p:sp>
        <p:nvSpPr>
          <p:cNvPr id="13" name="Text 10"/>
          <p:cNvSpPr/>
          <p:nvPr/>
        </p:nvSpPr>
        <p:spPr>
          <a:xfrm>
            <a:off x="3670300" y="4400550"/>
            <a:ext cx="224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4A87"/>
                </a:solidFill>
                <a:latin typeface="IBM Plex Sans" pitchFamily="34" charset="0"/>
                <a:ea typeface="IBM Plex Sans" pitchFamily="34" charset="-122"/>
                <a:cs typeface="IBM Plex Sans" pitchFamily="34" charset="-120"/>
              </a:rPr>
              <a:t>Blue: the planner's tools</a:t>
            </a:r>
            <a:endParaRPr lang="en-US" sz="1400" dirty="0"/>
          </a:p>
        </p:txBody>
      </p:sp>
      <p:sp>
        <p:nvSpPr>
          <p:cNvPr id="14" name="Text 11"/>
          <p:cNvSpPr/>
          <p:nvPr/>
        </p:nvSpPr>
        <p:spPr>
          <a:xfrm>
            <a:off x="3670300" y="4682480"/>
            <a:ext cx="224339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planner_step picks up to 3 lookups, each a source and a query; this step runs them.</a:t>
            </a:r>
            <a:endParaRPr lang="en-US" sz="1200" dirty="0"/>
          </a:p>
        </p:txBody>
      </p:sp>
      <p:sp>
        <p:nvSpPr>
          <p:cNvPr id="15" name="Shape 12"/>
          <p:cNvSpPr/>
          <p:nvPr/>
        </p:nvSpPr>
        <p:spPr>
          <a:xfrm>
            <a:off x="6162675" y="4219575"/>
            <a:ext cx="2540000" cy="1498600"/>
          </a:xfrm>
          <a:prstGeom prst="roundRect">
            <a:avLst>
              <a:gd name="adj" fmla="val 6568"/>
            </a:avLst>
          </a:prstGeom>
          <a:solidFill>
            <a:srgbClr val="FDFEFE"/>
          </a:solidFill>
          <a:ln w="6350">
            <a:solidFill>
              <a:srgbClr val="D6E1E6"/>
            </a:solidFill>
            <a:prstDash val="solid"/>
          </a:ln>
        </p:spPr>
        <p:txBody>
          <a:bodyPr/>
          <a:lstStyle/>
          <a:p>
            <a:endParaRPr lang="en-US"/>
          </a:p>
        </p:txBody>
      </p:sp>
      <p:sp>
        <p:nvSpPr>
          <p:cNvPr id="16" name="Text 13"/>
          <p:cNvSpPr/>
          <p:nvPr/>
        </p:nvSpPr>
        <p:spPr>
          <a:xfrm>
            <a:off x="6343650" y="4400550"/>
            <a:ext cx="224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8B1A1A"/>
                </a:solidFill>
                <a:latin typeface="IBM Plex Sans" pitchFamily="34" charset="0"/>
                <a:ea typeface="IBM Plex Sans" pitchFamily="34" charset="-122"/>
                <a:cs typeface="IBM Plex Sans" pitchFamily="34" charset="-120"/>
              </a:rPr>
              <a:t>Red: a model call</a:t>
            </a:r>
            <a:endParaRPr lang="en-US" sz="1400" dirty="0"/>
          </a:p>
        </p:txBody>
      </p:sp>
      <p:sp>
        <p:nvSpPr>
          <p:cNvPr id="17" name="Text 14"/>
          <p:cNvSpPr/>
          <p:nvPr/>
        </p:nvSpPr>
        <p:spPr>
          <a:xfrm>
            <a:off x="6343650" y="4682480"/>
            <a:ext cx="2243392"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planner_step is small, generate_testcase is large, and the retry fires only on a near-duplicate.</a:t>
            </a:r>
            <a:endParaRPr lang="en-US" sz="1200" dirty="0"/>
          </a:p>
        </p:txBody>
      </p:sp>
      <p:sp>
        <p:nvSpPr>
          <p:cNvPr id="18" name="Shape 15"/>
          <p:cNvSpPr/>
          <p:nvPr/>
        </p:nvSpPr>
        <p:spPr>
          <a:xfrm>
            <a:off x="8836025" y="4219575"/>
            <a:ext cx="2540000" cy="1498600"/>
          </a:xfrm>
          <a:prstGeom prst="roundRect">
            <a:avLst>
              <a:gd name="adj" fmla="val 6568"/>
            </a:avLst>
          </a:prstGeom>
          <a:solidFill>
            <a:srgbClr val="FDFEFE"/>
          </a:solidFill>
          <a:ln w="6350">
            <a:solidFill>
              <a:srgbClr val="D6E1E6"/>
            </a:solidFill>
            <a:prstDash val="solid"/>
          </a:ln>
        </p:spPr>
        <p:txBody>
          <a:bodyPr/>
          <a:lstStyle/>
          <a:p>
            <a:endParaRPr lang="en-US"/>
          </a:p>
        </p:txBody>
      </p:sp>
      <p:sp>
        <p:nvSpPr>
          <p:cNvPr id="19" name="Text 16"/>
          <p:cNvSpPr/>
          <p:nvPr/>
        </p:nvSpPr>
        <p:spPr>
          <a:xfrm>
            <a:off x="9017000" y="4400550"/>
            <a:ext cx="224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7A4A10"/>
                </a:solidFill>
                <a:latin typeface="IBM Plex Sans" pitchFamily="34" charset="0"/>
                <a:ea typeface="IBM Plex Sans" pitchFamily="34" charset="-122"/>
                <a:cs typeface="IBM Plex Sans" pitchFamily="34" charset="-120"/>
              </a:rPr>
              <a:t>Amber: a decision</a:t>
            </a:r>
            <a:endParaRPr lang="en-US" sz="1400" dirty="0"/>
          </a:p>
        </p:txBody>
      </p:sp>
      <p:sp>
        <p:nvSpPr>
          <p:cNvPr id="20" name="Text 17"/>
          <p:cNvSpPr/>
          <p:nvPr/>
        </p:nvSpPr>
        <p:spPr>
          <a:xfrm>
            <a:off x="9017000" y="4682480"/>
            <a:ext cx="224339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Keep retrieving, or write? And is the draft distinct enough to keep?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TOOLS MODE · PLANNED THE COMMERCE CAMPAIGN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Tools mode: the model calls each tool itself</a:t>
            </a:r>
            <a:endParaRPr lang="en-US" sz="3000" dirty="0"/>
          </a:p>
        </p:txBody>
      </p:sp>
      <p:sp>
        <p:nvSpPr>
          <p:cNvPr id="4" name="Shape 2"/>
          <p:cNvSpPr/>
          <p:nvPr/>
        </p:nvSpPr>
        <p:spPr>
          <a:xfrm>
            <a:off x="812800" y="1775420"/>
            <a:ext cx="294680" cy="264120"/>
          </a:xfrm>
          <a:prstGeom prst="roundRect">
            <a:avLst>
              <a:gd name="adj" fmla="val 50000"/>
            </a:avLst>
          </a:prstGeom>
          <a:solidFill>
            <a:srgbClr val="0F7EA8"/>
          </a:solidFill>
          <a:ln/>
        </p:spPr>
        <p:txBody>
          <a:bodyPr/>
          <a:lstStyle/>
          <a:p>
            <a:endParaRPr lang="en-US"/>
          </a:p>
        </p:txBody>
      </p:sp>
      <p:sp>
        <p:nvSpPr>
          <p:cNvPr id="5" name="Text 3"/>
          <p:cNvSpPr/>
          <p:nvPr/>
        </p:nvSpPr>
        <p:spPr>
          <a:xfrm>
            <a:off x="914400" y="180082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234480" y="1775420"/>
            <a:ext cx="545212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 short brief</a:t>
            </a:r>
            <a:endParaRPr lang="en-US" sz="1400" dirty="0"/>
          </a:p>
        </p:txBody>
      </p:sp>
      <p:sp>
        <p:nvSpPr>
          <p:cNvPr id="7" name="Text 5"/>
          <p:cNvSpPr/>
          <p:nvPr/>
        </p:nvSpPr>
        <p:spPr>
          <a:xfrm>
            <a:off x="1234480" y="2031950"/>
            <a:ext cx="5452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coverage map, the last few runs and the open questions.</a:t>
            </a:r>
            <a:endParaRPr lang="en-US" sz="1200" dirty="0"/>
          </a:p>
        </p:txBody>
      </p:sp>
      <p:sp>
        <p:nvSpPr>
          <p:cNvPr id="8" name="Shape 6"/>
          <p:cNvSpPr/>
          <p:nvPr/>
        </p:nvSpPr>
        <p:spPr>
          <a:xfrm>
            <a:off x="812800" y="2397671"/>
            <a:ext cx="294680" cy="264120"/>
          </a:xfrm>
          <a:prstGeom prst="roundRect">
            <a:avLst>
              <a:gd name="adj" fmla="val 50000"/>
            </a:avLst>
          </a:prstGeom>
          <a:solidFill>
            <a:srgbClr val="0F7EA8"/>
          </a:solidFill>
          <a:ln/>
        </p:spPr>
        <p:txBody>
          <a:bodyPr/>
          <a:lstStyle/>
          <a:p>
            <a:endParaRPr lang="en-US"/>
          </a:p>
        </p:txBody>
      </p:sp>
      <p:sp>
        <p:nvSpPr>
          <p:cNvPr id="9" name="Text 7"/>
          <p:cNvSpPr/>
          <p:nvPr/>
        </p:nvSpPr>
        <p:spPr>
          <a:xfrm>
            <a:off x="914400" y="2423071"/>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1234480" y="2397671"/>
            <a:ext cx="545212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 investigates</a:t>
            </a:r>
            <a:endParaRPr lang="en-US" sz="1400" dirty="0"/>
          </a:p>
        </p:txBody>
      </p:sp>
      <p:sp>
        <p:nvSpPr>
          <p:cNvPr id="11" name="Text 9"/>
          <p:cNvSpPr/>
          <p:nvPr/>
        </p:nvSpPr>
        <p:spPr>
          <a:xfrm>
            <a:off x="1234480" y="2654201"/>
            <a:ext cx="5452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It calls a graph tool, reads the answer, and chooses the next question.</a:t>
            </a:r>
            <a:endParaRPr lang="en-US" sz="1200" dirty="0"/>
          </a:p>
        </p:txBody>
      </p:sp>
      <p:sp>
        <p:nvSpPr>
          <p:cNvPr id="12" name="Shape 10"/>
          <p:cNvSpPr/>
          <p:nvPr/>
        </p:nvSpPr>
        <p:spPr>
          <a:xfrm>
            <a:off x="812800" y="3019921"/>
            <a:ext cx="294680" cy="264120"/>
          </a:xfrm>
          <a:prstGeom prst="roundRect">
            <a:avLst>
              <a:gd name="adj" fmla="val 50000"/>
            </a:avLst>
          </a:prstGeom>
          <a:solidFill>
            <a:srgbClr val="0F7EA8"/>
          </a:solidFill>
          <a:ln/>
        </p:spPr>
        <p:txBody>
          <a:bodyPr/>
          <a:lstStyle/>
          <a:p>
            <a:endParaRPr lang="en-US"/>
          </a:p>
        </p:txBody>
      </p:sp>
      <p:sp>
        <p:nvSpPr>
          <p:cNvPr id="13" name="Text 11"/>
          <p:cNvSpPr/>
          <p:nvPr/>
        </p:nvSpPr>
        <p:spPr>
          <a:xfrm>
            <a:off x="914400" y="3045321"/>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1234480" y="3019921"/>
            <a:ext cx="545212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 proposes</a:t>
            </a:r>
            <a:endParaRPr lang="en-US" sz="1400" dirty="0"/>
          </a:p>
        </p:txBody>
      </p:sp>
      <p:sp>
        <p:nvSpPr>
          <p:cNvPr id="15" name="Text 13"/>
          <p:cNvSpPr/>
          <p:nvPr/>
        </p:nvSpPr>
        <p:spPr>
          <a:xfrm>
            <a:off x="1234480" y="3276451"/>
            <a:ext cx="5452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One call to propose_test_case, which must pass the gate on the right.</a:t>
            </a:r>
            <a:endParaRPr lang="en-US" sz="1200" dirty="0"/>
          </a:p>
        </p:txBody>
      </p:sp>
      <p:sp>
        <p:nvSpPr>
          <p:cNvPr id="16" name="Shape 14"/>
          <p:cNvSpPr/>
          <p:nvPr/>
        </p:nvSpPr>
        <p:spPr>
          <a:xfrm>
            <a:off x="6734175" y="1778595"/>
            <a:ext cx="4641850" cy="2553643"/>
          </a:xfrm>
          <a:prstGeom prst="roundRect">
            <a:avLst>
              <a:gd name="adj" fmla="val 3854"/>
            </a:avLst>
          </a:prstGeom>
          <a:solidFill>
            <a:srgbClr val="FDFEFE"/>
          </a:solidFill>
          <a:ln w="6350">
            <a:solidFill>
              <a:srgbClr val="D6E1E6"/>
            </a:solidFill>
            <a:prstDash val="solid"/>
          </a:ln>
        </p:spPr>
        <p:txBody>
          <a:bodyPr/>
          <a:lstStyle/>
          <a:p>
            <a:endParaRPr lang="en-US"/>
          </a:p>
        </p:txBody>
      </p:sp>
      <p:sp>
        <p:nvSpPr>
          <p:cNvPr id="17" name="Text 15"/>
          <p:cNvSpPr/>
          <p:nvPr/>
        </p:nvSpPr>
        <p:spPr>
          <a:xfrm>
            <a:off x="6940550" y="1984970"/>
            <a:ext cx="435597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proposal is validated</a:t>
            </a:r>
            <a:endParaRPr lang="en-US" sz="1400" dirty="0"/>
          </a:p>
        </p:txBody>
      </p:sp>
      <p:sp>
        <p:nvSpPr>
          <p:cNvPr id="18" name="Text 16"/>
          <p:cNvSpPr/>
          <p:nvPr/>
        </p:nvSpPr>
        <p:spPr>
          <a:xfrm>
            <a:off x="6940550" y="2317700"/>
            <a:ext cx="4355973"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It is rejected if it names a screen never observed, cites a requirement id that does not exist, repeats an earlier test, needs a precondition the tester cannot create, or falls outside the agreed scope. The model gets the reason and tries again, up to 3 times.</a:t>
            </a:r>
            <a:endParaRPr lang="en-US" sz="1200" dirty="0"/>
          </a:p>
        </p:txBody>
      </p:sp>
      <p:sp>
        <p:nvSpPr>
          <p:cNvPr id="19" name="Text 17"/>
          <p:cNvSpPr/>
          <p:nvPr/>
        </p:nvSpPr>
        <p:spPr>
          <a:xfrm>
            <a:off x="6940550" y="3485902"/>
            <a:ext cx="435597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Across all its commerce runs: 989 tool calls for 101 proposals, all nine tools used, most often search_requirements (247) and get_screen (199).</a:t>
            </a:r>
            <a:endParaRPr lang="en-US" sz="1200" dirty="0"/>
          </a:p>
        </p:txBody>
      </p:sp>
      <p:sp>
        <p:nvSpPr>
          <p:cNvPr id="20" name="Text 18"/>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635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TOOLS MODE · THE TOOLS</a:t>
            </a:r>
            <a:endParaRPr lang="en-US" sz="1200" dirty="0"/>
          </a:p>
        </p:txBody>
      </p:sp>
      <p:sp>
        <p:nvSpPr>
          <p:cNvPr id="3" name="Text 1"/>
          <p:cNvSpPr/>
          <p:nvPr/>
        </p:nvSpPr>
        <p:spPr>
          <a:xfrm>
            <a:off x="812800" y="924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is allowed to ask the graph</a:t>
            </a:r>
            <a:endParaRPr lang="en-US" sz="3000" dirty="0"/>
          </a:p>
        </p:txBody>
      </p:sp>
      <p:sp>
        <p:nvSpPr>
          <p:cNvPr id="4" name="Text 2"/>
          <p:cNvSpPr/>
          <p:nvPr/>
        </p:nvSpPr>
        <p:spPr>
          <a:xfrm>
            <a:off x="812800" y="14198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Nine read-only tools, each answering one question. A tool whose source has no data is never offered.</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8241"/>
          <a:ext cx="10553700" cy="3326800"/>
        </p:xfrm>
        <a:graphic>
          <a:graphicData uri="http://schemas.openxmlformats.org/drawingml/2006/table">
            <a:tbl>
              <a:tblPr/>
              <a:tblGrid>
                <a:gridCol w="3377184">
                  <a:extLst>
                    <a:ext uri="{9D8B030D-6E8A-4147-A177-3AD203B41FA5}">
                      <a16:colId xmlns:a16="http://schemas.microsoft.com/office/drawing/2014/main" val="20000"/>
                    </a:ext>
                  </a:extLst>
                </a:gridCol>
                <a:gridCol w="5065776">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Tool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it answers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Offered when</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search_requirements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semantic and keyword search over the specification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list_untested_requirements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coverage frontier: what no executed test covers yet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get_screen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real controls observed on one screen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list_screens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every screen actually seen, with visit counts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get_nav_path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to a screen the executor has already walked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exists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findings_summary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counts of everything earlier runs found, per screen and kind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list_findings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claims themselves: confirmed, suspected, unverified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list_open_questions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questions earlier runs raised but never settled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get_coverage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tests run, failing hot spots, dead ends, exhausted areas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 3"/>
          <p:cNvSpPr/>
          <p:nvPr/>
        </p:nvSpPr>
        <p:spPr>
          <a:xfrm>
            <a:off x="812800" y="5277445"/>
            <a:ext cx="10883392" cy="25653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46596A"/>
                </a:solidFill>
                <a:latin typeface="Source Serif 4" pitchFamily="34" charset="0"/>
                <a:ea typeface="Source Serif 4" pitchFamily="34" charset="-122"/>
                <a:cs typeface="Source Serif 4" pitchFamily="34" charset="-120"/>
              </a:rPr>
              <a:t>So an empty answer can never mislead the model into planning against something that is not there.</a:t>
            </a:r>
            <a:endParaRPr lang="en-US" sz="1300" dirty="0"/>
          </a:p>
        </p:txBody>
      </p:sp>
      <p:sp>
        <p:nvSpPr>
          <p:cNvPr id="7" name="Text 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8" name="Text 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TOOLS MODE · ONE ROUND</a:t>
            </a:r>
            <a:endParaRPr lang="en-US" sz="1200" dirty="0"/>
          </a:p>
        </p:txBody>
      </p:sp>
      <p:sp>
        <p:nvSpPr>
          <p:cNvPr id="3" name="Text 1"/>
          <p:cNvSpPr/>
          <p:nvPr/>
        </p:nvSpPr>
        <p:spPr>
          <a:xfrm>
            <a:off x="812800" y="10007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planning round, call by call</a:t>
            </a:r>
            <a:endParaRPr lang="en-US" sz="3000" dirty="0"/>
          </a:p>
        </p:txBody>
      </p:sp>
      <p:sp>
        <p:nvSpPr>
          <p:cNvPr id="4" name="Shape 2"/>
          <p:cNvSpPr/>
          <p:nvPr/>
        </p:nvSpPr>
        <p:spPr>
          <a:xfrm>
            <a:off x="815975" y="1562695"/>
            <a:ext cx="10560050" cy="803870"/>
          </a:xfrm>
          <a:prstGeom prst="roundRect">
            <a:avLst>
              <a:gd name="adj" fmla="val 12244"/>
            </a:avLst>
          </a:prstGeom>
          <a:solidFill>
            <a:srgbClr val="FDFEFE"/>
          </a:solidFill>
          <a:ln w="6350">
            <a:solidFill>
              <a:srgbClr val="D6E1E6"/>
            </a:solidFill>
            <a:prstDash val="solid"/>
          </a:ln>
        </p:spPr>
        <p:txBody>
          <a:bodyPr/>
          <a:lstStyle/>
          <a:p>
            <a:endParaRPr lang="en-US"/>
          </a:p>
        </p:txBody>
      </p:sp>
      <p:sp>
        <p:nvSpPr>
          <p:cNvPr id="5" name="Shape 3"/>
          <p:cNvSpPr/>
          <p:nvPr/>
        </p:nvSpPr>
        <p:spPr>
          <a:xfrm>
            <a:off x="1022350" y="1760141"/>
            <a:ext cx="1270000" cy="408930"/>
          </a:xfrm>
          <a:prstGeom prst="roundRect">
            <a:avLst>
              <a:gd name="adj" fmla="val 18634"/>
            </a:avLst>
          </a:prstGeom>
          <a:solidFill>
            <a:srgbClr val="0F6E94"/>
          </a:solidFill>
          <a:ln/>
        </p:spPr>
        <p:txBody>
          <a:bodyPr/>
          <a:lstStyle/>
          <a:p>
            <a:endParaRPr lang="en-US"/>
          </a:p>
        </p:txBody>
      </p:sp>
      <p:sp>
        <p:nvSpPr>
          <p:cNvPr id="6" name="Text 4"/>
          <p:cNvSpPr/>
          <p:nvPr/>
        </p:nvSpPr>
        <p:spPr>
          <a:xfrm>
            <a:off x="996950" y="184904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Calls 1–3</a:t>
            </a:r>
            <a:endParaRPr lang="en-US" sz="1300" dirty="0"/>
          </a:p>
        </p:txBody>
      </p:sp>
      <p:sp>
        <p:nvSpPr>
          <p:cNvPr id="7" name="Text 5"/>
          <p:cNvSpPr/>
          <p:nvPr/>
        </p:nvSpPr>
        <p:spPr>
          <a:xfrm>
            <a:off x="2495550" y="1705570"/>
            <a:ext cx="893432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Orient: what is known, and where the gaps are</a:t>
            </a:r>
            <a:endParaRPr lang="en-US" sz="1500" dirty="0"/>
          </a:p>
        </p:txBody>
      </p:sp>
      <p:sp>
        <p:nvSpPr>
          <p:cNvPr id="8" name="Text 6"/>
          <p:cNvSpPr/>
          <p:nvPr/>
        </p:nvSpPr>
        <p:spPr>
          <a:xfrm>
            <a:off x="2495550" y="2010370"/>
            <a:ext cx="89343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Mono" pitchFamily="34" charset="0"/>
                <a:ea typeface="IBM Plex Mono" pitchFamily="34" charset="-122"/>
                <a:cs typeface="IBM Plex Mono" pitchFamily="34" charset="-120"/>
              </a:rPr>
              <a:t>findings_summary, get_coverage, list_screens</a:t>
            </a:r>
            <a:endParaRPr lang="en-US" sz="1200" dirty="0"/>
          </a:p>
        </p:txBody>
      </p:sp>
      <p:sp>
        <p:nvSpPr>
          <p:cNvPr id="9" name="Shape 7"/>
          <p:cNvSpPr/>
          <p:nvPr/>
        </p:nvSpPr>
        <p:spPr>
          <a:xfrm>
            <a:off x="815975" y="2512616"/>
            <a:ext cx="10560050" cy="803870"/>
          </a:xfrm>
          <a:prstGeom prst="roundRect">
            <a:avLst>
              <a:gd name="adj" fmla="val 12244"/>
            </a:avLst>
          </a:prstGeom>
          <a:solidFill>
            <a:srgbClr val="FDFEFE"/>
          </a:solidFill>
          <a:ln w="6350">
            <a:solidFill>
              <a:srgbClr val="D6E1E6"/>
            </a:solidFill>
            <a:prstDash val="solid"/>
          </a:ln>
        </p:spPr>
        <p:txBody>
          <a:bodyPr/>
          <a:lstStyle/>
          <a:p>
            <a:endParaRPr lang="en-US"/>
          </a:p>
        </p:txBody>
      </p:sp>
      <p:sp>
        <p:nvSpPr>
          <p:cNvPr id="10" name="Shape 8"/>
          <p:cNvSpPr/>
          <p:nvPr/>
        </p:nvSpPr>
        <p:spPr>
          <a:xfrm>
            <a:off x="1022350" y="2710061"/>
            <a:ext cx="1270000" cy="408930"/>
          </a:xfrm>
          <a:prstGeom prst="roundRect">
            <a:avLst>
              <a:gd name="adj" fmla="val 18634"/>
            </a:avLst>
          </a:prstGeom>
          <a:solidFill>
            <a:srgbClr val="0F6E94"/>
          </a:solidFill>
          <a:ln/>
        </p:spPr>
        <p:txBody>
          <a:bodyPr/>
          <a:lstStyle/>
          <a:p>
            <a:endParaRPr lang="en-US"/>
          </a:p>
        </p:txBody>
      </p:sp>
      <p:sp>
        <p:nvSpPr>
          <p:cNvPr id="11" name="Text 9"/>
          <p:cNvSpPr/>
          <p:nvPr/>
        </p:nvSpPr>
        <p:spPr>
          <a:xfrm>
            <a:off x="996950" y="2798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Call 4</a:t>
            </a:r>
            <a:endParaRPr lang="en-US" sz="1300" dirty="0"/>
          </a:p>
        </p:txBody>
      </p:sp>
      <p:sp>
        <p:nvSpPr>
          <p:cNvPr id="12" name="Text 10"/>
          <p:cNvSpPr/>
          <p:nvPr/>
        </p:nvSpPr>
        <p:spPr>
          <a:xfrm>
            <a:off x="2495550" y="2655491"/>
            <a:ext cx="893432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Pick up an unfinished thread</a:t>
            </a:r>
            <a:endParaRPr lang="en-US" sz="1500" dirty="0"/>
          </a:p>
        </p:txBody>
      </p:sp>
      <p:sp>
        <p:nvSpPr>
          <p:cNvPr id="13" name="Text 11"/>
          <p:cNvSpPr/>
          <p:nvPr/>
        </p:nvSpPr>
        <p:spPr>
          <a:xfrm>
            <a:off x="2495550" y="2960291"/>
            <a:ext cx="89343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Mono" pitchFamily="34" charset="0"/>
                <a:ea typeface="IBM Plex Mono" pitchFamily="34" charset="-122"/>
                <a:cs typeface="IBM Plex Mono" pitchFamily="34" charset="-120"/>
              </a:rPr>
              <a:t>list_open_questions, list_findings</a:t>
            </a:r>
            <a:endParaRPr lang="en-US" sz="1200" dirty="0"/>
          </a:p>
        </p:txBody>
      </p:sp>
      <p:sp>
        <p:nvSpPr>
          <p:cNvPr id="14" name="Shape 12"/>
          <p:cNvSpPr/>
          <p:nvPr/>
        </p:nvSpPr>
        <p:spPr>
          <a:xfrm>
            <a:off x="815975" y="3462536"/>
            <a:ext cx="10560050" cy="803870"/>
          </a:xfrm>
          <a:prstGeom prst="roundRect">
            <a:avLst>
              <a:gd name="adj" fmla="val 12244"/>
            </a:avLst>
          </a:prstGeom>
          <a:solidFill>
            <a:srgbClr val="FDFEFE"/>
          </a:solidFill>
          <a:ln w="6350">
            <a:solidFill>
              <a:srgbClr val="D6E1E6"/>
            </a:solidFill>
            <a:prstDash val="solid"/>
          </a:ln>
        </p:spPr>
        <p:txBody>
          <a:bodyPr/>
          <a:lstStyle/>
          <a:p>
            <a:endParaRPr lang="en-US"/>
          </a:p>
        </p:txBody>
      </p:sp>
      <p:sp>
        <p:nvSpPr>
          <p:cNvPr id="15" name="Shape 13"/>
          <p:cNvSpPr/>
          <p:nvPr/>
        </p:nvSpPr>
        <p:spPr>
          <a:xfrm>
            <a:off x="1022350" y="3659981"/>
            <a:ext cx="1270000" cy="408930"/>
          </a:xfrm>
          <a:prstGeom prst="roundRect">
            <a:avLst>
              <a:gd name="adj" fmla="val 18634"/>
            </a:avLst>
          </a:prstGeom>
          <a:solidFill>
            <a:srgbClr val="0F6E94"/>
          </a:solidFill>
          <a:ln/>
        </p:spPr>
        <p:txBody>
          <a:bodyPr/>
          <a:lstStyle/>
          <a:p>
            <a:endParaRPr lang="en-US"/>
          </a:p>
        </p:txBody>
      </p:sp>
      <p:sp>
        <p:nvSpPr>
          <p:cNvPr id="16" name="Text 14"/>
          <p:cNvSpPr/>
          <p:nvPr/>
        </p:nvSpPr>
        <p:spPr>
          <a:xfrm>
            <a:off x="996950" y="374888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Call 5 onward</a:t>
            </a:r>
            <a:endParaRPr lang="en-US" sz="1300" dirty="0"/>
          </a:p>
        </p:txBody>
      </p:sp>
      <p:sp>
        <p:nvSpPr>
          <p:cNvPr id="17" name="Text 15"/>
          <p:cNvSpPr/>
          <p:nvPr/>
        </p:nvSpPr>
        <p:spPr>
          <a:xfrm>
            <a:off x="2495550" y="3605411"/>
            <a:ext cx="893432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Ground it: a real requirement and a real screen</a:t>
            </a:r>
            <a:endParaRPr lang="en-US" sz="1500" dirty="0"/>
          </a:p>
        </p:txBody>
      </p:sp>
      <p:sp>
        <p:nvSpPr>
          <p:cNvPr id="18" name="Text 16"/>
          <p:cNvSpPr/>
          <p:nvPr/>
        </p:nvSpPr>
        <p:spPr>
          <a:xfrm>
            <a:off x="2495550" y="3910211"/>
            <a:ext cx="89343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Mono" pitchFamily="34" charset="0"/>
                <a:ea typeface="IBM Plex Mono" pitchFamily="34" charset="-122"/>
                <a:cs typeface="IBM Plex Mono" pitchFamily="34" charset="-120"/>
              </a:rPr>
              <a:t>search_requirements, get_screen</a:t>
            </a:r>
            <a:endParaRPr lang="en-US" sz="1200" dirty="0"/>
          </a:p>
        </p:txBody>
      </p:sp>
      <p:sp>
        <p:nvSpPr>
          <p:cNvPr id="19" name="Shape 17"/>
          <p:cNvSpPr/>
          <p:nvPr/>
        </p:nvSpPr>
        <p:spPr>
          <a:xfrm>
            <a:off x="815975" y="4412456"/>
            <a:ext cx="10560050" cy="803870"/>
          </a:xfrm>
          <a:prstGeom prst="roundRect">
            <a:avLst>
              <a:gd name="adj" fmla="val 12244"/>
            </a:avLst>
          </a:prstGeom>
          <a:solidFill>
            <a:srgbClr val="FDFEFE"/>
          </a:solidFill>
          <a:ln w="6350">
            <a:solidFill>
              <a:srgbClr val="D6E1E6"/>
            </a:solidFill>
            <a:prstDash val="solid"/>
          </a:ln>
        </p:spPr>
        <p:txBody>
          <a:bodyPr/>
          <a:lstStyle/>
          <a:p>
            <a:endParaRPr lang="en-US"/>
          </a:p>
        </p:txBody>
      </p:sp>
      <p:sp>
        <p:nvSpPr>
          <p:cNvPr id="20" name="Shape 18"/>
          <p:cNvSpPr/>
          <p:nvPr/>
        </p:nvSpPr>
        <p:spPr>
          <a:xfrm>
            <a:off x="1022350" y="4609902"/>
            <a:ext cx="1270000" cy="408930"/>
          </a:xfrm>
          <a:prstGeom prst="roundRect">
            <a:avLst>
              <a:gd name="adj" fmla="val 18634"/>
            </a:avLst>
          </a:prstGeom>
          <a:solidFill>
            <a:srgbClr val="A9502C"/>
          </a:solidFill>
          <a:ln/>
        </p:spPr>
        <p:txBody>
          <a:bodyPr/>
          <a:lstStyle/>
          <a:p>
            <a:endParaRPr lang="en-US"/>
          </a:p>
        </p:txBody>
      </p:sp>
      <p:sp>
        <p:nvSpPr>
          <p:cNvPr id="21" name="Text 19"/>
          <p:cNvSpPr/>
          <p:nvPr/>
        </p:nvSpPr>
        <p:spPr>
          <a:xfrm>
            <a:off x="996950" y="4698802"/>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Turn 7 onward</a:t>
            </a:r>
            <a:endParaRPr lang="en-US" sz="1300" dirty="0"/>
          </a:p>
        </p:txBody>
      </p:sp>
      <p:sp>
        <p:nvSpPr>
          <p:cNvPr id="22" name="Text 20"/>
          <p:cNvSpPr/>
          <p:nvPr/>
        </p:nvSpPr>
        <p:spPr>
          <a:xfrm>
            <a:off x="2495550" y="4555331"/>
            <a:ext cx="893432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03D"/>
                </a:solidFill>
                <a:latin typeface="IBM Plex Sans" pitchFamily="34" charset="0"/>
                <a:ea typeface="IBM Plex Sans" pitchFamily="34" charset="-122"/>
                <a:cs typeface="IBM Plex Sans" pitchFamily="34" charset="-120"/>
              </a:rPr>
              <a:t>Forced to commit, then validated</a:t>
            </a:r>
            <a:endParaRPr lang="en-US" sz="1500" dirty="0"/>
          </a:p>
        </p:txBody>
      </p:sp>
      <p:sp>
        <p:nvSpPr>
          <p:cNvPr id="23" name="Text 21"/>
          <p:cNvSpPr/>
          <p:nvPr/>
        </p:nvSpPr>
        <p:spPr>
          <a:xfrm>
            <a:off x="2495550" y="4860131"/>
            <a:ext cx="89343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Mono" pitchFamily="34" charset="0"/>
                <a:ea typeface="IBM Plex Mono" pitchFamily="34" charset="-122"/>
                <a:cs typeface="IBM Plex Mono" pitchFamily="34" charset="-120"/>
              </a:rPr>
              <a:t>the tool choice is pinned to propose_test_case</a:t>
            </a:r>
            <a:endParaRPr lang="en-US" sz="1200" dirty="0"/>
          </a:p>
        </p:txBody>
      </p:sp>
      <p:sp>
        <p:nvSpPr>
          <p:cNvPr id="24" name="Text 22"/>
          <p:cNvSpPr/>
          <p:nvPr/>
        </p:nvSpPr>
        <p:spPr>
          <a:xfrm>
            <a:off x="812800" y="535920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The most common tool at each position, over 62 rounds on the commerce app; a median of 13 calls per round. Ceiling of 12 turns: left free, the first live run investigated for ten turns and never proposed.</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THE OUTPUT CONTRACT</a:t>
            </a:r>
            <a:endParaRPr lang="en-US" sz="1200" dirty="0"/>
          </a:p>
        </p:txBody>
      </p:sp>
      <p:sp>
        <p:nvSpPr>
          <p:cNvPr id="3" name="Text 1"/>
          <p:cNvSpPr/>
          <p:nvPr/>
        </p:nvSpPr>
        <p:spPr>
          <a:xfrm>
            <a:off x="812800" y="10007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actually emits</a:t>
            </a:r>
            <a:endParaRPr lang="en-US" sz="3000" dirty="0"/>
          </a:p>
        </p:txBody>
      </p:sp>
      <p:sp>
        <p:nvSpPr>
          <p:cNvPr id="4" name="Text 2"/>
          <p:cNvSpPr/>
          <p:nvPr/>
        </p:nvSpPr>
        <p:spPr>
          <a:xfrm>
            <a:off x="812800" y="14960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A test case in plain language, never a tap sequence. Both planner modes emit the same fields.</a:t>
            </a:r>
            <a:endParaRPr lang="en-US" sz="1200" dirty="0"/>
          </a:p>
        </p:txBody>
      </p:sp>
      <p:sp>
        <p:nvSpPr>
          <p:cNvPr id="5" name="Shape 3"/>
          <p:cNvSpPr/>
          <p:nvPr/>
        </p:nvSpPr>
        <p:spPr>
          <a:xfrm>
            <a:off x="812800" y="1887141"/>
            <a:ext cx="3937000" cy="2777133"/>
          </a:xfrm>
          <a:prstGeom prst="roundRect">
            <a:avLst>
              <a:gd name="adj" fmla="val 3658"/>
            </a:avLst>
          </a:prstGeom>
          <a:solidFill>
            <a:srgbClr val="14303D"/>
          </a:solidFill>
          <a:ln/>
        </p:spPr>
        <p:txBody>
          <a:bodyPr/>
          <a:lstStyle/>
          <a:p>
            <a:endParaRPr lang="en-US"/>
          </a:p>
        </p:txBody>
      </p:sp>
      <p:sp>
        <p:nvSpPr>
          <p:cNvPr id="6" name="Text 4"/>
          <p:cNvSpPr/>
          <p:nvPr/>
        </p:nvSpPr>
        <p:spPr>
          <a:xfrm>
            <a:off x="1092200" y="2115741"/>
            <a:ext cx="3479546" cy="2345333"/>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title</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objective</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expected_result</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preconditions[]</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screen_hint</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area · priority · test_type</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requirement_ids[]</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rationale</a:t>
            </a:r>
            <a:endParaRPr lang="en-US" sz="1400" dirty="0"/>
          </a:p>
          <a:p>
            <a:pPr marL="0" indent="0" algn="l">
              <a:lnSpc>
                <a:spcPts val="2030"/>
              </a:lnSpc>
              <a:buNone/>
            </a:pPr>
            <a:r>
              <a:rPr lang="en-US" sz="1400" dirty="0">
                <a:solidFill>
                  <a:srgbClr val="F3F6F5"/>
                </a:solidFill>
                <a:latin typeface="IBM Plex Mono" pitchFamily="34" charset="0"/>
                <a:ea typeface="IBM Plex Mono" pitchFamily="34" charset="-122"/>
                <a:cs typeface="IBM Plex Mono" pitchFamily="34" charset="-120"/>
              </a:rPr>
              <a:t>addresses</a:t>
            </a:r>
            <a:endParaRPr lang="en-US" sz="1400" dirty="0"/>
          </a:p>
        </p:txBody>
      </p:sp>
      <p:sp>
        <p:nvSpPr>
          <p:cNvPr id="7" name="Shape 5"/>
          <p:cNvSpPr/>
          <p:nvPr/>
        </p:nvSpPr>
        <p:spPr>
          <a:xfrm>
            <a:off x="5006975" y="1890316"/>
            <a:ext cx="6369050" cy="2770783"/>
          </a:xfrm>
          <a:prstGeom prst="roundRect">
            <a:avLst>
              <a:gd name="adj" fmla="val 3552"/>
            </a:avLst>
          </a:prstGeom>
          <a:solidFill>
            <a:srgbClr val="FDFEFE"/>
          </a:solidFill>
          <a:ln w="6350">
            <a:solidFill>
              <a:srgbClr val="D6E1E6"/>
            </a:solidFill>
            <a:prstDash val="solid"/>
          </a:ln>
        </p:spPr>
        <p:txBody>
          <a:bodyPr/>
          <a:lstStyle/>
          <a:p>
            <a:endParaRPr lang="en-US"/>
          </a:p>
        </p:txBody>
      </p:sp>
      <p:sp>
        <p:nvSpPr>
          <p:cNvPr id="8" name="Text 6"/>
          <p:cNvSpPr/>
          <p:nvPr/>
        </p:nvSpPr>
        <p:spPr>
          <a:xfrm>
            <a:off x="5264150" y="2096691"/>
            <a:ext cx="60303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TC-003 · commerce app · tools mode</a:t>
            </a:r>
            <a:endParaRPr lang="en-US" sz="1200" dirty="0"/>
          </a:p>
        </p:txBody>
      </p:sp>
      <p:sp>
        <p:nvSpPr>
          <p:cNvPr id="9" name="Text 7"/>
          <p:cNvSpPr/>
          <p:nvPr/>
        </p:nvSpPr>
        <p:spPr>
          <a:xfrm>
            <a:off x="5264150" y="2398911"/>
            <a:ext cx="60303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Mono" pitchFamily="34" charset="0"/>
                <a:ea typeface="IBM Plex Mono" pitchFamily="34" charset="-122"/>
                <a:cs typeface="IBM Plex Mono" pitchFamily="34" charset="-120"/>
              </a:rPr>
              <a:t>objective</a:t>
            </a:r>
            <a:endParaRPr lang="en-US" sz="1200" dirty="0"/>
          </a:p>
        </p:txBody>
      </p:sp>
      <p:sp>
        <p:nvSpPr>
          <p:cNvPr id="10" name="Text 8"/>
          <p:cNvSpPr/>
          <p:nvPr/>
        </p:nvSpPr>
        <p:spPr>
          <a:xfrm>
            <a:off x="5264150" y="2701131"/>
            <a:ext cx="603034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303D"/>
                </a:solidFill>
                <a:latin typeface="Source Serif 4" pitchFamily="34" charset="0"/>
                <a:ea typeface="Source Serif 4" pitchFamily="34" charset="-122"/>
                <a:cs typeface="Source Serif 4" pitchFamily="34" charset="-120"/>
              </a:rPr>
              <a:t>“Verify that clearing the farm name field to empty and attempting to save produces a visible error identifying the farm name as required.”</a:t>
            </a:r>
            <a:endParaRPr lang="en-US" sz="1400" dirty="0"/>
          </a:p>
        </p:txBody>
      </p:sp>
      <p:sp>
        <p:nvSpPr>
          <p:cNvPr id="11" name="Text 9"/>
          <p:cNvSpPr/>
          <p:nvPr/>
        </p:nvSpPr>
        <p:spPr>
          <a:xfrm>
            <a:off x="5264150" y="3287812"/>
            <a:ext cx="142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Mono" pitchFamily="34" charset="0"/>
                <a:ea typeface="IBM Plex Mono" pitchFamily="34" charset="-122"/>
                <a:cs typeface="IBM Plex Mono" pitchFamily="34" charset="-120"/>
              </a:rPr>
              <a:t>requirement_ids</a:t>
            </a:r>
            <a:endParaRPr lang="en-US" sz="1200" dirty="0"/>
          </a:p>
        </p:txBody>
      </p:sp>
      <p:sp>
        <p:nvSpPr>
          <p:cNvPr id="12" name="Text 10"/>
          <p:cNvSpPr/>
          <p:nvPr/>
        </p:nvSpPr>
        <p:spPr>
          <a:xfrm>
            <a:off x="5264150" y="3526532"/>
            <a:ext cx="14224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03D"/>
                </a:solidFill>
                <a:latin typeface="IBM Plex Mono" pitchFamily="34" charset="0"/>
                <a:ea typeface="IBM Plex Mono" pitchFamily="34" charset="-122"/>
                <a:cs typeface="IBM Plex Mono" pitchFamily="34" charset="-120"/>
              </a:rPr>
              <a:t>FR-FARM-04</a:t>
            </a:r>
            <a:endParaRPr lang="en-US" sz="1300" dirty="0"/>
          </a:p>
        </p:txBody>
      </p:sp>
      <p:sp>
        <p:nvSpPr>
          <p:cNvPr id="13" name="Text 11"/>
          <p:cNvSpPr/>
          <p:nvPr/>
        </p:nvSpPr>
        <p:spPr>
          <a:xfrm>
            <a:off x="6889750" y="3287812"/>
            <a:ext cx="1041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Mono" pitchFamily="34" charset="0"/>
                <a:ea typeface="IBM Plex Mono" pitchFamily="34" charset="-122"/>
                <a:cs typeface="IBM Plex Mono" pitchFamily="34" charset="-120"/>
              </a:rPr>
              <a:t>addresses</a:t>
            </a:r>
            <a:endParaRPr lang="en-US" sz="1200" dirty="0"/>
          </a:p>
        </p:txBody>
      </p:sp>
      <p:sp>
        <p:nvSpPr>
          <p:cNvPr id="14" name="Text 12"/>
          <p:cNvSpPr/>
          <p:nvPr/>
        </p:nvSpPr>
        <p:spPr>
          <a:xfrm>
            <a:off x="6889750" y="3526532"/>
            <a:ext cx="10414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03D"/>
                </a:solidFill>
                <a:latin typeface="IBM Plex Mono" pitchFamily="34" charset="0"/>
                <a:ea typeface="IBM Plex Mono" pitchFamily="34" charset="-122"/>
                <a:cs typeface="IBM Plex Mono" pitchFamily="34" charset="-120"/>
              </a:rPr>
              <a:t>F-422162fd</a:t>
            </a:r>
            <a:endParaRPr lang="en-US" sz="1300" dirty="0"/>
          </a:p>
        </p:txBody>
      </p:sp>
      <p:sp>
        <p:nvSpPr>
          <p:cNvPr id="15" name="Text 13"/>
          <p:cNvSpPr/>
          <p:nvPr/>
        </p:nvSpPr>
        <p:spPr>
          <a:xfrm>
            <a:off x="5264150" y="3846562"/>
            <a:ext cx="603034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 ids make requirement coverage reportable. </a:t>
            </a:r>
            <a:r>
              <a:rPr lang="en-US" sz="1200" b="1" dirty="0">
                <a:solidFill>
                  <a:srgbClr val="46596A"/>
                </a:solidFill>
                <a:latin typeface="IBM Plex Sans" pitchFamily="34" charset="0"/>
                <a:ea typeface="IBM Plex Sans" pitchFamily="34" charset="-122"/>
                <a:cs typeface="IBM Plex Sans" pitchFamily="34" charset="-120"/>
              </a:rPr>
              <a:t>addresses</a:t>
            </a:r>
            <a:r>
              <a:rPr lang="en-US" sz="1200" dirty="0">
                <a:solidFill>
                  <a:srgbClr val="46596A"/>
                </a:solidFill>
                <a:latin typeface="IBM Plex Sans" pitchFamily="34" charset="0"/>
                <a:ea typeface="IBM Plex Sans" pitchFamily="34" charset="-122"/>
                <a:cs typeface="IBM Plex Sans" pitchFamily="34" charset="-120"/>
              </a:rPr>
              <a:t> names the open question this test settles: an earlier run suspected farm names were never validated.</a:t>
            </a:r>
            <a:endParaRPr lang="en-US" sz="1200" dirty="0"/>
          </a:p>
        </p:txBody>
      </p:sp>
      <p:sp>
        <p:nvSpPr>
          <p:cNvPr id="16" name="Text 1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WHERE TO GO NEXT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Where to test next, without repeating itself</a:t>
            </a:r>
            <a:endParaRPr lang="en-US" sz="3000" dirty="0"/>
          </a:p>
        </p:txBody>
      </p:sp>
      <p:sp>
        <p:nvSpPr>
          <p:cNvPr id="4" name="Shape 2"/>
          <p:cNvSpPr/>
          <p:nvPr/>
        </p:nvSpPr>
        <p:spPr>
          <a:xfrm>
            <a:off x="815975" y="1778595"/>
            <a:ext cx="3380284" cy="1283841"/>
          </a:xfrm>
          <a:prstGeom prst="roundRect">
            <a:avLst>
              <a:gd name="adj" fmla="val 7666"/>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1959570"/>
            <a:ext cx="3108884"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Steered to the gaps</a:t>
            </a:r>
            <a:endParaRPr lang="en-US" sz="1400" dirty="0"/>
          </a:p>
        </p:txBody>
      </p:sp>
      <p:sp>
        <p:nvSpPr>
          <p:cNvPr id="6" name="Text 4"/>
          <p:cNvSpPr/>
          <p:nvPr/>
        </p:nvSpPr>
        <p:spPr>
          <a:xfrm>
            <a:off x="996950" y="2241500"/>
            <a:ext cx="310888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coverage map and an exploration directive point it at untested requirements and feature areas.</a:t>
            </a:r>
            <a:endParaRPr lang="en-US" sz="1200" dirty="0"/>
          </a:p>
        </p:txBody>
      </p:sp>
      <p:sp>
        <p:nvSpPr>
          <p:cNvPr id="7" name="Shape 5"/>
          <p:cNvSpPr/>
          <p:nvPr/>
        </p:nvSpPr>
        <p:spPr>
          <a:xfrm>
            <a:off x="4405809" y="1778595"/>
            <a:ext cx="3380333" cy="1283841"/>
          </a:xfrm>
          <a:prstGeom prst="roundRect">
            <a:avLst>
              <a:gd name="adj" fmla="val 7666"/>
            </a:avLst>
          </a:prstGeom>
          <a:solidFill>
            <a:srgbClr val="FDFEFE"/>
          </a:solidFill>
          <a:ln w="6350">
            <a:solidFill>
              <a:srgbClr val="D6E1E6"/>
            </a:solidFill>
            <a:prstDash val="solid"/>
          </a:ln>
        </p:spPr>
        <p:txBody>
          <a:bodyPr/>
          <a:lstStyle/>
          <a:p>
            <a:endParaRPr lang="en-US"/>
          </a:p>
        </p:txBody>
      </p:sp>
      <p:sp>
        <p:nvSpPr>
          <p:cNvPr id="8" name="Text 6"/>
          <p:cNvSpPr/>
          <p:nvPr/>
        </p:nvSpPr>
        <p:spPr>
          <a:xfrm>
            <a:off x="4586784" y="1959570"/>
            <a:ext cx="3108935"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 cap on every area</a:t>
            </a:r>
            <a:endParaRPr lang="en-US" sz="1400" dirty="0"/>
          </a:p>
        </p:txBody>
      </p:sp>
      <p:sp>
        <p:nvSpPr>
          <p:cNvPr id="9" name="Text 7"/>
          <p:cNvSpPr/>
          <p:nvPr/>
        </p:nvSpPr>
        <p:spPr>
          <a:xfrm>
            <a:off x="4586784" y="2241500"/>
            <a:ext cx="310893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After 5 tests an area is marked spent and is no longer promoted, whatever its results.</a:t>
            </a:r>
            <a:endParaRPr lang="en-US" sz="1200" dirty="0"/>
          </a:p>
        </p:txBody>
      </p:sp>
      <p:sp>
        <p:nvSpPr>
          <p:cNvPr id="10" name="Shape 8"/>
          <p:cNvSpPr/>
          <p:nvPr/>
        </p:nvSpPr>
        <p:spPr>
          <a:xfrm>
            <a:off x="7995692" y="1778595"/>
            <a:ext cx="3380333" cy="1283841"/>
          </a:xfrm>
          <a:prstGeom prst="roundRect">
            <a:avLst>
              <a:gd name="adj" fmla="val 7666"/>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8176667" y="1959570"/>
            <a:ext cx="3108935"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No near-duplicates</a:t>
            </a:r>
            <a:endParaRPr lang="en-US" sz="1400" dirty="0"/>
          </a:p>
        </p:txBody>
      </p:sp>
      <p:sp>
        <p:nvSpPr>
          <p:cNvPr id="12" name="Text 10"/>
          <p:cNvSpPr/>
          <p:nvPr/>
        </p:nvSpPr>
        <p:spPr>
          <a:xfrm>
            <a:off x="8176667" y="2241500"/>
            <a:ext cx="310893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new title is compared with every earlier test, by word overlap (0.60) and by meaning (0.90 cosine).</a:t>
            </a:r>
            <a:endParaRPr lang="en-US" sz="1200" dirty="0"/>
          </a:p>
        </p:txBody>
      </p:sp>
      <p:sp>
        <p:nvSpPr>
          <p:cNvPr id="13" name="Shape 11"/>
          <p:cNvSpPr/>
          <p:nvPr/>
        </p:nvSpPr>
        <p:spPr>
          <a:xfrm>
            <a:off x="815975" y="3271986"/>
            <a:ext cx="105600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4" name="Text 12"/>
          <p:cNvSpPr/>
          <p:nvPr/>
        </p:nvSpPr>
        <p:spPr>
          <a:xfrm>
            <a:off x="1022350" y="3452961"/>
            <a:ext cx="10451719"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A9502C"/>
                </a:solidFill>
                <a:latin typeface="IBM Plex Sans" pitchFamily="34" charset="0"/>
                <a:ea typeface="IBM Plex Sans" pitchFamily="34" charset="-122"/>
                <a:cs typeface="IBM Plex Sans" pitchFamily="34" charset="-120"/>
              </a:rPr>
              <a:t>Why the cap was needed</a:t>
            </a:r>
            <a:endParaRPr lang="en-US" sz="1400" dirty="0"/>
          </a:p>
        </p:txBody>
      </p:sp>
      <p:sp>
        <p:nvSpPr>
          <p:cNvPr id="15" name="Text 13"/>
          <p:cNvSpPr/>
          <p:nvPr/>
        </p:nvSpPr>
        <p:spPr>
          <a:xfrm>
            <a:off x="1022350" y="3734891"/>
            <a:ext cx="104517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one 13-round campaign, 9 tests landed on the same screen: a failing area kept being promoted, and nothing ever retired it. The intuitive fix, stopping once an area yields nothing new, would never have fired, because the ninth test was still producing technically new findings.</a:t>
            </a:r>
            <a:endParaRPr lang="en-US" sz="1200" dirty="0"/>
          </a:p>
        </p:txBody>
      </p:sp>
      <p:sp>
        <p:nvSpPr>
          <p:cNvPr id="16" name="Text 1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PLANNER · ONE REAL TEST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real test, from plan to finding</a:t>
            </a:r>
            <a:endParaRPr lang="en-US" sz="3000" dirty="0"/>
          </a:p>
        </p:txBody>
      </p:sp>
      <p:sp>
        <p:nvSpPr>
          <p:cNvPr id="4" name="Shape 2"/>
          <p:cNvSpPr/>
          <p:nvPr/>
        </p:nvSpPr>
        <p:spPr>
          <a:xfrm>
            <a:off x="815975" y="1778595"/>
            <a:ext cx="6343650" cy="3813274"/>
          </a:xfrm>
          <a:prstGeom prst="roundRect">
            <a:avLst>
              <a:gd name="adj" fmla="val 2581"/>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22350" y="1984970"/>
            <a:ext cx="61088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TC-018 · written by the planner</a:t>
            </a:r>
            <a:endParaRPr lang="en-US" sz="1200" dirty="0"/>
          </a:p>
        </p:txBody>
      </p:sp>
      <p:sp>
        <p:nvSpPr>
          <p:cNvPr id="6" name="Text 4"/>
          <p:cNvSpPr/>
          <p:nvPr/>
        </p:nvSpPr>
        <p:spPr>
          <a:xfrm>
            <a:off x="1022350" y="2287191"/>
            <a:ext cx="6108827"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4303D"/>
                </a:solidFill>
                <a:latin typeface="IBM Plex Sans" pitchFamily="34" charset="0"/>
                <a:ea typeface="IBM Plex Sans" pitchFamily="34" charset="-122"/>
                <a:cs typeface="IBM Plex Sans" pitchFamily="34" charset="-120"/>
              </a:rPr>
              <a:t>Verify duplicate detection triggers for a phone number match when the display name is intentionally different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868811"/>
          <a:ext cx="5918200" cy="2516683"/>
        </p:xfrm>
        <a:graphic>
          <a:graphicData uri="http://schemas.openxmlformats.org/drawingml/2006/table">
            <a:tbl>
              <a:tblPr/>
              <a:tblGrid>
                <a:gridCol w="1420368">
                  <a:extLst>
                    <a:ext uri="{9D8B030D-6E8A-4147-A177-3AD203B41FA5}">
                      <a16:colId xmlns:a16="http://schemas.microsoft.com/office/drawing/2014/main" val="20000"/>
                    </a:ext>
                  </a:extLst>
                </a:gridCol>
                <a:gridCol w="4497832">
                  <a:extLst>
                    <a:ext uri="{9D8B030D-6E8A-4147-A177-3AD203B41FA5}">
                      <a16:colId xmlns:a16="http://schemas.microsoft.com/office/drawing/2014/main" val="20001"/>
                    </a:ext>
                  </a:extLst>
                </a:gridCol>
              </a:tblGrid>
              <a:tr h="332680">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the planner wrote (condensed)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Requirements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FR-DUP-02, FR-DUP-04</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extLst>
                  <a:ext uri="{0D108BD9-81ED-4DB2-BD59-A6C34878D82A}">
                    <a16:rowId xmlns:a16="http://schemas.microsoft.com/office/drawing/2014/main" val="10001"/>
                  </a:ext>
                </a:extLst>
              </a:tr>
              <a:tr h="75932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Why this test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Earlier runs saw silent duplicates but left phone-only detection unverified. A different name isolates FR-DUP-02 from the name rule.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Objective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Create a contact with a new name but an existing contact’s phone number.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Expected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duplicate dialog shows both records (FR-DUP-04), instead of a silent save.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7369175" y="1778595"/>
            <a:ext cx="4006850" cy="1042591"/>
          </a:xfrm>
          <a:prstGeom prst="roundRect">
            <a:avLst>
              <a:gd name="adj" fmla="val 9440"/>
            </a:avLst>
          </a:prstGeom>
          <a:solidFill>
            <a:srgbClr val="FDFEFE"/>
          </a:solidFill>
          <a:ln w="6350">
            <a:solidFill>
              <a:srgbClr val="D6E1E6"/>
            </a:solidFill>
            <a:prstDash val="solid"/>
          </a:ln>
        </p:spPr>
        <p:txBody>
          <a:bodyPr/>
          <a:lstStyle/>
          <a:p>
            <a:endParaRPr lang="en-US"/>
          </a:p>
        </p:txBody>
      </p:sp>
      <p:sp>
        <p:nvSpPr>
          <p:cNvPr id="9" name="Text 6"/>
          <p:cNvSpPr/>
          <p:nvPr/>
        </p:nvSpPr>
        <p:spPr>
          <a:xfrm>
            <a:off x="7550150" y="1934170"/>
            <a:ext cx="375424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a:t>
            </a:r>
            <a:endParaRPr lang="en-US" sz="1200" dirty="0"/>
          </a:p>
        </p:txBody>
      </p:sp>
      <p:sp>
        <p:nvSpPr>
          <p:cNvPr id="10" name="Text 7"/>
          <p:cNvSpPr/>
          <p:nvPr/>
        </p:nvSpPr>
        <p:spPr>
          <a:xfrm>
            <a:off x="7550150" y="2185591"/>
            <a:ext cx="375424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4303D"/>
                </a:solidFill>
                <a:latin typeface="IBM Plex Sans" pitchFamily="34" charset="0"/>
                <a:ea typeface="IBM Plex Sans" pitchFamily="34" charset="-122"/>
                <a:cs typeface="IBM Plex Sans" pitchFamily="34" charset="-120"/>
              </a:rPr>
              <a:t>48 steps. Created and saved the contact, then found both entries in the list.</a:t>
            </a:r>
            <a:endParaRPr lang="en-US" sz="1400" dirty="0"/>
          </a:p>
        </p:txBody>
      </p:sp>
      <p:sp>
        <p:nvSpPr>
          <p:cNvPr id="11" name="Shape 8"/>
          <p:cNvSpPr/>
          <p:nvPr/>
        </p:nvSpPr>
        <p:spPr>
          <a:xfrm>
            <a:off x="7369175" y="2929136"/>
            <a:ext cx="4006850" cy="1042591"/>
          </a:xfrm>
          <a:prstGeom prst="roundRect">
            <a:avLst>
              <a:gd name="adj" fmla="val 9440"/>
            </a:avLst>
          </a:prstGeom>
          <a:solidFill>
            <a:srgbClr val="FDFEFE"/>
          </a:solidFill>
          <a:ln w="6350">
            <a:solidFill>
              <a:srgbClr val="D6E1E6"/>
            </a:solidFill>
            <a:prstDash val="solid"/>
          </a:ln>
        </p:spPr>
        <p:txBody>
          <a:bodyPr/>
          <a:lstStyle/>
          <a:p>
            <a:endParaRPr lang="en-US"/>
          </a:p>
        </p:txBody>
      </p:sp>
      <p:sp>
        <p:nvSpPr>
          <p:cNvPr id="12" name="Text 9"/>
          <p:cNvSpPr/>
          <p:nvPr/>
        </p:nvSpPr>
        <p:spPr>
          <a:xfrm>
            <a:off x="7550150" y="3084711"/>
            <a:ext cx="375424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13" name="Text 10"/>
          <p:cNvSpPr/>
          <p:nvPr/>
        </p:nvSpPr>
        <p:spPr>
          <a:xfrm>
            <a:off x="7550150" y="3336131"/>
            <a:ext cx="375424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4303D"/>
                </a:solidFill>
                <a:latin typeface="IBM Plex Sans" pitchFamily="34" charset="0"/>
                <a:ea typeface="IBM Plex Sans" pitchFamily="34" charset="-122"/>
                <a:cs typeface="IBM Plex Sans" pitchFamily="34" charset="-120"/>
              </a:rPr>
              <a:t>Objective refuted · spec violation, high severity</a:t>
            </a:r>
            <a:endParaRPr lang="en-US" sz="1400" dirty="0"/>
          </a:p>
        </p:txBody>
      </p:sp>
      <p:sp>
        <p:nvSpPr>
          <p:cNvPr id="14" name="Shape 11"/>
          <p:cNvSpPr/>
          <p:nvPr/>
        </p:nvSpPr>
        <p:spPr>
          <a:xfrm>
            <a:off x="7366000" y="4076502"/>
            <a:ext cx="4013200" cy="1518543"/>
          </a:xfrm>
          <a:prstGeom prst="roundRect">
            <a:avLst>
              <a:gd name="adj" fmla="val 6691"/>
            </a:avLst>
          </a:prstGeom>
          <a:solidFill>
            <a:srgbClr val="FBEDE6"/>
          </a:solidFill>
          <a:ln/>
        </p:spPr>
        <p:txBody>
          <a:bodyPr/>
          <a:lstStyle/>
          <a:p>
            <a:endParaRPr lang="en-US"/>
          </a:p>
        </p:txBody>
      </p:sp>
      <p:sp>
        <p:nvSpPr>
          <p:cNvPr id="15" name="Text 12"/>
          <p:cNvSpPr/>
          <p:nvPr/>
        </p:nvSpPr>
        <p:spPr>
          <a:xfrm>
            <a:off x="7543800" y="4228902"/>
            <a:ext cx="376732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502C"/>
                </a:solidFill>
                <a:latin typeface="IBM Plex Sans" pitchFamily="34" charset="0"/>
                <a:ea typeface="IBM Plex Sans" pitchFamily="34" charset="-122"/>
                <a:cs typeface="IBM Plex Sans" pitchFamily="34" charset="-120"/>
              </a:rPr>
              <a:t>ITS VERDICT</a:t>
            </a:r>
            <a:endParaRPr lang="en-US" sz="1200" dirty="0"/>
          </a:p>
        </p:txBody>
      </p:sp>
      <p:sp>
        <p:nvSpPr>
          <p:cNvPr id="16" name="Text 13"/>
          <p:cNvSpPr/>
          <p:nvPr/>
        </p:nvSpPr>
        <p:spPr>
          <a:xfrm>
            <a:off x="7543800" y="4480322"/>
            <a:ext cx="3767328" cy="772071"/>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14303D"/>
                </a:solidFill>
                <a:latin typeface="Source Serif 4" pitchFamily="34" charset="0"/>
                <a:ea typeface="Source Serif 4" pitchFamily="34" charset="-122"/>
                <a:cs typeface="Source Serif 4" pitchFamily="34" charset="-120"/>
              </a:rPr>
              <a:t>“This directly answers the earlier open question: duplicate detection is not triggered by phone-number match alone.”</a:t>
            </a:r>
            <a:endParaRPr lang="en-US" sz="1400" dirty="0"/>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 · THE PLAYER</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We chose the executor by trying several</a:t>
            </a:r>
            <a:endParaRPr lang="en-US" sz="3000" dirty="0"/>
          </a:p>
        </p:txBody>
      </p:sp>
      <p:sp>
        <p:nvSpPr>
          <p:cNvPr id="4" name="Shape 2"/>
          <p:cNvSpPr/>
          <p:nvPr/>
        </p:nvSpPr>
        <p:spPr>
          <a:xfrm>
            <a:off x="815975" y="1778595"/>
            <a:ext cx="4438650" cy="2471291"/>
          </a:xfrm>
          <a:prstGeom prst="roundRect">
            <a:avLst>
              <a:gd name="adj" fmla="val 3983"/>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22350" y="1984970"/>
            <a:ext cx="414667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Surveyed benchmarks, then tried hands-on</a:t>
            </a:r>
            <a:endParaRPr lang="en-US" sz="1400" dirty="0"/>
          </a:p>
        </p:txBody>
      </p:sp>
      <p:sp>
        <p:nvSpPr>
          <p:cNvPr id="6" name="Shape 4"/>
          <p:cNvSpPr/>
          <p:nvPr/>
        </p:nvSpPr>
        <p:spPr>
          <a:xfrm>
            <a:off x="1022350" y="2747566"/>
            <a:ext cx="4025900" cy="0"/>
          </a:xfrm>
          <a:prstGeom prst="line">
            <a:avLst/>
          </a:prstGeom>
          <a:noFill/>
          <a:ln w="6350">
            <a:solidFill>
              <a:srgbClr val="D6E1E6"/>
            </a:solidFill>
            <a:prstDash val="solid"/>
          </a:ln>
        </p:spPr>
        <p:txBody>
          <a:bodyPr/>
          <a:lstStyle/>
          <a:p>
            <a:endParaRPr lang="en-US"/>
          </a:p>
        </p:txBody>
      </p:sp>
      <p:sp>
        <p:nvSpPr>
          <p:cNvPr id="7" name="Text 5"/>
          <p:cNvSpPr/>
          <p:nvPr/>
        </p:nvSpPr>
        <p:spPr>
          <a:xfrm>
            <a:off x="1022350" y="2406600"/>
            <a:ext cx="38685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MUI</a:t>
            </a:r>
            <a:endParaRPr lang="en-US" sz="1400" dirty="0"/>
          </a:p>
        </p:txBody>
      </p:sp>
      <p:sp>
        <p:nvSpPr>
          <p:cNvPr id="8" name="Text 6"/>
          <p:cNvSpPr/>
          <p:nvPr/>
        </p:nvSpPr>
        <p:spPr>
          <a:xfrm>
            <a:off x="4376440" y="242436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9" name="Shape 7"/>
          <p:cNvSpPr/>
          <p:nvPr/>
        </p:nvSpPr>
        <p:spPr>
          <a:xfrm>
            <a:off x="1022350" y="3180606"/>
            <a:ext cx="4025900" cy="0"/>
          </a:xfrm>
          <a:prstGeom prst="line">
            <a:avLst/>
          </a:prstGeom>
          <a:noFill/>
          <a:ln w="6350">
            <a:solidFill>
              <a:srgbClr val="D6E1E6"/>
            </a:solidFill>
            <a:prstDash val="solid"/>
          </a:ln>
        </p:spPr>
        <p:txBody>
          <a:bodyPr/>
          <a:lstStyle/>
          <a:p>
            <a:endParaRPr lang="en-US"/>
          </a:p>
        </p:txBody>
      </p:sp>
      <p:sp>
        <p:nvSpPr>
          <p:cNvPr id="10" name="Text 8"/>
          <p:cNvSpPr/>
          <p:nvPr/>
        </p:nvSpPr>
        <p:spPr>
          <a:xfrm>
            <a:off x="1022350" y="2839641"/>
            <a:ext cx="558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GeLab</a:t>
            </a:r>
            <a:endParaRPr lang="en-US" sz="1400" dirty="0"/>
          </a:p>
        </p:txBody>
      </p:sp>
      <p:sp>
        <p:nvSpPr>
          <p:cNvPr id="11" name="Text 9"/>
          <p:cNvSpPr/>
          <p:nvPr/>
        </p:nvSpPr>
        <p:spPr>
          <a:xfrm>
            <a:off x="4376440" y="285740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2" name="Shape 10"/>
          <p:cNvSpPr/>
          <p:nvPr/>
        </p:nvSpPr>
        <p:spPr>
          <a:xfrm>
            <a:off x="1022350" y="3613646"/>
            <a:ext cx="4025900" cy="0"/>
          </a:xfrm>
          <a:prstGeom prst="line">
            <a:avLst/>
          </a:prstGeom>
          <a:noFill/>
          <a:ln w="6350">
            <a:solidFill>
              <a:srgbClr val="D6E1E6"/>
            </a:solidFill>
            <a:prstDash val="solid"/>
          </a:ln>
        </p:spPr>
        <p:txBody>
          <a:bodyPr/>
          <a:lstStyle/>
          <a:p>
            <a:endParaRPr lang="en-US"/>
          </a:p>
        </p:txBody>
      </p:sp>
      <p:sp>
        <p:nvSpPr>
          <p:cNvPr id="13" name="Text 11"/>
          <p:cNvSpPr/>
          <p:nvPr/>
        </p:nvSpPr>
        <p:spPr>
          <a:xfrm>
            <a:off x="1022350" y="3272681"/>
            <a:ext cx="133399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MobileAgent-V3</a:t>
            </a:r>
            <a:endParaRPr lang="en-US" sz="1400" dirty="0"/>
          </a:p>
        </p:txBody>
      </p:sp>
      <p:sp>
        <p:nvSpPr>
          <p:cNvPr id="14" name="Text 12"/>
          <p:cNvSpPr/>
          <p:nvPr/>
        </p:nvSpPr>
        <p:spPr>
          <a:xfrm>
            <a:off x="4376440" y="329044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5" name="Text 13"/>
          <p:cNvSpPr/>
          <p:nvPr/>
        </p:nvSpPr>
        <p:spPr>
          <a:xfrm>
            <a:off x="1022350" y="3705721"/>
            <a:ext cx="1783819"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mobilerun (Droidrun)</a:t>
            </a:r>
            <a:endParaRPr lang="en-US" sz="1400" dirty="0"/>
          </a:p>
        </p:txBody>
      </p:sp>
      <p:pic>
        <p:nvPicPr>
          <p:cNvPr id="16" name="Image 0" descr="CheckCircle"/>
          <p:cNvPicPr>
            <a:picLocks noChangeAspect="1"/>
          </p:cNvPicPr>
          <p:nvPr/>
        </p:nvPicPr>
        <p:blipFill>
          <a:blip r:embed="rId3"/>
          <a:srcRect/>
          <a:stretch/>
        </p:blipFill>
        <p:spPr>
          <a:xfrm>
            <a:off x="4192339" y="3728541"/>
            <a:ext cx="203200" cy="203200"/>
          </a:xfrm>
          <a:prstGeom prst="rect">
            <a:avLst/>
          </a:prstGeom>
        </p:spPr>
      </p:pic>
      <p:sp>
        <p:nvSpPr>
          <p:cNvPr id="17" name="Text 14"/>
          <p:cNvSpPr/>
          <p:nvPr/>
        </p:nvSpPr>
        <p:spPr>
          <a:xfrm>
            <a:off x="4446339" y="3723481"/>
            <a:ext cx="652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selected</a:t>
            </a:r>
            <a:endParaRPr lang="en-US" sz="1200" dirty="0"/>
          </a:p>
        </p:txBody>
      </p:sp>
      <p:sp>
        <p:nvSpPr>
          <p:cNvPr id="18" name="Shape 15"/>
          <p:cNvSpPr/>
          <p:nvPr/>
        </p:nvSpPr>
        <p:spPr>
          <a:xfrm>
            <a:off x="5464175" y="1778595"/>
            <a:ext cx="5911850" cy="2471291"/>
          </a:xfrm>
          <a:prstGeom prst="roundRect">
            <a:avLst>
              <a:gd name="adj" fmla="val 3983"/>
            </a:avLst>
          </a:prstGeom>
          <a:solidFill>
            <a:srgbClr val="FDFEFE"/>
          </a:solidFill>
          <a:ln w="6350">
            <a:solidFill>
              <a:srgbClr val="D6E1E6"/>
            </a:solidFill>
            <a:prstDash val="solid"/>
          </a:ln>
        </p:spPr>
        <p:txBody>
          <a:bodyPr/>
          <a:lstStyle/>
          <a:p>
            <a:endParaRPr lang="en-US"/>
          </a:p>
        </p:txBody>
      </p:sp>
      <p:sp>
        <p:nvSpPr>
          <p:cNvPr id="19" name="Text 16"/>
          <p:cNvSpPr/>
          <p:nvPr/>
        </p:nvSpPr>
        <p:spPr>
          <a:xfrm>
            <a:off x="5670550" y="1984970"/>
            <a:ext cx="566407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needed from it</a:t>
            </a:r>
            <a:endParaRPr lang="en-US" sz="1400" dirty="0"/>
          </a:p>
        </p:txBody>
      </p:sp>
      <p:sp>
        <p:nvSpPr>
          <p:cNvPr id="20" name="Text 17"/>
          <p:cNvSpPr/>
          <p:nvPr/>
        </p:nvSpPr>
        <p:spPr>
          <a:xfrm>
            <a:off x="5670550" y="2317700"/>
            <a:ext cx="5664073" cy="1130201"/>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Runs from a goal in plain language, not a script</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Drives a real Android device through its accessibility tree and screenshots</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Accepts our own model provider (OpenRouter)</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Saves a step-by-step trajectory we can analyse</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Streams every screen it sees, so we can map the app</a:t>
            </a:r>
            <a:endParaRPr lang="en-US" sz="1200" dirty="0"/>
          </a:p>
        </p:txBody>
      </p:sp>
      <p:sp>
        <p:nvSpPr>
          <p:cNvPr id="21" name="Text 18"/>
          <p:cNvSpPr/>
          <p:nvPr/>
        </p:nvSpPr>
        <p:spPr>
          <a:xfrm>
            <a:off x="812800" y="443086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mobilerun is open source and third-party. Everything around it, on the next slides, is ours.</a:t>
            </a:r>
            <a:endParaRPr lang="en-US" sz="1200" dirty="0"/>
          </a:p>
        </p:txBody>
      </p:sp>
      <p:sp>
        <p:nvSpPr>
          <p:cNvPr id="22" name="Text 19"/>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3" name="Text 20"/>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 · ONE RUN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How a test is executed on the device</a:t>
            </a:r>
            <a:endParaRPr lang="en-US" sz="3000" dirty="0"/>
          </a:p>
        </p:txBody>
      </p:sp>
      <p:sp>
        <p:nvSpPr>
          <p:cNvPr id="4" name="Shape 2"/>
          <p:cNvSpPr/>
          <p:nvPr/>
        </p:nvSpPr>
        <p:spPr>
          <a:xfrm>
            <a:off x="815975" y="1908175"/>
            <a:ext cx="2025650" cy="1708150"/>
          </a:xfrm>
          <a:prstGeom prst="roundRect">
            <a:avLst>
              <a:gd name="adj" fmla="val 5762"/>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2089150"/>
            <a:ext cx="17145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Goal</a:t>
            </a:r>
            <a:endParaRPr lang="en-US" sz="1400" dirty="0"/>
          </a:p>
        </p:txBody>
      </p:sp>
      <p:sp>
        <p:nvSpPr>
          <p:cNvPr id="6" name="Text 4"/>
          <p:cNvSpPr/>
          <p:nvPr/>
        </p:nvSpPr>
        <p:spPr>
          <a:xfrm>
            <a:off x="996950" y="2371080"/>
            <a:ext cx="17145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objective, screen hint, and login and input details</a:t>
            </a:r>
            <a:endParaRPr lang="en-US" sz="1200" dirty="0"/>
          </a:p>
        </p:txBody>
      </p:sp>
      <p:sp>
        <p:nvSpPr>
          <p:cNvPr id="7" name="Shape 5"/>
          <p:cNvSpPr/>
          <p:nvPr/>
        </p:nvSpPr>
        <p:spPr>
          <a:xfrm>
            <a:off x="3308350" y="1911350"/>
            <a:ext cx="5575300" cy="1701800"/>
          </a:xfrm>
          <a:prstGeom prst="roundRect">
            <a:avLst>
              <a:gd name="adj" fmla="val 5597"/>
            </a:avLst>
          </a:prstGeom>
          <a:solidFill>
            <a:srgbClr val="EDF2F4"/>
          </a:solidFill>
          <a:ln w="12700">
            <a:solidFill>
              <a:srgbClr val="0F7EA8"/>
            </a:solidFill>
            <a:prstDash val="dash"/>
          </a:ln>
        </p:spPr>
        <p:txBody>
          <a:bodyPr/>
          <a:lstStyle/>
          <a:p>
            <a:endParaRPr lang="en-US"/>
          </a:p>
        </p:txBody>
      </p:sp>
      <p:sp>
        <p:nvSpPr>
          <p:cNvPr id="8" name="Shape 6"/>
          <p:cNvSpPr/>
          <p:nvPr/>
        </p:nvSpPr>
        <p:spPr>
          <a:xfrm>
            <a:off x="3429000" y="2032000"/>
            <a:ext cx="1524000" cy="937171"/>
          </a:xfrm>
          <a:prstGeom prst="roundRect">
            <a:avLst>
              <a:gd name="adj" fmla="val 6776"/>
            </a:avLst>
          </a:prstGeom>
          <a:solidFill>
            <a:srgbClr val="FDFEFE"/>
          </a:solidFill>
          <a:ln/>
        </p:spPr>
        <p:txBody>
          <a:bodyPr/>
          <a:lstStyle/>
          <a:p>
            <a:endParaRPr lang="en-US"/>
          </a:p>
        </p:txBody>
      </p:sp>
      <p:sp>
        <p:nvSpPr>
          <p:cNvPr id="9" name="Text 7"/>
          <p:cNvSpPr/>
          <p:nvPr/>
        </p:nvSpPr>
        <p:spPr>
          <a:xfrm>
            <a:off x="3556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Observe</a:t>
            </a:r>
            <a:endParaRPr lang="en-US" sz="1400" dirty="0"/>
          </a:p>
        </p:txBody>
      </p:sp>
      <p:sp>
        <p:nvSpPr>
          <p:cNvPr id="10" name="Text 8"/>
          <p:cNvSpPr/>
          <p:nvPr/>
        </p:nvSpPr>
        <p:spPr>
          <a:xfrm>
            <a:off x="3556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accessibility tree and screenshot</a:t>
            </a:r>
            <a:endParaRPr lang="en-US" sz="1200" dirty="0"/>
          </a:p>
        </p:txBody>
      </p:sp>
      <p:pic>
        <p:nvPicPr>
          <p:cNvPr id="11" name="Image 0" descr="arrow-right"/>
          <p:cNvPicPr>
            <a:picLocks noChangeAspect="1"/>
          </p:cNvPicPr>
          <p:nvPr/>
        </p:nvPicPr>
        <p:blipFill>
          <a:blip r:embed="rId3"/>
          <a:srcRect/>
          <a:stretch/>
        </p:blipFill>
        <p:spPr>
          <a:xfrm>
            <a:off x="5029200" y="2424361"/>
            <a:ext cx="228600" cy="152400"/>
          </a:xfrm>
          <a:prstGeom prst="rect">
            <a:avLst/>
          </a:prstGeom>
        </p:spPr>
      </p:pic>
      <p:sp>
        <p:nvSpPr>
          <p:cNvPr id="12" name="Shape 9"/>
          <p:cNvSpPr/>
          <p:nvPr/>
        </p:nvSpPr>
        <p:spPr>
          <a:xfrm>
            <a:off x="5334000" y="2032000"/>
            <a:ext cx="1524000" cy="937171"/>
          </a:xfrm>
          <a:prstGeom prst="roundRect">
            <a:avLst>
              <a:gd name="adj" fmla="val 6776"/>
            </a:avLst>
          </a:prstGeom>
          <a:solidFill>
            <a:srgbClr val="FDFEFE"/>
          </a:solidFill>
          <a:ln/>
        </p:spPr>
        <p:txBody>
          <a:bodyPr/>
          <a:lstStyle/>
          <a:p>
            <a:endParaRPr lang="en-US"/>
          </a:p>
        </p:txBody>
      </p:sp>
      <p:sp>
        <p:nvSpPr>
          <p:cNvPr id="13" name="Text 10"/>
          <p:cNvSpPr/>
          <p:nvPr/>
        </p:nvSpPr>
        <p:spPr>
          <a:xfrm>
            <a:off x="5461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Decide</a:t>
            </a:r>
            <a:endParaRPr lang="en-US" sz="1400" dirty="0"/>
          </a:p>
        </p:txBody>
      </p:sp>
      <p:sp>
        <p:nvSpPr>
          <p:cNvPr id="14" name="Text 11"/>
          <p:cNvSpPr/>
          <p:nvPr/>
        </p:nvSpPr>
        <p:spPr>
          <a:xfrm>
            <a:off x="5461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picks the next action</a:t>
            </a:r>
            <a:endParaRPr lang="en-US" sz="1200" dirty="0"/>
          </a:p>
        </p:txBody>
      </p:sp>
      <p:pic>
        <p:nvPicPr>
          <p:cNvPr id="15" name="Image 1" descr="arrow-right"/>
          <p:cNvPicPr>
            <a:picLocks noChangeAspect="1"/>
          </p:cNvPicPr>
          <p:nvPr/>
        </p:nvPicPr>
        <p:blipFill>
          <a:blip r:embed="rId3"/>
          <a:srcRect/>
          <a:stretch/>
        </p:blipFill>
        <p:spPr>
          <a:xfrm>
            <a:off x="6934200" y="2424361"/>
            <a:ext cx="228600" cy="152400"/>
          </a:xfrm>
          <a:prstGeom prst="rect">
            <a:avLst/>
          </a:prstGeom>
        </p:spPr>
      </p:pic>
      <p:sp>
        <p:nvSpPr>
          <p:cNvPr id="16" name="Shape 12"/>
          <p:cNvSpPr/>
          <p:nvPr/>
        </p:nvSpPr>
        <p:spPr>
          <a:xfrm>
            <a:off x="7239000" y="2032000"/>
            <a:ext cx="1524000" cy="937171"/>
          </a:xfrm>
          <a:prstGeom prst="roundRect">
            <a:avLst>
              <a:gd name="adj" fmla="val 6776"/>
            </a:avLst>
          </a:prstGeom>
          <a:solidFill>
            <a:srgbClr val="FDFEFE"/>
          </a:solidFill>
          <a:ln/>
        </p:spPr>
        <p:txBody>
          <a:bodyPr/>
          <a:lstStyle/>
          <a:p>
            <a:endParaRPr lang="en-US"/>
          </a:p>
        </p:txBody>
      </p:sp>
      <p:sp>
        <p:nvSpPr>
          <p:cNvPr id="17" name="Text 13"/>
          <p:cNvSpPr/>
          <p:nvPr/>
        </p:nvSpPr>
        <p:spPr>
          <a:xfrm>
            <a:off x="7366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Act</a:t>
            </a:r>
            <a:endParaRPr lang="en-US" sz="1400" dirty="0"/>
          </a:p>
        </p:txBody>
      </p:sp>
      <p:sp>
        <p:nvSpPr>
          <p:cNvPr id="18" name="Text 14"/>
          <p:cNvSpPr/>
          <p:nvPr/>
        </p:nvSpPr>
        <p:spPr>
          <a:xfrm>
            <a:off x="7366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tap, type or swipe over adb</a:t>
            </a:r>
            <a:endParaRPr lang="en-US" sz="1200" dirty="0"/>
          </a:p>
        </p:txBody>
      </p:sp>
      <p:sp>
        <p:nvSpPr>
          <p:cNvPr id="19" name="Text 15"/>
          <p:cNvSpPr/>
          <p:nvPr/>
        </p:nvSpPr>
        <p:spPr>
          <a:xfrm>
            <a:off x="3429000" y="3032671"/>
            <a:ext cx="54940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repeats up to 50 steps, about 20 seconds each</a:t>
            </a:r>
            <a:endParaRPr lang="en-US" sz="1200" dirty="0"/>
          </a:p>
        </p:txBody>
      </p:sp>
      <p:sp>
        <p:nvSpPr>
          <p:cNvPr id="20" name="Shape 16"/>
          <p:cNvSpPr/>
          <p:nvPr/>
        </p:nvSpPr>
        <p:spPr>
          <a:xfrm>
            <a:off x="9350375" y="1908175"/>
            <a:ext cx="2025650" cy="1708150"/>
          </a:xfrm>
          <a:prstGeom prst="roundRect">
            <a:avLst>
              <a:gd name="adj" fmla="val 5762"/>
            </a:avLst>
          </a:prstGeom>
          <a:solidFill>
            <a:srgbClr val="FDFEFE"/>
          </a:solidFill>
          <a:ln w="6350">
            <a:solidFill>
              <a:srgbClr val="D6E1E6"/>
            </a:solidFill>
            <a:prstDash val="solid"/>
          </a:ln>
        </p:spPr>
        <p:txBody>
          <a:bodyPr/>
          <a:lstStyle/>
          <a:p>
            <a:endParaRPr lang="en-US"/>
          </a:p>
        </p:txBody>
      </p:sp>
      <p:sp>
        <p:nvSpPr>
          <p:cNvPr id="21" name="Text 17"/>
          <p:cNvSpPr/>
          <p:nvPr/>
        </p:nvSpPr>
        <p:spPr>
          <a:xfrm>
            <a:off x="9531350" y="2089150"/>
            <a:ext cx="17145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Trajectory</a:t>
            </a:r>
            <a:endParaRPr lang="en-US" sz="1400" dirty="0"/>
          </a:p>
        </p:txBody>
      </p:sp>
      <p:sp>
        <p:nvSpPr>
          <p:cNvPr id="22" name="Text 18"/>
          <p:cNvSpPr/>
          <p:nvPr/>
        </p:nvSpPr>
        <p:spPr>
          <a:xfrm>
            <a:off x="9531350" y="2371080"/>
            <a:ext cx="17145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step's thought, action and outcome</a:t>
            </a:r>
            <a:endParaRPr lang="en-US" sz="1200" dirty="0"/>
          </a:p>
        </p:txBody>
      </p:sp>
      <p:pic>
        <p:nvPicPr>
          <p:cNvPr id="23" name="Image 2" descr="connector"/>
          <p:cNvPicPr>
            <a:picLocks noChangeAspect="1"/>
          </p:cNvPicPr>
          <p:nvPr/>
        </p:nvPicPr>
        <p:blipFill>
          <a:blip r:embed="rId4"/>
          <a:srcRect/>
          <a:stretch/>
        </p:blipFill>
        <p:spPr>
          <a:xfrm>
            <a:off x="2806700" y="2711450"/>
            <a:ext cx="533400" cy="101600"/>
          </a:xfrm>
          <a:prstGeom prst="rect">
            <a:avLst/>
          </a:prstGeom>
        </p:spPr>
      </p:pic>
      <p:pic>
        <p:nvPicPr>
          <p:cNvPr id="24" name="Image 3" descr="connector"/>
          <p:cNvPicPr>
            <a:picLocks noChangeAspect="1"/>
          </p:cNvPicPr>
          <p:nvPr/>
        </p:nvPicPr>
        <p:blipFill>
          <a:blip r:embed="rId4"/>
          <a:srcRect/>
          <a:stretch/>
        </p:blipFill>
        <p:spPr>
          <a:xfrm>
            <a:off x="8851900" y="2711450"/>
            <a:ext cx="533400" cy="101600"/>
          </a:xfrm>
          <a:prstGeom prst="rect">
            <a:avLst/>
          </a:prstGeom>
        </p:spPr>
      </p:pic>
      <p:sp>
        <p:nvSpPr>
          <p:cNvPr id="25" name="Shape 19"/>
          <p:cNvSpPr/>
          <p:nvPr/>
        </p:nvSpPr>
        <p:spPr>
          <a:xfrm>
            <a:off x="815975" y="3876675"/>
            <a:ext cx="10560050" cy="1309241"/>
          </a:xfrm>
          <a:prstGeom prst="roundRect">
            <a:avLst>
              <a:gd name="adj" fmla="val 7518"/>
            </a:avLst>
          </a:prstGeom>
          <a:solidFill>
            <a:srgbClr val="FDFEFE"/>
          </a:solidFill>
          <a:ln w="6350">
            <a:solidFill>
              <a:srgbClr val="D6E1E6"/>
            </a:solidFill>
            <a:prstDash val="solid"/>
          </a:ln>
        </p:spPr>
        <p:txBody>
          <a:bodyPr/>
          <a:lstStyle/>
          <a:p>
            <a:endParaRPr lang="en-US"/>
          </a:p>
        </p:txBody>
      </p:sp>
      <p:sp>
        <p:nvSpPr>
          <p:cNvPr id="26" name="Text 20"/>
          <p:cNvSpPr/>
          <p:nvPr/>
        </p:nvSpPr>
        <p:spPr>
          <a:xfrm>
            <a:off x="1022350" y="4057650"/>
            <a:ext cx="10451719"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built around mobilerun</a:t>
            </a:r>
            <a:endParaRPr lang="en-US" sz="1400" dirty="0"/>
          </a:p>
        </p:txBody>
      </p:sp>
      <p:sp>
        <p:nvSpPr>
          <p:cNvPr id="27" name="Text 21"/>
          <p:cNvSpPr/>
          <p:nvPr/>
        </p:nvSpPr>
        <p:spPr>
          <a:xfrm>
            <a:off x="1022350" y="436498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Goal assembly from the planner's test case</a:t>
            </a:r>
            <a:endParaRPr lang="en-US" sz="1200" dirty="0"/>
          </a:p>
        </p:txBody>
      </p:sp>
      <p:sp>
        <p:nvSpPr>
          <p:cNvPr id="28" name="Text 22"/>
          <p:cNvSpPr/>
          <p:nvPr/>
        </p:nvSpPr>
        <p:spPr>
          <a:xfrm>
            <a:off x="6096000" y="436498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screen streamed into the live app map</a:t>
            </a:r>
            <a:endParaRPr lang="en-US" sz="1200" dirty="0"/>
          </a:p>
        </p:txBody>
      </p:sp>
      <p:sp>
        <p:nvSpPr>
          <p:cNvPr id="29" name="Text 23"/>
          <p:cNvSpPr/>
          <p:nvPr/>
        </p:nvSpPr>
        <p:spPr>
          <a:xfrm>
            <a:off x="1022350" y="457830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On-device portal for reliable text input</a:t>
            </a:r>
            <a:endParaRPr lang="en-US" sz="1200" dirty="0"/>
          </a:p>
        </p:txBody>
      </p:sp>
      <p:sp>
        <p:nvSpPr>
          <p:cNvPr id="30" name="Text 24"/>
          <p:cNvSpPr/>
          <p:nvPr/>
        </p:nvSpPr>
        <p:spPr>
          <a:xfrm>
            <a:off x="6096000" y="457830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Login secrets reach the executor, never the planner</a:t>
            </a:r>
            <a:endParaRPr lang="en-US" sz="1200" dirty="0"/>
          </a:p>
        </p:txBody>
      </p:sp>
      <p:sp>
        <p:nvSpPr>
          <p:cNvPr id="31" name="Text 25"/>
          <p:cNvSpPr/>
          <p:nvPr/>
        </p:nvSpPr>
        <p:spPr>
          <a:xfrm>
            <a:off x="1022350" y="4791621"/>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Device reset and an app-only guard between tests</a:t>
            </a:r>
            <a:endParaRPr lang="en-US" sz="1200" dirty="0"/>
          </a:p>
        </p:txBody>
      </p:sp>
      <p:sp>
        <p:nvSpPr>
          <p:cNvPr id="32" name="Text 26"/>
          <p:cNvSpPr/>
          <p:nvPr/>
        </p:nvSpPr>
        <p:spPr>
          <a:xfrm>
            <a:off x="6096000" y="4791621"/>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Waits out network loss; campaigns resume intact</a:t>
            </a:r>
            <a:endParaRPr lang="en-US" sz="1200" dirty="0"/>
          </a:p>
        </p:txBody>
      </p:sp>
      <p:sp>
        <p:nvSpPr>
          <p:cNvPr id="33" name="Text 27"/>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4"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 · MAPPING THE APP</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Mapping the app while the tests run</a:t>
            </a:r>
            <a:endParaRPr lang="en-US" sz="3000" dirty="0"/>
          </a:p>
        </p:txBody>
      </p:sp>
      <p:sp>
        <p:nvSpPr>
          <p:cNvPr id="4" name="Text 2"/>
          <p:cNvSpPr/>
          <p:nvPr/>
        </p:nvSpPr>
        <p:spPr>
          <a:xfrm>
            <a:off x="812800" y="1775420"/>
            <a:ext cx="6802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Is this a screen we have seen? Checked in order, cheapest first:</a:t>
            </a:r>
            <a:endParaRPr lang="en-US" sz="1200" dirty="0"/>
          </a:p>
        </p:txBody>
      </p:sp>
      <p:sp>
        <p:nvSpPr>
          <p:cNvPr id="5" name="Shape 3"/>
          <p:cNvSpPr/>
          <p:nvPr/>
        </p:nvSpPr>
        <p:spPr>
          <a:xfrm>
            <a:off x="815975" y="2068116"/>
            <a:ext cx="6597650" cy="697161"/>
          </a:xfrm>
          <a:prstGeom prst="roundRect">
            <a:avLst>
              <a:gd name="adj" fmla="val 12296"/>
            </a:avLst>
          </a:prstGeom>
          <a:solidFill>
            <a:srgbClr val="FDFEFE"/>
          </a:solidFill>
          <a:ln w="6350">
            <a:solidFill>
              <a:srgbClr val="D6E1E6"/>
            </a:solidFill>
            <a:prstDash val="solid"/>
          </a:ln>
        </p:spPr>
        <p:txBody>
          <a:bodyPr/>
          <a:lstStyle/>
          <a:p>
            <a:endParaRPr lang="en-US"/>
          </a:p>
        </p:txBody>
      </p:sp>
      <p:sp>
        <p:nvSpPr>
          <p:cNvPr id="6" name="Shape 4"/>
          <p:cNvSpPr/>
          <p:nvPr/>
        </p:nvSpPr>
        <p:spPr>
          <a:xfrm>
            <a:off x="971550" y="2284611"/>
            <a:ext cx="294680" cy="264120"/>
          </a:xfrm>
          <a:prstGeom prst="roundRect">
            <a:avLst>
              <a:gd name="adj" fmla="val 50000"/>
            </a:avLst>
          </a:prstGeom>
          <a:solidFill>
            <a:srgbClr val="0F7EA8"/>
          </a:solidFill>
          <a:ln/>
        </p:spPr>
        <p:txBody>
          <a:bodyPr/>
          <a:lstStyle/>
          <a:p>
            <a:endParaRPr lang="en-US"/>
          </a:p>
        </p:txBody>
      </p:sp>
      <p:sp>
        <p:nvSpPr>
          <p:cNvPr id="7" name="Text 5"/>
          <p:cNvSpPr/>
          <p:nvPr/>
        </p:nvSpPr>
        <p:spPr>
          <a:xfrm>
            <a:off x="1073150" y="2310011"/>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8" name="Text 6"/>
          <p:cNvSpPr/>
          <p:nvPr/>
        </p:nvSpPr>
        <p:spPr>
          <a:xfrm>
            <a:off x="1393230" y="2185591"/>
            <a:ext cx="60407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Exact signature</a:t>
            </a:r>
            <a:endParaRPr lang="en-US" sz="1400" dirty="0"/>
          </a:p>
        </p:txBody>
      </p:sp>
      <p:sp>
        <p:nvSpPr>
          <p:cNvPr id="9" name="Text 7"/>
          <p:cNvSpPr/>
          <p:nvPr/>
        </p:nvSpPr>
        <p:spPr>
          <a:xfrm>
            <a:off x="1393230" y="2434481"/>
            <a:ext cx="60407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same package, activity, controls and dialog</a:t>
            </a:r>
            <a:endParaRPr lang="en-US" sz="1200" dirty="0"/>
          </a:p>
        </p:txBody>
      </p:sp>
      <p:sp>
        <p:nvSpPr>
          <p:cNvPr id="10" name="Shape 8"/>
          <p:cNvSpPr/>
          <p:nvPr/>
        </p:nvSpPr>
        <p:spPr>
          <a:xfrm>
            <a:off x="815975" y="2847826"/>
            <a:ext cx="6597650" cy="697161"/>
          </a:xfrm>
          <a:prstGeom prst="roundRect">
            <a:avLst>
              <a:gd name="adj" fmla="val 12296"/>
            </a:avLst>
          </a:prstGeom>
          <a:solidFill>
            <a:srgbClr val="FDFEFE"/>
          </a:solidFill>
          <a:ln w="6350">
            <a:solidFill>
              <a:srgbClr val="D6E1E6"/>
            </a:solidFill>
            <a:prstDash val="solid"/>
          </a:ln>
        </p:spPr>
        <p:txBody>
          <a:bodyPr/>
          <a:lstStyle/>
          <a:p>
            <a:endParaRPr lang="en-US"/>
          </a:p>
        </p:txBody>
      </p:sp>
      <p:sp>
        <p:nvSpPr>
          <p:cNvPr id="11" name="Shape 9"/>
          <p:cNvSpPr/>
          <p:nvPr/>
        </p:nvSpPr>
        <p:spPr>
          <a:xfrm>
            <a:off x="971550" y="3064321"/>
            <a:ext cx="294680" cy="264120"/>
          </a:xfrm>
          <a:prstGeom prst="roundRect">
            <a:avLst>
              <a:gd name="adj" fmla="val 50000"/>
            </a:avLst>
          </a:prstGeom>
          <a:solidFill>
            <a:srgbClr val="0F7EA8"/>
          </a:solidFill>
          <a:ln/>
        </p:spPr>
        <p:txBody>
          <a:bodyPr/>
          <a:lstStyle/>
          <a:p>
            <a:endParaRPr lang="en-US"/>
          </a:p>
        </p:txBody>
      </p:sp>
      <p:sp>
        <p:nvSpPr>
          <p:cNvPr id="12" name="Text 10"/>
          <p:cNvSpPr/>
          <p:nvPr/>
        </p:nvSpPr>
        <p:spPr>
          <a:xfrm>
            <a:off x="1073150" y="3089721"/>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3" name="Text 11"/>
          <p:cNvSpPr/>
          <p:nvPr/>
        </p:nvSpPr>
        <p:spPr>
          <a:xfrm>
            <a:off x="1393230" y="2965301"/>
            <a:ext cx="60407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Structural similarity of at least 0.90</a:t>
            </a:r>
            <a:endParaRPr lang="en-US" sz="1400" dirty="0"/>
          </a:p>
        </p:txBody>
      </p:sp>
      <p:sp>
        <p:nvSpPr>
          <p:cNvPr id="14" name="Text 12"/>
          <p:cNvSpPr/>
          <p:nvPr/>
        </p:nvSpPr>
        <p:spPr>
          <a:xfrm>
            <a:off x="1393230" y="3214191"/>
            <a:ext cx="60407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tolerates counters, timestamps and changing list data</a:t>
            </a:r>
            <a:endParaRPr lang="en-US" sz="1200" dirty="0"/>
          </a:p>
        </p:txBody>
      </p:sp>
      <p:sp>
        <p:nvSpPr>
          <p:cNvPr id="15" name="Shape 13"/>
          <p:cNvSpPr/>
          <p:nvPr/>
        </p:nvSpPr>
        <p:spPr>
          <a:xfrm>
            <a:off x="815975" y="3627537"/>
            <a:ext cx="6597650" cy="697161"/>
          </a:xfrm>
          <a:prstGeom prst="roundRect">
            <a:avLst>
              <a:gd name="adj" fmla="val 12296"/>
            </a:avLst>
          </a:prstGeom>
          <a:solidFill>
            <a:srgbClr val="FDFEFE"/>
          </a:solidFill>
          <a:ln w="6350">
            <a:solidFill>
              <a:srgbClr val="D6E1E6"/>
            </a:solidFill>
            <a:prstDash val="solid"/>
          </a:ln>
        </p:spPr>
        <p:txBody>
          <a:bodyPr/>
          <a:lstStyle/>
          <a:p>
            <a:endParaRPr lang="en-US"/>
          </a:p>
        </p:txBody>
      </p:sp>
      <p:sp>
        <p:nvSpPr>
          <p:cNvPr id="16" name="Shape 14"/>
          <p:cNvSpPr/>
          <p:nvPr/>
        </p:nvSpPr>
        <p:spPr>
          <a:xfrm>
            <a:off x="971550" y="3844032"/>
            <a:ext cx="294680" cy="264120"/>
          </a:xfrm>
          <a:prstGeom prst="roundRect">
            <a:avLst>
              <a:gd name="adj" fmla="val 50000"/>
            </a:avLst>
          </a:prstGeom>
          <a:solidFill>
            <a:srgbClr val="0F7EA8"/>
          </a:solidFill>
          <a:ln/>
        </p:spPr>
        <p:txBody>
          <a:bodyPr/>
          <a:lstStyle/>
          <a:p>
            <a:endParaRPr lang="en-US"/>
          </a:p>
        </p:txBody>
      </p:sp>
      <p:sp>
        <p:nvSpPr>
          <p:cNvPr id="17" name="Text 15"/>
          <p:cNvSpPr/>
          <p:nvPr/>
        </p:nvSpPr>
        <p:spPr>
          <a:xfrm>
            <a:off x="1073150" y="3869432"/>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8" name="Text 16"/>
          <p:cNvSpPr/>
          <p:nvPr/>
        </p:nvSpPr>
        <p:spPr>
          <a:xfrm>
            <a:off x="1393230" y="3745012"/>
            <a:ext cx="60407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Containment of at least 0.95</a:t>
            </a:r>
            <a:endParaRPr lang="en-US" sz="1400" dirty="0"/>
          </a:p>
        </p:txBody>
      </p:sp>
      <p:sp>
        <p:nvSpPr>
          <p:cNvPr id="19" name="Text 17"/>
          <p:cNvSpPr/>
          <p:nvPr/>
        </p:nvSpPr>
        <p:spPr>
          <a:xfrm>
            <a:off x="1393230" y="3993902"/>
            <a:ext cx="60407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screen captured before it finished drawing</a:t>
            </a:r>
            <a:endParaRPr lang="en-US" sz="1200" dirty="0"/>
          </a:p>
        </p:txBody>
      </p:sp>
      <p:sp>
        <p:nvSpPr>
          <p:cNvPr id="20" name="Shape 18"/>
          <p:cNvSpPr/>
          <p:nvPr/>
        </p:nvSpPr>
        <p:spPr>
          <a:xfrm>
            <a:off x="815975" y="4407247"/>
            <a:ext cx="6597650" cy="697161"/>
          </a:xfrm>
          <a:prstGeom prst="roundRect">
            <a:avLst>
              <a:gd name="adj" fmla="val 12296"/>
            </a:avLst>
          </a:prstGeom>
          <a:solidFill>
            <a:srgbClr val="FDFEFE"/>
          </a:solidFill>
          <a:ln w="6350">
            <a:solidFill>
              <a:srgbClr val="D6E1E6"/>
            </a:solidFill>
            <a:prstDash val="solid"/>
          </a:ln>
        </p:spPr>
        <p:txBody>
          <a:bodyPr/>
          <a:lstStyle/>
          <a:p>
            <a:endParaRPr lang="en-US"/>
          </a:p>
        </p:txBody>
      </p:sp>
      <p:sp>
        <p:nvSpPr>
          <p:cNvPr id="21" name="Shape 19"/>
          <p:cNvSpPr/>
          <p:nvPr/>
        </p:nvSpPr>
        <p:spPr>
          <a:xfrm>
            <a:off x="971550" y="4623743"/>
            <a:ext cx="294680" cy="264120"/>
          </a:xfrm>
          <a:prstGeom prst="roundRect">
            <a:avLst>
              <a:gd name="adj" fmla="val 50000"/>
            </a:avLst>
          </a:prstGeom>
          <a:solidFill>
            <a:srgbClr val="0F7EA8"/>
          </a:solidFill>
          <a:ln/>
        </p:spPr>
        <p:txBody>
          <a:bodyPr/>
          <a:lstStyle/>
          <a:p>
            <a:endParaRPr lang="en-US"/>
          </a:p>
        </p:txBody>
      </p:sp>
      <p:sp>
        <p:nvSpPr>
          <p:cNvPr id="22" name="Text 20"/>
          <p:cNvSpPr/>
          <p:nvPr/>
        </p:nvSpPr>
        <p:spPr>
          <a:xfrm>
            <a:off x="1073150" y="4649143"/>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4</a:t>
            </a:r>
            <a:endParaRPr lang="en-US" sz="1200" dirty="0"/>
          </a:p>
        </p:txBody>
      </p:sp>
      <p:sp>
        <p:nvSpPr>
          <p:cNvPr id="23" name="Text 21"/>
          <p:cNvSpPr/>
          <p:nvPr/>
        </p:nvSpPr>
        <p:spPr>
          <a:xfrm>
            <a:off x="1393230" y="4524722"/>
            <a:ext cx="60407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Perceptual image hash, distance of 6 or less</a:t>
            </a:r>
            <a:endParaRPr lang="en-US" sz="1400" dirty="0"/>
          </a:p>
        </p:txBody>
      </p:sp>
      <p:sp>
        <p:nvSpPr>
          <p:cNvPr id="24" name="Text 22"/>
          <p:cNvSpPr/>
          <p:nvPr/>
        </p:nvSpPr>
        <p:spPr>
          <a:xfrm>
            <a:off x="1393230" y="4773613"/>
            <a:ext cx="60407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last resort when the accessibility tree is thin</a:t>
            </a:r>
            <a:endParaRPr lang="en-US" sz="1200" dirty="0"/>
          </a:p>
        </p:txBody>
      </p:sp>
      <p:sp>
        <p:nvSpPr>
          <p:cNvPr id="25" name="Text 23"/>
          <p:cNvSpPr/>
          <p:nvPr/>
        </p:nvSpPr>
        <p:spPr>
          <a:xfrm>
            <a:off x="812800" y="5183783"/>
            <a:ext cx="680212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6596A"/>
                </a:solidFill>
                <a:latin typeface="IBM Plex Sans" pitchFamily="34" charset="0"/>
                <a:ea typeface="IBM Plex Sans" pitchFamily="34" charset="-122"/>
                <a:cs typeface="IBM Plex Sans" pitchFamily="34" charset="-120"/>
              </a:rPr>
              <a:t>Match:</a:t>
            </a:r>
            <a:r>
              <a:rPr lang="en-US" sz="1200" dirty="0">
                <a:solidFill>
                  <a:srgbClr val="46596A"/>
                </a:solidFill>
                <a:latin typeface="IBM Plex Sans" pitchFamily="34" charset="0"/>
                <a:ea typeface="IBM Plex Sans" pitchFamily="34" charset="-122"/>
                <a:cs typeface="IBM Plex Sans" pitchFamily="34" charset="-120"/>
              </a:rPr>
              <a:t> a known screen, its visit counted. </a:t>
            </a:r>
            <a:r>
              <a:rPr lang="en-US" sz="1200" b="1" dirty="0">
                <a:solidFill>
                  <a:srgbClr val="46596A"/>
                </a:solidFill>
                <a:latin typeface="IBM Plex Sans" pitchFamily="34" charset="0"/>
                <a:ea typeface="IBM Plex Sans" pitchFamily="34" charset="-122"/>
                <a:cs typeface="IBM Plex Sans" pitchFamily="34" charset="-120"/>
              </a:rPr>
              <a:t>No match:</a:t>
            </a:r>
            <a:r>
              <a:rPr lang="en-US" sz="1200" dirty="0">
                <a:solidFill>
                  <a:srgbClr val="46596A"/>
                </a:solidFill>
                <a:latin typeface="IBM Plex Sans" pitchFamily="34" charset="0"/>
                <a:ea typeface="IBM Plex Sans" pitchFamily="34" charset="-122"/>
                <a:cs typeface="IBM Plex Sans" pitchFamily="34" charset="-120"/>
              </a:rPr>
              <a:t> a new screen, with its screenshot and the transition that led to it.</a:t>
            </a:r>
            <a:endParaRPr lang="en-US" sz="1200" dirty="0"/>
          </a:p>
        </p:txBody>
      </p:sp>
      <p:sp>
        <p:nvSpPr>
          <p:cNvPr id="26" name="Text 24"/>
          <p:cNvSpPr/>
          <p:nvPr/>
        </p:nvSpPr>
        <p:spPr>
          <a:xfrm>
            <a:off x="7721600" y="1775420"/>
            <a:ext cx="3767328"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79</a:t>
            </a:r>
            <a:endParaRPr lang="en-US" sz="5600" dirty="0"/>
          </a:p>
        </p:txBody>
      </p:sp>
      <p:sp>
        <p:nvSpPr>
          <p:cNvPr id="27" name="Text 25"/>
          <p:cNvSpPr/>
          <p:nvPr/>
        </p:nvSpPr>
        <p:spPr>
          <a:xfrm>
            <a:off x="7721600" y="2522141"/>
            <a:ext cx="37673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distinct screens</a:t>
            </a:r>
            <a:endParaRPr lang="en-US" sz="1200" dirty="0"/>
          </a:p>
        </p:txBody>
      </p:sp>
      <p:sp>
        <p:nvSpPr>
          <p:cNvPr id="28" name="Text 26"/>
          <p:cNvSpPr/>
          <p:nvPr/>
        </p:nvSpPr>
        <p:spPr>
          <a:xfrm>
            <a:off x="7721600" y="2887861"/>
            <a:ext cx="3767328"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2,149</a:t>
            </a:r>
            <a:endParaRPr lang="en-US" sz="5600" dirty="0"/>
          </a:p>
        </p:txBody>
      </p:sp>
      <p:sp>
        <p:nvSpPr>
          <p:cNvPr id="29" name="Text 27"/>
          <p:cNvSpPr/>
          <p:nvPr/>
        </p:nvSpPr>
        <p:spPr>
          <a:xfrm>
            <a:off x="7721600" y="3634581"/>
            <a:ext cx="37673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screen observations</a:t>
            </a:r>
            <a:endParaRPr lang="en-US" sz="1200" dirty="0"/>
          </a:p>
        </p:txBody>
      </p:sp>
      <p:sp>
        <p:nvSpPr>
          <p:cNvPr id="30" name="Text 28"/>
          <p:cNvSpPr/>
          <p:nvPr/>
        </p:nvSpPr>
        <p:spPr>
          <a:xfrm>
            <a:off x="7721600" y="4000302"/>
            <a:ext cx="3767328"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797</a:t>
            </a:r>
            <a:endParaRPr lang="en-US" sz="5600" dirty="0"/>
          </a:p>
        </p:txBody>
      </p:sp>
      <p:sp>
        <p:nvSpPr>
          <p:cNvPr id="31" name="Text 29"/>
          <p:cNvSpPr/>
          <p:nvPr/>
        </p:nvSpPr>
        <p:spPr>
          <a:xfrm>
            <a:off x="7721600" y="4747022"/>
            <a:ext cx="37673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transitions between screens · contacts app</a:t>
            </a:r>
            <a:endParaRPr lang="en-US" sz="1200" dirty="0"/>
          </a:p>
        </p:txBody>
      </p:sp>
      <p:sp>
        <p:nvSpPr>
          <p:cNvPr id="32" name="Text 30"/>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3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603"/>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EXECUTOR · IN DETAIL</a:t>
            </a:r>
            <a:endParaRPr lang="en-US" sz="1196" dirty="0"/>
          </a:p>
        </p:txBody>
      </p:sp>
      <p:sp>
        <p:nvSpPr>
          <p:cNvPr id="3" name="Text 1"/>
          <p:cNvSpPr/>
          <p:nvPr/>
        </p:nvSpPr>
        <p:spPr>
          <a:xfrm>
            <a:off x="812800" y="1098203"/>
            <a:ext cx="10883392" cy="436364"/>
          </a:xfrm>
          <a:prstGeom prst="rect">
            <a:avLst/>
          </a:prstGeom>
          <a:noFill/>
          <a:ln/>
        </p:spPr>
        <p:txBody>
          <a:bodyPr wrap="square" lIns="0" tIns="0" rIns="0" bIns="0" rtlCol="0" anchor="t">
            <a:normAutofit/>
          </a:bodyPr>
          <a:lstStyle/>
          <a:p>
            <a:pPr marL="0" indent="0" algn="l">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Is this a screen we have seen?</a:t>
            </a:r>
            <a:endParaRPr lang="en-US" sz="2972" dirty="0"/>
          </a:p>
        </p:txBody>
      </p:sp>
      <p:sp>
        <p:nvSpPr>
          <p:cNvPr id="4" name="Shape 2"/>
          <p:cNvSpPr/>
          <p:nvPr/>
        </p:nvSpPr>
        <p:spPr>
          <a:xfrm>
            <a:off x="812800" y="1712367"/>
            <a:ext cx="10566400" cy="3507184"/>
          </a:xfrm>
          <a:prstGeom prst="roundRect">
            <a:avLst>
              <a:gd name="adj" fmla="val 2897"/>
            </a:avLst>
          </a:prstGeom>
          <a:solidFill>
            <a:srgbClr val="FDFEFE"/>
          </a:solidFill>
          <a:ln/>
        </p:spPr>
        <p:txBody>
          <a:bodyPr/>
          <a:lstStyle/>
          <a:p>
            <a:endParaRPr lang="en-US"/>
          </a:p>
        </p:txBody>
      </p:sp>
      <p:pic>
        <p:nvPicPr>
          <p:cNvPr id="5" name="Image 0" descr="Screen identity cascade, left to right: an observation is tested by exact signature, then structural Jaccard of at least 0.9, containment of at least 0.95, skeleton containment, and a perceptual hash within Hamming distance 6; any match is a known state, otherwise a new state is stored with its transition"/>
          <p:cNvPicPr>
            <a:picLocks noChangeAspect="1"/>
          </p:cNvPicPr>
          <p:nvPr/>
        </p:nvPicPr>
        <p:blipFill>
          <a:blip r:embed="rId3"/>
          <a:stretch>
            <a:fillRect/>
          </a:stretch>
        </p:blipFill>
        <p:spPr>
          <a:xfrm>
            <a:off x="928050" y="1718717"/>
            <a:ext cx="10335900" cy="3494484"/>
          </a:xfrm>
          <a:prstGeom prst="rect">
            <a:avLst/>
          </a:prstGeom>
        </p:spPr>
      </p:pic>
      <p:sp>
        <p:nvSpPr>
          <p:cNvPr id="6" name="Shape 3"/>
          <p:cNvSpPr/>
          <p:nvPr/>
        </p:nvSpPr>
        <p:spPr>
          <a:xfrm>
            <a:off x="815975" y="1715542"/>
            <a:ext cx="10560050" cy="3500834"/>
          </a:xfrm>
          <a:prstGeom prst="roundRect">
            <a:avLst>
              <a:gd name="adj" fmla="val 2811"/>
            </a:avLst>
          </a:prstGeom>
          <a:noFill/>
          <a:ln w="6350">
            <a:solidFill>
              <a:srgbClr val="D6E1E6"/>
            </a:solidFill>
            <a:prstDash val="solid"/>
          </a:ln>
        </p:spPr>
        <p:txBody>
          <a:bodyPr/>
          <a:lstStyle/>
          <a:p>
            <a:endParaRPr lang="en-US"/>
          </a:p>
        </p:txBody>
      </p:sp>
      <p:sp>
        <p:nvSpPr>
          <p:cNvPr id="7" name="Text 4"/>
          <p:cNvSpPr/>
          <p:nvPr/>
        </p:nvSpPr>
        <p:spPr>
          <a:xfrm>
            <a:off x="812800" y="5422751"/>
            <a:ext cx="10883392" cy="444649"/>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46596A"/>
                </a:solidFill>
                <a:latin typeface="IBM Plex Sans" pitchFamily="34" charset="0"/>
                <a:ea typeface="IBM Plex Sans" pitchFamily="34" charset="-122"/>
                <a:cs typeface="IBM Plex Sans" pitchFamily="34" charset="-120"/>
              </a:rPr>
              <a:t>Checked left to right, cheapest first. Any match counts a visit to a known screen; no match stores a new screen and the transition that led to it. The grey notes say why each check exists.</a:t>
            </a:r>
            <a:endParaRPr lang="en-US" sz="1185"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4454"/>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EXECUTOR · THE APP MAP</a:t>
            </a:r>
            <a:endParaRPr lang="en-US" sz="1196" dirty="0"/>
          </a:p>
        </p:txBody>
      </p:sp>
      <p:sp>
        <p:nvSpPr>
          <p:cNvPr id="3" name="Text 1"/>
          <p:cNvSpPr/>
          <p:nvPr/>
        </p:nvSpPr>
        <p:spPr>
          <a:xfrm>
            <a:off x="812800" y="793254"/>
            <a:ext cx="10883392" cy="436066"/>
          </a:xfrm>
          <a:prstGeom prst="rect">
            <a:avLst/>
          </a:prstGeom>
          <a:noFill/>
          <a:ln/>
        </p:spPr>
        <p:txBody>
          <a:bodyPr wrap="square" lIns="0" tIns="0" rIns="0" bIns="0" rtlCol="0" anchor="t">
            <a:normAutofit/>
          </a:bodyPr>
          <a:lstStyle/>
          <a:p>
            <a:pPr marL="0" indent="0" algn="l">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Every run's path through the map</a:t>
            </a:r>
            <a:endParaRPr lang="en-US" sz="2972" dirty="0"/>
          </a:p>
        </p:txBody>
      </p:sp>
      <p:sp>
        <p:nvSpPr>
          <p:cNvPr id="4" name="Shape 2"/>
          <p:cNvSpPr/>
          <p:nvPr/>
        </p:nvSpPr>
        <p:spPr>
          <a:xfrm>
            <a:off x="812800" y="1313160"/>
            <a:ext cx="6350000" cy="4826000"/>
          </a:xfrm>
          <a:prstGeom prst="roundRect">
            <a:avLst>
              <a:gd name="adj" fmla="val 2105"/>
            </a:avLst>
          </a:prstGeom>
          <a:solidFill>
            <a:srgbClr val="FDFEFE"/>
          </a:solidFill>
          <a:ln/>
        </p:spPr>
        <p:txBody>
          <a:bodyPr/>
          <a:lstStyle/>
          <a:p>
            <a:endParaRPr lang="en-US"/>
          </a:p>
        </p:txBody>
      </p:sp>
      <p:pic>
        <p:nvPicPr>
          <p:cNvPr id="5" name="Image 0" descr="Dashboard panel Live App Model, 79 states and 797 transitions: a graph of screens with the path of test TC-088 highlighted in orange through Contact List, Option Menu Search, Organize, Import 88 contacts and Close sheet, and beside it the stored screenshot of Contact List number 12, 19 visits and 14 controls"/>
          <p:cNvPicPr>
            <a:picLocks noChangeAspect="1"/>
          </p:cNvPicPr>
          <p:nvPr/>
        </p:nvPicPr>
        <p:blipFill>
          <a:blip r:embed="rId3"/>
          <a:stretch>
            <a:fillRect/>
          </a:stretch>
        </p:blipFill>
        <p:spPr>
          <a:xfrm>
            <a:off x="937117" y="1319510"/>
            <a:ext cx="6101366" cy="4813300"/>
          </a:xfrm>
          <a:prstGeom prst="rect">
            <a:avLst/>
          </a:prstGeom>
        </p:spPr>
      </p:pic>
      <p:sp>
        <p:nvSpPr>
          <p:cNvPr id="6" name="Shape 3"/>
          <p:cNvSpPr/>
          <p:nvPr/>
        </p:nvSpPr>
        <p:spPr>
          <a:xfrm>
            <a:off x="815975" y="1316335"/>
            <a:ext cx="6343650" cy="4819650"/>
          </a:xfrm>
          <a:prstGeom prst="roundRect">
            <a:avLst>
              <a:gd name="adj" fmla="val 2042"/>
            </a:avLst>
          </a:prstGeom>
          <a:noFill/>
          <a:ln w="6350">
            <a:solidFill>
              <a:srgbClr val="D6E1E6"/>
            </a:solidFill>
            <a:prstDash val="solid"/>
          </a:ln>
        </p:spPr>
        <p:txBody>
          <a:bodyPr/>
          <a:lstStyle/>
          <a:p>
            <a:endParaRPr lang="en-US"/>
          </a:p>
        </p:txBody>
      </p:sp>
      <p:sp>
        <p:nvSpPr>
          <p:cNvPr id="7" name="Text 4"/>
          <p:cNvSpPr/>
          <p:nvPr/>
        </p:nvSpPr>
        <p:spPr>
          <a:xfrm>
            <a:off x="7416800" y="2496939"/>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79 screens · 797 transitions</a:t>
            </a:r>
            <a:endParaRPr lang="en-US" sz="1400" dirty="0"/>
          </a:p>
        </p:txBody>
      </p:sp>
      <p:sp>
        <p:nvSpPr>
          <p:cNvPr id="8" name="Text 5"/>
          <p:cNvSpPr/>
          <p:nvPr/>
        </p:nvSpPr>
        <p:spPr>
          <a:xfrm>
            <a:off x="7416800" y="2771229"/>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contacts app, mapped only from screens the agent actually reached.</a:t>
            </a:r>
            <a:endParaRPr lang="en-US" sz="1200" dirty="0"/>
          </a:p>
        </p:txBody>
      </p:sp>
      <p:sp>
        <p:nvSpPr>
          <p:cNvPr id="9" name="Text 6"/>
          <p:cNvSpPr/>
          <p:nvPr/>
        </p:nvSpPr>
        <p:spPr>
          <a:xfrm>
            <a:off x="7416800" y="3375670"/>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Pick a run, see its path</a:t>
            </a:r>
            <a:endParaRPr lang="en-US" sz="1400" dirty="0"/>
          </a:p>
        </p:txBody>
      </p:sp>
      <p:sp>
        <p:nvSpPr>
          <p:cNvPr id="10" name="Text 7"/>
          <p:cNvSpPr/>
          <p:nvPr/>
        </p:nvSpPr>
        <p:spPr>
          <a:xfrm>
            <a:off x="7416800" y="3649960"/>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orange, the screens TC-088 visited, in order, read from that run's log.</a:t>
            </a:r>
            <a:endParaRPr lang="en-US" sz="1200" dirty="0"/>
          </a:p>
        </p:txBody>
      </p:sp>
      <p:sp>
        <p:nvSpPr>
          <p:cNvPr id="11" name="Text 8"/>
          <p:cNvSpPr/>
          <p:nvPr/>
        </p:nvSpPr>
        <p:spPr>
          <a:xfrm>
            <a:off x="7416800" y="4254401"/>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Click a screen</a:t>
            </a:r>
            <a:endParaRPr lang="en-US" sz="1400" dirty="0"/>
          </a:p>
        </p:txBody>
      </p:sp>
      <p:sp>
        <p:nvSpPr>
          <p:cNvPr id="12" name="Text 9"/>
          <p:cNvSpPr/>
          <p:nvPr/>
        </p:nvSpPr>
        <p:spPr>
          <a:xfrm>
            <a:off x="7416800" y="452869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Its stored screenshot, how often it was visited, and its controls.</a:t>
            </a:r>
            <a:endParaRPr lang="en-US" sz="1200" dirty="0"/>
          </a:p>
        </p:txBody>
      </p:sp>
      <p:sp>
        <p:nvSpPr>
          <p:cNvPr id="13" name="Text 10"/>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4" name="Text 1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investigator turns runs into knowledge</a:t>
            </a:r>
            <a:endParaRPr lang="en-US" sz="3000" dirty="0"/>
          </a:p>
        </p:txBody>
      </p:sp>
      <p:sp>
        <p:nvSpPr>
          <p:cNvPr id="4" name="Shape 2"/>
          <p:cNvSpPr/>
          <p:nvPr/>
        </p:nvSpPr>
        <p:spPr>
          <a:xfrm>
            <a:off x="812800" y="1775420"/>
            <a:ext cx="294680" cy="264120"/>
          </a:xfrm>
          <a:prstGeom prst="roundRect">
            <a:avLst>
              <a:gd name="adj" fmla="val 50000"/>
            </a:avLst>
          </a:prstGeom>
          <a:solidFill>
            <a:srgbClr val="0F7EA8"/>
          </a:solidFill>
          <a:ln/>
        </p:spPr>
        <p:txBody>
          <a:bodyPr/>
          <a:lstStyle/>
          <a:p>
            <a:endParaRPr lang="en-US"/>
          </a:p>
        </p:txBody>
      </p:sp>
      <p:sp>
        <p:nvSpPr>
          <p:cNvPr id="5" name="Text 3"/>
          <p:cNvSpPr/>
          <p:nvPr/>
        </p:nvSpPr>
        <p:spPr>
          <a:xfrm>
            <a:off x="914400" y="180082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234480" y="1775420"/>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Reads the run</a:t>
            </a:r>
            <a:endParaRPr lang="en-US" sz="1400" dirty="0"/>
          </a:p>
        </p:txBody>
      </p:sp>
      <p:sp>
        <p:nvSpPr>
          <p:cNvPr id="7" name="Text 5"/>
          <p:cNvSpPr/>
          <p:nvPr/>
        </p:nvSpPr>
        <p:spPr>
          <a:xfrm>
            <a:off x="1234480" y="2031950"/>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Compares the device's step log with what the test was meant to verify.</a:t>
            </a:r>
            <a:endParaRPr lang="en-US" sz="1200" dirty="0"/>
          </a:p>
        </p:txBody>
      </p:sp>
      <p:sp>
        <p:nvSpPr>
          <p:cNvPr id="8" name="Shape 6"/>
          <p:cNvSpPr/>
          <p:nvPr/>
        </p:nvSpPr>
        <p:spPr>
          <a:xfrm>
            <a:off x="812800" y="2636391"/>
            <a:ext cx="294680" cy="264120"/>
          </a:xfrm>
          <a:prstGeom prst="roundRect">
            <a:avLst>
              <a:gd name="adj" fmla="val 50000"/>
            </a:avLst>
          </a:prstGeom>
          <a:solidFill>
            <a:srgbClr val="0F7EA8"/>
          </a:solidFill>
          <a:ln/>
        </p:spPr>
        <p:txBody>
          <a:bodyPr/>
          <a:lstStyle/>
          <a:p>
            <a:endParaRPr lang="en-US"/>
          </a:p>
        </p:txBody>
      </p:sp>
      <p:sp>
        <p:nvSpPr>
          <p:cNvPr id="9" name="Text 7"/>
          <p:cNvSpPr/>
          <p:nvPr/>
        </p:nvSpPr>
        <p:spPr>
          <a:xfrm>
            <a:off x="914400" y="2661791"/>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1234480" y="2636391"/>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Writes typed findings</a:t>
            </a:r>
            <a:endParaRPr lang="en-US" sz="1400" dirty="0"/>
          </a:p>
        </p:txBody>
      </p:sp>
      <p:sp>
        <p:nvSpPr>
          <p:cNvPr id="11" name="Text 9"/>
          <p:cNvSpPr/>
          <p:nvPr/>
        </p:nvSpPr>
        <p:spPr>
          <a:xfrm>
            <a:off x="1234480" y="2892921"/>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is one atomic claim. A repeat observation reinforces an existing finding instead of creating a new one.</a:t>
            </a:r>
            <a:endParaRPr lang="en-US" sz="1200" dirty="0"/>
          </a:p>
        </p:txBody>
      </p:sp>
      <p:sp>
        <p:nvSpPr>
          <p:cNvPr id="12" name="Shape 10"/>
          <p:cNvSpPr/>
          <p:nvPr/>
        </p:nvSpPr>
        <p:spPr>
          <a:xfrm>
            <a:off x="812800" y="3497362"/>
            <a:ext cx="294680" cy="264120"/>
          </a:xfrm>
          <a:prstGeom prst="roundRect">
            <a:avLst>
              <a:gd name="adj" fmla="val 50000"/>
            </a:avLst>
          </a:prstGeom>
          <a:solidFill>
            <a:srgbClr val="0F7EA8"/>
          </a:solidFill>
          <a:ln/>
        </p:spPr>
        <p:txBody>
          <a:bodyPr/>
          <a:lstStyle/>
          <a:p>
            <a:endParaRPr lang="en-US"/>
          </a:p>
        </p:txBody>
      </p:sp>
      <p:sp>
        <p:nvSpPr>
          <p:cNvPr id="13" name="Text 11"/>
          <p:cNvSpPr/>
          <p:nvPr/>
        </p:nvSpPr>
        <p:spPr>
          <a:xfrm>
            <a:off x="914400" y="3522762"/>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1234480" y="3497362"/>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Settles open questions</a:t>
            </a:r>
            <a:endParaRPr lang="en-US" sz="1400" dirty="0"/>
          </a:p>
        </p:txBody>
      </p:sp>
      <p:sp>
        <p:nvSpPr>
          <p:cNvPr id="15" name="Text 13"/>
          <p:cNvSpPr/>
          <p:nvPr/>
        </p:nvSpPr>
        <p:spPr>
          <a:xfrm>
            <a:off x="1234480" y="3753892"/>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question one run raises is answered by a later run, or retired as inconclusive after three attempts.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829300" y="1788120"/>
          <a:ext cx="5549900" cy="2516683"/>
        </p:xfrm>
        <a:graphic>
          <a:graphicData uri="http://schemas.openxmlformats.org/drawingml/2006/table">
            <a:tbl>
              <a:tblPr/>
              <a:tblGrid>
                <a:gridCol w="998982">
                  <a:extLst>
                    <a:ext uri="{9D8B030D-6E8A-4147-A177-3AD203B41FA5}">
                      <a16:colId xmlns:a16="http://schemas.microsoft.com/office/drawing/2014/main" val="20000"/>
                    </a:ext>
                  </a:extLst>
                </a:gridCol>
                <a:gridCol w="2774950">
                  <a:extLst>
                    <a:ext uri="{9D8B030D-6E8A-4147-A177-3AD203B41FA5}">
                      <a16:colId xmlns:a16="http://schemas.microsoft.com/office/drawing/2014/main" val="20001"/>
                    </a:ext>
                  </a:extLst>
                </a:gridCol>
                <a:gridCol w="1775968">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Group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Finding kinds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Used for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Defect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SUSPECTED_DEFECT, SPEC_VIOLATION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human reviews 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75932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Oracle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CONFIRMED_BEHAVIOUR, UNEXPECTED_BEHAVIOUR, SPEC_GAP, UNVERIFIED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Fed back to the planner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UI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CONTROL_DISCOVERED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Adds to the app map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AGENT_DIFFICULTY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Our own limits, never app evidence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p:nvPr/>
        </p:nvSpPr>
        <p:spPr>
          <a:xfrm>
            <a:off x="5816600" y="4457204"/>
            <a:ext cx="572947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so far: 345 findings, including 36 suspected defects and 21 specification violations.</a:t>
            </a:r>
            <a:endParaRPr lang="en-US" sz="1200" dirty="0"/>
          </a:p>
        </p:txBody>
      </p:sp>
      <p:sp>
        <p:nvSpPr>
          <p:cNvPr id="18" name="Text 1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9" name="Text 16"/>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Eight kinds of finding, four destinations</a:t>
            </a:r>
            <a:endParaRPr lang="en-US" sz="3000" dirty="0"/>
          </a:p>
        </p:txBody>
      </p:sp>
      <p:sp>
        <p:nvSpPr>
          <p:cNvPr id="4" name="Shape 2"/>
          <p:cNvSpPr/>
          <p:nvPr/>
        </p:nvSpPr>
        <p:spPr>
          <a:xfrm>
            <a:off x="812800" y="1724620"/>
            <a:ext cx="10566400" cy="1778000"/>
          </a:xfrm>
          <a:prstGeom prst="roundRect">
            <a:avLst>
              <a:gd name="adj" fmla="val 5714"/>
            </a:avLst>
          </a:prstGeom>
          <a:solidFill>
            <a:srgbClr val="FDFEFE"/>
          </a:solidFill>
          <a:ln/>
        </p:spPr>
        <p:txBody>
          <a:bodyPr/>
          <a:lstStyle/>
          <a:p>
            <a:endParaRPr lang="en-US"/>
          </a:p>
        </p:txBody>
      </p:sp>
      <p:pic>
        <p:nvPicPr>
          <p:cNvPr id="5" name="Image 0" descr="Finding taxonomy: eight finding kinds in a row, each routed to one of four groups: defect, oracle, UI and agent"/>
          <p:cNvPicPr>
            <a:picLocks noChangeAspect="1"/>
          </p:cNvPicPr>
          <p:nvPr/>
        </p:nvPicPr>
        <p:blipFill>
          <a:blip r:embed="rId3"/>
          <a:stretch>
            <a:fillRect/>
          </a:stretch>
        </p:blipFill>
        <p:spPr>
          <a:xfrm>
            <a:off x="819150" y="1795950"/>
            <a:ext cx="10553700" cy="1635340"/>
          </a:xfrm>
          <a:custGeom>
            <a:avLst/>
            <a:gdLst/>
            <a:ahLst/>
            <a:cxnLst/>
            <a:rect l="l" t="t" r="r" b="b"/>
            <a:pathLst>
              <a:path w="10553700" h="1635340">
                <a:moveTo>
                  <a:pt x="0" y="30270"/>
                </a:moveTo>
                <a:arcTo wR="95250" hR="95250" stAng="10800000" swAng="1111775"/>
                <a:lnTo>
                  <a:pt x="10548762" y="0"/>
                </a:lnTo>
                <a:arcTo wR="95250" hR="95250" stAng="20488225" swAng="1111775"/>
                <a:lnTo>
                  <a:pt x="10553700" y="1605070"/>
                </a:lnTo>
                <a:arcTo wR="95250" hR="95250" stAng="0" swAng="1111775"/>
                <a:lnTo>
                  <a:pt x="4938" y="1635340"/>
                </a:lnTo>
                <a:arcTo wR="95250" hR="95250" stAng="9688225" swAng="1111775"/>
                <a:close/>
              </a:path>
            </a:pathLst>
          </a:custGeom>
        </p:spPr>
      </p:pic>
      <p:sp>
        <p:nvSpPr>
          <p:cNvPr id="6" name="Shape 3"/>
          <p:cNvSpPr/>
          <p:nvPr/>
        </p:nvSpPr>
        <p:spPr>
          <a:xfrm>
            <a:off x="815975" y="1727795"/>
            <a:ext cx="10560050" cy="1771650"/>
          </a:xfrm>
          <a:prstGeom prst="roundRect">
            <a:avLst>
              <a:gd name="adj" fmla="val 5556"/>
            </a:avLst>
          </a:prstGeom>
          <a:noFill/>
          <a:ln w="6350">
            <a:solidFill>
              <a:srgbClr val="D6E1E6"/>
            </a:solidFill>
            <a:prstDash val="solid"/>
          </a:ln>
        </p:spPr>
        <p:txBody>
          <a:bodyPr/>
          <a:lstStyle/>
          <a:p>
            <a:endParaRPr lang="en-US"/>
          </a:p>
        </p:txBody>
      </p:sp>
      <p:sp>
        <p:nvSpPr>
          <p:cNvPr id="7" name="Shape 4"/>
          <p:cNvSpPr/>
          <p:nvPr/>
        </p:nvSpPr>
        <p:spPr>
          <a:xfrm>
            <a:off x="8159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8" name="Text 5"/>
          <p:cNvSpPr/>
          <p:nvPr/>
        </p:nvSpPr>
        <p:spPr>
          <a:xfrm>
            <a:off x="9969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8B1A1A"/>
                </a:solidFill>
                <a:latin typeface="IBM Plex Sans" pitchFamily="34" charset="0"/>
                <a:ea typeface="IBM Plex Sans" pitchFamily="34" charset="-122"/>
                <a:cs typeface="IBM Plex Sans" pitchFamily="34" charset="-120"/>
              </a:rPr>
              <a:t>Red: defect</a:t>
            </a:r>
            <a:endParaRPr lang="en-US" sz="1400" dirty="0"/>
          </a:p>
        </p:txBody>
      </p:sp>
      <p:sp>
        <p:nvSpPr>
          <p:cNvPr id="9" name="Text 6"/>
          <p:cNvSpPr/>
          <p:nvPr/>
        </p:nvSpPr>
        <p:spPr>
          <a:xfrm>
            <a:off x="9969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Suspected defects and spec violations go to a human.</a:t>
            </a:r>
            <a:endParaRPr lang="en-US" sz="1200" dirty="0"/>
          </a:p>
        </p:txBody>
      </p:sp>
      <p:sp>
        <p:nvSpPr>
          <p:cNvPr id="10" name="Shape 7"/>
          <p:cNvSpPr/>
          <p:nvPr/>
        </p:nvSpPr>
        <p:spPr>
          <a:xfrm>
            <a:off x="34956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1" name="Text 8"/>
          <p:cNvSpPr/>
          <p:nvPr/>
        </p:nvSpPr>
        <p:spPr>
          <a:xfrm>
            <a:off x="36766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B5E27"/>
                </a:solidFill>
                <a:latin typeface="IBM Plex Sans" pitchFamily="34" charset="0"/>
                <a:ea typeface="IBM Plex Sans" pitchFamily="34" charset="-122"/>
                <a:cs typeface="IBM Plex Sans" pitchFamily="34" charset="-120"/>
              </a:rPr>
              <a:t>Green: oracle</a:t>
            </a:r>
            <a:endParaRPr lang="en-US" sz="1400" dirty="0"/>
          </a:p>
        </p:txBody>
      </p:sp>
      <p:sp>
        <p:nvSpPr>
          <p:cNvPr id="12" name="Text 9"/>
          <p:cNvSpPr/>
          <p:nvPr/>
        </p:nvSpPr>
        <p:spPr>
          <a:xfrm>
            <a:off x="36766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the app does, or leaves unclear, feeds the planner.</a:t>
            </a:r>
            <a:endParaRPr lang="en-US" sz="1200" dirty="0"/>
          </a:p>
        </p:txBody>
      </p:sp>
      <p:sp>
        <p:nvSpPr>
          <p:cNvPr id="13" name="Shape 10"/>
          <p:cNvSpPr/>
          <p:nvPr/>
        </p:nvSpPr>
        <p:spPr>
          <a:xfrm>
            <a:off x="61753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4" name="Text 11"/>
          <p:cNvSpPr/>
          <p:nvPr/>
        </p:nvSpPr>
        <p:spPr>
          <a:xfrm>
            <a:off x="63563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4A87"/>
                </a:solidFill>
                <a:latin typeface="IBM Plex Sans" pitchFamily="34" charset="0"/>
                <a:ea typeface="IBM Plex Sans" pitchFamily="34" charset="-122"/>
                <a:cs typeface="IBM Plex Sans" pitchFamily="34" charset="-120"/>
              </a:rPr>
              <a:t>Blue: UI</a:t>
            </a:r>
            <a:endParaRPr lang="en-US" sz="1400" dirty="0"/>
          </a:p>
        </p:txBody>
      </p:sp>
      <p:sp>
        <p:nvSpPr>
          <p:cNvPr id="15" name="Text 12"/>
          <p:cNvSpPr/>
          <p:nvPr/>
        </p:nvSpPr>
        <p:spPr>
          <a:xfrm>
            <a:off x="63563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newly found control enriches the app map.</a:t>
            </a:r>
            <a:endParaRPr lang="en-US" sz="1200" dirty="0"/>
          </a:p>
        </p:txBody>
      </p:sp>
      <p:sp>
        <p:nvSpPr>
          <p:cNvPr id="16" name="Shape 13"/>
          <p:cNvSpPr/>
          <p:nvPr/>
        </p:nvSpPr>
        <p:spPr>
          <a:xfrm>
            <a:off x="88550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7" name="Text 14"/>
          <p:cNvSpPr/>
          <p:nvPr/>
        </p:nvSpPr>
        <p:spPr>
          <a:xfrm>
            <a:off x="90360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343A40"/>
                </a:solidFill>
                <a:latin typeface="IBM Plex Sans" pitchFamily="34" charset="0"/>
                <a:ea typeface="IBM Plex Sans" pitchFamily="34" charset="-122"/>
                <a:cs typeface="IBM Plex Sans" pitchFamily="34" charset="-120"/>
              </a:rPr>
              <a:t>Grey: agent</a:t>
            </a:r>
            <a:endParaRPr lang="en-US" sz="1400" dirty="0"/>
          </a:p>
        </p:txBody>
      </p:sp>
      <p:sp>
        <p:nvSpPr>
          <p:cNvPr id="18" name="Text 15"/>
          <p:cNvSpPr/>
          <p:nvPr/>
        </p:nvSpPr>
        <p:spPr>
          <a:xfrm>
            <a:off x="90360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own difficulties, never counted as app evidence.</a:t>
            </a:r>
            <a:endParaRPr lang="en-US" sz="1200" dirty="0"/>
          </a:p>
        </p:txBody>
      </p:sp>
      <p:sp>
        <p:nvSpPr>
          <p:cNvPr id="19" name="Text 16"/>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0" name="Text 17"/>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DEDUPLICATION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Knowing a finding is the same finding</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1 · Shown what is known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sees up to 12 known findings for the screens this run touched.</a:t>
            </a:r>
            <a:endParaRPr lang="en-US" sz="1200" dirty="0"/>
          </a:p>
        </p:txBody>
      </p:sp>
      <p:sp>
        <p:nvSpPr>
          <p:cNvPr id="7" name="Shape 5"/>
          <p:cNvSpPr/>
          <p:nvPr/>
        </p:nvSpPr>
        <p:spPr>
          <a:xfrm>
            <a:off x="4388892" y="1778595"/>
            <a:ext cx="3414216"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8" name="Text 6"/>
          <p:cNvSpPr/>
          <p:nvPr/>
        </p:nvSpPr>
        <p:spPr>
          <a:xfrm>
            <a:off x="4569867" y="1959570"/>
            <a:ext cx="3143834"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2 · Says what it confirms</a:t>
            </a:r>
            <a:endParaRPr lang="en-US" sz="1400" dirty="0"/>
          </a:p>
        </p:txBody>
      </p:sp>
      <p:sp>
        <p:nvSpPr>
          <p:cNvPr id="9" name="Text 7"/>
          <p:cNvSpPr/>
          <p:nvPr/>
        </p:nvSpPr>
        <p:spPr>
          <a:xfrm>
            <a:off x="4569867" y="2241500"/>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confirmation reinforces the existing finding instead of adding a new one.</a:t>
            </a:r>
            <a:endParaRPr lang="en-US" sz="1200" dirty="0"/>
          </a:p>
        </p:txBody>
      </p:sp>
      <p:sp>
        <p:nvSpPr>
          <p:cNvPr id="10" name="Shape 8"/>
          <p:cNvSpPr/>
          <p:nvPr/>
        </p:nvSpPr>
        <p:spPr>
          <a:xfrm>
            <a:off x="7961858"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8142833"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3 · Embedding safety net</a:t>
            </a:r>
            <a:endParaRPr lang="en-US" sz="1400" dirty="0"/>
          </a:p>
        </p:txBody>
      </p:sp>
      <p:sp>
        <p:nvSpPr>
          <p:cNvPr id="12" name="Text 10"/>
          <p:cNvSpPr/>
          <p:nvPr/>
        </p:nvSpPr>
        <p:spPr>
          <a:xfrm>
            <a:off x="8142833"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 claim at 0.90 cosine or more to one in the same group is merged anyway.</a:t>
            </a:r>
            <a:endParaRPr lang="en-US" sz="1200" dirty="0"/>
          </a:p>
        </p:txBody>
      </p:sp>
      <p:sp>
        <p:nvSpPr>
          <p:cNvPr id="13" name="Text 11"/>
          <p:cNvSpPr/>
          <p:nvPr/>
        </p:nvSpPr>
        <p:spPr>
          <a:xfrm>
            <a:off x="812800" y="300469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the model decides, not similarity alone:</a:t>
            </a:r>
            <a:r>
              <a:rPr lang="en-US" sz="1200" dirty="0">
                <a:solidFill>
                  <a:srgbClr val="14303D"/>
                </a:solidFill>
                <a:latin typeface="IBM Plex Sans" pitchFamily="34" charset="0"/>
                <a:ea typeface="IBM Plex Sans" pitchFamily="34" charset="-122"/>
                <a:cs typeface="IBM Plex Sans" pitchFamily="34" charset="-120"/>
              </a:rPr>
              <a:t> a true restatement of one finding scored 0.846, while a genuinely different defect scored 0.853.</a:t>
            </a:r>
            <a:endParaRPr lang="en-US" sz="1200" dirty="0"/>
          </a:p>
        </p:txBody>
      </p:sp>
      <p:sp>
        <p:nvSpPr>
          <p:cNvPr id="14" name="Shape 12"/>
          <p:cNvSpPr/>
          <p:nvPr/>
        </p:nvSpPr>
        <p:spPr>
          <a:xfrm>
            <a:off x="815975" y="3373586"/>
            <a:ext cx="5207000" cy="1283841"/>
          </a:xfrm>
          <a:prstGeom prst="roundRect">
            <a:avLst>
              <a:gd name="adj" fmla="val 7666"/>
            </a:avLst>
          </a:prstGeom>
          <a:solidFill>
            <a:srgbClr val="FDFEFE"/>
          </a:solidFill>
          <a:ln w="6350">
            <a:solidFill>
              <a:srgbClr val="D6E1E6"/>
            </a:solidFill>
            <a:prstDash val="solid"/>
          </a:ln>
        </p:spPr>
        <p:txBody>
          <a:bodyPr/>
          <a:lstStyle/>
          <a:p>
            <a:endParaRPr lang="en-US"/>
          </a:p>
        </p:txBody>
      </p:sp>
      <p:sp>
        <p:nvSpPr>
          <p:cNvPr id="15" name="Text 13"/>
          <p:cNvSpPr/>
          <p:nvPr/>
        </p:nvSpPr>
        <p:spPr>
          <a:xfrm>
            <a:off x="996950" y="3554561"/>
            <a:ext cx="499040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Clusters become one claim</a:t>
            </a:r>
            <a:endParaRPr lang="en-US" sz="1400" dirty="0"/>
          </a:p>
        </p:txBody>
      </p:sp>
      <p:sp>
        <p:nvSpPr>
          <p:cNvPr id="16" name="Text 14"/>
          <p:cNvSpPr/>
          <p:nvPr/>
        </p:nvSpPr>
        <p:spPr>
          <a:xfrm>
            <a:off x="996950" y="3836491"/>
            <a:ext cx="49904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Three or more similar findings on one screen (0.72) can be merged into a general claim. On the contacts app, 5 general claims stand for 26 specific ones.</a:t>
            </a:r>
            <a:endParaRPr lang="en-US" sz="1200" dirty="0"/>
          </a:p>
        </p:txBody>
      </p:sp>
      <p:sp>
        <p:nvSpPr>
          <p:cNvPr id="17" name="Shape 15"/>
          <p:cNvSpPr/>
          <p:nvPr/>
        </p:nvSpPr>
        <p:spPr>
          <a:xfrm>
            <a:off x="6178550" y="3370411"/>
            <a:ext cx="5200650" cy="1290191"/>
          </a:xfrm>
          <a:prstGeom prst="roundRect">
            <a:avLst>
              <a:gd name="adj" fmla="val 7875"/>
            </a:avLst>
          </a:prstGeom>
          <a:solidFill>
            <a:srgbClr val="14303D"/>
          </a:solidFill>
          <a:ln/>
        </p:spPr>
        <p:txBody>
          <a:bodyPr/>
          <a:lstStyle/>
          <a:p>
            <a:endParaRPr lang="en-US"/>
          </a:p>
        </p:txBody>
      </p:sp>
      <p:sp>
        <p:nvSpPr>
          <p:cNvPr id="18" name="Text 16"/>
          <p:cNvSpPr/>
          <p:nvPr/>
        </p:nvSpPr>
        <p:spPr>
          <a:xfrm>
            <a:off x="6356350" y="3548211"/>
            <a:ext cx="499040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Findings, not prose, keep input small</a:t>
            </a:r>
            <a:endParaRPr lang="en-US" sz="1400" dirty="0"/>
          </a:p>
        </p:txBody>
      </p:sp>
      <p:sp>
        <p:nvSpPr>
          <p:cNvPr id="19" name="Text 17"/>
          <p:cNvSpPr/>
          <p:nvPr/>
        </p:nvSpPr>
        <p:spPr>
          <a:xfrm>
            <a:off x="6356350" y="3830141"/>
            <a:ext cx="49904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A"/>
                </a:solidFill>
                <a:latin typeface="IBM Plex Sans" pitchFamily="34" charset="0"/>
                <a:ea typeface="IBM Plex Sans" pitchFamily="34" charset="-122"/>
                <a:cs typeface="IBM Plex Sans" pitchFamily="34" charset="-120"/>
              </a:rPr>
              <a:t>With prose reports the investigator's input grew from 28,344 to 97,796 characters over a campaign. With findings it shrank from 20,466 to 10,959.</a:t>
            </a:r>
            <a:endParaRPr lang="en-US" sz="1200" dirty="0"/>
          </a:p>
        </p:txBody>
      </p:sp>
      <p:sp>
        <p:nvSpPr>
          <p:cNvPr id="20" name="Text 18"/>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OPEN QUESTIONS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From observations to conclusions</a:t>
            </a:r>
            <a:endParaRPr lang="en-US" sz="3000" dirty="0"/>
          </a:p>
        </p:txBody>
      </p:sp>
      <p:sp>
        <p:nvSpPr>
          <p:cNvPr id="4" name="Shape 2"/>
          <p:cNvSpPr/>
          <p:nvPr/>
        </p:nvSpPr>
        <p:spPr>
          <a:xfrm>
            <a:off x="819150" y="2101850"/>
            <a:ext cx="2146300" cy="939800"/>
          </a:xfrm>
          <a:prstGeom prst="roundRect">
            <a:avLst>
              <a:gd name="adj" fmla="val 10135"/>
            </a:avLst>
          </a:prstGeom>
          <a:solidFill>
            <a:srgbClr val="FDFEFE"/>
          </a:solidFill>
          <a:ln w="12700">
            <a:solidFill>
              <a:srgbClr val="0F7EA8"/>
            </a:solidFill>
            <a:prstDash val="solid"/>
          </a:ln>
        </p:spPr>
        <p:txBody>
          <a:bodyPr/>
          <a:lstStyle/>
          <a:p>
            <a:endParaRPr lang="en-US"/>
          </a:p>
        </p:txBody>
      </p:sp>
      <p:sp>
        <p:nvSpPr>
          <p:cNvPr id="5" name="Text 3"/>
          <p:cNvSpPr/>
          <p:nvPr/>
        </p:nvSpPr>
        <p:spPr>
          <a:xfrm>
            <a:off x="977900" y="2260600"/>
            <a:ext cx="1883664" cy="235099"/>
          </a:xfrm>
          <a:prstGeom prst="rect">
            <a:avLst/>
          </a:prstGeom>
          <a:noFill/>
          <a:ln/>
        </p:spPr>
        <p:txBody>
          <a:bodyPr wrap="square" lIns="0" tIns="0" rIns="0" bIns="0" rtlCol="0" anchor="t">
            <a:normAutofit/>
          </a:bodyPr>
          <a:lstStyle/>
          <a:p>
            <a:pPr marL="0" indent="0" algn="l">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Open</a:t>
            </a:r>
            <a:endParaRPr lang="en-US" sz="1286" dirty="0"/>
          </a:p>
        </p:txBody>
      </p:sp>
      <p:sp>
        <p:nvSpPr>
          <p:cNvPr id="6" name="Text 4"/>
          <p:cNvSpPr/>
          <p:nvPr/>
        </p:nvSpPr>
        <p:spPr>
          <a:xfrm>
            <a:off x="977900" y="2495699"/>
            <a:ext cx="1883664" cy="412601"/>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6596A"/>
                </a:solidFill>
                <a:latin typeface="IBM Plex Sans" pitchFamily="34" charset="0"/>
                <a:ea typeface="IBM Plex Sans" pitchFamily="34" charset="-122"/>
                <a:cs typeface="IBM Plex Sans" pitchFamily="34" charset="-120"/>
              </a:rPr>
              <a:t>a run raised a question it could not settle</a:t>
            </a:r>
            <a:endParaRPr lang="en-US" sz="1095" dirty="0"/>
          </a:p>
        </p:txBody>
      </p:sp>
      <p:sp>
        <p:nvSpPr>
          <p:cNvPr id="7" name="Shape 5"/>
          <p:cNvSpPr/>
          <p:nvPr/>
        </p:nvSpPr>
        <p:spPr>
          <a:xfrm>
            <a:off x="3943350" y="2101850"/>
            <a:ext cx="2146300" cy="939800"/>
          </a:xfrm>
          <a:prstGeom prst="roundRect">
            <a:avLst>
              <a:gd name="adj" fmla="val 10135"/>
            </a:avLst>
          </a:prstGeom>
          <a:solidFill>
            <a:srgbClr val="FDFEFE"/>
          </a:solidFill>
          <a:ln w="12700">
            <a:solidFill>
              <a:srgbClr val="0F7EA8"/>
            </a:solidFill>
            <a:prstDash val="solid"/>
          </a:ln>
        </p:spPr>
        <p:txBody>
          <a:bodyPr/>
          <a:lstStyle/>
          <a:p>
            <a:endParaRPr lang="en-US"/>
          </a:p>
        </p:txBody>
      </p:sp>
      <p:sp>
        <p:nvSpPr>
          <p:cNvPr id="8" name="Text 6"/>
          <p:cNvSpPr/>
          <p:nvPr/>
        </p:nvSpPr>
        <p:spPr>
          <a:xfrm>
            <a:off x="4102100" y="2260600"/>
            <a:ext cx="1883664" cy="235099"/>
          </a:xfrm>
          <a:prstGeom prst="rect">
            <a:avLst/>
          </a:prstGeom>
          <a:noFill/>
          <a:ln/>
        </p:spPr>
        <p:txBody>
          <a:bodyPr wrap="square" lIns="0" tIns="0" rIns="0" bIns="0" rtlCol="0" anchor="t">
            <a:normAutofit/>
          </a:bodyPr>
          <a:lstStyle/>
          <a:p>
            <a:pPr marL="0" indent="0" algn="l">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Attempted</a:t>
            </a:r>
            <a:endParaRPr lang="en-US" sz="1286" dirty="0"/>
          </a:p>
        </p:txBody>
      </p:sp>
      <p:sp>
        <p:nvSpPr>
          <p:cNvPr id="9" name="Text 7"/>
          <p:cNvSpPr/>
          <p:nvPr/>
        </p:nvSpPr>
        <p:spPr>
          <a:xfrm>
            <a:off x="4102100" y="2495699"/>
            <a:ext cx="1883664" cy="412601"/>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6596A"/>
                </a:solidFill>
                <a:latin typeface="IBM Plex Sans" pitchFamily="34" charset="0"/>
                <a:ea typeface="IBM Plex Sans" pitchFamily="34" charset="-122"/>
                <a:cs typeface="IBM Plex Sans" pitchFamily="34" charset="-120"/>
              </a:rPr>
              <a:t>a later test declares it addresses it</a:t>
            </a:r>
            <a:endParaRPr lang="en-US" sz="1095" dirty="0"/>
          </a:p>
        </p:txBody>
      </p:sp>
      <p:sp>
        <p:nvSpPr>
          <p:cNvPr id="10" name="Shape 8"/>
          <p:cNvSpPr/>
          <p:nvPr/>
        </p:nvSpPr>
        <p:spPr>
          <a:xfrm>
            <a:off x="7064375" y="1844675"/>
            <a:ext cx="4311650" cy="692150"/>
          </a:xfrm>
          <a:prstGeom prst="roundRect">
            <a:avLst>
              <a:gd name="adj" fmla="val 14220"/>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7219950" y="1974850"/>
            <a:ext cx="4120515" cy="243334"/>
          </a:xfrm>
          <a:prstGeom prst="rect">
            <a:avLst/>
          </a:prstGeom>
          <a:noFill/>
          <a:ln/>
        </p:spPr>
        <p:txBody>
          <a:bodyPr wrap="square" lIns="0" tIns="0" rIns="0" bIns="0" rtlCol="0" anchor="t">
            <a:normAutofit/>
          </a:bodyPr>
          <a:lstStyle/>
          <a:p>
            <a:pPr marL="0" indent="0" algn="l">
              <a:lnSpc>
                <a:spcPts val="1723"/>
              </a:lnSpc>
              <a:buNone/>
            </a:pPr>
            <a:r>
              <a:rPr lang="en-US" sz="1326" b="1" dirty="0">
                <a:solidFill>
                  <a:srgbClr val="0B6A8F"/>
                </a:solidFill>
                <a:latin typeface="IBM Plex Sans" pitchFamily="34" charset="0"/>
                <a:ea typeface="IBM Plex Sans" pitchFamily="34" charset="-122"/>
                <a:cs typeface="IBM Plex Sans" pitchFamily="34" charset="-120"/>
              </a:rPr>
              <a:t>Resolved</a:t>
            </a:r>
            <a:endParaRPr lang="en-US" sz="1326" dirty="0"/>
          </a:p>
        </p:txBody>
      </p:sp>
      <p:sp>
        <p:nvSpPr>
          <p:cNvPr id="12" name="Text 10"/>
          <p:cNvSpPr/>
          <p:nvPr/>
        </p:nvSpPr>
        <p:spPr>
          <a:xfrm>
            <a:off x="7219950" y="2205484"/>
            <a:ext cx="4120515" cy="226566"/>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6596A"/>
                </a:solidFill>
                <a:latin typeface="IBM Plex Sans" pitchFamily="34" charset="0"/>
                <a:ea typeface="IBM Plex Sans" pitchFamily="34" charset="-122"/>
                <a:cs typeface="IBM Plex Sans" pitchFamily="34" charset="-120"/>
              </a:rPr>
              <a:t>the run settled it, confirmed or refuted</a:t>
            </a:r>
            <a:endParaRPr lang="en-US" sz="1159" dirty="0"/>
          </a:p>
        </p:txBody>
      </p:sp>
      <p:sp>
        <p:nvSpPr>
          <p:cNvPr id="13" name="Shape 11"/>
          <p:cNvSpPr/>
          <p:nvPr/>
        </p:nvSpPr>
        <p:spPr>
          <a:xfrm>
            <a:off x="7064375" y="2670175"/>
            <a:ext cx="4311650" cy="692150"/>
          </a:xfrm>
          <a:prstGeom prst="roundRect">
            <a:avLst>
              <a:gd name="adj" fmla="val 14220"/>
            </a:avLst>
          </a:prstGeom>
          <a:solidFill>
            <a:srgbClr val="FDFEFE"/>
          </a:solidFill>
          <a:ln w="6350">
            <a:solidFill>
              <a:srgbClr val="D6E1E6"/>
            </a:solidFill>
            <a:prstDash val="solid"/>
          </a:ln>
        </p:spPr>
        <p:txBody>
          <a:bodyPr/>
          <a:lstStyle/>
          <a:p>
            <a:endParaRPr lang="en-US"/>
          </a:p>
        </p:txBody>
      </p:sp>
      <p:sp>
        <p:nvSpPr>
          <p:cNvPr id="14" name="Text 12"/>
          <p:cNvSpPr/>
          <p:nvPr/>
        </p:nvSpPr>
        <p:spPr>
          <a:xfrm>
            <a:off x="7219950" y="2800350"/>
            <a:ext cx="4120515" cy="243334"/>
          </a:xfrm>
          <a:prstGeom prst="rect">
            <a:avLst/>
          </a:prstGeom>
          <a:noFill/>
          <a:ln/>
        </p:spPr>
        <p:txBody>
          <a:bodyPr wrap="square" lIns="0" tIns="0" rIns="0" bIns="0" rtlCol="0" anchor="t">
            <a:normAutofit/>
          </a:bodyPr>
          <a:lstStyle/>
          <a:p>
            <a:pPr marL="0" indent="0" algn="l">
              <a:lnSpc>
                <a:spcPts val="1723"/>
              </a:lnSpc>
              <a:buNone/>
            </a:pPr>
            <a:r>
              <a:rPr lang="en-US" sz="1326" b="1" dirty="0">
                <a:solidFill>
                  <a:srgbClr val="A9502C"/>
                </a:solidFill>
                <a:latin typeface="IBM Plex Sans" pitchFamily="34" charset="0"/>
                <a:ea typeface="IBM Plex Sans" pitchFamily="34" charset="-122"/>
                <a:cs typeface="IBM Plex Sans" pitchFamily="34" charset="-120"/>
              </a:rPr>
              <a:t>Inconclusive</a:t>
            </a:r>
            <a:endParaRPr lang="en-US" sz="1326" dirty="0"/>
          </a:p>
        </p:txBody>
      </p:sp>
      <p:sp>
        <p:nvSpPr>
          <p:cNvPr id="15" name="Text 13"/>
          <p:cNvSpPr/>
          <p:nvPr/>
        </p:nvSpPr>
        <p:spPr>
          <a:xfrm>
            <a:off x="7219950" y="3030984"/>
            <a:ext cx="4120515" cy="226566"/>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6596A"/>
                </a:solidFill>
                <a:latin typeface="IBM Plex Sans" pitchFamily="34" charset="0"/>
                <a:ea typeface="IBM Plex Sans" pitchFamily="34" charset="-122"/>
                <a:cs typeface="IBM Plex Sans" pitchFamily="34" charset="-120"/>
              </a:rPr>
              <a:t>retired after 3 attempts, instead of asked forever</a:t>
            </a:r>
            <a:endParaRPr lang="en-US" sz="1159" dirty="0"/>
          </a:p>
        </p:txBody>
      </p:sp>
      <p:pic>
        <p:nvPicPr>
          <p:cNvPr id="16" name="Image 0" descr="connector"/>
          <p:cNvPicPr>
            <a:picLocks noChangeAspect="1"/>
          </p:cNvPicPr>
          <p:nvPr/>
        </p:nvPicPr>
        <p:blipFill>
          <a:blip r:embed="rId3"/>
          <a:srcRect/>
          <a:stretch/>
        </p:blipFill>
        <p:spPr>
          <a:xfrm>
            <a:off x="2933700" y="2520950"/>
            <a:ext cx="1041400" cy="101600"/>
          </a:xfrm>
          <a:prstGeom prst="rect">
            <a:avLst/>
          </a:prstGeom>
        </p:spPr>
      </p:pic>
      <p:pic>
        <p:nvPicPr>
          <p:cNvPr id="17" name="Image 1" descr="connector"/>
          <p:cNvPicPr>
            <a:picLocks noChangeAspect="1"/>
          </p:cNvPicPr>
          <p:nvPr/>
        </p:nvPicPr>
        <p:blipFill>
          <a:blip r:embed="rId4"/>
          <a:srcRect/>
          <a:stretch/>
        </p:blipFill>
        <p:spPr>
          <a:xfrm>
            <a:off x="6057900" y="2139950"/>
            <a:ext cx="1041400" cy="323850"/>
          </a:xfrm>
          <a:prstGeom prst="rect">
            <a:avLst/>
          </a:prstGeom>
        </p:spPr>
      </p:pic>
      <p:pic>
        <p:nvPicPr>
          <p:cNvPr id="18" name="Image 2" descr="connector"/>
          <p:cNvPicPr>
            <a:picLocks noChangeAspect="1"/>
          </p:cNvPicPr>
          <p:nvPr/>
        </p:nvPicPr>
        <p:blipFill>
          <a:blip r:embed="rId5"/>
          <a:srcRect/>
          <a:stretch/>
        </p:blipFill>
        <p:spPr>
          <a:xfrm>
            <a:off x="6057900" y="2679700"/>
            <a:ext cx="1041400" cy="387350"/>
          </a:xfrm>
          <a:prstGeom prst="rect">
            <a:avLst/>
          </a:prstGeom>
        </p:spPr>
      </p:pic>
      <p:pic>
        <p:nvPicPr>
          <p:cNvPr id="19" name="Image 3" descr="connector"/>
          <p:cNvPicPr>
            <a:picLocks noChangeAspect="1"/>
          </p:cNvPicPr>
          <p:nvPr/>
        </p:nvPicPr>
        <p:blipFill>
          <a:blip r:embed="rId6"/>
          <a:srcRect/>
          <a:stretch/>
        </p:blipFill>
        <p:spPr>
          <a:xfrm>
            <a:off x="1841500" y="3009900"/>
            <a:ext cx="3225800" cy="406400"/>
          </a:xfrm>
          <a:prstGeom prst="rect">
            <a:avLst/>
          </a:prstGeom>
        </p:spPr>
      </p:pic>
      <p:pic>
        <p:nvPicPr>
          <p:cNvPr id="20" name="Image 4" descr="connector"/>
          <p:cNvPicPr>
            <a:picLocks noChangeAspect="1"/>
          </p:cNvPicPr>
          <p:nvPr/>
        </p:nvPicPr>
        <p:blipFill>
          <a:blip r:embed="rId7"/>
          <a:srcRect/>
          <a:stretch/>
        </p:blipFill>
        <p:spPr>
          <a:xfrm>
            <a:off x="1841500" y="3022600"/>
            <a:ext cx="101600" cy="393700"/>
          </a:xfrm>
          <a:prstGeom prst="rect">
            <a:avLst/>
          </a:prstGeom>
        </p:spPr>
      </p:pic>
      <p:sp>
        <p:nvSpPr>
          <p:cNvPr id="21" name="Text 14"/>
          <p:cNvSpPr/>
          <p:nvPr/>
        </p:nvSpPr>
        <p:spPr>
          <a:xfrm>
            <a:off x="2095500" y="3441700"/>
            <a:ext cx="28778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not settled, fewer than 3 attempts</a:t>
            </a:r>
            <a:endParaRPr lang="en-US" sz="1200" dirty="0"/>
          </a:p>
        </p:txBody>
      </p:sp>
      <p:sp>
        <p:nvSpPr>
          <p:cNvPr id="22" name="Shape 15"/>
          <p:cNvSpPr/>
          <p:nvPr/>
        </p:nvSpPr>
        <p:spPr>
          <a:xfrm>
            <a:off x="815975" y="3876675"/>
            <a:ext cx="6724650" cy="1083221"/>
          </a:xfrm>
          <a:prstGeom prst="roundRect">
            <a:avLst>
              <a:gd name="adj" fmla="val 9086"/>
            </a:avLst>
          </a:prstGeom>
          <a:solidFill>
            <a:srgbClr val="FDFEFE"/>
          </a:solidFill>
          <a:ln w="6350">
            <a:solidFill>
              <a:srgbClr val="D6E1E6"/>
            </a:solidFill>
            <a:prstDash val="solid"/>
          </a:ln>
        </p:spPr>
        <p:txBody>
          <a:bodyPr/>
          <a:lstStyle/>
          <a:p>
            <a:endParaRPr lang="en-US"/>
          </a:p>
        </p:txBody>
      </p:sp>
      <p:sp>
        <p:nvSpPr>
          <p:cNvPr id="23" name="Text 16"/>
          <p:cNvSpPr/>
          <p:nvPr/>
        </p:nvSpPr>
        <p:spPr>
          <a:xfrm>
            <a:off x="1022350" y="4057650"/>
            <a:ext cx="650125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Open questions become the planner's missions</a:t>
            </a:r>
            <a:endParaRPr lang="en-US" sz="1400" dirty="0"/>
          </a:p>
        </p:txBody>
      </p:sp>
      <p:sp>
        <p:nvSpPr>
          <p:cNvPr id="24" name="Text 17"/>
          <p:cNvSpPr/>
          <p:nvPr/>
        </p:nvSpPr>
        <p:spPr>
          <a:xfrm>
            <a:off x="1022350" y="4352280"/>
            <a:ext cx="650125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planner reserves room for open questions, so older ones are not crowded out by new ones. Its test declares which question it addresses, and the investigator records the answer.</a:t>
            </a:r>
            <a:endParaRPr lang="en-US" sz="1200" dirty="0"/>
          </a:p>
        </p:txBody>
      </p:sp>
      <p:sp>
        <p:nvSpPr>
          <p:cNvPr id="25" name="Text 18"/>
          <p:cNvSpPr/>
          <p:nvPr/>
        </p:nvSpPr>
        <p:spPr>
          <a:xfrm>
            <a:off x="7848600" y="3810000"/>
            <a:ext cx="1461145"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8</a:t>
            </a:r>
            <a:endParaRPr lang="en-US" sz="5600" dirty="0"/>
          </a:p>
        </p:txBody>
      </p:sp>
      <p:sp>
        <p:nvSpPr>
          <p:cNvPr id="26" name="Text 19"/>
          <p:cNvSpPr/>
          <p:nvPr/>
        </p:nvSpPr>
        <p:spPr>
          <a:xfrm>
            <a:off x="7848600" y="4556720"/>
            <a:ext cx="1461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settled by a later run</a:t>
            </a:r>
            <a:endParaRPr lang="en-US" sz="1200" dirty="0"/>
          </a:p>
        </p:txBody>
      </p:sp>
      <p:sp>
        <p:nvSpPr>
          <p:cNvPr id="27" name="Text 20"/>
          <p:cNvSpPr/>
          <p:nvPr/>
        </p:nvSpPr>
        <p:spPr>
          <a:xfrm>
            <a:off x="9512945" y="3810000"/>
            <a:ext cx="1218952"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115</a:t>
            </a:r>
            <a:endParaRPr lang="en-US" sz="5600" dirty="0"/>
          </a:p>
        </p:txBody>
      </p:sp>
      <p:sp>
        <p:nvSpPr>
          <p:cNvPr id="28" name="Text 21"/>
          <p:cNvSpPr/>
          <p:nvPr/>
        </p:nvSpPr>
        <p:spPr>
          <a:xfrm>
            <a:off x="9512945" y="4556720"/>
            <a:ext cx="12189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still open</a:t>
            </a:r>
            <a:endParaRPr lang="en-US" sz="1200" dirty="0"/>
          </a:p>
        </p:txBody>
      </p:sp>
      <p:sp>
        <p:nvSpPr>
          <p:cNvPr id="29" name="Text 22"/>
          <p:cNvSpPr/>
          <p:nvPr/>
        </p:nvSpPr>
        <p:spPr>
          <a:xfrm>
            <a:off x="7848600" y="5080000"/>
            <a:ext cx="363651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The loop works; most questions need longer campaigns.</a:t>
            </a:r>
            <a:endParaRPr lang="en-US" sz="1200" dirty="0"/>
          </a:p>
        </p:txBody>
      </p:sp>
      <p:sp>
        <p:nvSpPr>
          <p:cNvPr id="30" name="Text 2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1" name="Text 2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FAULT ATTRIBUTION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Not every failure is the app's fault</a:t>
            </a:r>
            <a:endParaRPr lang="en-US" sz="3000" dirty="0"/>
          </a:p>
        </p:txBody>
      </p:sp>
      <p:sp>
        <p:nvSpPr>
          <p:cNvPr id="4" name="Shape 2"/>
          <p:cNvSpPr/>
          <p:nvPr/>
        </p:nvSpPr>
        <p:spPr>
          <a:xfrm>
            <a:off x="819150" y="1781770"/>
            <a:ext cx="3382417" cy="3101032"/>
          </a:xfrm>
          <a:prstGeom prst="roundRect">
            <a:avLst>
              <a:gd name="adj" fmla="val 3072"/>
            </a:avLst>
          </a:prstGeom>
          <a:solidFill>
            <a:srgbClr val="FDFEFE"/>
          </a:solidFill>
          <a:ln w="12700">
            <a:solidFill>
              <a:srgbClr val="C8663F"/>
            </a:solidFill>
            <a:prstDash val="solid"/>
          </a:ln>
        </p:spPr>
        <p:txBody>
          <a:bodyPr/>
          <a:lstStyle/>
          <a:p>
            <a:endParaRPr lang="en-US" dirty="0"/>
          </a:p>
        </p:txBody>
      </p:sp>
      <p:sp>
        <p:nvSpPr>
          <p:cNvPr id="5" name="Text 3"/>
          <p:cNvSpPr/>
          <p:nvPr/>
        </p:nvSpPr>
        <p:spPr>
          <a:xfrm>
            <a:off x="1028700" y="1991320"/>
            <a:ext cx="305221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02C"/>
                </a:solidFill>
                <a:latin typeface="IBM Plex Sans" pitchFamily="34" charset="0"/>
                <a:ea typeface="IBM Plex Sans" pitchFamily="34" charset="-122"/>
                <a:cs typeface="IBM Plex Sans" pitchFamily="34" charset="-120"/>
              </a:rPr>
              <a:t>App fault</a:t>
            </a:r>
            <a:endParaRPr lang="en-US" sz="1800" dirty="0"/>
          </a:p>
        </p:txBody>
      </p:sp>
      <p:sp>
        <p:nvSpPr>
          <p:cNvPr id="6" name="Text 4"/>
          <p:cNvSpPr/>
          <p:nvPr/>
        </p:nvSpPr>
        <p:spPr>
          <a:xfrm>
            <a:off x="1028700" y="234181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agent reached its checkpoint and the app misbehaved. These are the findings.</a:t>
            </a:r>
            <a:endParaRPr lang="en-US" sz="1200" dirty="0"/>
          </a:p>
        </p:txBody>
      </p:sp>
      <p:sp>
        <p:nvSpPr>
          <p:cNvPr id="7" name="Text 5"/>
          <p:cNvSpPr/>
          <p:nvPr/>
        </p:nvSpPr>
        <p:spPr>
          <a:xfrm>
            <a:off x="1028700" y="284465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ASSERTION_FAILURE · CRASH · APP_UNRESPONSIVE</a:t>
            </a:r>
            <a:endParaRPr lang="en-US" sz="1200" dirty="0"/>
          </a:p>
        </p:txBody>
      </p:sp>
      <p:pic>
        <p:nvPicPr>
          <p:cNvPr id="8" name="Image 0" descr="line"/>
          <p:cNvPicPr>
            <a:picLocks noChangeAspect="1"/>
          </p:cNvPicPr>
          <p:nvPr/>
        </p:nvPicPr>
        <p:blipFill>
          <a:blip r:embed="rId3"/>
          <a:srcRect t="-35" b="-35"/>
          <a:stretch/>
        </p:blipFill>
        <p:spPr>
          <a:xfrm>
            <a:off x="1028700" y="3624312"/>
            <a:ext cx="2963317" cy="12700"/>
          </a:xfrm>
          <a:prstGeom prst="rect">
            <a:avLst/>
          </a:prstGeom>
        </p:spPr>
      </p:pic>
      <p:sp>
        <p:nvSpPr>
          <p:cNvPr id="9" name="Text 6"/>
          <p:cNvSpPr/>
          <p:nvPr/>
        </p:nvSpPr>
        <p:spPr>
          <a:xfrm>
            <a:off x="1028699" y="3713212"/>
            <a:ext cx="1043831"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11</a:t>
            </a:r>
            <a:endParaRPr lang="en-US" sz="5600" dirty="0"/>
          </a:p>
        </p:txBody>
      </p:sp>
      <p:sp>
        <p:nvSpPr>
          <p:cNvPr id="10" name="Text 7"/>
          <p:cNvSpPr/>
          <p:nvPr/>
        </p:nvSpPr>
        <p:spPr>
          <a:xfrm>
            <a:off x="1028700" y="445993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11" name="Text 8"/>
          <p:cNvSpPr/>
          <p:nvPr/>
        </p:nvSpPr>
        <p:spPr>
          <a:xfrm>
            <a:off x="2112267" y="3713212"/>
            <a:ext cx="1083567"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32</a:t>
            </a:r>
            <a:endParaRPr lang="en-US" sz="5600" dirty="0"/>
          </a:p>
        </p:txBody>
      </p:sp>
      <p:sp>
        <p:nvSpPr>
          <p:cNvPr id="12" name="Text 9"/>
          <p:cNvSpPr/>
          <p:nvPr/>
        </p:nvSpPr>
        <p:spPr>
          <a:xfrm>
            <a:off x="2112268" y="445993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13" name="Shape 10"/>
          <p:cNvSpPr/>
          <p:nvPr/>
        </p:nvSpPr>
        <p:spPr>
          <a:xfrm>
            <a:off x="4414292" y="1778595"/>
            <a:ext cx="3376116" cy="3107382"/>
          </a:xfrm>
          <a:prstGeom prst="roundRect">
            <a:avLst>
              <a:gd name="adj" fmla="val 3167"/>
            </a:avLst>
          </a:prstGeom>
          <a:solidFill>
            <a:srgbClr val="FDFEFE"/>
          </a:solidFill>
          <a:ln w="6350">
            <a:solidFill>
              <a:srgbClr val="B8C5CB"/>
            </a:solidFill>
            <a:prstDash val="solid"/>
          </a:ln>
        </p:spPr>
        <p:txBody>
          <a:bodyPr/>
          <a:lstStyle/>
          <a:p>
            <a:endParaRPr lang="en-US"/>
          </a:p>
        </p:txBody>
      </p:sp>
      <p:sp>
        <p:nvSpPr>
          <p:cNvPr id="14" name="Text 11"/>
          <p:cNvSpPr/>
          <p:nvPr/>
        </p:nvSpPr>
        <p:spPr>
          <a:xfrm>
            <a:off x="4620667" y="1984970"/>
            <a:ext cx="305226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Agent fault</a:t>
            </a:r>
            <a:endParaRPr lang="en-US" sz="1800" dirty="0"/>
          </a:p>
        </p:txBody>
      </p:sp>
      <p:sp>
        <p:nvSpPr>
          <p:cNvPr id="15" name="Text 12"/>
          <p:cNvSpPr/>
          <p:nvPr/>
        </p:nvSpPr>
        <p:spPr>
          <a:xfrm>
            <a:off x="4620667" y="2335461"/>
            <a:ext cx="30522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executor could not drive the app. Says nothing about its quality.</a:t>
            </a:r>
            <a:endParaRPr lang="en-US" sz="1200" dirty="0"/>
          </a:p>
        </p:txBody>
      </p:sp>
      <p:sp>
        <p:nvSpPr>
          <p:cNvPr id="16" name="Text 13"/>
          <p:cNvSpPr/>
          <p:nvPr/>
        </p:nvSpPr>
        <p:spPr>
          <a:xfrm>
            <a:off x="4620667" y="2838301"/>
            <a:ext cx="305226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NAVIGATION_FAILURE · ELEMENT_NOT_FOUND · TIMEOUT · NAVIGATION_LIVELOCK</a:t>
            </a:r>
            <a:endParaRPr lang="en-US" sz="1200" dirty="0"/>
          </a:p>
        </p:txBody>
      </p:sp>
      <p:pic>
        <p:nvPicPr>
          <p:cNvPr id="17" name="Image 1" descr="line"/>
          <p:cNvPicPr>
            <a:picLocks noChangeAspect="1"/>
          </p:cNvPicPr>
          <p:nvPr/>
        </p:nvPicPr>
        <p:blipFill>
          <a:blip r:embed="rId3"/>
          <a:srcRect t="-35" b="-35"/>
          <a:stretch/>
        </p:blipFill>
        <p:spPr>
          <a:xfrm>
            <a:off x="4620667" y="3630662"/>
            <a:ext cx="2963366" cy="12700"/>
          </a:xfrm>
          <a:prstGeom prst="rect">
            <a:avLst/>
          </a:prstGeom>
        </p:spPr>
      </p:pic>
      <p:sp>
        <p:nvSpPr>
          <p:cNvPr id="18" name="Text 14"/>
          <p:cNvSpPr/>
          <p:nvPr/>
        </p:nvSpPr>
        <p:spPr>
          <a:xfrm>
            <a:off x="4620667" y="3719562"/>
            <a:ext cx="776238"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2</a:t>
            </a:r>
            <a:endParaRPr lang="en-US" sz="5600" dirty="0"/>
          </a:p>
        </p:txBody>
      </p:sp>
      <p:sp>
        <p:nvSpPr>
          <p:cNvPr id="19" name="Text 15"/>
          <p:cNvSpPr/>
          <p:nvPr/>
        </p:nvSpPr>
        <p:spPr>
          <a:xfrm>
            <a:off x="4620667" y="4466282"/>
            <a:ext cx="7762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0" name="Text 16"/>
          <p:cNvSpPr/>
          <p:nvPr/>
        </p:nvSpPr>
        <p:spPr>
          <a:xfrm>
            <a:off x="5650905" y="3719562"/>
            <a:ext cx="637729"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6</a:t>
            </a:r>
            <a:endParaRPr lang="en-US" sz="5600" dirty="0"/>
          </a:p>
        </p:txBody>
      </p:sp>
      <p:sp>
        <p:nvSpPr>
          <p:cNvPr id="21" name="Text 17"/>
          <p:cNvSpPr/>
          <p:nvPr/>
        </p:nvSpPr>
        <p:spPr>
          <a:xfrm>
            <a:off x="5650905" y="4466282"/>
            <a:ext cx="6377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22" name="Shape 18"/>
          <p:cNvSpPr/>
          <p:nvPr/>
        </p:nvSpPr>
        <p:spPr>
          <a:xfrm>
            <a:off x="7999958" y="1778595"/>
            <a:ext cx="3376067" cy="3107382"/>
          </a:xfrm>
          <a:prstGeom prst="roundRect">
            <a:avLst>
              <a:gd name="adj" fmla="val 3167"/>
            </a:avLst>
          </a:prstGeom>
          <a:solidFill>
            <a:srgbClr val="FDFEFE"/>
          </a:solidFill>
          <a:ln w="6350">
            <a:solidFill>
              <a:srgbClr val="B8C5CB"/>
            </a:solidFill>
            <a:prstDash val="solid"/>
          </a:ln>
        </p:spPr>
        <p:txBody>
          <a:bodyPr/>
          <a:lstStyle/>
          <a:p>
            <a:endParaRPr lang="en-US" dirty="0"/>
          </a:p>
        </p:txBody>
      </p:sp>
      <p:sp>
        <p:nvSpPr>
          <p:cNvPr id="23" name="Text 19"/>
          <p:cNvSpPr/>
          <p:nvPr/>
        </p:nvSpPr>
        <p:spPr>
          <a:xfrm>
            <a:off x="8206333" y="1984970"/>
            <a:ext cx="305221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Environment</a:t>
            </a:r>
            <a:endParaRPr lang="en-US" sz="1800" dirty="0"/>
          </a:p>
        </p:txBody>
      </p:sp>
      <p:sp>
        <p:nvSpPr>
          <p:cNvPr id="24" name="Text 20"/>
          <p:cNvSpPr/>
          <p:nvPr/>
        </p:nvSpPr>
        <p:spPr>
          <a:xfrm>
            <a:off x="8206333" y="233546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precondition was missing, or the step budget ran out before any evidence.</a:t>
            </a:r>
            <a:endParaRPr lang="en-US" sz="1200" dirty="0"/>
          </a:p>
        </p:txBody>
      </p:sp>
      <p:sp>
        <p:nvSpPr>
          <p:cNvPr id="25" name="Text 21"/>
          <p:cNvSpPr/>
          <p:nvPr/>
        </p:nvSpPr>
        <p:spPr>
          <a:xfrm>
            <a:off x="8206333" y="2838301"/>
            <a:ext cx="305221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PRECONDITION_NOT_MET · PERMISSION_DENIED · STEP_LIMIT_EXCEEDED</a:t>
            </a:r>
            <a:endParaRPr lang="en-US" sz="1200" dirty="0"/>
          </a:p>
        </p:txBody>
      </p:sp>
      <p:pic>
        <p:nvPicPr>
          <p:cNvPr id="26" name="Image 2" descr="line"/>
          <p:cNvPicPr>
            <a:picLocks noChangeAspect="1"/>
          </p:cNvPicPr>
          <p:nvPr/>
        </p:nvPicPr>
        <p:blipFill>
          <a:blip r:embed="rId3"/>
          <a:srcRect t="-35" b="-35"/>
          <a:stretch/>
        </p:blipFill>
        <p:spPr>
          <a:xfrm>
            <a:off x="8206333" y="3630662"/>
            <a:ext cx="2963317" cy="12700"/>
          </a:xfrm>
          <a:prstGeom prst="rect">
            <a:avLst/>
          </a:prstGeom>
        </p:spPr>
      </p:pic>
      <p:sp>
        <p:nvSpPr>
          <p:cNvPr id="27" name="Text 22"/>
          <p:cNvSpPr/>
          <p:nvPr/>
        </p:nvSpPr>
        <p:spPr>
          <a:xfrm>
            <a:off x="8206332" y="3719562"/>
            <a:ext cx="1340993"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12</a:t>
            </a:r>
            <a:endParaRPr lang="en-US" sz="5600" dirty="0"/>
          </a:p>
        </p:txBody>
      </p:sp>
      <p:sp>
        <p:nvSpPr>
          <p:cNvPr id="28" name="Text 23"/>
          <p:cNvSpPr/>
          <p:nvPr/>
        </p:nvSpPr>
        <p:spPr>
          <a:xfrm>
            <a:off x="8206333" y="446628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9" name="Text 24"/>
          <p:cNvSpPr/>
          <p:nvPr/>
        </p:nvSpPr>
        <p:spPr>
          <a:xfrm>
            <a:off x="9289900" y="3719562"/>
            <a:ext cx="1340993" cy="91559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10</a:t>
            </a:r>
            <a:endParaRPr lang="en-US" sz="5600" dirty="0"/>
          </a:p>
        </p:txBody>
      </p:sp>
      <p:sp>
        <p:nvSpPr>
          <p:cNvPr id="30" name="Text 25"/>
          <p:cNvSpPr/>
          <p:nvPr/>
        </p:nvSpPr>
        <p:spPr>
          <a:xfrm>
            <a:off x="9289901" y="446628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31" name="Text 26"/>
          <p:cNvSpPr/>
          <p:nvPr/>
        </p:nvSpPr>
        <p:spPr>
          <a:xfrm>
            <a:off x="812800" y="5143153"/>
            <a:ext cx="1088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Only the first column counts as defects: 11 of 25 failures on the commerce app, 32 of 48 on the contacts app.</a:t>
            </a:r>
            <a:endParaRPr lang="en-US" sz="1400" dirty="0"/>
          </a:p>
        </p:txBody>
      </p:sp>
      <p:sp>
        <p:nvSpPr>
          <p:cNvPr id="32" name="Text 27"/>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FAULT ATTRIBUTION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error type, and where it goes</a:t>
            </a:r>
            <a:endParaRPr lang="en-US" sz="3000" dirty="0"/>
          </a:p>
        </p:txBody>
      </p:sp>
      <p:sp>
        <p:nvSpPr>
          <p:cNvPr id="4" name="Text 2"/>
          <p:cNvSpPr/>
          <p:nvPr/>
        </p:nvSpPr>
        <p:spPr>
          <a:xfrm>
            <a:off x="812800" y="1724620"/>
            <a:ext cx="5206238"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How to read it</a:t>
            </a:r>
            <a:endParaRPr lang="en-US" sz="1400" dirty="0"/>
          </a:p>
        </p:txBody>
      </p:sp>
      <p:sp>
        <p:nvSpPr>
          <p:cNvPr id="5" name="Shape 3"/>
          <p:cNvSpPr/>
          <p:nvPr/>
        </p:nvSpPr>
        <p:spPr>
          <a:xfrm>
            <a:off x="819150" y="2101800"/>
            <a:ext cx="139700" cy="139700"/>
          </a:xfrm>
          <a:prstGeom prst="roundRect">
            <a:avLst>
              <a:gd name="adj" fmla="val 22727"/>
            </a:avLst>
          </a:prstGeom>
          <a:solidFill>
            <a:srgbClr val="D3F9D8"/>
          </a:solidFill>
          <a:ln w="12700">
            <a:solidFill>
              <a:srgbClr val="2F9E44"/>
            </a:solidFill>
            <a:prstDash val="solid"/>
          </a:ln>
        </p:spPr>
        <p:txBody>
          <a:bodyPr/>
          <a:lstStyle/>
          <a:p>
            <a:endParaRPr lang="en-US"/>
          </a:p>
        </p:txBody>
      </p:sp>
      <p:sp>
        <p:nvSpPr>
          <p:cNvPr id="6" name="Text 4"/>
          <p:cNvSpPr/>
          <p:nvPr/>
        </p:nvSpPr>
        <p:spPr>
          <a:xfrm>
            <a:off x="1041400" y="2095450"/>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Green: pass, the app did what the test expected</a:t>
            </a:r>
            <a:endParaRPr lang="en-US" sz="1200" dirty="0"/>
          </a:p>
        </p:txBody>
      </p:sp>
      <p:sp>
        <p:nvSpPr>
          <p:cNvPr id="7" name="Shape 5"/>
          <p:cNvSpPr/>
          <p:nvPr/>
        </p:nvSpPr>
        <p:spPr>
          <a:xfrm>
            <a:off x="819150" y="2454821"/>
            <a:ext cx="139700" cy="139700"/>
          </a:xfrm>
          <a:prstGeom prst="roundRect">
            <a:avLst>
              <a:gd name="adj" fmla="val 22727"/>
            </a:avLst>
          </a:prstGeom>
          <a:solidFill>
            <a:srgbClr val="FFE3E3"/>
          </a:solidFill>
          <a:ln w="12700">
            <a:solidFill>
              <a:srgbClr val="E03131"/>
            </a:solidFill>
            <a:prstDash val="solid"/>
          </a:ln>
        </p:spPr>
        <p:txBody>
          <a:bodyPr/>
          <a:lstStyle/>
          <a:p>
            <a:endParaRPr lang="en-US"/>
          </a:p>
        </p:txBody>
      </p:sp>
      <p:sp>
        <p:nvSpPr>
          <p:cNvPr id="8" name="Text 6"/>
          <p:cNvSpPr/>
          <p:nvPr/>
        </p:nvSpPr>
        <p:spPr>
          <a:xfrm>
            <a:off x="1041400" y="244847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Red: app fault, the real finding count</a:t>
            </a:r>
            <a:endParaRPr lang="en-US" sz="1200" dirty="0"/>
          </a:p>
        </p:txBody>
      </p:sp>
      <p:sp>
        <p:nvSpPr>
          <p:cNvPr id="9" name="Shape 7"/>
          <p:cNvSpPr/>
          <p:nvPr/>
        </p:nvSpPr>
        <p:spPr>
          <a:xfrm>
            <a:off x="819150" y="2807841"/>
            <a:ext cx="139700" cy="139700"/>
          </a:xfrm>
          <a:prstGeom prst="roundRect">
            <a:avLst>
              <a:gd name="adj" fmla="val 22727"/>
            </a:avLst>
          </a:prstGeom>
          <a:solidFill>
            <a:srgbClr val="E9ECEF"/>
          </a:solidFill>
          <a:ln w="12700">
            <a:solidFill>
              <a:srgbClr val="868E96"/>
            </a:solidFill>
            <a:prstDash val="solid"/>
          </a:ln>
        </p:spPr>
        <p:txBody>
          <a:bodyPr/>
          <a:lstStyle/>
          <a:p>
            <a:endParaRPr lang="en-US"/>
          </a:p>
        </p:txBody>
      </p:sp>
      <p:sp>
        <p:nvSpPr>
          <p:cNvPr id="10" name="Text 8"/>
          <p:cNvSpPr/>
          <p:nvPr/>
        </p:nvSpPr>
        <p:spPr>
          <a:xfrm>
            <a:off x="1041400" y="280149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Grey: agent fault, our executor could not drive the app</a:t>
            </a:r>
            <a:endParaRPr lang="en-US" sz="1200" dirty="0"/>
          </a:p>
        </p:txBody>
      </p:sp>
      <p:sp>
        <p:nvSpPr>
          <p:cNvPr id="11" name="Shape 9"/>
          <p:cNvSpPr/>
          <p:nvPr/>
        </p:nvSpPr>
        <p:spPr>
          <a:xfrm>
            <a:off x="819150" y="3160861"/>
            <a:ext cx="139700" cy="139700"/>
          </a:xfrm>
          <a:prstGeom prst="roundRect">
            <a:avLst>
              <a:gd name="adj" fmla="val 22727"/>
            </a:avLst>
          </a:prstGeom>
          <a:solidFill>
            <a:srgbClr val="FFE8CC"/>
          </a:solidFill>
          <a:ln w="12700">
            <a:solidFill>
              <a:srgbClr val="E8892B"/>
            </a:solidFill>
            <a:prstDash val="solid"/>
          </a:ln>
        </p:spPr>
        <p:txBody>
          <a:bodyPr/>
          <a:lstStyle/>
          <a:p>
            <a:endParaRPr lang="en-US"/>
          </a:p>
        </p:txBody>
      </p:sp>
      <p:sp>
        <p:nvSpPr>
          <p:cNvPr id="12" name="Text 10"/>
          <p:cNvSpPr/>
          <p:nvPr/>
        </p:nvSpPr>
        <p:spPr>
          <a:xfrm>
            <a:off x="1041400" y="3154511"/>
            <a:ext cx="49707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Orange: environment fault, refused or out of budget before any evidence</a:t>
            </a:r>
            <a:endParaRPr lang="en-US" sz="1200" dirty="0"/>
          </a:p>
        </p:txBody>
      </p:sp>
      <p:sp>
        <p:nvSpPr>
          <p:cNvPr id="13" name="Text 11"/>
          <p:cNvSpPr/>
          <p:nvPr/>
        </p:nvSpPr>
        <p:spPr>
          <a:xfrm>
            <a:off x="812800" y="3720852"/>
            <a:ext cx="520623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The taxonomy has a single definition in the code, so the dashboard, the reports and these slides all count the same way.</a:t>
            </a:r>
            <a:endParaRPr lang="en-US" sz="1200" dirty="0"/>
          </a:p>
        </p:txBody>
      </p:sp>
      <p:sp>
        <p:nvSpPr>
          <p:cNvPr id="14" name="Shape 12"/>
          <p:cNvSpPr/>
          <p:nvPr/>
        </p:nvSpPr>
        <p:spPr>
          <a:xfrm>
            <a:off x="6172200" y="1724620"/>
            <a:ext cx="5207000" cy="4064000"/>
          </a:xfrm>
          <a:prstGeom prst="roundRect">
            <a:avLst>
              <a:gd name="adj" fmla="val 2500"/>
            </a:avLst>
          </a:prstGeom>
          <a:solidFill>
            <a:srgbClr val="FDFEFE"/>
          </a:solidFill>
          <a:ln/>
        </p:spPr>
        <p:txBody>
          <a:bodyPr/>
          <a:lstStyle/>
          <a:p>
            <a:endParaRPr lang="en-US"/>
          </a:p>
        </p:txBody>
      </p:sp>
      <p:pic>
        <p:nvPicPr>
          <p:cNvPr id="15" name="Image 0" descr="Fault attribution tree: a failed verdict's error type is routed to APP_FAULT, AGENT_FAULT or ENV_FAULT"/>
          <p:cNvPicPr>
            <a:picLocks noChangeAspect="1"/>
          </p:cNvPicPr>
          <p:nvPr/>
        </p:nvPicPr>
        <p:blipFill>
          <a:blip r:embed="rId3"/>
          <a:stretch>
            <a:fillRect/>
          </a:stretch>
        </p:blipFill>
        <p:spPr>
          <a:xfrm>
            <a:off x="6236240" y="1730970"/>
            <a:ext cx="5078921" cy="4051300"/>
          </a:xfrm>
          <a:custGeom>
            <a:avLst/>
            <a:gdLst/>
            <a:ahLst/>
            <a:cxnLst/>
            <a:rect l="l" t="t" r="r" b="b"/>
            <a:pathLst>
              <a:path w="5078921" h="4051300">
                <a:moveTo>
                  <a:pt x="0" y="7718"/>
                </a:moveTo>
                <a:arcTo wR="95250" hR="95250" stAng="14806534" swAng="1393466"/>
                <a:lnTo>
                  <a:pt x="5041360" y="0"/>
                </a:lnTo>
                <a:arcTo wR="95250" hR="95250" stAng="16200000" swAng="1393466"/>
                <a:lnTo>
                  <a:pt x="5078921" y="4043582"/>
                </a:lnTo>
                <a:arcTo wR="95250" hR="95250" stAng="4006534" swAng="1393466"/>
                <a:lnTo>
                  <a:pt x="37560" y="4051300"/>
                </a:lnTo>
                <a:arcTo wR="95250" hR="95250" stAng="5400000" swAng="1393466"/>
                <a:close/>
              </a:path>
            </a:pathLst>
          </a:custGeom>
        </p:spPr>
      </p:pic>
      <p:sp>
        <p:nvSpPr>
          <p:cNvPr id="16" name="Shape 13"/>
          <p:cNvSpPr/>
          <p:nvPr/>
        </p:nvSpPr>
        <p:spPr>
          <a:xfrm>
            <a:off x="6175375" y="1727795"/>
            <a:ext cx="5200650" cy="4057650"/>
          </a:xfrm>
          <a:prstGeom prst="roundRect">
            <a:avLst>
              <a:gd name="adj" fmla="val 2426"/>
            </a:avLst>
          </a:prstGeom>
          <a:noFill/>
          <a:ln w="6350">
            <a:solidFill>
              <a:srgbClr val="D6E1E6"/>
            </a:solidFill>
            <a:prstDash val="solid"/>
          </a:ln>
        </p:spPr>
        <p:txBody>
          <a:bodyPr/>
          <a:lstStyle/>
          <a:p>
            <a:endParaRPr lang="en-US"/>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Two real apps, 130 autonomous test runs</a:t>
            </a:r>
            <a:endParaRPr lang="en-US" sz="3000" dirty="0"/>
          </a:p>
        </p:txBody>
      </p:sp>
      <p:sp>
        <p:nvSpPr>
          <p:cNvPr id="4" name="Shape 2"/>
          <p:cNvSpPr/>
          <p:nvPr/>
        </p:nvSpPr>
        <p:spPr>
          <a:xfrm>
            <a:off x="815975" y="1778595"/>
            <a:ext cx="5175250" cy="2998242"/>
          </a:xfrm>
          <a:prstGeom prst="roundRect">
            <a:avLst>
              <a:gd name="adj" fmla="val 3283"/>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73150" y="2035770"/>
            <a:ext cx="48007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Commerce app</a:t>
            </a:r>
            <a:endParaRPr lang="en-US" sz="1800" dirty="0"/>
          </a:p>
        </p:txBody>
      </p:sp>
      <p:sp>
        <p:nvSpPr>
          <p:cNvPr id="6" name="Text 4"/>
          <p:cNvSpPr/>
          <p:nvPr/>
        </p:nvSpPr>
        <p:spPr>
          <a:xfrm>
            <a:off x="1073150" y="2386261"/>
            <a:ext cx="48007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Production app with live users · 20 passed, 25 failed</a:t>
            </a:r>
            <a:endParaRPr lang="en-US" sz="1200" dirty="0"/>
          </a:p>
        </p:txBody>
      </p:sp>
      <p:sp>
        <p:nvSpPr>
          <p:cNvPr id="7" name="Text 5"/>
          <p:cNvSpPr/>
          <p:nvPr/>
        </p:nvSpPr>
        <p:spPr>
          <a:xfrm>
            <a:off x="1073150" y="2675781"/>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45</a:t>
            </a:r>
            <a:endParaRPr lang="en-US" sz="3000" dirty="0"/>
          </a:p>
        </p:txBody>
      </p:sp>
      <p:sp>
        <p:nvSpPr>
          <p:cNvPr id="8" name="Text 6"/>
          <p:cNvSpPr/>
          <p:nvPr/>
        </p:nvSpPr>
        <p:spPr>
          <a:xfrm>
            <a:off x="1073150" y="3094881"/>
            <a:ext cx="2321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test runs</a:t>
            </a:r>
            <a:endParaRPr lang="en-US" sz="1200" dirty="0"/>
          </a:p>
        </p:txBody>
      </p:sp>
      <p:sp>
        <p:nvSpPr>
          <p:cNvPr id="9" name="Text 7"/>
          <p:cNvSpPr/>
          <p:nvPr/>
        </p:nvSpPr>
        <p:spPr>
          <a:xfrm>
            <a:off x="3479800" y="2675781"/>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7EA8"/>
                </a:solidFill>
                <a:latin typeface="Source Serif 4" pitchFamily="34" charset="0"/>
                <a:ea typeface="Source Serif 4" pitchFamily="34" charset="-122"/>
                <a:cs typeface="Source Serif 4" pitchFamily="34" charset="-120"/>
              </a:rPr>
              <a:t>31%</a:t>
            </a:r>
            <a:endParaRPr lang="en-US" sz="3000" dirty="0"/>
          </a:p>
        </p:txBody>
      </p:sp>
      <p:sp>
        <p:nvSpPr>
          <p:cNvPr id="10" name="Text 8"/>
          <p:cNvSpPr/>
          <p:nvPr/>
        </p:nvSpPr>
        <p:spPr>
          <a:xfrm>
            <a:off x="3479800" y="3094881"/>
            <a:ext cx="232187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requirements covered (33 of 106)</a:t>
            </a:r>
            <a:endParaRPr lang="en-US" sz="1200" dirty="0"/>
          </a:p>
        </p:txBody>
      </p:sp>
      <p:sp>
        <p:nvSpPr>
          <p:cNvPr id="11" name="Text 9"/>
          <p:cNvSpPr/>
          <p:nvPr/>
        </p:nvSpPr>
        <p:spPr>
          <a:xfrm>
            <a:off x="1073150" y="3673921"/>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A9502C"/>
                </a:solidFill>
                <a:latin typeface="Source Serif 4" pitchFamily="34" charset="0"/>
                <a:ea typeface="Source Serif 4" pitchFamily="34" charset="-122"/>
                <a:cs typeface="Source Serif 4" pitchFamily="34" charset="-120"/>
              </a:rPr>
              <a:t>11</a:t>
            </a:r>
            <a:endParaRPr lang="en-US" sz="3000" dirty="0"/>
          </a:p>
        </p:txBody>
      </p:sp>
      <p:sp>
        <p:nvSpPr>
          <p:cNvPr id="12" name="Text 10"/>
          <p:cNvSpPr/>
          <p:nvPr/>
        </p:nvSpPr>
        <p:spPr>
          <a:xfrm>
            <a:off x="1073150" y="4093021"/>
            <a:ext cx="2321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app-fault failures</a:t>
            </a:r>
            <a:endParaRPr lang="en-US" sz="1200" dirty="0"/>
          </a:p>
        </p:txBody>
      </p:sp>
      <p:sp>
        <p:nvSpPr>
          <p:cNvPr id="13" name="Text 11"/>
          <p:cNvSpPr/>
          <p:nvPr/>
        </p:nvSpPr>
        <p:spPr>
          <a:xfrm>
            <a:off x="3479800" y="3673921"/>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5</a:t>
            </a:r>
            <a:endParaRPr lang="en-US" sz="3000" dirty="0"/>
          </a:p>
        </p:txBody>
      </p:sp>
      <p:sp>
        <p:nvSpPr>
          <p:cNvPr id="14" name="Text 12"/>
          <p:cNvSpPr/>
          <p:nvPr/>
        </p:nvSpPr>
        <p:spPr>
          <a:xfrm>
            <a:off x="3479800" y="4093021"/>
            <a:ext cx="2321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specification violations</a:t>
            </a:r>
            <a:endParaRPr lang="en-US" sz="1200" dirty="0"/>
          </a:p>
        </p:txBody>
      </p:sp>
      <p:sp>
        <p:nvSpPr>
          <p:cNvPr id="15" name="Shape 13"/>
          <p:cNvSpPr/>
          <p:nvPr/>
        </p:nvSpPr>
        <p:spPr>
          <a:xfrm>
            <a:off x="6200775" y="1778595"/>
            <a:ext cx="5175250" cy="2998242"/>
          </a:xfrm>
          <a:prstGeom prst="roundRect">
            <a:avLst>
              <a:gd name="adj" fmla="val 3283"/>
            </a:avLst>
          </a:prstGeom>
          <a:solidFill>
            <a:srgbClr val="FDFEFE"/>
          </a:solidFill>
          <a:ln w="6350">
            <a:solidFill>
              <a:srgbClr val="D6E1E6"/>
            </a:solidFill>
            <a:prstDash val="solid"/>
          </a:ln>
        </p:spPr>
        <p:txBody>
          <a:bodyPr/>
          <a:lstStyle/>
          <a:p>
            <a:endParaRPr lang="en-US"/>
          </a:p>
        </p:txBody>
      </p:sp>
      <p:sp>
        <p:nvSpPr>
          <p:cNvPr id="16" name="Text 14"/>
          <p:cNvSpPr/>
          <p:nvPr/>
        </p:nvSpPr>
        <p:spPr>
          <a:xfrm>
            <a:off x="6457950" y="2035770"/>
            <a:ext cx="48007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Contacts app</a:t>
            </a:r>
            <a:endParaRPr lang="en-US" sz="1800" dirty="0"/>
          </a:p>
        </p:txBody>
      </p:sp>
      <p:sp>
        <p:nvSpPr>
          <p:cNvPr id="17" name="Text 15"/>
          <p:cNvSpPr/>
          <p:nvPr/>
        </p:nvSpPr>
        <p:spPr>
          <a:xfrm>
            <a:off x="6457950" y="2386261"/>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Google Contacts, against a 141-requirement spec we wrote · 37 passed, 48 failed</a:t>
            </a:r>
            <a:endParaRPr lang="en-US" sz="1200" dirty="0"/>
          </a:p>
        </p:txBody>
      </p:sp>
      <p:sp>
        <p:nvSpPr>
          <p:cNvPr id="18" name="Text 16"/>
          <p:cNvSpPr/>
          <p:nvPr/>
        </p:nvSpPr>
        <p:spPr>
          <a:xfrm>
            <a:off x="6457950" y="2889101"/>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85</a:t>
            </a:r>
            <a:endParaRPr lang="en-US" sz="3000" dirty="0"/>
          </a:p>
        </p:txBody>
      </p:sp>
      <p:sp>
        <p:nvSpPr>
          <p:cNvPr id="19" name="Text 17"/>
          <p:cNvSpPr/>
          <p:nvPr/>
        </p:nvSpPr>
        <p:spPr>
          <a:xfrm>
            <a:off x="6457950" y="3308201"/>
            <a:ext cx="2321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test runs</a:t>
            </a:r>
            <a:endParaRPr lang="en-US" sz="1200" dirty="0"/>
          </a:p>
        </p:txBody>
      </p:sp>
      <p:sp>
        <p:nvSpPr>
          <p:cNvPr id="20" name="Text 18"/>
          <p:cNvSpPr/>
          <p:nvPr/>
        </p:nvSpPr>
        <p:spPr>
          <a:xfrm>
            <a:off x="8864600" y="2889101"/>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F7EA8"/>
                </a:solidFill>
                <a:latin typeface="Source Serif 4" pitchFamily="34" charset="0"/>
                <a:ea typeface="Source Serif 4" pitchFamily="34" charset="-122"/>
                <a:cs typeface="Source Serif 4" pitchFamily="34" charset="-120"/>
              </a:rPr>
              <a:t>56%</a:t>
            </a:r>
            <a:endParaRPr lang="en-US" sz="3000" dirty="0"/>
          </a:p>
        </p:txBody>
      </p:sp>
      <p:sp>
        <p:nvSpPr>
          <p:cNvPr id="21" name="Text 19"/>
          <p:cNvSpPr/>
          <p:nvPr/>
        </p:nvSpPr>
        <p:spPr>
          <a:xfrm>
            <a:off x="8864600" y="3308201"/>
            <a:ext cx="232187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requirements covered (79 of 141)</a:t>
            </a:r>
            <a:endParaRPr lang="en-US" sz="1200" dirty="0"/>
          </a:p>
        </p:txBody>
      </p:sp>
      <p:sp>
        <p:nvSpPr>
          <p:cNvPr id="22" name="Text 20"/>
          <p:cNvSpPr/>
          <p:nvPr/>
        </p:nvSpPr>
        <p:spPr>
          <a:xfrm>
            <a:off x="6457950" y="3887242"/>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A9502C"/>
                </a:solidFill>
                <a:latin typeface="Source Serif 4" pitchFamily="34" charset="0"/>
                <a:ea typeface="Source Serif 4" pitchFamily="34" charset="-122"/>
                <a:cs typeface="Source Serif 4" pitchFamily="34" charset="-120"/>
              </a:rPr>
              <a:t>32</a:t>
            </a:r>
            <a:endParaRPr lang="en-US" sz="3000" dirty="0"/>
          </a:p>
        </p:txBody>
      </p:sp>
      <p:sp>
        <p:nvSpPr>
          <p:cNvPr id="23" name="Text 21"/>
          <p:cNvSpPr/>
          <p:nvPr/>
        </p:nvSpPr>
        <p:spPr>
          <a:xfrm>
            <a:off x="6457950" y="4306342"/>
            <a:ext cx="2321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app-fault failures</a:t>
            </a:r>
            <a:endParaRPr lang="en-US" sz="1200" dirty="0"/>
          </a:p>
        </p:txBody>
      </p:sp>
      <p:sp>
        <p:nvSpPr>
          <p:cNvPr id="24" name="Text 22"/>
          <p:cNvSpPr/>
          <p:nvPr/>
        </p:nvSpPr>
        <p:spPr>
          <a:xfrm>
            <a:off x="8864600" y="3887242"/>
            <a:ext cx="2321877"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21</a:t>
            </a:r>
            <a:endParaRPr lang="en-US" sz="3000" dirty="0"/>
          </a:p>
        </p:txBody>
      </p:sp>
      <p:sp>
        <p:nvSpPr>
          <p:cNvPr id="25" name="Text 23"/>
          <p:cNvSpPr/>
          <p:nvPr/>
        </p:nvSpPr>
        <p:spPr>
          <a:xfrm>
            <a:off x="8864600" y="4306342"/>
            <a:ext cx="2321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specification violations</a:t>
            </a:r>
            <a:endParaRPr lang="en-US" sz="1200" dirty="0"/>
          </a:p>
        </p:txBody>
      </p:sp>
      <p:sp>
        <p:nvSpPr>
          <p:cNvPr id="26" name="Text 24"/>
          <p:cNvSpPr/>
          <p:nvPr/>
        </p:nvSpPr>
        <p:spPr>
          <a:xfrm>
            <a:off x="812800" y="5034012"/>
            <a:ext cx="1088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About one US cent per test. No human wrote a single test case.</a:t>
            </a:r>
            <a:endParaRPr lang="en-US" sz="1400" dirty="0"/>
          </a:p>
        </p:txBody>
      </p:sp>
      <p:sp>
        <p:nvSpPr>
          <p:cNvPr id="27" name="Text 2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8" name="Text 26"/>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COST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it costs to run</a:t>
            </a:r>
            <a:endParaRPr lang="en-US" sz="3000" dirty="0"/>
          </a:p>
        </p:txBody>
      </p:sp>
      <p:sp>
        <p:nvSpPr>
          <p:cNvPr id="4" name="Shape 2"/>
          <p:cNvSpPr/>
          <p:nvPr/>
        </p:nvSpPr>
        <p:spPr>
          <a:xfrm>
            <a:off x="815975" y="1778595"/>
            <a:ext cx="3414167" cy="1347391"/>
          </a:xfrm>
          <a:prstGeom prst="roundRect">
            <a:avLst>
              <a:gd name="adj" fmla="val 7305"/>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1959570"/>
            <a:ext cx="3143783"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$0.008</a:t>
            </a:r>
            <a:endParaRPr lang="en-US" sz="5600" dirty="0"/>
          </a:p>
        </p:txBody>
      </p:sp>
      <p:sp>
        <p:nvSpPr>
          <p:cNvPr id="6" name="Text 4"/>
          <p:cNvSpPr/>
          <p:nvPr/>
        </p:nvSpPr>
        <p:spPr>
          <a:xfrm>
            <a:off x="996950" y="2731691"/>
            <a:ext cx="31437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per executed test, about one taka</a:t>
            </a:r>
            <a:endParaRPr lang="en-US" sz="1200" dirty="0"/>
          </a:p>
        </p:txBody>
      </p:sp>
      <p:sp>
        <p:nvSpPr>
          <p:cNvPr id="7" name="Shape 5"/>
          <p:cNvSpPr/>
          <p:nvPr/>
        </p:nvSpPr>
        <p:spPr>
          <a:xfrm>
            <a:off x="4388892" y="1778595"/>
            <a:ext cx="3414216" cy="1347391"/>
          </a:xfrm>
          <a:prstGeom prst="roundRect">
            <a:avLst>
              <a:gd name="adj" fmla="val 7305"/>
            </a:avLst>
          </a:prstGeom>
          <a:solidFill>
            <a:srgbClr val="FDFEFE"/>
          </a:solidFill>
          <a:ln w="6350">
            <a:solidFill>
              <a:srgbClr val="D6E1E6"/>
            </a:solidFill>
            <a:prstDash val="solid"/>
          </a:ln>
        </p:spPr>
        <p:txBody>
          <a:bodyPr/>
          <a:lstStyle/>
          <a:p>
            <a:endParaRPr lang="en-US"/>
          </a:p>
        </p:txBody>
      </p:sp>
      <p:sp>
        <p:nvSpPr>
          <p:cNvPr id="8" name="Text 6"/>
          <p:cNvSpPr/>
          <p:nvPr/>
        </p:nvSpPr>
        <p:spPr>
          <a:xfrm>
            <a:off x="4569867" y="1959570"/>
            <a:ext cx="3143834"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92%</a:t>
            </a:r>
            <a:endParaRPr lang="en-US" sz="5600" dirty="0"/>
          </a:p>
        </p:txBody>
      </p:sp>
      <p:sp>
        <p:nvSpPr>
          <p:cNvPr id="9" name="Text 7"/>
          <p:cNvSpPr/>
          <p:nvPr/>
        </p:nvSpPr>
        <p:spPr>
          <a:xfrm>
            <a:off x="4569867" y="2731691"/>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of it is the device agent; the planner is 8%</a:t>
            </a:r>
            <a:endParaRPr lang="en-US" sz="1200" dirty="0"/>
          </a:p>
        </p:txBody>
      </p:sp>
      <p:sp>
        <p:nvSpPr>
          <p:cNvPr id="10" name="Shape 8"/>
          <p:cNvSpPr/>
          <p:nvPr/>
        </p:nvSpPr>
        <p:spPr>
          <a:xfrm>
            <a:off x="7961858" y="1778595"/>
            <a:ext cx="3414167" cy="1347391"/>
          </a:xfrm>
          <a:prstGeom prst="roundRect">
            <a:avLst>
              <a:gd name="adj" fmla="val 7305"/>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8142833" y="1959570"/>
            <a:ext cx="3143783"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$0.30</a:t>
            </a:r>
            <a:endParaRPr lang="en-US" sz="5600" dirty="0"/>
          </a:p>
        </p:txBody>
      </p:sp>
      <p:sp>
        <p:nvSpPr>
          <p:cNvPr id="12" name="Text 10"/>
          <p:cNvSpPr/>
          <p:nvPr/>
        </p:nvSpPr>
        <p:spPr>
          <a:xfrm>
            <a:off x="8142833" y="2731691"/>
            <a:ext cx="31437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to ingest a specification, once per document</a:t>
            </a:r>
            <a:endParaRPr lang="en-US" sz="1200" dirty="0"/>
          </a:p>
        </p:txBody>
      </p:sp>
      <p:sp>
        <p:nvSpPr>
          <p:cNvPr id="13" name="Shape 11"/>
          <p:cNvSpPr/>
          <p:nvPr/>
        </p:nvSpPr>
        <p:spPr>
          <a:xfrm>
            <a:off x="815975" y="3284736"/>
            <a:ext cx="10560050" cy="1019721"/>
          </a:xfrm>
          <a:prstGeom prst="roundRect">
            <a:avLst>
              <a:gd name="adj" fmla="val 9652"/>
            </a:avLst>
          </a:prstGeom>
          <a:solidFill>
            <a:srgbClr val="FDFEFE"/>
          </a:solidFill>
          <a:ln w="6350">
            <a:solidFill>
              <a:srgbClr val="D6E1E6"/>
            </a:solidFill>
            <a:prstDash val="solid"/>
          </a:ln>
        </p:spPr>
        <p:txBody>
          <a:bodyPr/>
          <a:lstStyle/>
          <a:p>
            <a:endParaRPr lang="en-US"/>
          </a:p>
        </p:txBody>
      </p:sp>
      <p:sp>
        <p:nvSpPr>
          <p:cNvPr id="14" name="Text 12"/>
          <p:cNvSpPr/>
          <p:nvPr/>
        </p:nvSpPr>
        <p:spPr>
          <a:xfrm>
            <a:off x="1022350" y="3440311"/>
            <a:ext cx="10451719"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How the per-test figure is built</a:t>
            </a:r>
            <a:endParaRPr lang="en-US" sz="1400" dirty="0"/>
          </a:p>
        </p:txBody>
      </p:sp>
      <p:sp>
        <p:nvSpPr>
          <p:cNvPr id="15" name="Text 13"/>
          <p:cNvSpPr/>
          <p:nvPr/>
        </p:nvSpPr>
        <p:spPr>
          <a:xfrm>
            <a:off x="1022350" y="3722241"/>
            <a:ext cx="104517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10.1 device steps per test across 232 stored observations, an accessibility tree averaging 4,686 bytes per step, and the planner's 384,000 logged tokens over 108 calls. Measured from the runs themselves, not taken from a price card.</a:t>
            </a:r>
            <a:endParaRPr lang="en-US" sz="1200" dirty="0"/>
          </a:p>
        </p:txBody>
      </p:sp>
      <p:sp>
        <p:nvSpPr>
          <p:cNvPr id="16" name="Shape 14"/>
          <p:cNvSpPr/>
          <p:nvPr/>
        </p:nvSpPr>
        <p:spPr>
          <a:xfrm>
            <a:off x="815975" y="4463207"/>
            <a:ext cx="5207000" cy="1019721"/>
          </a:xfrm>
          <a:prstGeom prst="roundRect">
            <a:avLst>
              <a:gd name="adj" fmla="val 9652"/>
            </a:avLst>
          </a:prstGeom>
          <a:solidFill>
            <a:srgbClr val="FDFEFE"/>
          </a:solidFill>
          <a:ln w="6350">
            <a:solidFill>
              <a:srgbClr val="D6E1E6"/>
            </a:solidFill>
            <a:prstDash val="solid"/>
          </a:ln>
        </p:spPr>
        <p:txBody>
          <a:bodyPr/>
          <a:lstStyle/>
          <a:p>
            <a:endParaRPr lang="en-US"/>
          </a:p>
        </p:txBody>
      </p:sp>
      <p:sp>
        <p:nvSpPr>
          <p:cNvPr id="17" name="Text 15"/>
          <p:cNvSpPr/>
          <p:nvPr/>
        </p:nvSpPr>
        <p:spPr>
          <a:xfrm>
            <a:off x="1022350" y="4618782"/>
            <a:ext cx="4938078"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At scale</a:t>
            </a:r>
            <a:endParaRPr lang="en-US" sz="1400" dirty="0"/>
          </a:p>
        </p:txBody>
      </p:sp>
      <p:sp>
        <p:nvSpPr>
          <p:cNvPr id="18" name="Text 16"/>
          <p:cNvSpPr/>
          <p:nvPr/>
        </p:nvSpPr>
        <p:spPr>
          <a:xfrm>
            <a:off x="1022350" y="4900712"/>
            <a:ext cx="493807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25-test campaign costs about $0.20; a 500-test nightly suite about $4.</a:t>
            </a:r>
            <a:endParaRPr lang="en-US" sz="1200" dirty="0"/>
          </a:p>
        </p:txBody>
      </p:sp>
      <p:sp>
        <p:nvSpPr>
          <p:cNvPr id="19" name="Shape 17"/>
          <p:cNvSpPr/>
          <p:nvPr/>
        </p:nvSpPr>
        <p:spPr>
          <a:xfrm>
            <a:off x="6178550" y="4460032"/>
            <a:ext cx="5200650" cy="1026071"/>
          </a:xfrm>
          <a:prstGeom prst="roundRect">
            <a:avLst>
              <a:gd name="adj" fmla="val 9902"/>
            </a:avLst>
          </a:prstGeom>
          <a:solidFill>
            <a:srgbClr val="14303D"/>
          </a:solidFill>
          <a:ln/>
        </p:spPr>
        <p:txBody>
          <a:bodyPr/>
          <a:lstStyle/>
          <a:p>
            <a:endParaRPr lang="en-US"/>
          </a:p>
        </p:txBody>
      </p:sp>
      <p:sp>
        <p:nvSpPr>
          <p:cNvPr id="20" name="Text 18"/>
          <p:cNvSpPr/>
          <p:nvPr/>
        </p:nvSpPr>
        <p:spPr>
          <a:xfrm>
            <a:off x="6381750" y="4612432"/>
            <a:ext cx="4938078"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The whole project</a:t>
            </a:r>
            <a:endParaRPr lang="en-US" sz="1400" dirty="0"/>
          </a:p>
        </p:txBody>
      </p:sp>
      <p:sp>
        <p:nvSpPr>
          <p:cNvPr id="21" name="Text 19"/>
          <p:cNvSpPr/>
          <p:nvPr/>
        </p:nvSpPr>
        <p:spPr>
          <a:xfrm>
            <a:off x="6381750" y="4894362"/>
            <a:ext cx="493807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A"/>
                </a:solidFill>
                <a:latin typeface="IBM Plex Sans" pitchFamily="34" charset="0"/>
                <a:ea typeface="IBM Plex Sans" pitchFamily="34" charset="-122"/>
                <a:cs typeface="IBM Plex Sans" pitchFamily="34" charset="-120"/>
              </a:rPr>
              <a:t>Under $50 in cash (about BDT 5,500), almost all of it development. Emulators, laptops and open source cost nothing.</a:t>
            </a:r>
            <a:endParaRPr lang="en-US" sz="1200" dirty="0"/>
          </a:p>
        </p:txBody>
      </p:sp>
      <p:sp>
        <p:nvSpPr>
          <p:cNvPr id="22" name="Text 20"/>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3" name="Text 2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RESULTS · SAME COMMERCE APP, SAME SPECIFICATION</a:t>
            </a:r>
            <a:endParaRPr lang="en-US" sz="1200" dirty="0"/>
          </a:p>
        </p:txBody>
      </p:sp>
      <p:sp>
        <p:nvSpPr>
          <p:cNvPr id="3" name="Text 1"/>
          <p:cNvSpPr/>
          <p:nvPr/>
        </p:nvSpPr>
        <p:spPr>
          <a:xfrm>
            <a:off x="812800" y="899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Old planner against the redesigned one</a:t>
            </a:r>
            <a:endParaRPr lang="en-US" sz="3000" dirty="0"/>
          </a:p>
        </p:txBody>
      </p:sp>
      <p:sp>
        <p:nvSpPr>
          <p:cNvPr id="4" name="Shape 2"/>
          <p:cNvSpPr/>
          <p:nvPr/>
        </p:nvSpPr>
        <p:spPr>
          <a:xfrm>
            <a:off x="815975" y="1499195"/>
            <a:ext cx="5187950" cy="1245741"/>
          </a:xfrm>
          <a:prstGeom prst="roundRect">
            <a:avLst>
              <a:gd name="adj" fmla="val 7901"/>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1654770"/>
            <a:ext cx="497078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46596A"/>
                </a:solidFill>
                <a:latin typeface="IBM Plex Sans" pitchFamily="34" charset="0"/>
                <a:ea typeface="IBM Plex Sans" pitchFamily="34" charset="-122"/>
                <a:cs typeface="IBM Plex Sans" pitchFamily="34" charset="-120"/>
              </a:rPr>
              <a:t>Old · 30 Aug · 25 tests</a:t>
            </a:r>
            <a:endParaRPr lang="en-US" sz="1400" dirty="0"/>
          </a:p>
        </p:txBody>
      </p:sp>
      <p:sp>
        <p:nvSpPr>
          <p:cNvPr id="6" name="Text 4"/>
          <p:cNvSpPr/>
          <p:nvPr/>
        </p:nvSpPr>
        <p:spPr>
          <a:xfrm>
            <a:off x="996950" y="1949400"/>
            <a:ext cx="4970780" cy="665361"/>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Pipeline planner; wrote a step-by-step script</a:t>
            </a:r>
            <a:endParaRPr lang="en-US" sz="1200" dirty="0"/>
          </a:p>
          <a:p>
            <a:pPr marL="182880" indent="-155194" algn="l">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The executor judged its own success</a:t>
            </a:r>
            <a:endParaRPr lang="en-US" sz="1200" dirty="0"/>
          </a:p>
          <a:p>
            <a:pPr marL="182880" indent="-155194" algn="l">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No investigator, findings memory or validation gate</a:t>
            </a:r>
            <a:endParaRPr lang="en-US" sz="1200" dirty="0"/>
          </a:p>
        </p:txBody>
      </p:sp>
      <p:sp>
        <p:nvSpPr>
          <p:cNvPr id="7" name="Shape 5"/>
          <p:cNvSpPr/>
          <p:nvPr/>
        </p:nvSpPr>
        <p:spPr>
          <a:xfrm>
            <a:off x="6188075" y="1499195"/>
            <a:ext cx="5187950" cy="1245741"/>
          </a:xfrm>
          <a:prstGeom prst="roundRect">
            <a:avLst>
              <a:gd name="adj" fmla="val 7901"/>
            </a:avLst>
          </a:prstGeom>
          <a:solidFill>
            <a:srgbClr val="FDFEFE"/>
          </a:solidFill>
          <a:ln w="6350">
            <a:solidFill>
              <a:srgbClr val="D6E1E6"/>
            </a:solidFill>
            <a:prstDash val="solid"/>
          </a:ln>
        </p:spPr>
        <p:txBody>
          <a:bodyPr/>
          <a:lstStyle/>
          <a:p>
            <a:endParaRPr lang="en-US"/>
          </a:p>
        </p:txBody>
      </p:sp>
      <p:sp>
        <p:nvSpPr>
          <p:cNvPr id="8" name="Text 6"/>
          <p:cNvSpPr/>
          <p:nvPr/>
        </p:nvSpPr>
        <p:spPr>
          <a:xfrm>
            <a:off x="6369050" y="1654770"/>
            <a:ext cx="497078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6A8F"/>
                </a:solidFill>
                <a:latin typeface="IBM Plex Sans" pitchFamily="34" charset="0"/>
                <a:ea typeface="IBM Plex Sans" pitchFamily="34" charset="-122"/>
                <a:cs typeface="IBM Plex Sans" pitchFamily="34" charset="-120"/>
              </a:rPr>
              <a:t>New · 20 Sep · 45 tests</a:t>
            </a:r>
            <a:endParaRPr lang="en-US" sz="1400" dirty="0"/>
          </a:p>
        </p:txBody>
      </p:sp>
      <p:sp>
        <p:nvSpPr>
          <p:cNvPr id="9" name="Text 7"/>
          <p:cNvSpPr/>
          <p:nvPr/>
        </p:nvSpPr>
        <p:spPr>
          <a:xfrm>
            <a:off x="6369050" y="1949400"/>
            <a:ext cx="4970780" cy="665361"/>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Tools mode: nine read-only tools and a validation gate</a:t>
            </a:r>
            <a:endParaRPr lang="en-US" sz="1200" dirty="0"/>
          </a:p>
          <a:p>
            <a:pPr marL="182880" indent="-155194" algn="l">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Writes a goal; the executor works out the steps</a:t>
            </a:r>
            <a:endParaRPr lang="en-US" sz="1200" dirty="0"/>
          </a:p>
          <a:p>
            <a:pPr marL="182880" indent="-155194" algn="l">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The investigator judges each run; its findings feed the next plan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938611"/>
          <a:ext cx="10553700" cy="1437284"/>
        </p:xfrm>
        <a:graphic>
          <a:graphicData uri="http://schemas.openxmlformats.org/drawingml/2006/table">
            <a:tbl>
              <a:tblPr/>
              <a:tblGrid>
                <a:gridCol w="4854702">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Measure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Old</a:t>
                      </a:r>
                      <a:endParaRPr lang="en-US" sz="1300" dirty="0">
                        <a:latin typeface="IBM Plex Sans" charset="0"/>
                        <a:ea typeface="IBM Plex Sans" charset="0"/>
                        <a:cs typeface="IBM Plex Sans" charset="0"/>
                      </a:endParaRPr>
                    </a:p>
                  </a:txBody>
                  <a:tcPr marL="57785" marR="57785" marT="57785" marB="57785">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New</a:t>
                      </a:r>
                      <a:endParaRPr lang="en-US" sz="1300" dirty="0">
                        <a:latin typeface="IBM Plex Sans" charset="0"/>
                        <a:ea typeface="IBM Plex Sans" charset="0"/>
                        <a:cs typeface="IBM Plex Sans" charset="0"/>
                      </a:endParaRPr>
                    </a:p>
                  </a:txBody>
                  <a:tcPr marL="57785" marR="57785" marT="57785" marB="57785">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Fisher's p</a:t>
                      </a:r>
                      <a:endParaRPr lang="en-US" sz="1300" dirty="0">
                        <a:latin typeface="IBM Plex Sans" charset="0"/>
                        <a:ea typeface="IBM Plex Sans" charset="0"/>
                        <a:cs typeface="IBM Plex Sans" charset="0"/>
                      </a:endParaRPr>
                    </a:p>
                  </a:txBody>
                  <a:tcPr marL="57785" marR="57785" marT="57785" marB="57785">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Vague titles (“works correctly”)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64%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0B6A8F"/>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&lt; 0.0001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Titles citing a requirement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0B6A8F"/>
                          </a:solidFill>
                          <a:latin typeface="IBM Plex Sans" pitchFamily="34" charset="0"/>
                          <a:ea typeface="IBM Plex Sans" pitchFamily="34" charset="-122"/>
                          <a:cs typeface="IBM Plex Sans" pitchFamily="34" charset="-120"/>
                        </a:rPr>
                        <a:t>26%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0.003</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Runs yielding app-level evidence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820"/>
                        </a:lnSpc>
                        <a:buNone/>
                      </a:pPr>
                      <a:r>
                        <a:rPr lang="en-US" sz="1300" dirty="0">
                          <a:solidFill>
                            <a:srgbClr val="14303D"/>
                          </a:solidFill>
                          <a:latin typeface="IBM Plex Sans" pitchFamily="34" charset="0"/>
                          <a:ea typeface="IBM Plex Sans" pitchFamily="34" charset="-122"/>
                          <a:cs typeface="IBM Plex Sans" pitchFamily="34" charset="-120"/>
                        </a:rPr>
                        <a:t>0.35 (not significant)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8"/>
          <p:cNvSpPr/>
          <p:nvPr/>
        </p:nvSpPr>
        <p:spPr>
          <a:xfrm>
            <a:off x="812800" y="455369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This compares two whole configurations, not one change. Test design improved significantly; defect yield has not been shown to.</a:t>
            </a:r>
            <a:endParaRPr lang="en-US" sz="1200" dirty="0"/>
          </a:p>
        </p:txBody>
      </p:sp>
      <p:sp>
        <p:nvSpPr>
          <p:cNvPr id="12" name="Text 9"/>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3" name="Text 10"/>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agent found on its own</a:t>
            </a:r>
            <a:endParaRPr lang="en-US" sz="3000" dirty="0"/>
          </a:p>
        </p:txBody>
      </p:sp>
      <p:sp>
        <p:nvSpPr>
          <p:cNvPr id="4" name="Shape 2"/>
          <p:cNvSpPr/>
          <p:nvPr/>
        </p:nvSpPr>
        <p:spPr>
          <a:xfrm>
            <a:off x="815975" y="1778595"/>
            <a:ext cx="5200650" cy="1489571"/>
          </a:xfrm>
          <a:prstGeom prst="roundRect">
            <a:avLst>
              <a:gd name="adj" fmla="val 6608"/>
            </a:avLst>
          </a:prstGeom>
          <a:solidFill>
            <a:srgbClr val="FDFEFE"/>
          </a:solidFill>
          <a:ln w="6350">
            <a:solidFill>
              <a:srgbClr val="D6E1E6"/>
            </a:solidFill>
            <a:prstDash val="solid"/>
          </a:ln>
        </p:spPr>
        <p:txBody>
          <a:bodyPr/>
          <a:lstStyle/>
          <a:p>
            <a:endParaRPr lang="en-US"/>
          </a:p>
        </p:txBody>
      </p:sp>
      <p:sp>
        <p:nvSpPr>
          <p:cNvPr id="5" name="Shape 3"/>
          <p:cNvSpPr/>
          <p:nvPr/>
        </p:nvSpPr>
        <p:spPr>
          <a:xfrm>
            <a:off x="996950" y="1959570"/>
            <a:ext cx="2026741" cy="264120"/>
          </a:xfrm>
          <a:prstGeom prst="roundRect">
            <a:avLst>
              <a:gd name="adj" fmla="val 19234"/>
            </a:avLst>
          </a:prstGeom>
          <a:solidFill>
            <a:srgbClr val="FBEDE6"/>
          </a:solidFill>
          <a:ln/>
        </p:spPr>
        <p:txBody>
          <a:bodyPr/>
          <a:lstStyle/>
          <a:p>
            <a:endParaRPr lang="en-US"/>
          </a:p>
        </p:txBody>
      </p:sp>
      <p:sp>
        <p:nvSpPr>
          <p:cNvPr id="6" name="Text 4"/>
          <p:cNvSpPr/>
          <p:nvPr/>
        </p:nvSpPr>
        <p:spPr>
          <a:xfrm>
            <a:off x="1073150" y="1984970"/>
            <a:ext cx="193057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Spec violation · FR-VAL-02</a:t>
            </a:r>
            <a:endParaRPr lang="en-US" sz="1200" dirty="0"/>
          </a:p>
        </p:txBody>
      </p:sp>
      <p:sp>
        <p:nvSpPr>
          <p:cNvPr id="7" name="Text 5"/>
          <p:cNvSpPr/>
          <p:nvPr/>
        </p:nvSpPr>
        <p:spPr>
          <a:xfrm>
            <a:off x="996950" y="2299891"/>
            <a:ext cx="498386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303D"/>
                </a:solidFill>
                <a:latin typeface="IBM Plex Sans" pitchFamily="34" charset="0"/>
                <a:ea typeface="IBM Plex Sans" pitchFamily="34" charset="-122"/>
                <a:cs typeface="IBM Plex Sans" pitchFamily="34" charset="-120"/>
              </a:rPr>
              <a:t>A name made only of spaces saves with a success message, but the contact never appears in the list.</a:t>
            </a:r>
            <a:endParaRPr lang="en-US" sz="1400" dirty="0"/>
          </a:p>
        </p:txBody>
      </p:sp>
      <p:sp>
        <p:nvSpPr>
          <p:cNvPr id="8" name="Text 6"/>
          <p:cNvSpPr/>
          <p:nvPr/>
        </p:nvSpPr>
        <p:spPr>
          <a:xfrm>
            <a:off x="996950" y="2873871"/>
            <a:ext cx="49838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independently in 6 runs</a:t>
            </a:r>
            <a:endParaRPr lang="en-US" sz="1200" dirty="0"/>
          </a:p>
        </p:txBody>
      </p:sp>
      <p:sp>
        <p:nvSpPr>
          <p:cNvPr id="9" name="Shape 7"/>
          <p:cNvSpPr/>
          <p:nvPr/>
        </p:nvSpPr>
        <p:spPr>
          <a:xfrm>
            <a:off x="6175375" y="1778595"/>
            <a:ext cx="5200650" cy="1489571"/>
          </a:xfrm>
          <a:prstGeom prst="roundRect">
            <a:avLst>
              <a:gd name="adj" fmla="val 6608"/>
            </a:avLst>
          </a:prstGeom>
          <a:solidFill>
            <a:srgbClr val="FDFEFE"/>
          </a:solidFill>
          <a:ln w="6350">
            <a:solidFill>
              <a:srgbClr val="D6E1E6"/>
            </a:solidFill>
            <a:prstDash val="solid"/>
          </a:ln>
        </p:spPr>
        <p:txBody>
          <a:bodyPr/>
          <a:lstStyle/>
          <a:p>
            <a:endParaRPr lang="en-US"/>
          </a:p>
        </p:txBody>
      </p:sp>
      <p:sp>
        <p:nvSpPr>
          <p:cNvPr id="10" name="Shape 8"/>
          <p:cNvSpPr/>
          <p:nvPr/>
        </p:nvSpPr>
        <p:spPr>
          <a:xfrm>
            <a:off x="6356350" y="1959570"/>
            <a:ext cx="2954089" cy="264120"/>
          </a:xfrm>
          <a:prstGeom prst="roundRect">
            <a:avLst>
              <a:gd name="adj" fmla="val 19234"/>
            </a:avLst>
          </a:prstGeom>
          <a:solidFill>
            <a:srgbClr val="FBEDE6"/>
          </a:solidFill>
          <a:ln/>
        </p:spPr>
        <p:txBody>
          <a:bodyPr/>
          <a:lstStyle/>
          <a:p>
            <a:endParaRPr lang="en-US"/>
          </a:p>
        </p:txBody>
      </p:sp>
      <p:sp>
        <p:nvSpPr>
          <p:cNvPr id="11" name="Text 9"/>
          <p:cNvSpPr/>
          <p:nvPr/>
        </p:nvSpPr>
        <p:spPr>
          <a:xfrm>
            <a:off x="6432550" y="1984970"/>
            <a:ext cx="28857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Spec violation · FR-DUP-01, FR-DUP-02</a:t>
            </a:r>
            <a:endParaRPr lang="en-US" sz="1200" dirty="0"/>
          </a:p>
        </p:txBody>
      </p:sp>
      <p:sp>
        <p:nvSpPr>
          <p:cNvPr id="12" name="Text 10"/>
          <p:cNvSpPr/>
          <p:nvPr/>
        </p:nvSpPr>
        <p:spPr>
          <a:xfrm>
            <a:off x="6356350" y="2299891"/>
            <a:ext cx="498386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303D"/>
                </a:solidFill>
                <a:latin typeface="IBM Plex Sans" pitchFamily="34" charset="0"/>
                <a:ea typeface="IBM Plex Sans" pitchFamily="34" charset="-122"/>
                <a:cs typeface="IBM Plex Sans" pitchFamily="34" charset="-120"/>
              </a:rPr>
              <a:t>Saving a contact identical to an existing one raises no duplicate warning. Two identical entries appear.</a:t>
            </a:r>
            <a:endParaRPr lang="en-US" sz="1400" dirty="0"/>
          </a:p>
        </p:txBody>
      </p:sp>
      <p:sp>
        <p:nvSpPr>
          <p:cNvPr id="13" name="Text 11"/>
          <p:cNvSpPr/>
          <p:nvPr/>
        </p:nvSpPr>
        <p:spPr>
          <a:xfrm>
            <a:off x="6356350" y="2873871"/>
            <a:ext cx="49838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 7 runs, by manual save and by vCard import</a:t>
            </a:r>
            <a:endParaRPr lang="en-US" sz="1200" dirty="0"/>
          </a:p>
        </p:txBody>
      </p:sp>
      <p:sp>
        <p:nvSpPr>
          <p:cNvPr id="14" name="Shape 12"/>
          <p:cNvSpPr/>
          <p:nvPr/>
        </p:nvSpPr>
        <p:spPr>
          <a:xfrm>
            <a:off x="815975" y="3426916"/>
            <a:ext cx="5200650" cy="1489571"/>
          </a:xfrm>
          <a:prstGeom prst="roundRect">
            <a:avLst>
              <a:gd name="adj" fmla="val 6608"/>
            </a:avLst>
          </a:prstGeom>
          <a:solidFill>
            <a:srgbClr val="FDFEFE"/>
          </a:solidFill>
          <a:ln w="6350">
            <a:solidFill>
              <a:srgbClr val="D6E1E6"/>
            </a:solidFill>
            <a:prstDash val="solid"/>
          </a:ln>
        </p:spPr>
        <p:txBody>
          <a:bodyPr/>
          <a:lstStyle/>
          <a:p>
            <a:endParaRPr lang="en-US"/>
          </a:p>
        </p:txBody>
      </p:sp>
      <p:sp>
        <p:nvSpPr>
          <p:cNvPr id="15" name="Shape 13"/>
          <p:cNvSpPr/>
          <p:nvPr/>
        </p:nvSpPr>
        <p:spPr>
          <a:xfrm>
            <a:off x="996950" y="3607891"/>
            <a:ext cx="2842568" cy="264120"/>
          </a:xfrm>
          <a:prstGeom prst="roundRect">
            <a:avLst>
              <a:gd name="adj" fmla="val 19234"/>
            </a:avLst>
          </a:prstGeom>
          <a:solidFill>
            <a:srgbClr val="FBEDE6"/>
          </a:solidFill>
          <a:ln/>
        </p:spPr>
        <p:txBody>
          <a:bodyPr/>
          <a:lstStyle/>
          <a:p>
            <a:endParaRPr lang="en-US"/>
          </a:p>
        </p:txBody>
      </p:sp>
      <p:sp>
        <p:nvSpPr>
          <p:cNvPr id="16" name="Text 14"/>
          <p:cNvSpPr/>
          <p:nvPr/>
        </p:nvSpPr>
        <p:spPr>
          <a:xfrm>
            <a:off x="1073150" y="3633291"/>
            <a:ext cx="277087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Suspected defect · against FR-EXP-05</a:t>
            </a:r>
            <a:endParaRPr lang="en-US" sz="1200" dirty="0"/>
          </a:p>
        </p:txBody>
      </p:sp>
      <p:sp>
        <p:nvSpPr>
          <p:cNvPr id="17" name="Text 15"/>
          <p:cNvSpPr/>
          <p:nvPr/>
        </p:nvSpPr>
        <p:spPr>
          <a:xfrm>
            <a:off x="996950" y="3948212"/>
            <a:ext cx="498386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303D"/>
                </a:solidFill>
                <a:latin typeface="IBM Plex Sans" pitchFamily="34" charset="0"/>
                <a:ea typeface="IBM Plex Sans" pitchFamily="34" charset="-122"/>
                <a:cs typeface="IBM Plex Sans" pitchFamily="34" charset="-120"/>
              </a:rPr>
              <a:t>An import shows only “will be imported shortly”. It never reports how many contacts were read or created.</a:t>
            </a:r>
            <a:endParaRPr lang="en-US" sz="1400" dirty="0"/>
          </a:p>
        </p:txBody>
      </p:sp>
      <p:sp>
        <p:nvSpPr>
          <p:cNvPr id="18" name="Text 16"/>
          <p:cNvSpPr/>
          <p:nvPr/>
        </p:nvSpPr>
        <p:spPr>
          <a:xfrm>
            <a:off x="996950" y="4522192"/>
            <a:ext cx="49838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 5 runs</a:t>
            </a:r>
            <a:endParaRPr lang="en-US" sz="1200" dirty="0"/>
          </a:p>
        </p:txBody>
      </p:sp>
      <p:sp>
        <p:nvSpPr>
          <p:cNvPr id="19" name="Shape 17"/>
          <p:cNvSpPr/>
          <p:nvPr/>
        </p:nvSpPr>
        <p:spPr>
          <a:xfrm>
            <a:off x="6175375" y="3426916"/>
            <a:ext cx="5200650" cy="1489571"/>
          </a:xfrm>
          <a:prstGeom prst="roundRect">
            <a:avLst>
              <a:gd name="adj" fmla="val 6608"/>
            </a:avLst>
          </a:prstGeom>
          <a:solidFill>
            <a:srgbClr val="FDFEFE"/>
          </a:solidFill>
          <a:ln w="6350">
            <a:solidFill>
              <a:srgbClr val="D6E1E6"/>
            </a:solidFill>
            <a:prstDash val="solid"/>
          </a:ln>
        </p:spPr>
        <p:txBody>
          <a:bodyPr/>
          <a:lstStyle/>
          <a:p>
            <a:endParaRPr lang="en-US"/>
          </a:p>
        </p:txBody>
      </p:sp>
      <p:sp>
        <p:nvSpPr>
          <p:cNvPr id="20" name="Shape 18"/>
          <p:cNvSpPr/>
          <p:nvPr/>
        </p:nvSpPr>
        <p:spPr>
          <a:xfrm>
            <a:off x="6356350" y="3607891"/>
            <a:ext cx="2823914" cy="264120"/>
          </a:xfrm>
          <a:prstGeom prst="roundRect">
            <a:avLst>
              <a:gd name="adj" fmla="val 19234"/>
            </a:avLst>
          </a:prstGeom>
          <a:solidFill>
            <a:srgbClr val="FBEDE6"/>
          </a:solidFill>
          <a:ln/>
        </p:spPr>
        <p:txBody>
          <a:bodyPr/>
          <a:lstStyle/>
          <a:p>
            <a:endParaRPr lang="en-US"/>
          </a:p>
        </p:txBody>
      </p:sp>
      <p:sp>
        <p:nvSpPr>
          <p:cNvPr id="21" name="Text 19"/>
          <p:cNvSpPr/>
          <p:nvPr/>
        </p:nvSpPr>
        <p:spPr>
          <a:xfrm>
            <a:off x="6432550" y="3633291"/>
            <a:ext cx="27516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Suspected defect · against FR-DEL-01</a:t>
            </a:r>
            <a:endParaRPr lang="en-US" sz="1200" dirty="0"/>
          </a:p>
        </p:txBody>
      </p:sp>
      <p:sp>
        <p:nvSpPr>
          <p:cNvPr id="22" name="Text 20"/>
          <p:cNvSpPr/>
          <p:nvPr/>
        </p:nvSpPr>
        <p:spPr>
          <a:xfrm>
            <a:off x="6356350" y="3948212"/>
            <a:ext cx="498386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303D"/>
                </a:solidFill>
                <a:latin typeface="IBM Plex Sans" pitchFamily="34" charset="0"/>
                <a:ea typeface="IBM Plex Sans" pitchFamily="34" charset="-122"/>
                <a:cs typeface="IBM Plex Sans" pitchFamily="34" charset="-120"/>
              </a:rPr>
              <a:t>The delete dialog promises permanent deletion, while the specification requires a recovery period.</a:t>
            </a:r>
            <a:endParaRPr lang="en-US" sz="1400" dirty="0"/>
          </a:p>
        </p:txBody>
      </p:sp>
      <p:sp>
        <p:nvSpPr>
          <p:cNvPr id="23" name="Text 21"/>
          <p:cNvSpPr/>
          <p:nvPr/>
        </p:nvSpPr>
        <p:spPr>
          <a:xfrm>
            <a:off x="6356350" y="4522192"/>
            <a:ext cx="49838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No recovery area was found anywhere in the app</a:t>
            </a:r>
            <a:endParaRPr lang="en-US" sz="1200" dirty="0"/>
          </a:p>
        </p:txBody>
      </p:sp>
      <p:sp>
        <p:nvSpPr>
          <p:cNvPr id="24" name="Text 22"/>
          <p:cNvSpPr/>
          <p:nvPr/>
        </p:nvSpPr>
        <p:spPr>
          <a:xfrm>
            <a:off x="812800" y="517366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Each finding is the model's claim from a device trajectory; a human still has to confirm it.</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LIVE VIEW</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Watching the agents work, live</a:t>
            </a:r>
            <a:endParaRPr lang="en-US" sz="3000" dirty="0"/>
          </a:p>
        </p:txBody>
      </p:sp>
      <p:sp>
        <p:nvSpPr>
          <p:cNvPr id="4" name="Shape 2"/>
          <p:cNvSpPr/>
          <p:nvPr/>
        </p:nvSpPr>
        <p:spPr>
          <a:xfrm>
            <a:off x="812800" y="1775420"/>
            <a:ext cx="7194550" cy="3302000"/>
          </a:xfrm>
          <a:prstGeom prst="roundRect">
            <a:avLst>
              <a:gd name="adj" fmla="val 3077"/>
            </a:avLst>
          </a:prstGeom>
          <a:solidFill>
            <a:srgbClr val="FDFEFE"/>
          </a:solidFill>
          <a:ln/>
        </p:spPr>
        <p:txBody>
          <a:bodyPr/>
          <a:lstStyle/>
          <a:p>
            <a:endParaRPr lang="en-US"/>
          </a:p>
        </p:txBody>
      </p:sp>
      <p:pic>
        <p:nvPicPr>
          <p:cNvPr id="5" name="Image 0" descr="The live agent-activity panel: the Executor card is highlighted at step 16 of 50, the Planner and Investigator are idle, and a feed lists each device step"/>
          <p:cNvPicPr>
            <a:picLocks noChangeAspect="1"/>
          </p:cNvPicPr>
          <p:nvPr/>
        </p:nvPicPr>
        <p:blipFill>
          <a:blip r:embed="rId3"/>
          <a:srcRect t="-19" b="-19"/>
          <a:stretch/>
        </p:blipFill>
        <p:spPr>
          <a:xfrm>
            <a:off x="819150" y="1781770"/>
            <a:ext cx="7181850" cy="3289300"/>
          </a:xfrm>
          <a:prstGeom prst="roundRect">
            <a:avLst>
              <a:gd name="adj" fmla="val 2896"/>
            </a:avLst>
          </a:prstGeom>
        </p:spPr>
      </p:pic>
      <p:sp>
        <p:nvSpPr>
          <p:cNvPr id="6" name="Shape 3"/>
          <p:cNvSpPr/>
          <p:nvPr/>
        </p:nvSpPr>
        <p:spPr>
          <a:xfrm>
            <a:off x="815975" y="1778595"/>
            <a:ext cx="7188200" cy="3295650"/>
          </a:xfrm>
          <a:prstGeom prst="roundRect">
            <a:avLst>
              <a:gd name="adj" fmla="val 2987"/>
            </a:avLst>
          </a:prstGeom>
          <a:noFill/>
          <a:ln w="6350">
            <a:solidFill>
              <a:srgbClr val="D6E1E6"/>
            </a:solidFill>
            <a:prstDash val="solid"/>
          </a:ln>
        </p:spPr>
        <p:txBody>
          <a:bodyPr/>
          <a:lstStyle/>
          <a:p>
            <a:endParaRPr lang="en-US"/>
          </a:p>
        </p:txBody>
      </p:sp>
      <p:pic>
        <p:nvPicPr>
          <p:cNvPr id="7" name="Image 1" descr="The emulator running Google Contacts, showing a dialog: Delete contact? This contact will be permanently deleted from your device"/>
          <p:cNvPicPr>
            <a:picLocks noChangeAspect="1"/>
          </p:cNvPicPr>
          <p:nvPr/>
        </p:nvPicPr>
        <p:blipFill>
          <a:blip r:embed="rId4"/>
          <a:stretch>
            <a:fillRect/>
          </a:stretch>
        </p:blipFill>
        <p:spPr>
          <a:xfrm>
            <a:off x="8276393" y="1775420"/>
            <a:ext cx="1493915" cy="3302000"/>
          </a:xfrm>
          <a:custGeom>
            <a:avLst/>
            <a:gdLst/>
            <a:ahLst/>
            <a:cxnLst/>
            <a:rect l="l" t="t" r="r" b="b"/>
            <a:pathLst>
              <a:path w="1493915" h="3302000">
                <a:moveTo>
                  <a:pt x="0" y="48399"/>
                </a:moveTo>
                <a:arcTo wR="101600" hR="101600" stAng="12694590" swAng="3505410"/>
                <a:lnTo>
                  <a:pt x="1407357" y="0"/>
                </a:lnTo>
                <a:arcTo wR="101600" hR="101600" stAng="16200000" swAng="3505410"/>
                <a:lnTo>
                  <a:pt x="1493915" y="3253601"/>
                </a:lnTo>
                <a:arcTo wR="101600" hR="101600" stAng="1894590" swAng="3505410"/>
                <a:lnTo>
                  <a:pt x="86557" y="3302000"/>
                </a:lnTo>
                <a:arcTo wR="101600" hR="101600" stAng="5400000" swAng="3505410"/>
                <a:close/>
              </a:path>
            </a:pathLst>
          </a:custGeom>
        </p:spPr>
      </p:pic>
      <p:sp>
        <p:nvSpPr>
          <p:cNvPr id="8" name="Text 4"/>
          <p:cNvSpPr/>
          <p:nvPr/>
        </p:nvSpPr>
        <p:spPr>
          <a:xfrm>
            <a:off x="10039350" y="2855020"/>
            <a:ext cx="139065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The working agent lights up</a:t>
            </a:r>
            <a:endParaRPr lang="en-US" sz="1200" dirty="0"/>
          </a:p>
        </p:txBody>
      </p:sp>
      <p:sp>
        <p:nvSpPr>
          <p:cNvPr id="9" name="Text 5"/>
          <p:cNvSpPr/>
          <p:nvPr/>
        </p:nvSpPr>
        <p:spPr>
          <a:xfrm>
            <a:off x="10039350" y="3357860"/>
            <a:ext cx="139065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with its stage, each retrieval and each model call.</a:t>
            </a:r>
            <a:endParaRPr lang="en-US" sz="1200" dirty="0"/>
          </a:p>
        </p:txBody>
      </p:sp>
      <p:sp>
        <p:nvSpPr>
          <p:cNvPr id="10" name="Text 6"/>
          <p:cNvSpPr/>
          <p:nvPr/>
        </p:nvSpPr>
        <p:spPr>
          <a:xfrm>
            <a:off x="812800" y="53314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Mid-campaign: the executor at step 16 of 50 on the contacts app, while the phone shows the deletion dialog it is exercising.</a:t>
            </a:r>
            <a:endParaRPr lang="en-US" sz="1200" dirty="0"/>
          </a:p>
        </p:txBody>
      </p:sp>
      <p:sp>
        <p:nvSpPr>
          <p:cNvPr id="11" name="Text 7"/>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2" name="Text 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HONEST LIMITS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Limitations and next steps</a:t>
            </a:r>
            <a:endParaRPr lang="en-US" sz="3000" dirty="0"/>
          </a:p>
        </p:txBody>
      </p:sp>
      <p:sp>
        <p:nvSpPr>
          <p:cNvPr id="4" name="Shape 2"/>
          <p:cNvSpPr/>
          <p:nvPr/>
        </p:nvSpPr>
        <p:spPr>
          <a:xfrm>
            <a:off x="815975" y="1778595"/>
            <a:ext cx="5175250" cy="2657872"/>
          </a:xfrm>
          <a:prstGeom prst="roundRect">
            <a:avLst>
              <a:gd name="adj" fmla="val 3703"/>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73150" y="2035770"/>
            <a:ext cx="48007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02C"/>
                </a:solidFill>
                <a:latin typeface="IBM Plex Sans" pitchFamily="34" charset="0"/>
                <a:ea typeface="IBM Plex Sans" pitchFamily="34" charset="-122"/>
                <a:cs typeface="IBM Plex Sans" pitchFamily="34" charset="-120"/>
              </a:rPr>
              <a:t>What we cannot claim yet</a:t>
            </a:r>
            <a:endParaRPr lang="en-US" sz="1800" dirty="0"/>
          </a:p>
        </p:txBody>
      </p:sp>
      <p:sp>
        <p:nvSpPr>
          <p:cNvPr id="6" name="Text 4"/>
          <p:cNvSpPr/>
          <p:nvPr/>
        </p:nvSpPr>
        <p:spPr>
          <a:xfrm>
            <a:off x="1073150" y="2437061"/>
            <a:ext cx="4800727" cy="1767632"/>
          </a:xfrm>
          <a:prstGeom prst="rect">
            <a:avLst/>
          </a:prstGeom>
          <a:noFill/>
          <a:ln/>
        </p:spPr>
        <p:txBody>
          <a:bodyPr wrap="square" lIns="0" tIns="0" rIns="0" bIns="0" rtlCol="0" anchor="t">
            <a:normAutofit/>
          </a:bodyPr>
          <a:lstStyle/>
          <a:p>
            <a:pPr marL="213360" indent="-175768" algn="l">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No ground truth: both apps are closed-source, so precision and recall cannot be computed.</a:t>
            </a:r>
            <a:endParaRPr lang="en-US" sz="1400" dirty="0"/>
          </a:p>
          <a:p>
            <a:pPr marL="213360" indent="-175768" algn="l">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No ablation yet: we have not measured what each component contributes.</a:t>
            </a:r>
            <a:endParaRPr lang="en-US" sz="1400" dirty="0"/>
          </a:p>
          <a:p>
            <a:pPr marL="213360" indent="-175768" algn="l">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Findings are model-written claims; each needs a human to confirm it.</a:t>
            </a:r>
            <a:endParaRPr lang="en-US" sz="1400" dirty="0"/>
          </a:p>
          <a:p>
            <a:pPr marL="213360" indent="-175768" algn="l">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16 of 48 contacts failures were not about the app.</a:t>
            </a:r>
            <a:endParaRPr lang="en-US" sz="1400" dirty="0"/>
          </a:p>
        </p:txBody>
      </p:sp>
      <p:sp>
        <p:nvSpPr>
          <p:cNvPr id="7" name="Shape 5"/>
          <p:cNvSpPr/>
          <p:nvPr/>
        </p:nvSpPr>
        <p:spPr>
          <a:xfrm>
            <a:off x="6200775" y="1778595"/>
            <a:ext cx="5175250" cy="2657872"/>
          </a:xfrm>
          <a:prstGeom prst="roundRect">
            <a:avLst>
              <a:gd name="adj" fmla="val 3703"/>
            </a:avLst>
          </a:prstGeom>
          <a:solidFill>
            <a:srgbClr val="FDFEFE"/>
          </a:solidFill>
          <a:ln w="6350">
            <a:solidFill>
              <a:srgbClr val="D6E1E6"/>
            </a:solidFill>
            <a:prstDash val="solid"/>
          </a:ln>
        </p:spPr>
        <p:txBody>
          <a:bodyPr/>
          <a:lstStyle/>
          <a:p>
            <a:endParaRPr lang="en-US"/>
          </a:p>
        </p:txBody>
      </p:sp>
      <p:sp>
        <p:nvSpPr>
          <p:cNvPr id="8" name="Text 6"/>
          <p:cNvSpPr/>
          <p:nvPr/>
        </p:nvSpPr>
        <p:spPr>
          <a:xfrm>
            <a:off x="6457950" y="2035770"/>
            <a:ext cx="48007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6A8F"/>
                </a:solidFill>
                <a:latin typeface="IBM Plex Sans" pitchFamily="34" charset="0"/>
                <a:ea typeface="IBM Plex Sans" pitchFamily="34" charset="-122"/>
                <a:cs typeface="IBM Plex Sans" pitchFamily="34" charset="-120"/>
              </a:rPr>
              <a:t>What comes next</a:t>
            </a:r>
            <a:endParaRPr lang="en-US" sz="1800" dirty="0"/>
          </a:p>
        </p:txBody>
      </p:sp>
      <p:sp>
        <p:nvSpPr>
          <p:cNvPr id="9" name="Text 7"/>
          <p:cNvSpPr/>
          <p:nvPr/>
        </p:nvSpPr>
        <p:spPr>
          <a:xfrm>
            <a:off x="6457950" y="2437061"/>
            <a:ext cx="4800727" cy="1518741"/>
          </a:xfrm>
          <a:prstGeom prst="rect">
            <a:avLst/>
          </a:prstGeom>
          <a:noFill/>
          <a:ln/>
        </p:spPr>
        <p:txBody>
          <a:bodyPr wrap="square" lIns="0" tIns="0" rIns="0" bIns="0" rtlCol="0" anchor="t">
            <a:normAutofit/>
          </a:bodyPr>
          <a:lstStyle/>
          <a:p>
            <a:pPr marL="213360" indent="-175768" algn="l">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An open-source benchmark with known, reproducible bugs (Themis) for bug-detection rate.</a:t>
            </a:r>
            <a:endParaRPr lang="en-US" sz="1400" dirty="0"/>
          </a:p>
          <a:p>
            <a:pPr marL="213360" indent="-175768" algn="l">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Ablations: findings off, memory off, and a random baseline.</a:t>
            </a:r>
            <a:endParaRPr lang="en-US" sz="1400" dirty="0"/>
          </a:p>
          <a:p>
            <a:pPr marL="213360" indent="-175768" algn="l">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Requirement coverage as a headline metric no other tool can report.</a:t>
            </a:r>
            <a:endParaRPr lang="en-US" sz="1400" dirty="0"/>
          </a:p>
        </p:txBody>
      </p:sp>
      <p:sp>
        <p:nvSpPr>
          <p:cNvPr id="10" name="Text 8"/>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1" name="Text 9"/>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303D"/>
        </a:solidFill>
        <a:effectLst/>
      </p:bgPr>
    </p:bg>
    <p:spTree>
      <p:nvGrpSpPr>
        <p:cNvPr id="1" name=""/>
        <p:cNvGrpSpPr/>
        <p:nvPr/>
      </p:nvGrpSpPr>
      <p:grpSpPr>
        <a:xfrm>
          <a:off x="0" y="0"/>
          <a:ext cx="0" cy="0"/>
          <a:chOff x="0" y="0"/>
          <a:chExt cx="0" cy="0"/>
        </a:xfrm>
      </p:grpSpPr>
      <p:sp>
        <p:nvSpPr>
          <p:cNvPr id="2" name="Text 0"/>
          <p:cNvSpPr/>
          <p:nvPr/>
        </p:nvSpPr>
        <p:spPr>
          <a:xfrm>
            <a:off x="812800" y="2587675"/>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3F6F5"/>
                </a:solidFill>
                <a:latin typeface="Source Serif 4" pitchFamily="34" charset="0"/>
                <a:ea typeface="Source Serif 4" pitchFamily="34" charset="-122"/>
                <a:cs typeface="Source Serif 4" pitchFamily="34" charset="-120"/>
              </a:rPr>
              <a:t>Thank you</a:t>
            </a:r>
            <a:endParaRPr lang="en-US" sz="5600" dirty="0"/>
          </a:p>
        </p:txBody>
      </p:sp>
      <p:sp>
        <p:nvSpPr>
          <p:cNvPr id="3" name="Text 1"/>
          <p:cNvSpPr/>
          <p:nvPr/>
        </p:nvSpPr>
        <p:spPr>
          <a:xfrm>
            <a:off x="812800" y="3537595"/>
            <a:ext cx="10883392" cy="33397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FD3DA"/>
                </a:solidFill>
                <a:latin typeface="IBM Plex Sans" pitchFamily="34" charset="0"/>
                <a:ea typeface="IBM Plex Sans" pitchFamily="34" charset="-122"/>
                <a:cs typeface="IBM Plex Sans" pitchFamily="34" charset="-120"/>
              </a:rPr>
              <a:t>Questions are welcome.</a:t>
            </a:r>
            <a:endParaRPr lang="en-US" sz="1800" dirty="0"/>
          </a:p>
        </p:txBody>
      </p:sp>
      <p:sp>
        <p:nvSpPr>
          <p:cNvPr id="4" name="Text 2"/>
          <p:cNvSpPr/>
          <p:nvPr/>
        </p:nvSpPr>
        <p:spPr>
          <a:xfrm>
            <a:off x="812800" y="4049365"/>
            <a:ext cx="9156700"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BFD3DA"/>
                </a:solidFill>
                <a:latin typeface="IBM Plex Sans" pitchFamily="34" charset="0"/>
                <a:ea typeface="IBM Plex Sans" pitchFamily="34" charset="-122"/>
                <a:cs typeface="IBM Plex Sans" pitchFamily="34" charset="-120"/>
              </a:rPr>
              <a:t>With thanks to our supervisor, Dr. A. B. M. Alim Al Islam, and to Samsung R&amp;D Institute Bangladesh.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9561</Words>
  <Application>Microsoft Office PowerPoint</Application>
  <PresentationFormat>Widescreen</PresentationFormat>
  <Paragraphs>691</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IBM Plex Mono</vt:lpstr>
      <vt:lpstr>IBM Plex Sans</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Jonayed Mohiuddin</cp:lastModifiedBy>
  <cp:revision>2</cp:revision>
  <dcterms:created xsi:type="dcterms:W3CDTF">2026-09-29T19:53:35Z</dcterms:created>
  <dcterms:modified xsi:type="dcterms:W3CDTF">2026-09-29T20:28:13Z</dcterms:modified>
</cp:coreProperties>
</file>