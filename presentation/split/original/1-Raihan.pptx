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6" r:id="rId44"/>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0605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Introduce the project and the team. One sentence on what it is: an agent that plans its own tests, runs them on a real Android device and learns from every run. Mention the industry partner, because slide 4 quotes their brief.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Three ways to test an app, and why none is enough. Manual exploratory testing finds real bugs but does not scale. Scripts only check what someone already expected. Random testing scales but has no notion of correct behaviour, so the only bug it can report is a crash. The quote at the bottom is the whole problem: without knowing what the app should do, a tool cannot tell a wrong result from a right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Recent research uses language models to drive Android apps. We read seven of these systems closely. None of them reads a specification, so a crash is the only thing they can call a bug. Their memory does not survive the session. None separates the agent failing from the app failing, which inflates their defect counts. And five of the seven are handed their task rather than choosing it. Our system is built on exactly these four gaps.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This is the requirement that shaped the whole design. The partner asked for an agent that improves with every run. Our answer has two parts. First, three separate agents, each with one job. Second, none of them keeps any memory of its own: every call starts fresh. So the only way the system can improve is that the shared knowledge graph grows. That makes the learning inspectable, because you can look at exactly what was learned.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 architecture is three agents around one knowledge graph. The planner reads the graph and writes one test case. The executor runs it on a real Android device through mobilerun, and records every screen it sees. The investigator reads the step-by-step trajectory and writes findings back. They hand each other a test case and a trajectory, but none of them remembers anything between calls. Everything durable lives in the graph: the requirements from the specification, the screens observed, every test and its result, and the findings. The next slide shows the same architecture with every component named.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same architecture with every component named. Walk it by colour. Amber is what a person supplies: the specification, an optional design export and defect history. Green is the knowledge: the Neo4j graph and the vector index. Blue is the two services: the RAG API on port 9010, which owns the graph, and the agent gateway on 9100, which hosts the planner and the investigator. Purple is the three agents. Red is the model provider, which every agent calls. Grey is the device, reached over adb through the on-device portal.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One test is one round of four steps. The planner takes about a minute to decide and write the test. The executor then drives the real app, and this is the long part: every step is a vision model call of about 20 seconds, with a budget of 50 steps. The investigator reads the result in about 20 seconds. Everything it learned is written to the graph, and the next round is planned from that larger graph. A campaign is simply this loop repeated. The timings are measured from our own campaigns.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skip if short on time. The full sequence of one round, message by message. Steps 1 to 5 are the planner: it asks the graph what is known, proposes a test, and stores it before the executor sees it. Steps 6 to 9 are the executor looping on the device, and on every step it posts the screen back to the graph. Steps 10 to 14 are the investigator: note step 11, where it first fetches what is already known about those screens, which is what lets a repeat observation reinforce an existing finding instead of creating a duplicate.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This is how the shared memory is organised, taken from the live Neo4j database. Orange is the specification: the document is split into passages, each requirement is traced to the passage it came from, with its validation rules and the entities it involves. Purple is testing: a test case covers requirements and a feature area, and every execution leaves a log with its verdict, its error type and the ordered path of screens it went through. Blue is the app model the executor builds: one node per distinct screen, with the transitions between them and learned navigation routes. Red is findings, written by the investigator: each one points to the run that found it, the screen it is about and the requirement it concerns, and related findings are grouped under a more general one. The point to make: every agent reads and writes this one structure, and nothing else survives between calls. Every node is scoped to a project, so two apps never mix.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Each role has its own model, chosen for what that role needs. The planner needs long context and output that parses reliably, not deep reasoning, so a fast tier is right, and it is only about 8 percent of the cost. The executor has to see: it reads the accessibility tree and a screenshot on every step, which makes it about 92 percent of the cost. The investigator is deliberately a different model family, so no model is grading its own work, and setting its reasoning effort to low cut an evaluation from almost two minutes to 23 seconds. Specification extraction runs once per document but everything depends on it, so that is the one place we pay for a large model. Embeddings run locally for free. The history, briefly: we started on a free tier to prove the loop worked, tried self-hosting through a tunnel and dropped it, then moved each role down a tier once we had measured that quality held.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3D"/>
        </a:solidFill>
        <a:effectLst/>
      </p:bgPr>
    </p:bg>
    <p:spTree>
      <p:nvGrpSpPr>
        <p:cNvPr id="1" name=""/>
        <p:cNvGrpSpPr/>
        <p:nvPr/>
      </p:nvGrpSpPr>
      <p:grpSpPr>
        <a:xfrm>
          <a:off x="0" y="0"/>
          <a:ext cx="0" cy="0"/>
          <a:chOff x="0" y="0"/>
          <a:chExt cx="0" cy="0"/>
        </a:xfrm>
      </p:grpSpPr>
      <p:sp>
        <p:nvSpPr>
          <p:cNvPr id="2" name="Shape 0"/>
          <p:cNvSpPr/>
          <p:nvPr/>
        </p:nvSpPr>
        <p:spPr>
          <a:xfrm>
            <a:off x="9855200" y="812800"/>
            <a:ext cx="1524000" cy="1524000"/>
          </a:xfrm>
          <a:prstGeom prst="roundRect">
            <a:avLst>
              <a:gd name="adj" fmla="val 10000"/>
            </a:avLst>
          </a:prstGeom>
          <a:solidFill>
            <a:srgbClr val="F6F8F7"/>
          </a:solidFill>
          <a:ln/>
        </p:spPr>
        <p:txBody>
          <a:bodyPr/>
          <a:lstStyle/>
          <a:p>
            <a:endParaRPr lang="en-US"/>
          </a:p>
        </p:txBody>
      </p:sp>
      <p:pic>
        <p:nvPicPr>
          <p:cNvPr id="3" name="Image 0" descr="BUET logo"/>
          <p:cNvPicPr>
            <a:picLocks noChangeAspect="1"/>
          </p:cNvPicPr>
          <p:nvPr/>
        </p:nvPicPr>
        <p:blipFill>
          <a:blip r:embed="rId3"/>
          <a:srcRect/>
          <a:stretch/>
        </p:blipFill>
        <p:spPr>
          <a:xfrm>
            <a:off x="9994900" y="952500"/>
            <a:ext cx="1244600" cy="1244600"/>
          </a:xfrm>
          <a:prstGeom prst="rect">
            <a:avLst/>
          </a:prstGeom>
        </p:spPr>
      </p:pic>
      <p:sp>
        <p:nvSpPr>
          <p:cNvPr id="4" name="Text 1"/>
          <p:cNvSpPr/>
          <p:nvPr/>
        </p:nvSpPr>
        <p:spPr>
          <a:xfrm>
            <a:off x="812800" y="812800"/>
            <a:ext cx="850265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3E3"/>
                </a:solidFill>
                <a:latin typeface="IBM Plex Sans" pitchFamily="34" charset="0"/>
                <a:ea typeface="IBM Plex Sans" pitchFamily="34" charset="-122"/>
                <a:cs typeface="IBM Plex Sans" pitchFamily="34" charset="-120"/>
              </a:rPr>
              <a:t>CSE 450 CAPSTONE PROJECT · DEPARTMENT OF CSE, BUET</a:t>
            </a:r>
            <a:endParaRPr lang="en-US" sz="1200" dirty="0"/>
          </a:p>
        </p:txBody>
      </p:sp>
      <p:sp>
        <p:nvSpPr>
          <p:cNvPr id="5" name="Text 2"/>
          <p:cNvSpPr/>
          <p:nvPr/>
        </p:nvSpPr>
        <p:spPr>
          <a:xfrm>
            <a:off x="812800" y="1203920"/>
            <a:ext cx="8502650" cy="1518841"/>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F3F6F5"/>
                </a:solidFill>
                <a:latin typeface="Source Serif 4" pitchFamily="34" charset="0"/>
                <a:ea typeface="Source Serif 4" pitchFamily="34" charset="-122"/>
                <a:cs typeface="Source Serif 4" pitchFamily="34" charset="-120"/>
              </a:rPr>
              <a:t>Exploratory Testing Automation</a:t>
            </a:r>
            <a:endParaRPr lang="en-US" sz="5600" dirty="0"/>
          </a:p>
        </p:txBody>
      </p:sp>
      <p:sp>
        <p:nvSpPr>
          <p:cNvPr id="6" name="Text 3"/>
          <p:cNvSpPr/>
          <p:nvPr/>
        </p:nvSpPr>
        <p:spPr>
          <a:xfrm>
            <a:off x="812800" y="2875161"/>
            <a:ext cx="850265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FD3DA"/>
                </a:solidFill>
                <a:latin typeface="IBM Plex Sans" pitchFamily="34" charset="0"/>
                <a:ea typeface="IBM Plex Sans" pitchFamily="34" charset="-122"/>
                <a:cs typeface="IBM Plex Sans" pitchFamily="34" charset="-120"/>
              </a:rPr>
              <a:t>An autonomous agent that decides what to test, runs it on a real Android device, and learns from every run.</a:t>
            </a:r>
            <a:endParaRPr lang="en-US" sz="1800" dirty="0"/>
          </a:p>
        </p:txBody>
      </p:sp>
      <p:sp>
        <p:nvSpPr>
          <p:cNvPr id="7" name="Text 4"/>
          <p:cNvSpPr/>
          <p:nvPr/>
        </p:nvSpPr>
        <p:spPr>
          <a:xfrm>
            <a:off x="812800" y="4663579"/>
            <a:ext cx="269274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3E3"/>
                </a:solidFill>
                <a:latin typeface="IBM Plex Sans" pitchFamily="34" charset="0"/>
                <a:ea typeface="IBM Plex Sans" pitchFamily="34" charset="-122"/>
                <a:cs typeface="IBM Plex Sans" pitchFamily="34" charset="-120"/>
              </a:rPr>
              <a:t>TEAM</a:t>
            </a:r>
            <a:endParaRPr lang="en-US" sz="1200" dirty="0"/>
          </a:p>
        </p:txBody>
      </p:sp>
      <p:sp>
        <p:nvSpPr>
          <p:cNvPr id="8" name="Text 5"/>
          <p:cNvSpPr/>
          <p:nvPr/>
        </p:nvSpPr>
        <p:spPr>
          <a:xfrm>
            <a:off x="812800" y="4940399"/>
            <a:ext cx="2692744" cy="113020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Mohammad Raihan Rashid · 2105046</a:t>
            </a:r>
            <a:endParaRPr lang="en-US" sz="1200" dirty="0"/>
          </a:p>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Mehemud Azad · 2105014</a:t>
            </a:r>
            <a:endParaRPr lang="en-US" sz="1200" dirty="0"/>
          </a:p>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Jonayed Mohiuddin Shanto · 2105060</a:t>
            </a:r>
            <a:endParaRPr lang="en-US" sz="1200" dirty="0"/>
          </a:p>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Khalid Hasan Tuhin · 2105002</a:t>
            </a:r>
            <a:endParaRPr lang="en-US" sz="1200" dirty="0"/>
          </a:p>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Niloy Kumar Mondal · 2105044</a:t>
            </a:r>
            <a:endParaRPr lang="en-US" sz="1200" dirty="0"/>
          </a:p>
        </p:txBody>
      </p:sp>
      <p:sp>
        <p:nvSpPr>
          <p:cNvPr id="9" name="Text 6"/>
          <p:cNvSpPr/>
          <p:nvPr/>
        </p:nvSpPr>
        <p:spPr>
          <a:xfrm>
            <a:off x="3884315" y="4663579"/>
            <a:ext cx="254767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3E3"/>
                </a:solidFill>
                <a:latin typeface="IBM Plex Sans" pitchFamily="34" charset="0"/>
                <a:ea typeface="IBM Plex Sans" pitchFamily="34" charset="-122"/>
                <a:cs typeface="IBM Plex Sans" pitchFamily="34" charset="-120"/>
              </a:rPr>
              <a:t>SUPERVISOR</a:t>
            </a:r>
            <a:endParaRPr lang="en-US" sz="1200" dirty="0"/>
          </a:p>
        </p:txBody>
      </p:sp>
      <p:sp>
        <p:nvSpPr>
          <p:cNvPr id="10" name="Text 7"/>
          <p:cNvSpPr/>
          <p:nvPr/>
        </p:nvSpPr>
        <p:spPr>
          <a:xfrm>
            <a:off x="3884315" y="4940399"/>
            <a:ext cx="2547678"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Dr. A. B. M. Alim Al Islam</a:t>
            </a:r>
            <a:endParaRPr lang="en-US" sz="1200" dirty="0"/>
          </a:p>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Professor, Department of CSE, BUET</a:t>
            </a:r>
            <a:endParaRPr lang="en-US" sz="1200" dirty="0"/>
          </a:p>
        </p:txBody>
      </p:sp>
      <p:sp>
        <p:nvSpPr>
          <p:cNvPr id="11" name="Text 8"/>
          <p:cNvSpPr/>
          <p:nvPr/>
        </p:nvSpPr>
        <p:spPr>
          <a:xfrm>
            <a:off x="6814989" y="4663579"/>
            <a:ext cx="250593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3E3"/>
                </a:solidFill>
                <a:latin typeface="IBM Plex Sans" pitchFamily="34" charset="0"/>
                <a:ea typeface="IBM Plex Sans" pitchFamily="34" charset="-122"/>
                <a:cs typeface="IBM Plex Sans" pitchFamily="34" charset="-120"/>
              </a:rPr>
              <a:t>INDUSTRY PARTNER</a:t>
            </a:r>
            <a:endParaRPr lang="en-US" sz="1200" dirty="0"/>
          </a:p>
        </p:txBody>
      </p:sp>
      <p:sp>
        <p:nvSpPr>
          <p:cNvPr id="12" name="Text 9"/>
          <p:cNvSpPr/>
          <p:nvPr/>
        </p:nvSpPr>
        <p:spPr>
          <a:xfrm>
            <a:off x="6814989" y="4940399"/>
            <a:ext cx="2505931"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F3F6F5"/>
                </a:solidFill>
                <a:latin typeface="IBM Plex Sans" pitchFamily="34" charset="0"/>
                <a:ea typeface="IBM Plex Sans" pitchFamily="34" charset="-122"/>
                <a:cs typeface="IBM Plex Sans" pitchFamily="34" charset="-120"/>
              </a:rPr>
              <a:t>Samsung R&amp;D Institute Bangladesh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Why exploratory testing is hard to automate</a:t>
            </a:r>
            <a:endParaRPr lang="en-US" sz="3000" dirty="0"/>
          </a:p>
        </p:txBody>
      </p:sp>
      <p:sp>
        <p:nvSpPr>
          <p:cNvPr id="4" name="Shape 2"/>
          <p:cNvSpPr/>
          <p:nvPr/>
        </p:nvSpPr>
        <p:spPr>
          <a:xfrm>
            <a:off x="815975" y="1778595"/>
            <a:ext cx="3380284" cy="2038201"/>
          </a:xfrm>
          <a:prstGeom prst="roundRect">
            <a:avLst>
              <a:gd name="adj" fmla="val 4829"/>
            </a:avLst>
          </a:prstGeom>
          <a:solidFill>
            <a:srgbClr val="FDFEFE"/>
          </a:solidFill>
          <a:ln w="6350">
            <a:solidFill>
              <a:srgbClr val="D6E1E6"/>
            </a:solidFill>
            <a:prstDash val="solid"/>
          </a:ln>
        </p:spPr>
        <p:txBody>
          <a:bodyPr/>
          <a:lstStyle/>
          <a:p>
            <a:endParaRPr lang="en-US"/>
          </a:p>
        </p:txBody>
      </p:sp>
      <p:sp>
        <p:nvSpPr>
          <p:cNvPr id="5" name="Text 3"/>
          <p:cNvSpPr/>
          <p:nvPr/>
        </p:nvSpPr>
        <p:spPr>
          <a:xfrm>
            <a:off x="1047750" y="2010370"/>
            <a:ext cx="300423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Manual exploratory testing</a:t>
            </a:r>
            <a:endParaRPr lang="en-US" sz="1800" dirty="0"/>
          </a:p>
        </p:txBody>
      </p:sp>
      <p:sp>
        <p:nvSpPr>
          <p:cNvPr id="6" name="Text 4"/>
          <p:cNvSpPr/>
          <p:nvPr/>
        </p:nvSpPr>
        <p:spPr>
          <a:xfrm>
            <a:off x="1047750" y="2386261"/>
            <a:ext cx="300423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Finds real bugs, because a person knows what correct looks like.</a:t>
            </a:r>
            <a:endParaRPr lang="en-US" sz="1400" dirty="0"/>
          </a:p>
        </p:txBody>
      </p:sp>
      <p:sp>
        <p:nvSpPr>
          <p:cNvPr id="7" name="Text 5"/>
          <p:cNvSpPr/>
          <p:nvPr/>
        </p:nvSpPr>
        <p:spPr>
          <a:xfrm>
            <a:off x="1047750" y="3087241"/>
            <a:ext cx="3004236"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does not scale, and the knowledge leaves with the tester.</a:t>
            </a:r>
            <a:endParaRPr lang="en-US" sz="1400" dirty="0"/>
          </a:p>
        </p:txBody>
      </p:sp>
      <p:sp>
        <p:nvSpPr>
          <p:cNvPr id="8" name="Shape 6"/>
          <p:cNvSpPr/>
          <p:nvPr/>
        </p:nvSpPr>
        <p:spPr>
          <a:xfrm>
            <a:off x="4405809" y="1778595"/>
            <a:ext cx="3380333" cy="2038201"/>
          </a:xfrm>
          <a:prstGeom prst="roundRect">
            <a:avLst>
              <a:gd name="adj" fmla="val 4829"/>
            </a:avLst>
          </a:prstGeom>
          <a:solidFill>
            <a:srgbClr val="FDFEFE"/>
          </a:solidFill>
          <a:ln w="6350">
            <a:solidFill>
              <a:srgbClr val="D6E1E6"/>
            </a:solidFill>
            <a:prstDash val="solid"/>
          </a:ln>
        </p:spPr>
        <p:txBody>
          <a:bodyPr/>
          <a:lstStyle/>
          <a:p>
            <a:endParaRPr lang="en-US"/>
          </a:p>
        </p:txBody>
      </p:sp>
      <p:sp>
        <p:nvSpPr>
          <p:cNvPr id="9" name="Text 7"/>
          <p:cNvSpPr/>
          <p:nvPr/>
        </p:nvSpPr>
        <p:spPr>
          <a:xfrm>
            <a:off x="4637584" y="2010370"/>
            <a:ext cx="300428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Scripted automation</a:t>
            </a:r>
            <a:endParaRPr lang="en-US" sz="1800" dirty="0"/>
          </a:p>
        </p:txBody>
      </p:sp>
      <p:sp>
        <p:nvSpPr>
          <p:cNvPr id="10" name="Text 8"/>
          <p:cNvSpPr/>
          <p:nvPr/>
        </p:nvSpPr>
        <p:spPr>
          <a:xfrm>
            <a:off x="4637584" y="2386261"/>
            <a:ext cx="300428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Repeatable, and cheap to run again.</a:t>
            </a:r>
            <a:endParaRPr lang="en-US" sz="1400" dirty="0"/>
          </a:p>
        </p:txBody>
      </p:sp>
      <p:sp>
        <p:nvSpPr>
          <p:cNvPr id="11" name="Text 9"/>
          <p:cNvSpPr/>
          <p:nvPr/>
        </p:nvSpPr>
        <p:spPr>
          <a:xfrm>
            <a:off x="4637584" y="2838351"/>
            <a:ext cx="3004287" cy="77207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only checks what its author thought to check. It confirms; it does not discover.</a:t>
            </a:r>
            <a:endParaRPr lang="en-US" sz="1400" dirty="0"/>
          </a:p>
        </p:txBody>
      </p:sp>
      <p:sp>
        <p:nvSpPr>
          <p:cNvPr id="12" name="Shape 10"/>
          <p:cNvSpPr/>
          <p:nvPr/>
        </p:nvSpPr>
        <p:spPr>
          <a:xfrm>
            <a:off x="7995692" y="1778595"/>
            <a:ext cx="3380333" cy="2038201"/>
          </a:xfrm>
          <a:prstGeom prst="roundRect">
            <a:avLst>
              <a:gd name="adj" fmla="val 4829"/>
            </a:avLst>
          </a:prstGeom>
          <a:solidFill>
            <a:srgbClr val="FDFEFE"/>
          </a:solidFill>
          <a:ln w="6350">
            <a:solidFill>
              <a:srgbClr val="D6E1E6"/>
            </a:solidFill>
            <a:prstDash val="solid"/>
          </a:ln>
        </p:spPr>
        <p:txBody>
          <a:bodyPr/>
          <a:lstStyle/>
          <a:p>
            <a:endParaRPr lang="en-US"/>
          </a:p>
        </p:txBody>
      </p:sp>
      <p:sp>
        <p:nvSpPr>
          <p:cNvPr id="13" name="Text 11"/>
          <p:cNvSpPr/>
          <p:nvPr/>
        </p:nvSpPr>
        <p:spPr>
          <a:xfrm>
            <a:off x="8227467" y="2010370"/>
            <a:ext cx="300428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Random (Monkey) testing</a:t>
            </a:r>
            <a:endParaRPr lang="en-US" sz="1800" dirty="0"/>
          </a:p>
        </p:txBody>
      </p:sp>
      <p:sp>
        <p:nvSpPr>
          <p:cNvPr id="14" name="Text 12"/>
          <p:cNvSpPr/>
          <p:nvPr/>
        </p:nvSpPr>
        <p:spPr>
          <a:xfrm>
            <a:off x="8227467" y="2386261"/>
            <a:ext cx="300428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6596A"/>
                </a:solidFill>
                <a:latin typeface="IBM Plex Sans" pitchFamily="34" charset="0"/>
                <a:ea typeface="IBM Plex Sans" pitchFamily="34" charset="-122"/>
                <a:cs typeface="IBM Plex Sans" pitchFamily="34" charset="-120"/>
              </a:rPr>
              <a:t>Explores at scale, with no setup.</a:t>
            </a:r>
            <a:endParaRPr lang="en-US" sz="1400" dirty="0"/>
          </a:p>
        </p:txBody>
      </p:sp>
      <p:sp>
        <p:nvSpPr>
          <p:cNvPr id="15" name="Text 13"/>
          <p:cNvSpPr/>
          <p:nvPr/>
        </p:nvSpPr>
        <p:spPr>
          <a:xfrm>
            <a:off x="8227467" y="2838351"/>
            <a:ext cx="3004287" cy="77207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9502C"/>
                </a:solidFill>
                <a:latin typeface="IBM Plex Sans" pitchFamily="34" charset="0"/>
                <a:ea typeface="IBM Plex Sans" pitchFamily="34" charset="-122"/>
                <a:cs typeface="IBM Plex Sans" pitchFamily="34" charset="-120"/>
              </a:rPr>
              <a:t>But</a:t>
            </a:r>
            <a:r>
              <a:rPr lang="en-US" sz="1400" dirty="0">
                <a:solidFill>
                  <a:srgbClr val="A9502C"/>
                </a:solidFill>
                <a:latin typeface="IBM Plex Sans" pitchFamily="34" charset="0"/>
                <a:ea typeface="IBM Plex Sans" pitchFamily="34" charset="-122"/>
                <a:cs typeface="IBM Plex Sans" pitchFamily="34" charset="-120"/>
              </a:rPr>
              <a:t> it has no idea what correct looks like. It can report a crash, not a wrong result.</a:t>
            </a:r>
            <a:endParaRPr lang="en-US" sz="1400" dirty="0"/>
          </a:p>
        </p:txBody>
      </p:sp>
      <p:sp>
        <p:nvSpPr>
          <p:cNvPr id="16" name="Text 14"/>
          <p:cNvSpPr/>
          <p:nvPr/>
        </p:nvSpPr>
        <p:spPr>
          <a:xfrm>
            <a:off x="812800" y="4073971"/>
            <a:ext cx="10883392" cy="52318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46596A"/>
                </a:solidFill>
                <a:latin typeface="Source Serif 4" pitchFamily="34" charset="0"/>
                <a:ea typeface="Source Serif 4" pitchFamily="34" charset="-122"/>
                <a:cs typeface="Source Serif 4" pitchFamily="34" charset="-120"/>
              </a:rPr>
              <a:t>“An automated tool can tell you an application crashed. It cannot tell you it quietly charged the wrong price, because it has no idea what the right price was.”</a:t>
            </a:r>
            <a:endParaRPr lang="en-US" sz="1400" dirty="0"/>
          </a:p>
        </p:txBody>
      </p:sp>
      <p:sp>
        <p:nvSpPr>
          <p:cNvPr id="17" name="Text 15"/>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8" name="Text 16"/>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RELATED WORK</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What existing research agents miss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427835"/>
        </p:xfrm>
        <a:graphic>
          <a:graphicData uri="http://schemas.openxmlformats.org/drawingml/2006/table">
            <a:tbl>
              <a:tblPr/>
              <a:tblGrid>
                <a:gridCol w="3588258">
                  <a:extLst>
                    <a:ext uri="{9D8B030D-6E8A-4147-A177-3AD203B41FA5}">
                      <a16:colId xmlns:a16="http://schemas.microsoft.com/office/drawing/2014/main" val="20000"/>
                    </a:ext>
                  </a:extLst>
                </a:gridCol>
                <a:gridCol w="3482721">
                  <a:extLst>
                    <a:ext uri="{9D8B030D-6E8A-4147-A177-3AD203B41FA5}">
                      <a16:colId xmlns:a16="http://schemas.microsoft.com/office/drawing/2014/main" val="20001"/>
                    </a:ext>
                  </a:extLst>
                </a:gridCol>
                <a:gridCol w="3482721">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Capability</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Research agents today</a:t>
                      </a:r>
                      <a:endParaRPr lang="en-US" sz="1400" dirty="0">
                        <a:latin typeface="IBM Plex Sans" charset="0"/>
                        <a:ea typeface="IBM Plex Sans" charset="0"/>
                        <a:cs typeface="IBM Plex Sans" charset="0"/>
                      </a:endParaRPr>
                    </a:p>
                  </a:txBody>
                  <a:tcPr marL="62230" marR="62230" marT="62230" marB="6223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960"/>
                        </a:lnSpc>
                        <a:buNone/>
                      </a:pPr>
                      <a:r>
                        <a:rPr lang="en-US" sz="1400" b="1" dirty="0">
                          <a:solidFill>
                            <a:srgbClr val="14303D"/>
                          </a:solidFill>
                          <a:latin typeface="IBM Plex Sans" pitchFamily="34" charset="0"/>
                          <a:ea typeface="IBM Plex Sans" pitchFamily="34" charset="-122"/>
                          <a:cs typeface="IBM Plex Sans" pitchFamily="34" charset="-120"/>
                        </a:rPr>
                        <a:t>Our system</a:t>
                      </a:r>
                      <a:endParaRPr lang="en-US" sz="1400" dirty="0">
                        <a:latin typeface="IBM Plex Sans" charset="0"/>
                        <a:ea typeface="IBM Plex Sans" charset="0"/>
                        <a:cs typeface="IBM Plex Sans" charset="0"/>
                      </a:endParaRPr>
                    </a:p>
                  </a:txBody>
                  <a:tcPr marL="62230" marR="62230" marT="62230" marB="6223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extLst>
                  <a:ext uri="{0D108BD9-81ED-4DB2-BD59-A6C34878D82A}">
                    <a16:rowId xmlns:a16="http://schemas.microsoft.com/office/drawing/2014/main" val="10000"/>
                  </a:ext>
                </a:extLst>
              </a:tr>
              <a:tr h="634901">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Reads the requirements specification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No, so no oracle beyond a crash</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0B6A8F"/>
                          </a:solidFill>
                          <a:latin typeface="IBM Plex Sans" pitchFamily="34" charset="0"/>
                          <a:ea typeface="IBM Plex Sans" pitchFamily="34" charset="-122"/>
                          <a:cs typeface="IBM Plex Sans" pitchFamily="34" charset="-120"/>
                        </a:rPr>
                        <a:t>Yes: every requirement becomes a queryable node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Remembers across runs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Only within one session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0B6A8F"/>
                          </a:solidFill>
                          <a:latin typeface="IBM Plex Sans" pitchFamily="34" charset="0"/>
                          <a:ea typeface="IBM Plex Sans" pitchFamily="34" charset="-122"/>
                          <a:cs typeface="IBM Plex Sans" pitchFamily="34" charset="-120"/>
                        </a:rPr>
                        <a:t>A persistent knowledge graph</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2"/>
                  </a:ext>
                </a:extLst>
              </a:tr>
              <a:tr h="634901">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Separates its own failures from app defects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0B6A8F"/>
                          </a:solidFill>
                          <a:latin typeface="IBM Plex Sans" pitchFamily="34" charset="0"/>
                          <a:ea typeface="IBM Plex Sans" pitchFamily="34" charset="-122"/>
                          <a:cs typeface="IBM Plex Sans" pitchFamily="34" charset="-120"/>
                        </a:rPr>
                        <a:t>Three-way fault attribution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Chooses its own test objectives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14303D"/>
                          </a:solidFill>
                          <a:latin typeface="IBM Plex Sans" pitchFamily="34" charset="0"/>
                          <a:ea typeface="IBM Plex Sans" pitchFamily="34" charset="-122"/>
                          <a:cs typeface="IBM Plex Sans" pitchFamily="34" charset="-120"/>
                        </a:rPr>
                        <a:t>5 of 7 are handed a task</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960"/>
                        </a:lnSpc>
                        <a:buNone/>
                      </a:pPr>
                      <a:r>
                        <a:rPr lang="en-US" sz="1400" dirty="0">
                          <a:solidFill>
                            <a:srgbClr val="0B6A8F"/>
                          </a:solidFill>
                          <a:latin typeface="IBM Plex Sans" pitchFamily="34" charset="0"/>
                          <a:ea typeface="IBM Plex Sans" pitchFamily="34" charset="-122"/>
                          <a:cs typeface="IBM Plex Sans" pitchFamily="34" charset="-120"/>
                        </a:rPr>
                        <a:t>Yes, and each test cites a requirement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446995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From our review of seven LLM-based GUI testing systems, among them GPTDroid, DroidAgent and AutoDroid.</a:t>
            </a:r>
            <a:endParaRPr lang="en-US" sz="1200" dirty="0"/>
          </a:p>
        </p:txBody>
      </p:sp>
      <p:sp>
        <p:nvSpPr>
          <p:cNvPr id="6" name="Text 3"/>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7" name="Text 4"/>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03D"/>
        </a:solidFill>
        <a:effectLst/>
      </p:bgPr>
    </p:bg>
    <p:spTree>
      <p:nvGrpSpPr>
        <p:cNvPr id="1" name=""/>
        <p:cNvGrpSpPr/>
        <p:nvPr/>
      </p:nvGrpSpPr>
      <p:grpSpPr>
        <a:xfrm>
          <a:off x="0" y="0"/>
          <a:ext cx="0" cy="0"/>
          <a:chOff x="0" y="0"/>
          <a:chExt cx="0" cy="0"/>
        </a:xfrm>
      </p:grpSpPr>
      <p:sp>
        <p:nvSpPr>
          <p:cNvPr id="2" name="Text 0"/>
          <p:cNvSpPr/>
          <p:nvPr/>
        </p:nvSpPr>
        <p:spPr>
          <a:xfrm>
            <a:off x="812800" y="160769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FC3E3"/>
                </a:solidFill>
                <a:latin typeface="IBM Plex Sans" pitchFamily="34" charset="0"/>
                <a:ea typeface="IBM Plex Sans" pitchFamily="34" charset="-122"/>
                <a:cs typeface="IBM Plex Sans" pitchFamily="34" charset="-120"/>
              </a:rPr>
              <a:t>THE PARTNER'S BRIEF · SAMSUNG R&amp;D INSTITUTE BANGLADESH</a:t>
            </a:r>
            <a:endParaRPr lang="en-US" sz="1200" dirty="0"/>
          </a:p>
        </p:txBody>
      </p:sp>
      <p:sp>
        <p:nvSpPr>
          <p:cNvPr id="3" name="Text 1"/>
          <p:cNvSpPr/>
          <p:nvPr/>
        </p:nvSpPr>
        <p:spPr>
          <a:xfrm>
            <a:off x="812800" y="2075011"/>
            <a:ext cx="10883392" cy="2329557"/>
          </a:xfrm>
          <a:prstGeom prst="rect">
            <a:avLst/>
          </a:prstGeom>
          <a:noFill/>
          <a:ln/>
        </p:spPr>
        <p:txBody>
          <a:bodyPr wrap="square" lIns="0" tIns="0" rIns="0" bIns="0" rtlCol="0" anchor="t">
            <a:normAutofit/>
          </a:bodyPr>
          <a:lstStyle/>
          <a:p>
            <a:pPr marL="0" indent="0" algn="l">
              <a:lnSpc>
                <a:spcPts val="6048"/>
              </a:lnSpc>
              <a:buNone/>
            </a:pPr>
            <a:r>
              <a:rPr lang="en-US" sz="5600" b="1" dirty="0">
                <a:solidFill>
                  <a:srgbClr val="F3F6F5"/>
                </a:solidFill>
                <a:latin typeface="Source Serif 4" pitchFamily="34" charset="0"/>
                <a:ea typeface="Source Serif 4" pitchFamily="34" charset="-122"/>
                <a:cs typeface="Source Serif 4" pitchFamily="34" charset="-120"/>
              </a:rPr>
              <a:t>“Every execution cycle must make the agent smarter than the last.”</a:t>
            </a:r>
            <a:endParaRPr lang="en-US" sz="5600" dirty="0"/>
          </a:p>
        </p:txBody>
      </p:sp>
      <p:sp>
        <p:nvSpPr>
          <p:cNvPr id="4" name="Text 2"/>
          <p:cNvSpPr/>
          <p:nvPr/>
        </p:nvSpPr>
        <p:spPr>
          <a:xfrm>
            <a:off x="812800" y="4633168"/>
            <a:ext cx="981075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FD3DA"/>
                </a:solidFill>
                <a:latin typeface="IBM Plex Sans" pitchFamily="34" charset="0"/>
                <a:ea typeface="IBM Plex Sans" pitchFamily="34" charset="-122"/>
                <a:cs typeface="IBM Plex Sans" pitchFamily="34" charset="-120"/>
              </a:rPr>
              <a:t>Our answer: three stateless AI agents that never talk to each other. Everything they learn goes into one shared knowledge graph, and every new test is planned from it.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Three agents, one shared memory</a:t>
            </a:r>
            <a:endParaRPr lang="en-US" sz="3000" dirty="0"/>
          </a:p>
        </p:txBody>
      </p:sp>
      <p:sp>
        <p:nvSpPr>
          <p:cNvPr id="4" name="Shape 2"/>
          <p:cNvSpPr/>
          <p:nvPr/>
        </p:nvSpPr>
        <p:spPr>
          <a:xfrm>
            <a:off x="812800" y="1841500"/>
            <a:ext cx="10566400" cy="825500"/>
          </a:xfrm>
          <a:prstGeom prst="roundRect">
            <a:avLst>
              <a:gd name="adj" fmla="val 12308"/>
            </a:avLst>
          </a:prstGeom>
          <a:solidFill>
            <a:srgbClr val="14303D"/>
          </a:solidFill>
          <a:ln/>
        </p:spPr>
        <p:txBody>
          <a:bodyPr/>
          <a:lstStyle/>
          <a:p>
            <a:endParaRPr lang="en-US"/>
          </a:p>
        </p:txBody>
      </p:sp>
      <p:sp>
        <p:nvSpPr>
          <p:cNvPr id="5" name="Text 3"/>
          <p:cNvSpPr/>
          <p:nvPr/>
        </p:nvSpPr>
        <p:spPr>
          <a:xfrm>
            <a:off x="1016000" y="1997720"/>
            <a:ext cx="1046480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6F5"/>
                </a:solidFill>
                <a:latin typeface="IBM Plex Sans" pitchFamily="34" charset="0"/>
                <a:ea typeface="IBM Plex Sans" pitchFamily="34" charset="-122"/>
                <a:cs typeface="IBM Plex Sans" pitchFamily="34" charset="-120"/>
              </a:rPr>
              <a:t>Knowledge graph · Neo4j</a:t>
            </a:r>
            <a:endParaRPr lang="en-US" sz="1800" dirty="0"/>
          </a:p>
        </p:txBody>
      </p:sp>
      <p:sp>
        <p:nvSpPr>
          <p:cNvPr id="6" name="Text 4"/>
          <p:cNvSpPr/>
          <p:nvPr/>
        </p:nvSpPr>
        <p:spPr>
          <a:xfrm>
            <a:off x="1016000" y="229741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3DA"/>
                </a:solidFill>
                <a:latin typeface="IBM Plex Sans" pitchFamily="34" charset="0"/>
                <a:ea typeface="IBM Plex Sans" pitchFamily="34" charset="-122"/>
                <a:cs typeface="IBM Plex Sans" pitchFamily="34" charset="-120"/>
              </a:rPr>
              <a:t>requirements · observed screens · test cases · execution history · findings</a:t>
            </a:r>
            <a:endParaRPr lang="en-US" sz="1200" dirty="0"/>
          </a:p>
        </p:txBody>
      </p:sp>
      <p:sp>
        <p:nvSpPr>
          <p:cNvPr id="7" name="Shape 5"/>
          <p:cNvSpPr/>
          <p:nvPr/>
        </p:nvSpPr>
        <p:spPr>
          <a:xfrm>
            <a:off x="819150" y="3308350"/>
            <a:ext cx="2781300" cy="1257300"/>
          </a:xfrm>
          <a:prstGeom prst="roundRect">
            <a:avLst>
              <a:gd name="adj" fmla="val 7576"/>
            </a:avLst>
          </a:prstGeom>
          <a:solidFill>
            <a:srgbClr val="FDFEFE"/>
          </a:solidFill>
          <a:ln w="12700">
            <a:solidFill>
              <a:srgbClr val="0F7EA8"/>
            </a:solidFill>
            <a:prstDash val="solid"/>
          </a:ln>
        </p:spPr>
        <p:txBody>
          <a:bodyPr/>
          <a:lstStyle/>
          <a:p>
            <a:endParaRPr lang="en-US"/>
          </a:p>
        </p:txBody>
      </p:sp>
      <p:sp>
        <p:nvSpPr>
          <p:cNvPr id="8" name="Text 6"/>
          <p:cNvSpPr/>
          <p:nvPr/>
        </p:nvSpPr>
        <p:spPr>
          <a:xfrm>
            <a:off x="1003300" y="3492500"/>
            <a:ext cx="248539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Planner</a:t>
            </a:r>
            <a:endParaRPr lang="en-US" sz="1800" dirty="0"/>
          </a:p>
        </p:txBody>
      </p:sp>
      <p:sp>
        <p:nvSpPr>
          <p:cNvPr id="9" name="Text 7"/>
          <p:cNvSpPr/>
          <p:nvPr/>
        </p:nvSpPr>
        <p:spPr>
          <a:xfrm>
            <a:off x="1003300" y="3817590"/>
            <a:ext cx="24853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decides what to test next and writes the test case</a:t>
            </a:r>
            <a:endParaRPr lang="en-US" sz="1200" dirty="0"/>
          </a:p>
        </p:txBody>
      </p:sp>
      <p:sp>
        <p:nvSpPr>
          <p:cNvPr id="10" name="Shape 8"/>
          <p:cNvSpPr/>
          <p:nvPr/>
        </p:nvSpPr>
        <p:spPr>
          <a:xfrm>
            <a:off x="4705350" y="3308350"/>
            <a:ext cx="2781300" cy="1257300"/>
          </a:xfrm>
          <a:prstGeom prst="roundRect">
            <a:avLst>
              <a:gd name="adj" fmla="val 7576"/>
            </a:avLst>
          </a:prstGeom>
          <a:solidFill>
            <a:srgbClr val="FDFEFE"/>
          </a:solidFill>
          <a:ln w="12700">
            <a:solidFill>
              <a:srgbClr val="0F7EA8"/>
            </a:solidFill>
            <a:prstDash val="solid"/>
          </a:ln>
        </p:spPr>
        <p:txBody>
          <a:bodyPr/>
          <a:lstStyle/>
          <a:p>
            <a:endParaRPr lang="en-US"/>
          </a:p>
        </p:txBody>
      </p:sp>
      <p:sp>
        <p:nvSpPr>
          <p:cNvPr id="11" name="Text 9"/>
          <p:cNvSpPr/>
          <p:nvPr/>
        </p:nvSpPr>
        <p:spPr>
          <a:xfrm>
            <a:off x="4889500" y="3492500"/>
            <a:ext cx="248539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Executor</a:t>
            </a:r>
            <a:endParaRPr lang="en-US" sz="1800" dirty="0"/>
          </a:p>
        </p:txBody>
      </p:sp>
      <p:sp>
        <p:nvSpPr>
          <p:cNvPr id="12" name="Text 10"/>
          <p:cNvSpPr/>
          <p:nvPr/>
        </p:nvSpPr>
        <p:spPr>
          <a:xfrm>
            <a:off x="4889500" y="3817590"/>
            <a:ext cx="24853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drives the real app on an Android device</a:t>
            </a:r>
            <a:endParaRPr lang="en-US" sz="1200" dirty="0"/>
          </a:p>
        </p:txBody>
      </p:sp>
      <p:sp>
        <p:nvSpPr>
          <p:cNvPr id="13" name="Shape 11"/>
          <p:cNvSpPr/>
          <p:nvPr/>
        </p:nvSpPr>
        <p:spPr>
          <a:xfrm>
            <a:off x="8591550" y="3308350"/>
            <a:ext cx="2781300" cy="1257300"/>
          </a:xfrm>
          <a:prstGeom prst="roundRect">
            <a:avLst>
              <a:gd name="adj" fmla="val 7576"/>
            </a:avLst>
          </a:prstGeom>
          <a:solidFill>
            <a:srgbClr val="FDFEFE"/>
          </a:solidFill>
          <a:ln w="12700">
            <a:solidFill>
              <a:srgbClr val="0F7EA8"/>
            </a:solidFill>
            <a:prstDash val="solid"/>
          </a:ln>
        </p:spPr>
        <p:txBody>
          <a:bodyPr/>
          <a:lstStyle/>
          <a:p>
            <a:endParaRPr lang="en-US"/>
          </a:p>
        </p:txBody>
      </p:sp>
      <p:sp>
        <p:nvSpPr>
          <p:cNvPr id="14" name="Text 12"/>
          <p:cNvSpPr/>
          <p:nvPr/>
        </p:nvSpPr>
        <p:spPr>
          <a:xfrm>
            <a:off x="8775700" y="3492500"/>
            <a:ext cx="248539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Investigator</a:t>
            </a:r>
            <a:endParaRPr lang="en-US" sz="1800" dirty="0"/>
          </a:p>
        </p:txBody>
      </p:sp>
      <p:sp>
        <p:nvSpPr>
          <p:cNvPr id="15" name="Text 13"/>
          <p:cNvSpPr/>
          <p:nvPr/>
        </p:nvSpPr>
        <p:spPr>
          <a:xfrm>
            <a:off x="8775700" y="3817590"/>
            <a:ext cx="248539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decides what each run actually proved</a:t>
            </a:r>
            <a:endParaRPr lang="en-US" sz="1200" dirty="0"/>
          </a:p>
        </p:txBody>
      </p:sp>
      <p:sp>
        <p:nvSpPr>
          <p:cNvPr id="16" name="Shape 14"/>
          <p:cNvSpPr/>
          <p:nvPr/>
        </p:nvSpPr>
        <p:spPr>
          <a:xfrm>
            <a:off x="4702175" y="5019675"/>
            <a:ext cx="2787650" cy="755650"/>
          </a:xfrm>
          <a:prstGeom prst="roundRect">
            <a:avLst>
              <a:gd name="adj" fmla="val 13025"/>
            </a:avLst>
          </a:prstGeom>
          <a:solidFill>
            <a:srgbClr val="E8EDEF"/>
          </a:solidFill>
          <a:ln w="6350">
            <a:solidFill>
              <a:srgbClr val="B8C5CB"/>
            </a:solidFill>
            <a:prstDash val="solid"/>
          </a:ln>
        </p:spPr>
        <p:txBody>
          <a:bodyPr/>
          <a:lstStyle/>
          <a:p>
            <a:endParaRPr lang="en-US"/>
          </a:p>
        </p:txBody>
      </p:sp>
      <p:sp>
        <p:nvSpPr>
          <p:cNvPr id="17" name="Text 15"/>
          <p:cNvSpPr/>
          <p:nvPr/>
        </p:nvSpPr>
        <p:spPr>
          <a:xfrm>
            <a:off x="4883150" y="5162550"/>
            <a:ext cx="2498471"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Android device</a:t>
            </a:r>
            <a:endParaRPr lang="en-US" sz="1400" dirty="0"/>
          </a:p>
        </p:txBody>
      </p:sp>
      <p:sp>
        <p:nvSpPr>
          <p:cNvPr id="18" name="Text 16"/>
          <p:cNvSpPr/>
          <p:nvPr/>
        </p:nvSpPr>
        <p:spPr>
          <a:xfrm>
            <a:off x="4883150" y="5419080"/>
            <a:ext cx="249847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app under test · on-device portal</a:t>
            </a:r>
            <a:endParaRPr lang="en-US" sz="1200" dirty="0"/>
          </a:p>
        </p:txBody>
      </p:sp>
      <p:sp>
        <p:nvSpPr>
          <p:cNvPr id="19" name="Text 17"/>
          <p:cNvSpPr/>
          <p:nvPr/>
        </p:nvSpPr>
        <p:spPr>
          <a:xfrm>
            <a:off x="812800" y="5016500"/>
            <a:ext cx="28778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Stateless: no conversation history. Every call is rebuilt from the graph.</a:t>
            </a:r>
            <a:endParaRPr lang="en-US" sz="1200" dirty="0"/>
          </a:p>
        </p:txBody>
      </p:sp>
      <p:sp>
        <p:nvSpPr>
          <p:cNvPr id="20" name="Text 18"/>
          <p:cNvSpPr/>
          <p:nvPr/>
        </p:nvSpPr>
        <p:spPr>
          <a:xfrm>
            <a:off x="8585200" y="5016500"/>
            <a:ext cx="28778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qwen3.7-flash plans and drives; glm-5.3-flash evaluates. All via OpenRouter.</a:t>
            </a:r>
            <a:endParaRPr lang="en-US" sz="1200" dirty="0"/>
          </a:p>
        </p:txBody>
      </p:sp>
      <p:pic>
        <p:nvPicPr>
          <p:cNvPr id="21" name="Image 0" descr="connector"/>
          <p:cNvPicPr>
            <a:picLocks noChangeAspect="1"/>
          </p:cNvPicPr>
          <p:nvPr/>
        </p:nvPicPr>
        <p:blipFill>
          <a:blip r:embed="rId3"/>
          <a:srcRect/>
          <a:stretch/>
        </p:blipFill>
        <p:spPr>
          <a:xfrm>
            <a:off x="2159000" y="2628900"/>
            <a:ext cx="101600" cy="711200"/>
          </a:xfrm>
          <a:prstGeom prst="rect">
            <a:avLst/>
          </a:prstGeom>
        </p:spPr>
      </p:pic>
      <p:pic>
        <p:nvPicPr>
          <p:cNvPr id="22" name="Image 1" descr="connector"/>
          <p:cNvPicPr>
            <a:picLocks noChangeAspect="1"/>
          </p:cNvPicPr>
          <p:nvPr/>
        </p:nvPicPr>
        <p:blipFill>
          <a:blip r:embed="rId4"/>
          <a:srcRect/>
          <a:stretch/>
        </p:blipFill>
        <p:spPr>
          <a:xfrm>
            <a:off x="6045200" y="2628900"/>
            <a:ext cx="101600" cy="711200"/>
          </a:xfrm>
          <a:prstGeom prst="rect">
            <a:avLst/>
          </a:prstGeom>
        </p:spPr>
      </p:pic>
      <p:pic>
        <p:nvPicPr>
          <p:cNvPr id="23" name="Image 2" descr="connector"/>
          <p:cNvPicPr>
            <a:picLocks noChangeAspect="1"/>
          </p:cNvPicPr>
          <p:nvPr/>
        </p:nvPicPr>
        <p:blipFill>
          <a:blip r:embed="rId4"/>
          <a:srcRect/>
          <a:stretch/>
        </p:blipFill>
        <p:spPr>
          <a:xfrm>
            <a:off x="9931400" y="2628900"/>
            <a:ext cx="101600" cy="711200"/>
          </a:xfrm>
          <a:prstGeom prst="rect">
            <a:avLst/>
          </a:prstGeom>
        </p:spPr>
      </p:pic>
      <p:pic>
        <p:nvPicPr>
          <p:cNvPr id="24" name="Image 3" descr="connector"/>
          <p:cNvPicPr>
            <a:picLocks noChangeAspect="1"/>
          </p:cNvPicPr>
          <p:nvPr/>
        </p:nvPicPr>
        <p:blipFill>
          <a:blip r:embed="rId5"/>
          <a:srcRect/>
          <a:stretch/>
        </p:blipFill>
        <p:spPr>
          <a:xfrm>
            <a:off x="3568700" y="3886200"/>
            <a:ext cx="1168400" cy="101600"/>
          </a:xfrm>
          <a:prstGeom prst="rect">
            <a:avLst/>
          </a:prstGeom>
        </p:spPr>
      </p:pic>
      <p:pic>
        <p:nvPicPr>
          <p:cNvPr id="25" name="Image 4" descr="connector"/>
          <p:cNvPicPr>
            <a:picLocks noChangeAspect="1"/>
          </p:cNvPicPr>
          <p:nvPr/>
        </p:nvPicPr>
        <p:blipFill>
          <a:blip r:embed="rId5"/>
          <a:srcRect/>
          <a:stretch/>
        </p:blipFill>
        <p:spPr>
          <a:xfrm>
            <a:off x="7454900" y="3886200"/>
            <a:ext cx="1168400" cy="101600"/>
          </a:xfrm>
          <a:prstGeom prst="rect">
            <a:avLst/>
          </a:prstGeom>
        </p:spPr>
      </p:pic>
      <p:pic>
        <p:nvPicPr>
          <p:cNvPr id="26" name="Image 5" descr="connector"/>
          <p:cNvPicPr>
            <a:picLocks noChangeAspect="1"/>
          </p:cNvPicPr>
          <p:nvPr/>
        </p:nvPicPr>
        <p:blipFill>
          <a:blip r:embed="rId6"/>
          <a:srcRect/>
          <a:stretch/>
        </p:blipFill>
        <p:spPr>
          <a:xfrm>
            <a:off x="6045200" y="4533900"/>
            <a:ext cx="101600" cy="520700"/>
          </a:xfrm>
          <a:prstGeom prst="rect">
            <a:avLst/>
          </a:prstGeom>
        </p:spPr>
      </p:pic>
      <p:sp>
        <p:nvSpPr>
          <p:cNvPr id="27" name="Text 19"/>
          <p:cNvSpPr/>
          <p:nvPr/>
        </p:nvSpPr>
        <p:spPr>
          <a:xfrm>
            <a:off x="2311400" y="2870200"/>
            <a:ext cx="1066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6A8F"/>
                </a:solidFill>
                <a:latin typeface="IBM Plex Sans" pitchFamily="34" charset="0"/>
                <a:ea typeface="IBM Plex Sans" pitchFamily="34" charset="-122"/>
                <a:cs typeface="IBM Plex Sans" pitchFamily="34" charset="-120"/>
              </a:rPr>
              <a:t>reads</a:t>
            </a:r>
            <a:endParaRPr lang="en-US" sz="1200" dirty="0"/>
          </a:p>
        </p:txBody>
      </p:sp>
      <p:sp>
        <p:nvSpPr>
          <p:cNvPr id="28" name="Text 20"/>
          <p:cNvSpPr/>
          <p:nvPr/>
        </p:nvSpPr>
        <p:spPr>
          <a:xfrm>
            <a:off x="6197600" y="2870200"/>
            <a:ext cx="20929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6A8F"/>
                </a:solidFill>
                <a:latin typeface="IBM Plex Sans" pitchFamily="34" charset="0"/>
                <a:ea typeface="IBM Plex Sans" pitchFamily="34" charset="-122"/>
                <a:cs typeface="IBM Plex Sans" pitchFamily="34" charset="-120"/>
              </a:rPr>
              <a:t>writes screens seen</a:t>
            </a:r>
            <a:endParaRPr lang="en-US" sz="1200" dirty="0"/>
          </a:p>
        </p:txBody>
      </p:sp>
      <p:sp>
        <p:nvSpPr>
          <p:cNvPr id="29" name="Text 21"/>
          <p:cNvSpPr/>
          <p:nvPr/>
        </p:nvSpPr>
        <p:spPr>
          <a:xfrm>
            <a:off x="10083800" y="2870200"/>
            <a:ext cx="1320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B6A8F"/>
                </a:solidFill>
                <a:latin typeface="IBM Plex Sans" pitchFamily="34" charset="0"/>
                <a:ea typeface="IBM Plex Sans" pitchFamily="34" charset="-122"/>
                <a:cs typeface="IBM Plex Sans" pitchFamily="34" charset="-120"/>
              </a:rPr>
              <a:t>writes findings</a:t>
            </a:r>
            <a:endParaRPr lang="en-US" sz="1200" dirty="0"/>
          </a:p>
        </p:txBody>
      </p:sp>
      <p:sp>
        <p:nvSpPr>
          <p:cNvPr id="30" name="Text 22"/>
          <p:cNvSpPr/>
          <p:nvPr/>
        </p:nvSpPr>
        <p:spPr>
          <a:xfrm>
            <a:off x="3594100" y="3606800"/>
            <a:ext cx="1117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A8F"/>
                </a:solidFill>
                <a:latin typeface="IBM Plex Sans" pitchFamily="34" charset="0"/>
                <a:ea typeface="IBM Plex Sans" pitchFamily="34" charset="-122"/>
                <a:cs typeface="IBM Plex Sans" pitchFamily="34" charset="-120"/>
              </a:rPr>
              <a:t>test case</a:t>
            </a:r>
            <a:endParaRPr lang="en-US" sz="1200" dirty="0"/>
          </a:p>
        </p:txBody>
      </p:sp>
      <p:sp>
        <p:nvSpPr>
          <p:cNvPr id="31" name="Text 23"/>
          <p:cNvSpPr/>
          <p:nvPr/>
        </p:nvSpPr>
        <p:spPr>
          <a:xfrm>
            <a:off x="7480300" y="3606800"/>
            <a:ext cx="11176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A8F"/>
                </a:solidFill>
                <a:latin typeface="IBM Plex Sans" pitchFamily="34" charset="0"/>
                <a:ea typeface="IBM Plex Sans" pitchFamily="34" charset="-122"/>
                <a:cs typeface="IBM Plex Sans" pitchFamily="34" charset="-120"/>
              </a:rPr>
              <a:t>trajectory</a:t>
            </a:r>
            <a:endParaRPr lang="en-US" sz="1200" dirty="0"/>
          </a:p>
        </p:txBody>
      </p:sp>
      <p:sp>
        <p:nvSpPr>
          <p:cNvPr id="32" name="Text 24"/>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3" name="Text 25"/>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6F8F7"/>
        </a:solidFill>
      </p:bgPr>
    </p:bg>
    <p:spTree>
      <p:nvGrpSpPr>
        <p:cNvPr id="1" name=""/>
        <p:cNvGrpSpPr/>
        <p:nvPr/>
      </p:nvGrpSpPr>
      <p:grpSpPr>
        <a:xfrm>
          <a:off x="0" y="0"/>
          <a:ext cx="0" cy="0"/>
          <a:chOff x="0" y="0"/>
          <a:chExt cx="0" cy="0"/>
        </a:xfrm>
      </p:grpSpPr>
      <p:sp>
        <p:nvSpPr>
          <p:cNvPr id="2" name="Text 0"/>
          <p:cNvSpPr txBox="1"/>
          <p:nvPr/>
        </p:nvSpPr>
        <p:spPr>
          <a:xfrm>
            <a:off x="813816" y="813816"/>
            <a:ext cx="10881360" cy="237744"/>
          </a:xfrm>
          <a:prstGeom prst="rect">
            <a:avLst/>
          </a:prstGeom>
          <a:noFill/>
          <a:ln/>
        </p:spPr>
        <p:txBody>
          <a:bodyPr wrap="square" lIns="0" tIns="0" rIns="0" bIns="0" rtlCol="0" anchor="ctr"/>
          <a:lstStyle/>
          <a:p>
            <a:pPr indent="0" marL="0">
              <a:buNone/>
            </a:pPr>
            <a:r>
              <a:rPr lang="en-US" sz="1200" b="1" spc="150" kern="0" dirty="0">
                <a:solidFill>
                  <a:srgbClr val="0B6A8F"/>
                </a:solidFill>
                <a:latin typeface="IBM Plex Sans" pitchFamily="34" charset="0"/>
                <a:ea typeface="IBM Plex Sans" pitchFamily="34" charset="-122"/>
                <a:cs typeface="IBM Plex Sans" pitchFamily="34" charset="-120"/>
              </a:rPr>
              <a:t>INGESTION</a:t>
            </a:r>
            <a:endParaRPr lang="en-US" sz="1200" dirty="0"/>
          </a:p>
        </p:txBody>
      </p:sp>
      <p:sp>
        <p:nvSpPr>
          <p:cNvPr id="3" name="Text 1"/>
          <p:cNvSpPr txBox="1"/>
          <p:nvPr/>
        </p:nvSpPr>
        <p:spPr>
          <a:xfrm>
            <a:off x="813816" y="1106424"/>
            <a:ext cx="10881360" cy="448056"/>
          </a:xfrm>
          <a:prstGeom prst="rect">
            <a:avLst/>
          </a:prstGeom>
          <a:noFill/>
          <a:ln/>
        </p:spPr>
        <p:txBody>
          <a:bodyPr wrap="square" lIns="0" tIns="0" rIns="0" bIns="0" rtlCol="0" anchor="ctr"/>
          <a:lstStyle/>
          <a:p>
            <a:pPr indent="0" marL="0">
              <a:buNone/>
            </a:pPr>
            <a:r>
              <a:rPr lang="en-US" sz="3000" b="1" dirty="0">
                <a:solidFill>
                  <a:srgbClr val="14303D"/>
                </a:solidFill>
                <a:latin typeface="Source Serif 4" pitchFamily="34" charset="0"/>
                <a:ea typeface="Source Serif 4" pitchFamily="34" charset="-122"/>
                <a:cs typeface="Source Serif 4" pitchFamily="34" charset="-120"/>
              </a:rPr>
              <a:t>A document becomes queryable requirements</a:t>
            </a:r>
            <a:endParaRPr lang="en-US" sz="3000" dirty="0"/>
          </a:p>
        </p:txBody>
      </p:sp>
      <p:sp>
        <p:nvSpPr>
          <p:cNvPr id="4" name="Text 2"/>
          <p:cNvSpPr txBox="1"/>
          <p:nvPr/>
        </p:nvSpPr>
        <p:spPr>
          <a:xfrm>
            <a:off x="813816" y="1645920"/>
            <a:ext cx="10881360" cy="256032"/>
          </a:xfrm>
          <a:prstGeom prst="rect">
            <a:avLst/>
          </a:prstGeom>
          <a:noFill/>
          <a:ln/>
        </p:spPr>
        <p:txBody>
          <a:bodyPr wrap="square" lIns="0" tIns="0" rIns="0" bIns="0" rtlCol="0" anchor="ctr"/>
          <a:lstStyle/>
          <a:p>
            <a:pPr indent="0" marL="0">
              <a:buNone/>
            </a:pPr>
            <a:r>
              <a:rPr lang="en-US" sz="1200" dirty="0">
                <a:solidFill>
                  <a:srgbClr val="46596A"/>
                </a:solidFill>
                <a:latin typeface="IBM Plex Sans" pitchFamily="34" charset="0"/>
                <a:ea typeface="IBM Plex Sans" pitchFamily="34" charset="-122"/>
                <a:cs typeface="IBM Plex Sans" pitchFamily="34" charset="-120"/>
              </a:rPr>
              <a:t>Prose in. Individually identified, traceable requirements out.</a:t>
            </a:r>
            <a:endParaRPr lang="en-US" sz="1200" dirty="0"/>
          </a:p>
        </p:txBody>
      </p:sp>
      <p:pic>
        <p:nvPicPr>
          <p:cNvPr id="5" name="Image 0" descr="D:/Projects/Exploratory-Testing-Planner-Agent/Report/BUET_CSE_Capstone_Project_Template/figures/11-ingestion-document-to-queryable-requirements.png">    </p:cNvPr>
          <p:cNvPicPr>
            <a:picLocks noChangeAspect="1"/>
          </p:cNvPicPr>
          <p:nvPr/>
        </p:nvPicPr>
        <p:blipFill>
          <a:blip r:embed="rId1"/>
          <a:stretch>
            <a:fillRect/>
          </a:stretch>
        </p:blipFill>
        <p:spPr>
          <a:xfrm>
            <a:off x="813816" y="2121408"/>
            <a:ext cx="6537960" cy="3218688"/>
          </a:xfrm>
          <a:prstGeom prst="rect">
            <a:avLst/>
          </a:prstGeom>
        </p:spPr>
      </p:pic>
      <p:sp>
        <p:nvSpPr>
          <p:cNvPr id="6" name="Text 3"/>
          <p:cNvSpPr txBox="1"/>
          <p:nvPr/>
        </p:nvSpPr>
        <p:spPr>
          <a:xfrm>
            <a:off x="813816" y="5440680"/>
            <a:ext cx="6537960" cy="502920"/>
          </a:xfrm>
          <a:prstGeom prst="rect">
            <a:avLst/>
          </a:prstGeom>
          <a:noFill/>
          <a:ln/>
        </p:spPr>
        <p:txBody>
          <a:bodyPr wrap="square" lIns="0" tIns="0" rIns="0" bIns="0" rtlCol="0" anchor="ctr"/>
          <a:lstStyle/>
          <a:p>
            <a:pPr indent="0" marL="0">
              <a:lnSpc>
                <a:spcPts val="1600"/>
              </a:lnSpc>
              <a:buNone/>
            </a:pPr>
            <a:r>
              <a:rPr lang="en-US" sz="1200" dirty="0">
                <a:solidFill>
                  <a:srgbClr val="46596A"/>
                </a:solidFill>
                <a:latin typeface="IBM Plex Sans" pitchFamily="34" charset="0"/>
                <a:ea typeface="IBM Plex Sans" pitchFamily="34" charset="-122"/>
                <a:cs typeface="IBM Plex Sans" pitchFamily="34" charset="-120"/>
              </a:rPr>
              <a:t>Each requirement links back to the exact chunk of text it came from, which is what makes requirement coverage reportable.</a:t>
            </a:r>
            <a:endParaRPr lang="en-US" sz="1200" dirty="0"/>
          </a:p>
        </p:txBody>
      </p:sp>
      <p:sp>
        <p:nvSpPr>
          <p:cNvPr id="7" name="Shape 4"/>
          <p:cNvSpPr/>
          <p:nvPr/>
        </p:nvSpPr>
        <p:spPr>
          <a:xfrm>
            <a:off x="7772400" y="2121408"/>
            <a:ext cx="3611880" cy="3218688"/>
          </a:xfrm>
          <a:prstGeom prst="rect">
            <a:avLst/>
          </a:prstGeom>
          <a:solidFill>
            <a:srgbClr val="14303D"/>
          </a:solidFill>
          <a:ln w="12700">
            <a:solidFill>
              <a:srgbClr val="14303D"/>
            </a:solidFill>
            <a:prstDash val="solid"/>
          </a:ln>
        </p:spPr>
      </p:sp>
      <p:sp>
        <p:nvSpPr>
          <p:cNvPr id="8" name="Text 5"/>
          <p:cNvSpPr txBox="1"/>
          <p:nvPr/>
        </p:nvSpPr>
        <p:spPr>
          <a:xfrm>
            <a:off x="8028432" y="2340864"/>
            <a:ext cx="3108960" cy="237744"/>
          </a:xfrm>
          <a:prstGeom prst="rect">
            <a:avLst/>
          </a:prstGeom>
          <a:noFill/>
          <a:ln/>
        </p:spPr>
        <p:txBody>
          <a:bodyPr wrap="square" lIns="0" tIns="0" rIns="0" bIns="0" rtlCol="0" anchor="ctr"/>
          <a:lstStyle/>
          <a:p>
            <a:pPr indent="0" marL="0">
              <a:buNone/>
            </a:pPr>
            <a:r>
              <a:rPr lang="en-US" sz="1200" b="1" spc="120" kern="0" dirty="0">
                <a:solidFill>
                  <a:srgbClr val="7FB3C8"/>
                </a:solidFill>
                <a:latin typeface="IBM Plex Sans" pitchFamily="34" charset="0"/>
                <a:ea typeface="IBM Plex Sans" pitchFamily="34" charset="-122"/>
                <a:cs typeface="IBM Plex Sans" pitchFamily="34" charset="-120"/>
              </a:rPr>
              <a:t>Each requirement carries</a:t>
            </a:r>
            <a:endParaRPr lang="en-US" sz="1200" dirty="0"/>
          </a:p>
        </p:txBody>
      </p:sp>
      <p:sp>
        <p:nvSpPr>
          <p:cNvPr id="9" name="Text 6"/>
          <p:cNvSpPr txBox="1"/>
          <p:nvPr/>
        </p:nvSpPr>
        <p:spPr>
          <a:xfrm>
            <a:off x="8028432" y="2688336"/>
            <a:ext cx="3108960" cy="1417320"/>
          </a:xfrm>
          <a:prstGeom prst="rect">
            <a:avLst/>
          </a:prstGeom>
          <a:noFill/>
          <a:ln/>
        </p:spPr>
        <p:txBody>
          <a:bodyPr wrap="square" lIns="0" tIns="0" rIns="0" bIns="0" rtlCol="0" anchor="ctr"/>
          <a:lstStyle/>
          <a:p>
            <a:pPr indent="0" marL="0">
              <a:lnSpc>
                <a:spcPts val="2200"/>
              </a:lnSpc>
              <a:buNone/>
            </a:pPr>
            <a:r>
              <a:rPr lang="en-US" sz="1400" dirty="0">
                <a:solidFill>
                  <a:srgbClr val="FDFEFE"/>
                </a:solidFill>
                <a:latin typeface="IBM Plex Sans" pitchFamily="34" charset="0"/>
                <a:ea typeface="IBM Plex Sans" pitchFamily="34" charset="-122"/>
                <a:cs typeface="IBM Plex Sans" pitchFamily="34" charset="-120"/>
              </a:rPr>
              <a:t>id · type · priority</a:t>
            </a:r>
            <a:endParaRPr lang="en-US" sz="1400" dirty="0"/>
          </a:p>
          <a:p>
            <a:pPr indent="0" marL="0">
              <a:lnSpc>
                <a:spcPts val="2200"/>
              </a:lnSpc>
              <a:buNone/>
            </a:pPr>
            <a:r>
              <a:rPr lang="en-US" sz="1400" dirty="0">
                <a:solidFill>
                  <a:srgbClr val="FDFEFE"/>
                </a:solidFill>
                <a:latin typeface="IBM Plex Sans" pitchFamily="34" charset="0"/>
                <a:ea typeface="IBM Plex Sans" pitchFamily="34" charset="-122"/>
                <a:cs typeface="IBM Plex Sans" pitchFamily="34" charset="-120"/>
              </a:rPr>
              <a:t>actor · action</a:t>
            </a:r>
            <a:endParaRPr lang="en-US" sz="1400" dirty="0"/>
          </a:p>
          <a:p>
            <a:pPr indent="0" marL="0">
              <a:lnSpc>
                <a:spcPts val="2200"/>
              </a:lnSpc>
              <a:buNone/>
            </a:pPr>
            <a:r>
              <a:rPr lang="en-US" sz="1400" dirty="0">
                <a:solidFill>
                  <a:srgbClr val="FDFEFE"/>
                </a:solidFill>
                <a:latin typeface="IBM Plex Sans" pitchFamily="34" charset="0"/>
                <a:ea typeface="IBM Plex Sans" pitchFamily="34" charset="-122"/>
                <a:cs typeface="IBM Plex Sans" pitchFamily="34" charset="-120"/>
              </a:rPr>
              <a:t>constraints</a:t>
            </a:r>
            <a:endParaRPr lang="en-US" sz="1400" dirty="0"/>
          </a:p>
          <a:p>
            <a:pPr indent="0" marL="0">
              <a:lnSpc>
                <a:spcPts val="2200"/>
              </a:lnSpc>
              <a:buNone/>
            </a:pPr>
            <a:r>
              <a:rPr lang="en-US" sz="1400" dirty="0">
                <a:solidFill>
                  <a:srgbClr val="FDFEFE"/>
                </a:solidFill>
                <a:latin typeface="IBM Plex Sans" pitchFamily="34" charset="0"/>
                <a:ea typeface="IBM Plex Sans" pitchFamily="34" charset="-122"/>
                <a:cs typeface="IBM Plex Sans" pitchFamily="34" charset="-120"/>
              </a:rPr>
              <a:t>acceptance</a:t>
            </a:r>
            <a:endParaRPr lang="en-US" sz="1400" dirty="0"/>
          </a:p>
          <a:p>
            <a:pPr indent="0" marL="0">
              <a:lnSpc>
                <a:spcPts val="2200"/>
              </a:lnSpc>
              <a:buNone/>
            </a:pPr>
            <a:r>
              <a:rPr lang="en-US" sz="1400" dirty="0">
                <a:solidFill>
                  <a:srgbClr val="FDFEFE"/>
                </a:solidFill>
                <a:latin typeface="IBM Plex Sans" pitchFamily="34" charset="0"/>
                <a:ea typeface="IBM Plex Sans" pitchFamily="34" charset="-122"/>
                <a:cs typeface="IBM Plex Sans" pitchFamily="34" charset="-120"/>
              </a:rPr>
              <a:t>feature area</a:t>
            </a:r>
            <a:endParaRPr lang="en-US" sz="1400" dirty="0"/>
          </a:p>
        </p:txBody>
      </p:sp>
      <p:sp>
        <p:nvSpPr>
          <p:cNvPr id="10" name="Text 7"/>
          <p:cNvSpPr txBox="1"/>
          <p:nvPr/>
        </p:nvSpPr>
        <p:spPr>
          <a:xfrm>
            <a:off x="8028432" y="4224528"/>
            <a:ext cx="3108960" cy="640080"/>
          </a:xfrm>
          <a:prstGeom prst="rect">
            <a:avLst/>
          </a:prstGeom>
          <a:noFill/>
          <a:ln/>
        </p:spPr>
        <p:txBody>
          <a:bodyPr wrap="square" lIns="0" tIns="0" rIns="0" bIns="0" rtlCol="0" anchor="ctr"/>
          <a:lstStyle/>
          <a:p>
            <a:pPr indent="0" marL="0">
              <a:lnSpc>
                <a:spcPts val="1600"/>
              </a:lnSpc>
              <a:buNone/>
            </a:pPr>
            <a:r>
              <a:rPr lang="en-US" sz="1200" dirty="0">
                <a:solidFill>
                  <a:srgbClr val="C4D6DE"/>
                </a:solidFill>
                <a:latin typeface="IBM Plex Sans" pitchFamily="34" charset="0"/>
                <a:ea typeface="IBM Plex Sans" pitchFamily="34" charset="-122"/>
                <a:cs typeface="IBM Plex Sans" pitchFamily="34" charset="-120"/>
              </a:rPr>
              <a:t>plus validation rules and the domain entities they act on</a:t>
            </a:r>
            <a:endParaRPr lang="en-US" sz="1200" dirty="0"/>
          </a:p>
        </p:txBody>
      </p:sp>
      <p:sp>
        <p:nvSpPr>
          <p:cNvPr id="11" name="Text 8"/>
          <p:cNvSpPr txBox="1"/>
          <p:nvPr/>
        </p:nvSpPr>
        <p:spPr>
          <a:xfrm>
            <a:off x="8028432" y="4846320"/>
            <a:ext cx="3108960" cy="384048"/>
          </a:xfrm>
          <a:prstGeom prst="rect">
            <a:avLst/>
          </a:prstGeom>
          <a:noFill/>
          <a:ln/>
        </p:spPr>
        <p:txBody>
          <a:bodyPr wrap="square" lIns="0" tIns="0" rIns="0" bIns="0" rtlCol="0" anchor="ctr"/>
          <a:lstStyle/>
          <a:p>
            <a:pPr indent="0" marL="0">
              <a:lnSpc>
                <a:spcPts val="1500"/>
              </a:lnSpc>
              <a:buNone/>
            </a:pPr>
            <a:r>
              <a:rPr lang="en-US" sz="1150" i="1" dirty="0">
                <a:solidFill>
                  <a:srgbClr val="7FB3C8"/>
                </a:solidFill>
                <a:latin typeface="IBM Plex Sans" pitchFamily="34" charset="0"/>
                <a:ea typeface="IBM Plex Sans" pitchFamily="34" charset="-122"/>
                <a:cs typeface="IBM Plex Sans" pitchFamily="34" charset="-120"/>
              </a:rPr>
              <a:t>All three documents are optional. A target with none of them still runs.</a:t>
            </a:r>
            <a:endParaRPr lang="en-US" sz="1150" dirty="0"/>
          </a:p>
        </p:txBody>
      </p:sp>
      <p:sp>
        <p:nvSpPr>
          <p:cNvPr id="12" name="Text 9"/>
          <p:cNvSpPr txBox="1"/>
          <p:nvPr/>
        </p:nvSpPr>
        <p:spPr>
          <a:xfrm>
            <a:off x="813816" y="6236208"/>
            <a:ext cx="3456432" cy="237744"/>
          </a:xfrm>
          <a:prstGeom prst="rect">
            <a:avLst/>
          </a:prstGeom>
          <a:noFill/>
          <a:ln/>
        </p:spPr>
        <p:txBody>
          <a:bodyPr wrap="square" lIns="0" tIns="0" rIns="0" bIns="0" rtlCol="0" anchor="ctr"/>
          <a:lstStyle/>
          <a:p>
            <a:pPr indent="0" marL="0">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13" name="Text 10"/>
          <p:cNvSpPr txBox="1"/>
          <p:nvPr/>
        </p:nvSpPr>
        <p:spPr>
          <a:xfrm>
            <a:off x="11283696" y="6236208"/>
            <a:ext cx="146304" cy="237744"/>
          </a:xfrm>
          <a:prstGeom prst="rect">
            <a:avLst/>
          </a:prstGeom>
          <a:noFill/>
          <a:ln/>
        </p:spPr>
        <p:txBody>
          <a:bodyPr wrap="square" lIns="0" tIns="0" rIns="0" bIns="0" rtlCol="0" anchor="ctr"/>
          <a:lstStyle/>
          <a:p>
            <a:pPr indent="0" marL="0">
              <a:buNone/>
            </a:pPr>
            <a:r>
              <a:rPr lang="en-US" sz="1200" dirty="0">
                <a:solidFill>
                  <a:srgbClr val="55697A"/>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609600"/>
            <a:ext cx="10883392" cy="237133"/>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0B6A8F"/>
                </a:solidFill>
                <a:latin typeface="IBM Plex Sans" pitchFamily="34" charset="0"/>
                <a:ea typeface="IBM Plex Sans" pitchFamily="34" charset="-122"/>
                <a:cs typeface="IBM Plex Sans" pitchFamily="34" charset="-120"/>
              </a:rPr>
              <a:t>ARCHITECTURE · IN DETAIL</a:t>
            </a:r>
            <a:endParaRPr lang="en-US" sz="1196" dirty="0"/>
          </a:p>
        </p:txBody>
      </p:sp>
      <p:sp>
        <p:nvSpPr>
          <p:cNvPr id="3" name="Text 1"/>
          <p:cNvSpPr/>
          <p:nvPr/>
        </p:nvSpPr>
        <p:spPr>
          <a:xfrm>
            <a:off x="812800" y="897533"/>
            <a:ext cx="10883392" cy="441375"/>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Every component, and how they connect</a:t>
            </a:r>
            <a:endParaRPr lang="en-US" sz="3000" dirty="0"/>
          </a:p>
        </p:txBody>
      </p:sp>
      <p:sp>
        <p:nvSpPr>
          <p:cNvPr id="4" name="Shape 2"/>
          <p:cNvSpPr/>
          <p:nvPr/>
        </p:nvSpPr>
        <p:spPr>
          <a:xfrm>
            <a:off x="812800" y="1491307"/>
            <a:ext cx="10566400" cy="4604693"/>
          </a:xfrm>
          <a:prstGeom prst="roundRect">
            <a:avLst>
              <a:gd name="adj" fmla="val 2206"/>
            </a:avLst>
          </a:prstGeom>
          <a:solidFill>
            <a:srgbClr val="FDFEFE"/>
          </a:solidFill>
          <a:ln/>
        </p:spPr>
        <p:txBody>
          <a:bodyPr/>
          <a:lstStyle/>
          <a:p>
            <a:endParaRPr lang="en-US"/>
          </a:p>
        </p:txBody>
      </p:sp>
      <p:pic>
        <p:nvPicPr>
          <p:cNvPr id="5" name="Image 0" descr="Full system architecture: inputs (SRS, Figma, defect history) feed the RAG API and Neo4j knowledge graph; the gateway hosts the planner and investigator; the executor drives the device through the on-device portal; all agents call OpenRouter models"/>
          <p:cNvPicPr>
            <a:picLocks noChangeAspect="1"/>
          </p:cNvPicPr>
          <p:nvPr/>
        </p:nvPicPr>
        <p:blipFill>
          <a:blip r:embed="rId3"/>
          <a:stretch>
            <a:fillRect/>
          </a:stretch>
        </p:blipFill>
        <p:spPr>
          <a:xfrm>
            <a:off x="1753528" y="1497657"/>
            <a:ext cx="8684943" cy="4591993"/>
          </a:xfrm>
          <a:prstGeom prst="rect">
            <a:avLst/>
          </a:prstGeom>
        </p:spPr>
      </p:pic>
      <p:sp>
        <p:nvSpPr>
          <p:cNvPr id="6" name="Shape 3"/>
          <p:cNvSpPr/>
          <p:nvPr/>
        </p:nvSpPr>
        <p:spPr>
          <a:xfrm>
            <a:off x="815975" y="1494482"/>
            <a:ext cx="10560050" cy="4598343"/>
          </a:xfrm>
          <a:prstGeom prst="roundRect">
            <a:avLst>
              <a:gd name="adj" fmla="val 2140"/>
            </a:avLst>
          </a:prstGeom>
          <a:noFill/>
          <a:ln w="6350">
            <a:solidFill>
              <a:srgbClr val="D6E1E6"/>
            </a:solidFill>
            <a:prstDash val="solid"/>
          </a:ln>
        </p:spPr>
        <p:txBody>
          <a:bodyPr/>
          <a:lstStyle/>
          <a:p>
            <a:endParaRPr lang="en-US"/>
          </a:p>
        </p:txBody>
      </p:sp>
      <p:sp>
        <p:nvSpPr>
          <p:cNvPr id="7" name="Text 4"/>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8" name="Text 5"/>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HOW A TEST RUNS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One round: plan, run, interpret, remember</a:t>
            </a:r>
            <a:endParaRPr lang="en-US" sz="3000" dirty="0"/>
          </a:p>
        </p:txBody>
      </p:sp>
      <p:sp>
        <p:nvSpPr>
          <p:cNvPr id="4" name="Shape 2"/>
          <p:cNvSpPr/>
          <p:nvPr/>
        </p:nvSpPr>
        <p:spPr>
          <a:xfrm>
            <a:off x="815975" y="1908175"/>
            <a:ext cx="2292350" cy="2406650"/>
          </a:xfrm>
          <a:prstGeom prst="roundRect">
            <a:avLst>
              <a:gd name="adj" fmla="val 4294"/>
            </a:avLst>
          </a:prstGeom>
          <a:solidFill>
            <a:srgbClr val="FDFEFE"/>
          </a:solidFill>
          <a:ln w="6350">
            <a:solidFill>
              <a:srgbClr val="D6E1E6"/>
            </a:solidFill>
            <a:prstDash val="solid"/>
          </a:ln>
        </p:spPr>
        <p:txBody>
          <a:bodyPr/>
          <a:lstStyle/>
          <a:p>
            <a:endParaRPr lang="en-US"/>
          </a:p>
        </p:txBody>
      </p:sp>
      <p:sp>
        <p:nvSpPr>
          <p:cNvPr id="5" name="Shape 3"/>
          <p:cNvSpPr/>
          <p:nvPr/>
        </p:nvSpPr>
        <p:spPr>
          <a:xfrm>
            <a:off x="1022350" y="2114550"/>
            <a:ext cx="294680" cy="264120"/>
          </a:xfrm>
          <a:prstGeom prst="roundRect">
            <a:avLst>
              <a:gd name="adj" fmla="val 50000"/>
            </a:avLst>
          </a:prstGeom>
          <a:solidFill>
            <a:srgbClr val="0F7EA8"/>
          </a:solidFill>
          <a:ln/>
        </p:spPr>
        <p:txBody>
          <a:bodyPr/>
          <a:lstStyle/>
          <a:p>
            <a:endParaRPr lang="en-US"/>
          </a:p>
        </p:txBody>
      </p:sp>
      <p:sp>
        <p:nvSpPr>
          <p:cNvPr id="6" name="Text 4"/>
          <p:cNvSpPr/>
          <p:nvPr/>
        </p:nvSpPr>
        <p:spPr>
          <a:xfrm>
            <a:off x="1123950" y="213995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1</a:t>
            </a:r>
            <a:endParaRPr lang="en-US" sz="1200" dirty="0"/>
          </a:p>
        </p:txBody>
      </p:sp>
      <p:sp>
        <p:nvSpPr>
          <p:cNvPr id="7" name="Text 5"/>
          <p:cNvSpPr/>
          <p:nvPr/>
        </p:nvSpPr>
        <p:spPr>
          <a:xfrm>
            <a:off x="1022350" y="2442170"/>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Plan</a:t>
            </a:r>
            <a:endParaRPr lang="en-US" sz="1800" dirty="0"/>
          </a:p>
        </p:txBody>
      </p:sp>
      <p:sp>
        <p:nvSpPr>
          <p:cNvPr id="8" name="Text 6"/>
          <p:cNvSpPr/>
          <p:nvPr/>
        </p:nvSpPr>
        <p:spPr>
          <a:xfrm>
            <a:off x="1022350" y="27799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about 1 minute</a:t>
            </a:r>
            <a:endParaRPr lang="en-US" sz="1200" dirty="0"/>
          </a:p>
        </p:txBody>
      </p:sp>
      <p:sp>
        <p:nvSpPr>
          <p:cNvPr id="9" name="Text 7"/>
          <p:cNvSpPr/>
          <p:nvPr/>
        </p:nvSpPr>
        <p:spPr>
          <a:xfrm>
            <a:off x="1022350" y="3056781"/>
            <a:ext cx="193598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Reads what is known, then writes one test case.</a:t>
            </a:r>
            <a:endParaRPr lang="en-US" sz="1200" dirty="0"/>
          </a:p>
        </p:txBody>
      </p:sp>
      <p:sp>
        <p:nvSpPr>
          <p:cNvPr id="10" name="Shape 8"/>
          <p:cNvSpPr/>
          <p:nvPr/>
        </p:nvSpPr>
        <p:spPr>
          <a:xfrm>
            <a:off x="3571875" y="1908175"/>
            <a:ext cx="2292350" cy="2406650"/>
          </a:xfrm>
          <a:prstGeom prst="roundRect">
            <a:avLst>
              <a:gd name="adj" fmla="val 4294"/>
            </a:avLst>
          </a:prstGeom>
          <a:solidFill>
            <a:srgbClr val="FDFEFE"/>
          </a:solidFill>
          <a:ln w="6350">
            <a:solidFill>
              <a:srgbClr val="D6E1E6"/>
            </a:solidFill>
            <a:prstDash val="solid"/>
          </a:ln>
        </p:spPr>
        <p:txBody>
          <a:bodyPr/>
          <a:lstStyle/>
          <a:p>
            <a:endParaRPr lang="en-US"/>
          </a:p>
        </p:txBody>
      </p:sp>
      <p:sp>
        <p:nvSpPr>
          <p:cNvPr id="11" name="Shape 9"/>
          <p:cNvSpPr/>
          <p:nvPr/>
        </p:nvSpPr>
        <p:spPr>
          <a:xfrm>
            <a:off x="3778250" y="2114550"/>
            <a:ext cx="294680" cy="264120"/>
          </a:xfrm>
          <a:prstGeom prst="roundRect">
            <a:avLst>
              <a:gd name="adj" fmla="val 50000"/>
            </a:avLst>
          </a:prstGeom>
          <a:solidFill>
            <a:srgbClr val="0F7EA8"/>
          </a:solidFill>
          <a:ln/>
        </p:spPr>
        <p:txBody>
          <a:bodyPr/>
          <a:lstStyle/>
          <a:p>
            <a:endParaRPr lang="en-US"/>
          </a:p>
        </p:txBody>
      </p:sp>
      <p:sp>
        <p:nvSpPr>
          <p:cNvPr id="12" name="Text 10"/>
          <p:cNvSpPr/>
          <p:nvPr/>
        </p:nvSpPr>
        <p:spPr>
          <a:xfrm>
            <a:off x="3879850" y="213995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2</a:t>
            </a:r>
            <a:endParaRPr lang="en-US" sz="1200" dirty="0"/>
          </a:p>
        </p:txBody>
      </p:sp>
      <p:sp>
        <p:nvSpPr>
          <p:cNvPr id="13" name="Text 11"/>
          <p:cNvSpPr/>
          <p:nvPr/>
        </p:nvSpPr>
        <p:spPr>
          <a:xfrm>
            <a:off x="3778250" y="2442170"/>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Run</a:t>
            </a:r>
            <a:endParaRPr lang="en-US" sz="1800" dirty="0"/>
          </a:p>
        </p:txBody>
      </p:sp>
      <p:sp>
        <p:nvSpPr>
          <p:cNvPr id="14" name="Text 12"/>
          <p:cNvSpPr/>
          <p:nvPr/>
        </p:nvSpPr>
        <p:spPr>
          <a:xfrm>
            <a:off x="3778250" y="27799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5 to 15 minutes</a:t>
            </a:r>
            <a:endParaRPr lang="en-US" sz="1200" dirty="0"/>
          </a:p>
        </p:txBody>
      </p:sp>
      <p:sp>
        <p:nvSpPr>
          <p:cNvPr id="15" name="Text 13"/>
          <p:cNvSpPr/>
          <p:nvPr/>
        </p:nvSpPr>
        <p:spPr>
          <a:xfrm>
            <a:off x="3778250" y="3056781"/>
            <a:ext cx="193598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Drives the real app, about 20 s per step, at most 50 steps.</a:t>
            </a:r>
            <a:endParaRPr lang="en-US" sz="1200" dirty="0"/>
          </a:p>
        </p:txBody>
      </p:sp>
      <p:sp>
        <p:nvSpPr>
          <p:cNvPr id="16" name="Shape 14"/>
          <p:cNvSpPr/>
          <p:nvPr/>
        </p:nvSpPr>
        <p:spPr>
          <a:xfrm>
            <a:off x="6327775" y="1908175"/>
            <a:ext cx="2292350" cy="2406650"/>
          </a:xfrm>
          <a:prstGeom prst="roundRect">
            <a:avLst>
              <a:gd name="adj" fmla="val 4294"/>
            </a:avLst>
          </a:prstGeom>
          <a:solidFill>
            <a:srgbClr val="FDFEFE"/>
          </a:solidFill>
          <a:ln w="6350">
            <a:solidFill>
              <a:srgbClr val="D6E1E6"/>
            </a:solidFill>
            <a:prstDash val="solid"/>
          </a:ln>
        </p:spPr>
        <p:txBody>
          <a:bodyPr/>
          <a:lstStyle/>
          <a:p>
            <a:endParaRPr lang="en-US"/>
          </a:p>
        </p:txBody>
      </p:sp>
      <p:sp>
        <p:nvSpPr>
          <p:cNvPr id="17" name="Shape 15"/>
          <p:cNvSpPr/>
          <p:nvPr/>
        </p:nvSpPr>
        <p:spPr>
          <a:xfrm>
            <a:off x="6534150" y="2114550"/>
            <a:ext cx="294680" cy="264120"/>
          </a:xfrm>
          <a:prstGeom prst="roundRect">
            <a:avLst>
              <a:gd name="adj" fmla="val 50000"/>
            </a:avLst>
          </a:prstGeom>
          <a:solidFill>
            <a:srgbClr val="0F7EA8"/>
          </a:solidFill>
          <a:ln/>
        </p:spPr>
        <p:txBody>
          <a:bodyPr/>
          <a:lstStyle/>
          <a:p>
            <a:endParaRPr lang="en-US"/>
          </a:p>
        </p:txBody>
      </p:sp>
      <p:sp>
        <p:nvSpPr>
          <p:cNvPr id="18" name="Text 16"/>
          <p:cNvSpPr/>
          <p:nvPr/>
        </p:nvSpPr>
        <p:spPr>
          <a:xfrm>
            <a:off x="6635750" y="213995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3</a:t>
            </a:r>
            <a:endParaRPr lang="en-US" sz="1200" dirty="0"/>
          </a:p>
        </p:txBody>
      </p:sp>
      <p:sp>
        <p:nvSpPr>
          <p:cNvPr id="19" name="Text 17"/>
          <p:cNvSpPr/>
          <p:nvPr/>
        </p:nvSpPr>
        <p:spPr>
          <a:xfrm>
            <a:off x="6534150" y="2442170"/>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Interpret</a:t>
            </a:r>
            <a:endParaRPr lang="en-US" sz="1800" dirty="0"/>
          </a:p>
        </p:txBody>
      </p:sp>
      <p:sp>
        <p:nvSpPr>
          <p:cNvPr id="20" name="Text 18"/>
          <p:cNvSpPr/>
          <p:nvPr/>
        </p:nvSpPr>
        <p:spPr>
          <a:xfrm>
            <a:off x="6534150" y="27799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about 20 seconds</a:t>
            </a:r>
            <a:endParaRPr lang="en-US" sz="1200" dirty="0"/>
          </a:p>
        </p:txBody>
      </p:sp>
      <p:sp>
        <p:nvSpPr>
          <p:cNvPr id="21" name="Text 19"/>
          <p:cNvSpPr/>
          <p:nvPr/>
        </p:nvSpPr>
        <p:spPr>
          <a:xfrm>
            <a:off x="6534150" y="3056781"/>
            <a:ext cx="1935988"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Reads the step log against the goal and writes findings.</a:t>
            </a:r>
            <a:endParaRPr lang="en-US" sz="1200" dirty="0"/>
          </a:p>
        </p:txBody>
      </p:sp>
      <p:sp>
        <p:nvSpPr>
          <p:cNvPr id="22" name="Shape 20"/>
          <p:cNvSpPr/>
          <p:nvPr/>
        </p:nvSpPr>
        <p:spPr>
          <a:xfrm>
            <a:off x="9083675" y="1908175"/>
            <a:ext cx="2292350" cy="2406650"/>
          </a:xfrm>
          <a:prstGeom prst="roundRect">
            <a:avLst>
              <a:gd name="adj" fmla="val 4294"/>
            </a:avLst>
          </a:prstGeom>
          <a:solidFill>
            <a:srgbClr val="FDFEFE"/>
          </a:solidFill>
          <a:ln w="6350">
            <a:solidFill>
              <a:srgbClr val="D6E1E6"/>
            </a:solidFill>
            <a:prstDash val="solid"/>
          </a:ln>
        </p:spPr>
        <p:txBody>
          <a:bodyPr/>
          <a:lstStyle/>
          <a:p>
            <a:endParaRPr lang="en-US"/>
          </a:p>
        </p:txBody>
      </p:sp>
      <p:sp>
        <p:nvSpPr>
          <p:cNvPr id="23" name="Shape 21"/>
          <p:cNvSpPr/>
          <p:nvPr/>
        </p:nvSpPr>
        <p:spPr>
          <a:xfrm>
            <a:off x="9290050" y="2114550"/>
            <a:ext cx="294680" cy="264120"/>
          </a:xfrm>
          <a:prstGeom prst="roundRect">
            <a:avLst>
              <a:gd name="adj" fmla="val 50000"/>
            </a:avLst>
          </a:prstGeom>
          <a:solidFill>
            <a:srgbClr val="0F7EA8"/>
          </a:solidFill>
          <a:ln/>
        </p:spPr>
        <p:txBody>
          <a:bodyPr/>
          <a:lstStyle/>
          <a:p>
            <a:endParaRPr lang="en-US"/>
          </a:p>
        </p:txBody>
      </p:sp>
      <p:sp>
        <p:nvSpPr>
          <p:cNvPr id="24" name="Text 22"/>
          <p:cNvSpPr/>
          <p:nvPr/>
        </p:nvSpPr>
        <p:spPr>
          <a:xfrm>
            <a:off x="9391650" y="2139950"/>
            <a:ext cx="1422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6F8F7"/>
                </a:solidFill>
                <a:latin typeface="IBM Plex Sans" pitchFamily="34" charset="0"/>
                <a:ea typeface="IBM Plex Sans" pitchFamily="34" charset="-122"/>
                <a:cs typeface="IBM Plex Sans" pitchFamily="34" charset="-120"/>
              </a:rPr>
              <a:t>4</a:t>
            </a:r>
            <a:endParaRPr lang="en-US" sz="1200" dirty="0"/>
          </a:p>
        </p:txBody>
      </p:sp>
      <p:sp>
        <p:nvSpPr>
          <p:cNvPr id="25" name="Text 23"/>
          <p:cNvSpPr/>
          <p:nvPr/>
        </p:nvSpPr>
        <p:spPr>
          <a:xfrm>
            <a:off x="9290050" y="2442170"/>
            <a:ext cx="19359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303D"/>
                </a:solidFill>
                <a:latin typeface="IBM Plex Sans" pitchFamily="34" charset="0"/>
                <a:ea typeface="IBM Plex Sans" pitchFamily="34" charset="-122"/>
                <a:cs typeface="IBM Plex Sans" pitchFamily="34" charset="-120"/>
              </a:rPr>
              <a:t>Remember</a:t>
            </a:r>
            <a:endParaRPr lang="en-US" sz="1800" dirty="0"/>
          </a:p>
        </p:txBody>
      </p:sp>
      <p:sp>
        <p:nvSpPr>
          <p:cNvPr id="26" name="Text 24"/>
          <p:cNvSpPr/>
          <p:nvPr/>
        </p:nvSpPr>
        <p:spPr>
          <a:xfrm>
            <a:off x="9290050" y="2779961"/>
            <a:ext cx="19359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6A8F"/>
                </a:solidFill>
                <a:latin typeface="IBM Plex Sans" pitchFamily="34" charset="0"/>
                <a:ea typeface="IBM Plex Sans" pitchFamily="34" charset="-122"/>
                <a:cs typeface="IBM Plex Sans" pitchFamily="34" charset="-120"/>
              </a:rPr>
              <a:t>end of every round</a:t>
            </a:r>
            <a:endParaRPr lang="en-US" sz="1200" dirty="0"/>
          </a:p>
        </p:txBody>
      </p:sp>
      <p:sp>
        <p:nvSpPr>
          <p:cNvPr id="27" name="Text 25"/>
          <p:cNvSpPr/>
          <p:nvPr/>
        </p:nvSpPr>
        <p:spPr>
          <a:xfrm>
            <a:off x="9290050" y="3056781"/>
            <a:ext cx="193598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Findings, screens and coverage go into the graph.</a:t>
            </a:r>
            <a:endParaRPr lang="en-US" sz="1200" dirty="0"/>
          </a:p>
        </p:txBody>
      </p:sp>
      <p:pic>
        <p:nvPicPr>
          <p:cNvPr id="28" name="Image 0" descr="connector"/>
          <p:cNvPicPr>
            <a:picLocks noChangeAspect="1"/>
          </p:cNvPicPr>
          <p:nvPr/>
        </p:nvPicPr>
        <p:blipFill>
          <a:blip r:embed="rId3"/>
          <a:srcRect/>
          <a:stretch/>
        </p:blipFill>
        <p:spPr>
          <a:xfrm>
            <a:off x="3073400" y="3060700"/>
            <a:ext cx="533400" cy="101600"/>
          </a:xfrm>
          <a:prstGeom prst="rect">
            <a:avLst/>
          </a:prstGeom>
        </p:spPr>
      </p:pic>
      <p:pic>
        <p:nvPicPr>
          <p:cNvPr id="29" name="Image 1" descr="connector"/>
          <p:cNvPicPr>
            <a:picLocks noChangeAspect="1"/>
          </p:cNvPicPr>
          <p:nvPr/>
        </p:nvPicPr>
        <p:blipFill>
          <a:blip r:embed="rId3"/>
          <a:srcRect/>
          <a:stretch/>
        </p:blipFill>
        <p:spPr>
          <a:xfrm>
            <a:off x="5829300" y="3060700"/>
            <a:ext cx="533400" cy="101600"/>
          </a:xfrm>
          <a:prstGeom prst="rect">
            <a:avLst/>
          </a:prstGeom>
        </p:spPr>
      </p:pic>
      <p:pic>
        <p:nvPicPr>
          <p:cNvPr id="30" name="Image 2" descr="connector"/>
          <p:cNvPicPr>
            <a:picLocks noChangeAspect="1"/>
          </p:cNvPicPr>
          <p:nvPr/>
        </p:nvPicPr>
        <p:blipFill>
          <a:blip r:embed="rId3"/>
          <a:srcRect/>
          <a:stretch/>
        </p:blipFill>
        <p:spPr>
          <a:xfrm>
            <a:off x="8585200" y="3060700"/>
            <a:ext cx="533400" cy="101600"/>
          </a:xfrm>
          <a:prstGeom prst="rect">
            <a:avLst/>
          </a:prstGeom>
        </p:spPr>
      </p:pic>
      <p:pic>
        <p:nvPicPr>
          <p:cNvPr id="31" name="Image 3" descr="connector"/>
          <p:cNvPicPr>
            <a:picLocks noChangeAspect="1"/>
          </p:cNvPicPr>
          <p:nvPr/>
        </p:nvPicPr>
        <p:blipFill>
          <a:blip r:embed="rId4"/>
          <a:srcRect/>
          <a:stretch/>
        </p:blipFill>
        <p:spPr>
          <a:xfrm>
            <a:off x="1911350" y="4279900"/>
            <a:ext cx="8369300" cy="482600"/>
          </a:xfrm>
          <a:prstGeom prst="rect">
            <a:avLst/>
          </a:prstGeom>
        </p:spPr>
      </p:pic>
      <p:pic>
        <p:nvPicPr>
          <p:cNvPr id="32" name="Image 4" descr="connector"/>
          <p:cNvPicPr>
            <a:picLocks noChangeAspect="1"/>
          </p:cNvPicPr>
          <p:nvPr/>
        </p:nvPicPr>
        <p:blipFill>
          <a:blip r:embed="rId5"/>
          <a:srcRect/>
          <a:stretch/>
        </p:blipFill>
        <p:spPr>
          <a:xfrm>
            <a:off x="1911350" y="4292600"/>
            <a:ext cx="101600" cy="469900"/>
          </a:xfrm>
          <a:prstGeom prst="rect">
            <a:avLst/>
          </a:prstGeom>
        </p:spPr>
      </p:pic>
      <p:sp>
        <p:nvSpPr>
          <p:cNvPr id="33" name="Text 26"/>
          <p:cNvSpPr/>
          <p:nvPr/>
        </p:nvSpPr>
        <p:spPr>
          <a:xfrm>
            <a:off x="3806825" y="4787900"/>
            <a:ext cx="457835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0B6A8F"/>
                </a:solidFill>
                <a:latin typeface="IBM Plex Sans" pitchFamily="34" charset="0"/>
                <a:ea typeface="IBM Plex Sans" pitchFamily="34" charset="-122"/>
                <a:cs typeface="IBM Plex Sans" pitchFamily="34" charset="-120"/>
              </a:rPr>
              <a:t>the next round starts from the larger graph</a:t>
            </a:r>
            <a:endParaRPr lang="en-US" sz="1200" dirty="0"/>
          </a:p>
        </p:txBody>
      </p:sp>
      <p:sp>
        <p:nvSpPr>
          <p:cNvPr id="34" name="Text 27"/>
          <p:cNvSpPr/>
          <p:nvPr/>
        </p:nvSpPr>
        <p:spPr>
          <a:xfrm>
            <a:off x="812800" y="5308600"/>
            <a:ext cx="10883392" cy="25653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4303D"/>
                </a:solidFill>
                <a:latin typeface="IBM Plex Sans" pitchFamily="34" charset="0"/>
                <a:ea typeface="IBM Plex Sans" pitchFamily="34" charset="-122"/>
                <a:cs typeface="IBM Plex Sans" pitchFamily="34" charset="-120"/>
              </a:rPr>
              <a:t>Every model call is stateless. The agent improves only because the graph grew.</a:t>
            </a:r>
            <a:endParaRPr lang="en-US" sz="1400" dirty="0"/>
          </a:p>
        </p:txBody>
      </p:sp>
      <p:sp>
        <p:nvSpPr>
          <p:cNvPr id="35" name="Text 28"/>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36" name="Text 29"/>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11283950" y="6346230"/>
            <a:ext cx="1460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9</a:t>
            </a:r>
            <a:endParaRPr lang="en-US" sz="1200" dirty="0"/>
          </a:p>
        </p:txBody>
      </p:sp>
      <p:sp>
        <p:nvSpPr>
          <p:cNvPr id="3" name="Text 1"/>
          <p:cNvSpPr/>
          <p:nvPr/>
        </p:nvSpPr>
        <p:spPr>
          <a:xfrm>
            <a:off x="812800" y="431006"/>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The fourteen messages of one round</a:t>
            </a:r>
            <a:endParaRPr lang="en-US" sz="3000" dirty="0"/>
          </a:p>
        </p:txBody>
      </p:sp>
      <p:sp>
        <p:nvSpPr>
          <p:cNvPr id="4" name="Text 2"/>
          <p:cNvSpPr/>
          <p:nvPr/>
        </p:nvSpPr>
        <p:spPr>
          <a:xfrm>
            <a:off x="812800" y="2616299"/>
            <a:ext cx="368884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1–5 · Planner</a:t>
            </a:r>
            <a:endParaRPr lang="en-US" sz="1400" dirty="0"/>
          </a:p>
        </p:txBody>
      </p:sp>
      <p:sp>
        <p:nvSpPr>
          <p:cNvPr id="5" name="Text 3"/>
          <p:cNvSpPr/>
          <p:nvPr/>
        </p:nvSpPr>
        <p:spPr>
          <a:xfrm>
            <a:off x="812800" y="2890589"/>
            <a:ext cx="36888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proposes and stores the test</a:t>
            </a:r>
            <a:endParaRPr lang="en-US" sz="1200" dirty="0"/>
          </a:p>
        </p:txBody>
      </p:sp>
      <p:sp>
        <p:nvSpPr>
          <p:cNvPr id="6" name="Text 4"/>
          <p:cNvSpPr/>
          <p:nvPr/>
        </p:nvSpPr>
        <p:spPr>
          <a:xfrm>
            <a:off x="812800" y="3281710"/>
            <a:ext cx="368884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6–9 · Executor</a:t>
            </a:r>
            <a:endParaRPr lang="en-US" sz="1400" dirty="0"/>
          </a:p>
        </p:txBody>
      </p:sp>
      <p:sp>
        <p:nvSpPr>
          <p:cNvPr id="7" name="Text 5"/>
          <p:cNvSpPr/>
          <p:nvPr/>
        </p:nvSpPr>
        <p:spPr>
          <a:xfrm>
            <a:off x="812800" y="3556000"/>
            <a:ext cx="36888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runs it, posting every screen</a:t>
            </a:r>
            <a:endParaRPr lang="en-US" sz="1200" dirty="0"/>
          </a:p>
        </p:txBody>
      </p:sp>
      <p:sp>
        <p:nvSpPr>
          <p:cNvPr id="8" name="Text 6"/>
          <p:cNvSpPr/>
          <p:nvPr/>
        </p:nvSpPr>
        <p:spPr>
          <a:xfrm>
            <a:off x="812800" y="3947120"/>
            <a:ext cx="368884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6A8F"/>
                </a:solidFill>
                <a:latin typeface="IBM Plex Sans" pitchFamily="34" charset="0"/>
                <a:ea typeface="IBM Plex Sans" pitchFamily="34" charset="-122"/>
                <a:cs typeface="IBM Plex Sans" pitchFamily="34" charset="-120"/>
              </a:rPr>
              <a:t>10–14 · Investigator</a:t>
            </a:r>
            <a:endParaRPr lang="en-US" sz="1400" dirty="0"/>
          </a:p>
        </p:txBody>
      </p:sp>
      <p:sp>
        <p:nvSpPr>
          <p:cNvPr id="9" name="Text 7"/>
          <p:cNvSpPr/>
          <p:nvPr/>
        </p:nvSpPr>
        <p:spPr>
          <a:xfrm>
            <a:off x="812800" y="4221411"/>
            <a:ext cx="36888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6596A"/>
                </a:solidFill>
                <a:latin typeface="IBM Plex Sans" pitchFamily="34" charset="0"/>
                <a:ea typeface="IBM Plex Sans" pitchFamily="34" charset="-122"/>
                <a:cs typeface="IBM Plex Sans" pitchFamily="34" charset="-120"/>
              </a:rPr>
              <a:t>judges it, writes findings</a:t>
            </a:r>
            <a:endParaRPr lang="en-US" sz="1200" dirty="0"/>
          </a:p>
        </p:txBody>
      </p:sp>
      <p:sp>
        <p:nvSpPr>
          <p:cNvPr id="10" name="Text 8"/>
          <p:cNvSpPr/>
          <p:nvPr/>
        </p:nvSpPr>
        <p:spPr>
          <a:xfrm>
            <a:off x="812800" y="4612531"/>
            <a:ext cx="36888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Only the graph carries over.</a:t>
            </a:r>
            <a:endParaRPr lang="en-US" sz="1200" dirty="0"/>
          </a:p>
        </p:txBody>
      </p:sp>
      <p:sp>
        <p:nvSpPr>
          <p:cNvPr id="11" name="Shape 9"/>
          <p:cNvSpPr/>
          <p:nvPr/>
        </p:nvSpPr>
        <p:spPr>
          <a:xfrm>
            <a:off x="3531394" y="945852"/>
            <a:ext cx="7847806" cy="5292427"/>
          </a:xfrm>
          <a:prstGeom prst="roundRect">
            <a:avLst>
              <a:gd name="adj" fmla="val 1920"/>
            </a:avLst>
          </a:prstGeom>
          <a:solidFill>
            <a:srgbClr val="FDFEFE"/>
          </a:solidFill>
          <a:ln/>
        </p:spPr>
        <p:txBody>
          <a:bodyPr/>
          <a:lstStyle/>
          <a:p>
            <a:endParaRPr lang="en-US"/>
          </a:p>
        </p:txBody>
      </p:sp>
      <p:pic>
        <p:nvPicPr>
          <p:cNvPr id="12" name="Image 0" descr="Sequence diagram of one test round between the planner, knowledge graph, executor, device and investigator, numbered 1 to 14"/>
          <p:cNvPicPr>
            <a:picLocks noChangeAspect="1"/>
          </p:cNvPicPr>
          <p:nvPr/>
        </p:nvPicPr>
        <p:blipFill>
          <a:blip r:embed="rId3"/>
          <a:stretch>
            <a:fillRect/>
          </a:stretch>
        </p:blipFill>
        <p:spPr>
          <a:xfrm>
            <a:off x="4229545" y="952202"/>
            <a:ext cx="6451504" cy="5279727"/>
          </a:xfrm>
          <a:prstGeom prst="rect">
            <a:avLst/>
          </a:prstGeom>
        </p:spPr>
      </p:pic>
      <p:sp>
        <p:nvSpPr>
          <p:cNvPr id="13" name="Shape 10"/>
          <p:cNvSpPr/>
          <p:nvPr/>
        </p:nvSpPr>
        <p:spPr>
          <a:xfrm>
            <a:off x="3534569" y="949027"/>
            <a:ext cx="7841456" cy="5286077"/>
          </a:xfrm>
          <a:prstGeom prst="roundRect">
            <a:avLst>
              <a:gd name="adj" fmla="val 1862"/>
            </a:avLst>
          </a:prstGeom>
          <a:noFill/>
          <a:ln w="6350">
            <a:solidFill>
              <a:srgbClr val="D6E1E6"/>
            </a:solidFill>
            <a:prstDash val="solid"/>
          </a:ln>
        </p:spPr>
        <p:txBody>
          <a:bodyPr/>
          <a:lstStyle/>
          <a:p>
            <a:endParaRPr lang="en-US"/>
          </a:p>
        </p:txBody>
      </p:sp>
      <p:sp>
        <p:nvSpPr>
          <p:cNvPr id="14" name="Text 11"/>
          <p:cNvSpPr/>
          <p:nvPr/>
        </p:nvSpPr>
        <p:spPr>
          <a:xfrm>
            <a:off x="812800" y="217736"/>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HOW A TEST RUNS · IN DETAIL</a:t>
            </a:r>
            <a:endParaRPr lang="en-US" sz="1200" dirty="0"/>
          </a:p>
        </p:txBody>
      </p:sp>
      <p:sp>
        <p:nvSpPr>
          <p:cNvPr id="15" name="Text 12"/>
          <p:cNvSpPr/>
          <p:nvPr/>
        </p:nvSpPr>
        <p:spPr>
          <a:xfrm>
            <a:off x="812800" y="6346230"/>
            <a:ext cx="34599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EDF2F4"/>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231279"/>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0B6A8F"/>
                </a:solidFill>
                <a:latin typeface="IBM Plex Sans" pitchFamily="34" charset="0"/>
                <a:ea typeface="IBM Plex Sans" pitchFamily="34" charset="-122"/>
                <a:cs typeface="IBM Plex Sans" pitchFamily="34" charset="-120"/>
              </a:rPr>
              <a:t>ARCHITECTURE · THE SHARED MEMORY</a:t>
            </a:r>
            <a:endParaRPr lang="en-US" sz="1159" dirty="0"/>
          </a:p>
        </p:txBody>
      </p:sp>
      <p:sp>
        <p:nvSpPr>
          <p:cNvPr id="3" name="Text 1"/>
          <p:cNvSpPr/>
          <p:nvPr/>
        </p:nvSpPr>
        <p:spPr>
          <a:xfrm>
            <a:off x="812800" y="790079"/>
            <a:ext cx="10883392" cy="429816"/>
          </a:xfrm>
          <a:prstGeom prst="rect">
            <a:avLst/>
          </a:prstGeom>
          <a:noFill/>
          <a:ln/>
        </p:spPr>
        <p:txBody>
          <a:bodyPr wrap="square" lIns="0" tIns="0" rIns="0" bIns="0" rtlCol="0" anchor="t">
            <a:normAutofit/>
          </a:bodyPr>
          <a:lstStyle/>
          <a:p>
            <a:pPr marL="0" indent="0" algn="l">
              <a:lnSpc>
                <a:spcPts val="3218"/>
              </a:lnSpc>
              <a:buNone/>
            </a:pPr>
            <a:r>
              <a:rPr lang="en-US" sz="2925" b="1" dirty="0">
                <a:solidFill>
                  <a:srgbClr val="14303D"/>
                </a:solidFill>
                <a:latin typeface="Source Serif 4" pitchFamily="34" charset="0"/>
                <a:ea typeface="Source Serif 4" pitchFamily="34" charset="-122"/>
                <a:cs typeface="Source Serif 4" pitchFamily="34" charset="-120"/>
              </a:rPr>
              <a:t>What the knowledge graph stores</a:t>
            </a:r>
            <a:endParaRPr lang="en-US" sz="2925" dirty="0"/>
          </a:p>
        </p:txBody>
      </p:sp>
      <p:sp>
        <p:nvSpPr>
          <p:cNvPr id="4" name="Shape 2"/>
          <p:cNvSpPr/>
          <p:nvPr/>
        </p:nvSpPr>
        <p:spPr>
          <a:xfrm>
            <a:off x="812800" y="1346895"/>
            <a:ext cx="10566400" cy="4183410"/>
          </a:xfrm>
          <a:prstGeom prst="roundRect">
            <a:avLst>
              <a:gd name="adj" fmla="val 2429"/>
            </a:avLst>
          </a:prstGeom>
          <a:solidFill>
            <a:srgbClr val="FDFEFE"/>
          </a:solidFill>
          <a:ln/>
        </p:spPr>
        <p:txBody>
          <a:bodyPr/>
          <a:lstStyle/>
          <a:p>
            <a:endParaRPr lang="en-US"/>
          </a:p>
        </p:txBody>
      </p:sp>
      <p:pic>
        <p:nvPicPr>
          <p:cNvPr id="5" name="Image 0" descr="Neo4j schema. Specification side: SRS has chunks; each Requirement is derived from a chunk, has validation rules and involves entities. Tests: a TestCase covers requirements and a feature area and has runs; an ExecutionLog points to its test case and stores the ordered path of screens. App model: UIState transitions to UIState, and navigation-tree nodes lead to screens. A Finding is found by an execution log, is about a screen, concerns a requirement, and can be generalised by another finding."/>
          <p:cNvPicPr>
            <a:picLocks noChangeAspect="1"/>
          </p:cNvPicPr>
          <p:nvPr/>
        </p:nvPicPr>
        <p:blipFill>
          <a:blip r:embed="rId3"/>
          <a:stretch>
            <a:fillRect/>
          </a:stretch>
        </p:blipFill>
        <p:spPr>
          <a:xfrm>
            <a:off x="1330082" y="1353245"/>
            <a:ext cx="9531836" cy="4170710"/>
          </a:xfrm>
          <a:prstGeom prst="rect">
            <a:avLst/>
          </a:prstGeom>
        </p:spPr>
      </p:pic>
      <p:sp>
        <p:nvSpPr>
          <p:cNvPr id="6" name="Shape 3"/>
          <p:cNvSpPr/>
          <p:nvPr/>
        </p:nvSpPr>
        <p:spPr>
          <a:xfrm>
            <a:off x="815975" y="1350070"/>
            <a:ext cx="10560050" cy="4177060"/>
          </a:xfrm>
          <a:prstGeom prst="roundRect">
            <a:avLst>
              <a:gd name="adj" fmla="val 2356"/>
            </a:avLst>
          </a:prstGeom>
          <a:noFill/>
          <a:ln w="6350">
            <a:solidFill>
              <a:srgbClr val="D6E1E6"/>
            </a:solidFill>
            <a:prstDash val="solid"/>
          </a:ln>
        </p:spPr>
        <p:txBody>
          <a:bodyPr/>
          <a:lstStyle/>
          <a:p>
            <a:endParaRPr lang="en-US"/>
          </a:p>
        </p:txBody>
      </p:sp>
      <p:sp>
        <p:nvSpPr>
          <p:cNvPr id="7" name="Text 4"/>
          <p:cNvSpPr/>
          <p:nvPr/>
        </p:nvSpPr>
        <p:spPr>
          <a:xfrm>
            <a:off x="812800" y="5682704"/>
            <a:ext cx="10883392" cy="438696"/>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46596A"/>
                </a:solidFill>
                <a:latin typeface="IBM Plex Sans" pitchFamily="34" charset="0"/>
                <a:ea typeface="IBM Plex Sans" pitchFamily="34" charset="-122"/>
                <a:cs typeface="IBM Plex Sans" pitchFamily="34" charset="-120"/>
              </a:rPr>
              <a:t>Orange: from the specification · Purple: tests and runs · Blue: the app model · Red: findings · Dashed: stored as a property, not a relationship. Every node belongs to one project.</a:t>
            </a:r>
            <a:endParaRPr lang="en-US" sz="1166" dirty="0"/>
          </a:p>
        </p:txBody>
      </p:sp>
      <p:sp>
        <p:nvSpPr>
          <p:cNvPr id="8" name="Text 5"/>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9" name="Text 6"/>
          <p:cNvSpPr/>
          <p:nvPr/>
        </p:nvSpPr>
        <p:spPr>
          <a:xfrm>
            <a:off x="11287720" y="6238280"/>
            <a:ext cx="142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6A8F"/>
                </a:solidFill>
                <a:latin typeface="IBM Plex Sans" pitchFamily="34" charset="0"/>
                <a:ea typeface="IBM Plex Sans" pitchFamily="34" charset="-122"/>
                <a:cs typeface="IBM Plex Sans" pitchFamily="34" charset="-120"/>
              </a:rPr>
              <a:t>MODELS</a:t>
            </a:r>
            <a:endParaRPr lang="en-US" sz="1200" dirty="0"/>
          </a:p>
        </p:txBody>
      </p:sp>
      <p:sp>
        <p:nvSpPr>
          <p:cNvPr id="3" name="Text 1"/>
          <p:cNvSpPr/>
          <p:nvPr/>
        </p:nvSpPr>
        <p:spPr>
          <a:xfrm>
            <a:off x="812800" y="11023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14303D"/>
                </a:solidFill>
                <a:latin typeface="Source Serif 4" pitchFamily="34" charset="0"/>
                <a:ea typeface="Source Serif 4" pitchFamily="34" charset="-122"/>
                <a:cs typeface="Source Serif 4" pitchFamily="34" charset="-120"/>
              </a:rPr>
              <a:t>Which model does what, and why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849364"/>
        </p:xfrm>
        <a:graphic>
          <a:graphicData uri="http://schemas.openxmlformats.org/drawingml/2006/table">
            <a:tbl>
              <a:tblPr/>
              <a:tblGrid>
                <a:gridCol w="2321814">
                  <a:extLst>
                    <a:ext uri="{9D8B030D-6E8A-4147-A177-3AD203B41FA5}">
                      <a16:colId xmlns:a16="http://schemas.microsoft.com/office/drawing/2014/main" val="20000"/>
                    </a:ext>
                  </a:extLst>
                </a:gridCol>
                <a:gridCol w="2955036">
                  <a:extLst>
                    <a:ext uri="{9D8B030D-6E8A-4147-A177-3AD203B41FA5}">
                      <a16:colId xmlns:a16="http://schemas.microsoft.com/office/drawing/2014/main" val="20001"/>
                    </a:ext>
                  </a:extLst>
                </a:gridCol>
                <a:gridCol w="5276850">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Role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tc>
                  <a:txBody>
                    <a:bodyPr/>
                    <a:lstStyle/>
                    <a:p>
                      <a:pPr marL="0" indent="0">
                        <a:lnSpc>
                          <a:spcPts val="1680"/>
                        </a:lnSpc>
                        <a:buNone/>
                      </a:pPr>
                      <a:r>
                        <a:rPr lang="en-US" sz="1200" b="1" dirty="0">
                          <a:solidFill>
                            <a:srgbClr val="14303D"/>
                          </a:solidFill>
                          <a:latin typeface="IBM Plex Sans" pitchFamily="34" charset="0"/>
                          <a:ea typeface="IBM Plex Sans" pitchFamily="34" charset="-122"/>
                          <a:cs typeface="IBM Plex Sans" pitchFamily="34" charset="-120"/>
                        </a:rPr>
                        <a:t>Why this choice</a:t>
                      </a:r>
                      <a:endParaRPr lang="en-US" sz="1200" dirty="0">
                        <a:latin typeface="IBM Plex Sans" charset="0"/>
                        <a:ea typeface="IBM Plex Sans" charset="0"/>
                        <a:cs typeface="IBM Plex Sans" charset="0"/>
                      </a:endParaRPr>
                    </a:p>
                  </a:txBody>
                  <a:tcPr marL="53340" marR="53340" marT="53340" marB="53340">
                    <a:lnL w="12700" cap="flat" cmpd="sng" algn="ctr">
                      <a:solidFill>
                        <a:srgbClr val="BDC1C3"/>
                      </a:solidFill>
                      <a:prstDash val="solid"/>
                      <a:round/>
                      <a:headEnd type="none" w="med" len="med"/>
                      <a:tailEnd type="none" w="med" len="med"/>
                    </a:lnL>
                    <a:lnR w="12700" cap="flat" cmpd="sng" algn="ctr">
                      <a:solidFill>
                        <a:srgbClr val="BDC1C3"/>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BDC1C3"/>
                      </a:solidFill>
                      <a:prstDash val="solid"/>
                      <a:round/>
                      <a:headEnd type="none" w="med" len="med"/>
                      <a:tailEnd type="none" w="med" len="med"/>
                    </a:lnB>
                    <a:solidFill>
                      <a:srgbClr val="EDF2F4"/>
                    </a:solidFill>
                  </a:tcPr>
                </a:tc>
                <a:extLst>
                  <a:ext uri="{0D108BD9-81ED-4DB2-BD59-A6C34878D82A}">
                    <a16:rowId xmlns:a16="http://schemas.microsoft.com/office/drawing/2014/main" val="10000"/>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Planner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qwen/qwen3.7-flash</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Long context and dependable structured output matter more than deep reasoning. About 8% of a test's cost.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BDC1C3"/>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1"/>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Executor (Android)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qwen/qwen3.7-flash, with vision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Reads the accessibility tree and a screenshot on every step, so it is about 92% of a test's cost.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2"/>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Investigator and rate-limit fallback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z-ai/glm-5.3-flash</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A different model family, so no model grades its own execution. Low reasoning effort cut an evaluation from 113.8 s to 22.7 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3"/>
                  </a:ext>
                </a:extLst>
              </a:tr>
              <a:tr h="546001">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Specification extraction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qwen/qwen3-235b-a22b</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Run once per document, and every later decision rests on it, so accuracy is worth paying for here.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Embeddings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BAAI/bge-small-en-v1.5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tc>
                  <a:txBody>
                    <a:bodyPr/>
                    <a:lstStyle/>
                    <a:p>
                      <a:pPr marL="0" indent="0">
                        <a:lnSpc>
                          <a:spcPts val="1680"/>
                        </a:lnSpc>
                        <a:buNone/>
                      </a:pPr>
                      <a:r>
                        <a:rPr lang="en-US" sz="1200" dirty="0">
                          <a:solidFill>
                            <a:srgbClr val="14303D"/>
                          </a:solidFill>
                          <a:latin typeface="IBM Plex Sans" pitchFamily="34" charset="0"/>
                          <a:ea typeface="IBM Plex Sans" pitchFamily="34" charset="-122"/>
                          <a:cs typeface="IBM Plex Sans" pitchFamily="34" charset="-120"/>
                        </a:rPr>
                        <a:t>Runs locally through fastembed, with no per-call charge.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6C5"/>
                      </a:solidFill>
                      <a:prstDash val="solid"/>
                      <a:round/>
                      <a:headEnd type="none" w="med" len="med"/>
                      <a:tailEnd type="none" w="med" len="med"/>
                    </a:lnL>
                    <a:lnR w="12700" cap="flat" cmpd="sng" algn="ctr">
                      <a:solidFill>
                        <a:srgbClr val="C4C6C5"/>
                      </a:solidFill>
                      <a:prstDash val="solid"/>
                      <a:round/>
                      <a:headEnd type="none" w="med" len="med"/>
                      <a:tailEnd type="none" w="med" len="med"/>
                    </a:lnR>
                    <a:lnT w="12700" cap="flat" cmpd="sng" algn="ctr">
                      <a:solidFill>
                        <a:srgbClr val="C4C6C5"/>
                      </a:solidFill>
                      <a:prstDash val="solid"/>
                      <a:round/>
                      <a:headEnd type="none" w="med" len="med"/>
                      <a:tailEnd type="none" w="med" len="med"/>
                    </a:lnT>
                    <a:lnB w="12700" cap="flat" cmpd="sng" algn="ctr">
                      <a:solidFill>
                        <a:srgbClr val="C4C6C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739084"/>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All routed through OpenRouter. Every campaign in this deck ran on the planner, executor and investigator above; the planner is next moving to deepseek-v4-flash.</a:t>
            </a:r>
            <a:endParaRPr lang="en-US" sz="1200" dirty="0"/>
          </a:p>
        </p:txBody>
      </p:sp>
      <p:sp>
        <p:nvSpPr>
          <p:cNvPr id="6" name="Text 3"/>
          <p:cNvSpPr/>
          <p:nvPr/>
        </p:nvSpPr>
        <p:spPr>
          <a:xfrm>
            <a:off x="812800" y="6238280"/>
            <a:ext cx="34599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Exploratory Testing Automation · CSE 450 · BUET</a:t>
            </a:r>
            <a:endParaRPr lang="en-US" sz="1200" dirty="0"/>
          </a:p>
        </p:txBody>
      </p:sp>
      <p:sp>
        <p:nvSpPr>
          <p:cNvPr id="7" name="Text 4"/>
          <p:cNvSpPr/>
          <p:nvPr/>
        </p:nvSpPr>
        <p:spPr>
          <a:xfrm>
            <a:off x="11196290" y="6238280"/>
            <a:ext cx="2337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9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9561</Words>
  <Application>Microsoft Office PowerPoint</Application>
  <PresentationFormat>Widescreen</PresentationFormat>
  <Paragraphs>691</Paragraphs>
  <Slides>37</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IBM Plex Mono</vt:lpstr>
      <vt:lpstr>IBM Plex Sans</vt:lpstr>
      <vt:lpstr>Source Serif 4</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Testing Automation</dc:title>
  <dc:subject>PptxGenJS Presentation</dc:subject>
  <dc:creator>PptxGenJS</dc:creator>
  <cp:lastModifiedBy>Jonayed Mohiuddin</cp:lastModifiedBy>
  <cp:revision>2</cp:revision>
  <dcterms:created xsi:type="dcterms:W3CDTF">2026-09-29T19:53:35Z</dcterms:created>
  <dcterms:modified xsi:type="dcterms:W3CDTF">2026-09-29T20:28:13Z</dcterms:modified>
</cp:coreProperties>
</file>