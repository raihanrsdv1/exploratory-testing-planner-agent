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2"/>
    <p:sldId id="267" r:id="rId13"/>
    <p:sldId id="268" r:id="rId14"/>
    <p:sldId id="269" r:id="rId15"/>
    <p:sldId id="270" r:id="rId16"/>
    <p:sldId id="271" r:id="rId17"/>
    <p:sldId id="272" r:id="rId18"/>
    <p:sldId id="273" r:id="rId19"/>
    <p:sldId id="274" r:id="rId20"/>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Before it writes anything, the planner can draw on six kinds of knowledge. The specification, as individual requirements it can search by meaning or keyword. A live map of every screen the agent has actually seen, 79 screens on the contacts app. Learned navigation paths. Findings from earlier runs. Coverage, meaning what is still untested. And defect history when a project has it. All of it is capped, so the prompt does not grow with the campaign. The clearest example: the block describing earlier runs used to be 35,000 characters, 69 percent of one prompt. Storing findings as structured knowledge brought it down to about 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planner is a LangGraph state machine. It first loads what is already known, with no model call. Then the key step: planner_step asks the model what it still needs. It either picks tools to fetch more, from the specification, the screens it has seen, navigation paths or past defects, and execute_retrieval runs them, or it decides it has enough. That loop is what lets it reason about its own knowledge gaps instead of taking a fixed bundle of context. Then it writes the test, and a duplicate check compares it with every earlier test by title and by meaning, and forces a rewrite if it is too similar. The loop stops when the model says it is ready, after two rounds, which is what our runner asks for, when the context passes 9,000 characters, or when a retrieval brings nothing new. This pipeline planned the contacts campaign. The commerce campaign used the tools mode,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planning pipeline in full, left to right. Read it by colour. Blue is where the planner uses its tools: in planner_step the model looks at what it has and names up to three lookups, each a source and a query. It can search the specification, pull up a screen it has already seen, ask how to reach a screen, or check past failures there. execute_retrieval runs those lookups, with no model call, and the results go back into the context for the next planner_step. Green steps are plain graph reads and writes; red steps are model calls; amber steps are decisions. Only two model calls are guaranteed per test, the small planner_step and the large generate_testcase; the retry fires only when the duplicate check rejects a draft. The test is logged to the graph as planned before the executor ever sees it. The next slide is the planner's other mode, where the model calls its tools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the planner's second mode, and it is the one that planned the 45-test commerce campaign. In the pipeline, the model writes down which lookups it wants and code runs them as a batch. Here the loop of planner_step and execute_retrieval is replaced by real function calls. The model starts from a short brief: the coverage map, the last few runs and the open questions. Then it investigates: it calls a tool, reads the answer, and decides what to ask next, so each question can depend on the last result. Finally it proposes one test case, and that proposal goes through a validation gate: a screen it has never seen, a requirement id that does not exist, a repeat, a precondition the tester cannot create, or something out of scope is rejected with a reason it can act on, up to three times. Across all its runs on the commerce app it made 989 tool calls for 101 proposals and used all nine tools. The next slides show the tools, a real round, and what it emits. The contacts campaign ran on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These are the nine tools the planner can call in tools mode. All of them only read; none can change the graph. Two answer what the specification says should exist. Three answer what the app actually has: a screen's real controls, the list of screens seen, and a known route to a screen. Three answer what earlier runs already established: a summary count, the findings themselves, and the questions still open. And one reports coverage: where tests have gone, what keeps failing, and what is exhausted. The right-hand column is the safety rule: a tool is only offered when its source has data. On a brand-new app with no screens yet, get_screen simply does not exist for the model, so it cannot be misled by an empty answer into planning against a screen that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what a planning round actually looks like, measured from the logs of 62 rounds on the commerce app rather than how we hoped it would behave. Nothing in the code fixes this order; the prompt only sets rules, such as never naming a screen you have not confirmed. In practice the model orients first: a summary of what earlier runs found, the coverage state, and the list of screens. Then it picks up an unfinished thread, an open question or an existing finding. Only then does it ground the test: searching the specification for the exact requirement and confirming the screen exists. A round takes a median of 13 tool calls, often several in one turn. After six free turns it is told to propose, and the tool choice is pinned so that it must. That rule exists because the first live run investigated for ten turns and never produced a test at all. The proposal then goes through the validation gate from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contract between the planner and the executor, and both planner modes produce exactly these fields. It is a test case in plain language: a title, an objective, an expected result, preconditions, the screen to start from, and labels for area, priority and type. Never a sequence of taps; the executor works those out on the device. Two fields do the most work. requirement_ids are what let us report requirement coverage at all, instead of counting screens visited as a proxy. And addresses links the test to an open question from an earlier run. Here, TC-003 from the commerce campaign: an earlier run suspected the farm name was never validated, so the planner wrote a test aimed at exactly that, citing FR-FARM-04, the requirement that mandatory fields show a specific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mechanisms decide where the next test goes. A coverage map points the planner at requirements and areas nobody has tested. A cap retires an area after five tests, whatever happened in them. And a duplicate check compares each new title with every earlier test, both by word overlap and by meaning. The cap exists because of a real failure: in one 13-round campaign, nine tests landed on the same screen. A failing area kept getting promoted and nothing retired it. We considered stopping when an area stops yielding new findings, and rejected it: the ninth test was still technically producing new ones, so that rule would never have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one real test from the contacts campaign, and it shows the loop working. Earlier runs had seen duplicate contacts saved silently, but detection on a phone-number match alone was still marked unverified, an open question the investigator had left in the graph. The planner picked it up. Its own rationale: give the new contact a completely different name, so that only the phone number matches, which tests FR-DUP-02 on its own instead of mixing it up with the name rule. The executor created the contact with an existing contact’s number, saved it, and found both entries side by side in the list: no duplicate dialog. It took 48 steps, but the evidence is in the first 15; the rest went to a search box that did not respond, and the investigator’s summary says so. The verdict: objective refuted, a high-severity spec violation of FR-DUP-02 and FR-DUP-04, and in its words it directly answers the earlier open question. Nobody told the agent to look at duplicates. It chose this from the specification and from what earlier runs had left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WHAT IT KNOWS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knows before it writes a test</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Specification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requirement as a node, retrieved by meaning and by keyword.</a:t>
            </a:r>
            <a:endParaRPr lang="en-US" sz="1200" dirty="0"/>
          </a:p>
        </p:txBody>
      </p:sp>
      <p:sp>
        <p:nvSpPr>
          <p:cNvPr id="7" name="Shape 5"/>
          <p:cNvSpPr/>
          <p:nvPr/>
        </p:nvSpPr>
        <p:spPr>
          <a:xfrm>
            <a:off x="4388892" y="1778595"/>
            <a:ext cx="3414167" cy="1070521"/>
          </a:xfrm>
          <a:prstGeom prst="roundRect">
            <a:avLst>
              <a:gd name="adj" fmla="val 9194"/>
            </a:avLst>
          </a:prstGeom>
          <a:solidFill>
            <a:srgbClr val="FDFEFE"/>
          </a:solidFill>
          <a:ln w="6350">
            <a:solidFill>
              <a:srgbClr val="D6E1E6"/>
            </a:solidFill>
            <a:prstDash val="solid"/>
          </a:ln>
        </p:spPr>
      </p:sp>
      <p:sp>
        <p:nvSpPr>
          <p:cNvPr id="8" name="Text 6"/>
          <p:cNvSpPr/>
          <p:nvPr/>
        </p:nvSpPr>
        <p:spPr>
          <a:xfrm>
            <a:off x="4569867"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Screens seen</a:t>
            </a:r>
            <a:endParaRPr lang="en-US" sz="1400" dirty="0"/>
          </a:p>
        </p:txBody>
      </p:sp>
      <p:sp>
        <p:nvSpPr>
          <p:cNvPr id="9" name="Text 7"/>
          <p:cNvSpPr/>
          <p:nvPr/>
        </p:nvSpPr>
        <p:spPr>
          <a:xfrm>
            <a:off x="4569867"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live map of the app: 79 screens and 797 transitions on the contacts app.</a:t>
            </a:r>
            <a:endParaRPr lang="en-US" sz="1200" dirty="0"/>
          </a:p>
        </p:txBody>
      </p:sp>
      <p:sp>
        <p:nvSpPr>
          <p:cNvPr id="10" name="Shape 8"/>
          <p:cNvSpPr/>
          <p:nvPr/>
        </p:nvSpPr>
        <p:spPr>
          <a:xfrm>
            <a:off x="7961809" y="1778595"/>
            <a:ext cx="3414216" cy="1070521"/>
          </a:xfrm>
          <a:prstGeom prst="roundRect">
            <a:avLst>
              <a:gd name="adj" fmla="val 9194"/>
            </a:avLst>
          </a:prstGeom>
          <a:solidFill>
            <a:srgbClr val="FDFEFE"/>
          </a:solidFill>
          <a:ln w="6350">
            <a:solidFill>
              <a:srgbClr val="D6E1E6"/>
            </a:solidFill>
            <a:prstDash val="solid"/>
          </a:ln>
        </p:spPr>
      </p:sp>
      <p:sp>
        <p:nvSpPr>
          <p:cNvPr id="11" name="Text 9"/>
          <p:cNvSpPr/>
          <p:nvPr/>
        </p:nvSpPr>
        <p:spPr>
          <a:xfrm>
            <a:off x="8142784" y="1959570"/>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Navigation paths</a:t>
            </a:r>
            <a:endParaRPr lang="en-US" sz="1400" dirty="0"/>
          </a:p>
        </p:txBody>
      </p:sp>
      <p:sp>
        <p:nvSpPr>
          <p:cNvPr id="12" name="Text 10"/>
          <p:cNvSpPr/>
          <p:nvPr/>
        </p:nvSpPr>
        <p:spPr>
          <a:xfrm>
            <a:off x="8142784" y="2241500"/>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Learned routes to each screen, and the routes known to fail.</a:t>
            </a:r>
            <a:endParaRPr lang="en-US" sz="1200" dirty="0"/>
          </a:p>
        </p:txBody>
      </p:sp>
      <p:sp>
        <p:nvSpPr>
          <p:cNvPr id="13" name="Shape 11"/>
          <p:cNvSpPr/>
          <p:nvPr/>
        </p:nvSpPr>
        <p:spPr>
          <a:xfrm>
            <a:off x="815975" y="3007866"/>
            <a:ext cx="3414167"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996950"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Findings</a:t>
            </a:r>
            <a:endParaRPr lang="en-US" sz="1400" dirty="0"/>
          </a:p>
        </p:txBody>
      </p:sp>
      <p:sp>
        <p:nvSpPr>
          <p:cNvPr id="15" name="Text 13"/>
          <p:cNvSpPr/>
          <p:nvPr/>
        </p:nvSpPr>
        <p:spPr>
          <a:xfrm>
            <a:off x="996950"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earlier runs confirmed, contradicted or left open.</a:t>
            </a:r>
            <a:endParaRPr lang="en-US" sz="1200" dirty="0"/>
          </a:p>
        </p:txBody>
      </p:sp>
      <p:sp>
        <p:nvSpPr>
          <p:cNvPr id="16" name="Shape 14"/>
          <p:cNvSpPr/>
          <p:nvPr/>
        </p:nvSpPr>
        <p:spPr>
          <a:xfrm>
            <a:off x="4388892" y="3007866"/>
            <a:ext cx="3414167" cy="1070521"/>
          </a:xfrm>
          <a:prstGeom prst="roundRect">
            <a:avLst>
              <a:gd name="adj" fmla="val 9194"/>
            </a:avLst>
          </a:prstGeom>
          <a:solidFill>
            <a:srgbClr val="FDFEFE"/>
          </a:solidFill>
          <a:ln w="6350">
            <a:solidFill>
              <a:srgbClr val="D6E1E6"/>
            </a:solidFill>
            <a:prstDash val="solid"/>
          </a:ln>
        </p:spPr>
      </p:sp>
      <p:sp>
        <p:nvSpPr>
          <p:cNvPr id="17" name="Text 15"/>
          <p:cNvSpPr/>
          <p:nvPr/>
        </p:nvSpPr>
        <p:spPr>
          <a:xfrm>
            <a:off x="4569867"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Coverage</a:t>
            </a:r>
            <a:endParaRPr lang="en-US" sz="1400" dirty="0"/>
          </a:p>
        </p:txBody>
      </p:sp>
      <p:sp>
        <p:nvSpPr>
          <p:cNvPr id="18" name="Text 16"/>
          <p:cNvSpPr/>
          <p:nvPr/>
        </p:nvSpPr>
        <p:spPr>
          <a:xfrm>
            <a:off x="4569867"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Which requirements and feature areas are still untested.</a:t>
            </a:r>
            <a:endParaRPr lang="en-US" sz="1200" dirty="0"/>
          </a:p>
        </p:txBody>
      </p:sp>
      <p:sp>
        <p:nvSpPr>
          <p:cNvPr id="19" name="Shape 17"/>
          <p:cNvSpPr/>
          <p:nvPr/>
        </p:nvSpPr>
        <p:spPr>
          <a:xfrm>
            <a:off x="7961809" y="3007866"/>
            <a:ext cx="3414216" cy="1070521"/>
          </a:xfrm>
          <a:prstGeom prst="roundRect">
            <a:avLst>
              <a:gd name="adj" fmla="val 9194"/>
            </a:avLst>
          </a:prstGeom>
          <a:solidFill>
            <a:srgbClr val="FDFEFE"/>
          </a:solidFill>
          <a:ln w="6350">
            <a:solidFill>
              <a:srgbClr val="D6E1E6"/>
            </a:solidFill>
            <a:prstDash val="solid"/>
          </a:ln>
        </p:spPr>
      </p:sp>
      <p:sp>
        <p:nvSpPr>
          <p:cNvPr id="20" name="Text 18"/>
          <p:cNvSpPr/>
          <p:nvPr/>
        </p:nvSpPr>
        <p:spPr>
          <a:xfrm>
            <a:off x="8142784" y="3188841"/>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Defect history</a:t>
            </a:r>
            <a:endParaRPr lang="en-US" sz="1400" dirty="0"/>
          </a:p>
        </p:txBody>
      </p:sp>
      <p:sp>
        <p:nvSpPr>
          <p:cNvPr id="21" name="Text 19"/>
          <p:cNvSpPr/>
          <p:nvPr/>
        </p:nvSpPr>
        <p:spPr>
          <a:xfrm>
            <a:off x="8142784" y="347077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Past bug reports, when a project has them.</a:t>
            </a:r>
            <a:endParaRPr lang="en-US" sz="1200" dirty="0"/>
          </a:p>
        </p:txBody>
      </p:sp>
      <p:sp>
        <p:nvSpPr>
          <p:cNvPr id="22" name="Shape 20"/>
          <p:cNvSpPr/>
          <p:nvPr/>
        </p:nvSpPr>
        <p:spPr>
          <a:xfrm>
            <a:off x="812800" y="4284762"/>
            <a:ext cx="10566400" cy="850850"/>
          </a:xfrm>
          <a:prstGeom prst="roundRect">
            <a:avLst>
              <a:gd name="adj" fmla="val 11941"/>
            </a:avLst>
          </a:prstGeom>
          <a:solidFill>
            <a:srgbClr val="14303D"/>
          </a:solidFill>
          <a:ln/>
        </p:spPr>
      </p:sp>
      <p:sp>
        <p:nvSpPr>
          <p:cNvPr id="23" name="Text 21"/>
          <p:cNvSpPr/>
          <p:nvPr/>
        </p:nvSpPr>
        <p:spPr>
          <a:xfrm>
            <a:off x="1016000" y="4462562"/>
            <a:ext cx="10464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Bounded context, so long campaigns stay cheap</a:t>
            </a:r>
            <a:endParaRPr lang="en-US" sz="1400" dirty="0"/>
          </a:p>
        </p:txBody>
      </p:sp>
      <p:sp>
        <p:nvSpPr>
          <p:cNvPr id="24" name="Text 22"/>
          <p:cNvSpPr/>
          <p:nvPr/>
        </p:nvSpPr>
        <p:spPr>
          <a:xfrm>
            <a:off x="1016000" y="4744492"/>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The block summarising earlier runs was 35,233 characters, 69% of one prompt. Stored as findings instead of prose, it is now about 2,000.</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PIPELINE MODE · A LANGGRAPH STATE MACHINE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planner asks what it still needs</a:t>
            </a:r>
            <a:endParaRPr lang="en-US" sz="3000" dirty="0"/>
          </a:p>
        </p:txBody>
      </p:sp>
      <p:sp>
        <p:nvSpPr>
          <p:cNvPr id="4" name="Shape 2"/>
          <p:cNvSpPr/>
          <p:nvPr/>
        </p:nvSpPr>
        <p:spPr>
          <a:xfrm>
            <a:off x="815975" y="1908175"/>
            <a:ext cx="1898650" cy="1835150"/>
          </a:xfrm>
          <a:prstGeom prst="roundRect">
            <a:avLst>
              <a:gd name="adj" fmla="val 5363"/>
            </a:avLst>
          </a:prstGeom>
          <a:solidFill>
            <a:srgbClr val="FDFEFE"/>
          </a:solidFill>
          <a:ln w="6350">
            <a:solidFill>
              <a:srgbClr val="D6E1E6"/>
            </a:solidFill>
            <a:prstDash val="solid"/>
          </a:ln>
        </p:spPr>
      </p:sp>
      <p:sp>
        <p:nvSpPr>
          <p:cNvPr id="5" name="Text 3"/>
          <p:cNvSpPr/>
          <p:nvPr/>
        </p:nvSpPr>
        <p:spPr>
          <a:xfrm>
            <a:off x="9715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bootstrap_context</a:t>
            </a:r>
            <a:endParaRPr lang="en-US" sz="1200" dirty="0"/>
          </a:p>
        </p:txBody>
      </p:sp>
      <p:sp>
        <p:nvSpPr>
          <p:cNvPr id="6" name="Text 4"/>
          <p:cNvSpPr/>
          <p:nvPr/>
        </p:nvSpPr>
        <p:spPr>
          <a:xfrm>
            <a:off x="9715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loads coverage, tests and findings</a:t>
            </a:r>
            <a:endParaRPr lang="en-US" sz="1200" dirty="0"/>
          </a:p>
        </p:txBody>
      </p:sp>
      <p:sp>
        <p:nvSpPr>
          <p:cNvPr id="7" name="Shape 5"/>
          <p:cNvSpPr/>
          <p:nvPr/>
        </p:nvSpPr>
        <p:spPr>
          <a:xfrm>
            <a:off x="971550" y="3323630"/>
            <a:ext cx="1068338" cy="264120"/>
          </a:xfrm>
          <a:prstGeom prst="roundRect">
            <a:avLst>
              <a:gd name="adj" fmla="val 19234"/>
            </a:avLst>
          </a:prstGeom>
          <a:solidFill>
            <a:srgbClr val="EDF2F4"/>
          </a:solidFill>
          <a:ln/>
        </p:spPr>
      </p:sp>
      <p:sp>
        <p:nvSpPr>
          <p:cNvPr id="8" name="Text 6"/>
          <p:cNvSpPr/>
          <p:nvPr/>
        </p:nvSpPr>
        <p:spPr>
          <a:xfrm>
            <a:off x="1047750" y="3349030"/>
            <a:ext cx="966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no model call</a:t>
            </a:r>
            <a:endParaRPr lang="en-US" sz="1200" dirty="0"/>
          </a:p>
        </p:txBody>
      </p:sp>
      <p:sp>
        <p:nvSpPr>
          <p:cNvPr id="9" name="Shape 7"/>
          <p:cNvSpPr/>
          <p:nvPr/>
        </p:nvSpPr>
        <p:spPr>
          <a:xfrm>
            <a:off x="3327400" y="1911350"/>
            <a:ext cx="3035300" cy="1828800"/>
          </a:xfrm>
          <a:prstGeom prst="roundRect">
            <a:avLst>
              <a:gd name="adj" fmla="val 5208"/>
            </a:avLst>
          </a:prstGeom>
          <a:solidFill>
            <a:srgbClr val="EDF2F4"/>
          </a:solidFill>
          <a:ln w="12700">
            <a:solidFill>
              <a:srgbClr val="0F7EA8"/>
            </a:solidFill>
            <a:prstDash val="dash"/>
          </a:ln>
        </p:spPr>
      </p:sp>
      <p:sp>
        <p:nvSpPr>
          <p:cNvPr id="10" name="Shape 8"/>
          <p:cNvSpPr/>
          <p:nvPr/>
        </p:nvSpPr>
        <p:spPr>
          <a:xfrm>
            <a:off x="3448050" y="2032000"/>
            <a:ext cx="2794000" cy="468660"/>
          </a:xfrm>
          <a:prstGeom prst="roundRect">
            <a:avLst>
              <a:gd name="adj" fmla="val 13549"/>
            </a:avLst>
          </a:prstGeom>
          <a:solidFill>
            <a:srgbClr val="FDFEFE"/>
          </a:solidFill>
          <a:ln/>
        </p:spPr>
      </p:sp>
      <p:sp>
        <p:nvSpPr>
          <p:cNvPr id="11" name="Text 9"/>
          <p:cNvSpPr/>
          <p:nvPr/>
        </p:nvSpPr>
        <p:spPr>
          <a:xfrm>
            <a:off x="3549650" y="2095500"/>
            <a:ext cx="2668524" cy="18990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planner_step</a:t>
            </a:r>
            <a:endParaRPr lang="en-US" sz="945" dirty="0"/>
          </a:p>
        </p:txBody>
      </p:sp>
      <p:sp>
        <p:nvSpPr>
          <p:cNvPr id="12" name="Text 10"/>
          <p:cNvSpPr/>
          <p:nvPr/>
        </p:nvSpPr>
        <p:spPr>
          <a:xfrm>
            <a:off x="3549650" y="2272705"/>
            <a:ext cx="2668524" cy="18985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46596A"/>
                </a:solidFill>
                <a:latin typeface="IBM Plex Sans" pitchFamily="34" charset="0"/>
                <a:ea typeface="IBM Plex Sans" pitchFamily="34" charset="-122"/>
                <a:cs typeface="IBM Plex Sans" pitchFamily="34" charset="-120"/>
              </a:rPr>
              <a:t>model: “what do I still need?”</a:t>
            </a:r>
            <a:endParaRPr lang="en-US" sz="945" dirty="0"/>
          </a:p>
        </p:txBody>
      </p:sp>
      <p:sp>
        <p:nvSpPr>
          <p:cNvPr id="13" name="Shape 11"/>
          <p:cNvSpPr/>
          <p:nvPr/>
        </p:nvSpPr>
        <p:spPr>
          <a:xfrm>
            <a:off x="3448050" y="2576860"/>
            <a:ext cx="2794000" cy="634603"/>
          </a:xfrm>
          <a:prstGeom prst="roundRect">
            <a:avLst>
              <a:gd name="adj" fmla="val 10006"/>
            </a:avLst>
          </a:prstGeom>
          <a:solidFill>
            <a:srgbClr val="FDFEFE"/>
          </a:solidFill>
          <a:ln/>
        </p:spPr>
      </p:sp>
      <p:sp>
        <p:nvSpPr>
          <p:cNvPr id="14" name="Text 12"/>
          <p:cNvSpPr/>
          <p:nvPr/>
        </p:nvSpPr>
        <p:spPr>
          <a:xfrm>
            <a:off x="3549650" y="2640360"/>
            <a:ext cx="2668524" cy="190351"/>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execute_retrieval</a:t>
            </a:r>
            <a:endParaRPr lang="en-US" sz="945" dirty="0"/>
          </a:p>
        </p:txBody>
      </p:sp>
      <p:sp>
        <p:nvSpPr>
          <p:cNvPr id="15" name="Text 13"/>
          <p:cNvSpPr/>
          <p:nvPr/>
        </p:nvSpPr>
        <p:spPr>
          <a:xfrm>
            <a:off x="3549650" y="2818011"/>
            <a:ext cx="2668524" cy="355352"/>
          </a:xfrm>
          <a:prstGeom prst="rect">
            <a:avLst/>
          </a:prstGeom>
          <a:noFill/>
          <a:ln/>
        </p:spPr>
        <p:txBody>
          <a:bodyPr wrap="square" lIns="0" tIns="0" rIns="0" bIns="0" rtlCol="0" anchor="t">
            <a:normAutofit/>
          </a:bodyPr>
          <a:lstStyle/>
          <a:p>
            <a:pPr algn="l" indent="0" marL="0">
              <a:lnSpc>
                <a:spcPts val="1475"/>
              </a:lnSpc>
              <a:buNone/>
            </a:pPr>
            <a:r>
              <a:rPr lang="en-US" sz="1054" dirty="0">
                <a:solidFill>
                  <a:srgbClr val="46596A"/>
                </a:solidFill>
                <a:latin typeface="IBM Plex Sans" pitchFamily="34" charset="0"/>
                <a:ea typeface="IBM Plex Sans" pitchFamily="34" charset="-122"/>
                <a:cs typeface="IBM Plex Sans" pitchFamily="34" charset="-120"/>
              </a:rPr>
              <a:t>runs its tools: spec, screens, paths, defects</a:t>
            </a:r>
            <a:endParaRPr lang="en-US" sz="1054" dirty="0"/>
          </a:p>
        </p:txBody>
      </p:sp>
      <p:sp>
        <p:nvSpPr>
          <p:cNvPr id="16" name="Text 14"/>
          <p:cNvSpPr/>
          <p:nvPr/>
        </p:nvSpPr>
        <p:spPr>
          <a:xfrm>
            <a:off x="3448050" y="3287663"/>
            <a:ext cx="2877820" cy="357237"/>
          </a:xfrm>
          <a:prstGeom prst="rect">
            <a:avLst/>
          </a:prstGeom>
          <a:noFill/>
          <a:ln/>
        </p:spPr>
        <p:txBody>
          <a:bodyPr wrap="square" lIns="0" tIns="0" rIns="0" bIns="0" rtlCol="0" anchor="t">
            <a:normAutofit/>
          </a:bodyPr>
          <a:lstStyle/>
          <a:p>
            <a:pPr algn="l" indent="0" marL="0">
              <a:lnSpc>
                <a:spcPts val="1412"/>
              </a:lnSpc>
              <a:buNone/>
            </a:pPr>
            <a:r>
              <a:rPr lang="en-US" sz="1009" b="1" dirty="0">
                <a:solidFill>
                  <a:srgbClr val="0B6A8F"/>
                </a:solidFill>
                <a:latin typeface="IBM Plex Sans" pitchFamily="34" charset="0"/>
                <a:ea typeface="IBM Plex Sans" pitchFamily="34" charset="-122"/>
                <a:cs typeface="IBM Plex Sans" pitchFamily="34" charset="-120"/>
              </a:rPr>
              <a:t>repeats until ready · 2 rounds in our campaigns</a:t>
            </a:r>
            <a:endParaRPr lang="en-US" sz="1009" dirty="0"/>
          </a:p>
        </p:txBody>
      </p:sp>
      <p:sp>
        <p:nvSpPr>
          <p:cNvPr id="17" name="Shape 15"/>
          <p:cNvSpPr/>
          <p:nvPr/>
        </p:nvSpPr>
        <p:spPr>
          <a:xfrm>
            <a:off x="6975475" y="1908175"/>
            <a:ext cx="1898650" cy="1835150"/>
          </a:xfrm>
          <a:prstGeom prst="roundRect">
            <a:avLst>
              <a:gd name="adj" fmla="val 5363"/>
            </a:avLst>
          </a:prstGeom>
          <a:solidFill>
            <a:srgbClr val="FDFEFE"/>
          </a:solidFill>
          <a:ln w="6350">
            <a:solidFill>
              <a:srgbClr val="D6E1E6"/>
            </a:solidFill>
            <a:prstDash val="solid"/>
          </a:ln>
        </p:spPr>
      </p:sp>
      <p:sp>
        <p:nvSpPr>
          <p:cNvPr id="18" name="Text 16"/>
          <p:cNvSpPr/>
          <p:nvPr/>
        </p:nvSpPr>
        <p:spPr>
          <a:xfrm>
            <a:off x="71310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generate_testcase</a:t>
            </a:r>
            <a:endParaRPr lang="en-US" sz="1200" dirty="0"/>
          </a:p>
        </p:txBody>
      </p:sp>
      <p:sp>
        <p:nvSpPr>
          <p:cNvPr id="19" name="Text 17"/>
          <p:cNvSpPr/>
          <p:nvPr/>
        </p:nvSpPr>
        <p:spPr>
          <a:xfrm>
            <a:off x="71310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writes the test as structured JSON</a:t>
            </a:r>
            <a:endParaRPr lang="en-US" sz="1200" dirty="0"/>
          </a:p>
        </p:txBody>
      </p:sp>
      <p:sp>
        <p:nvSpPr>
          <p:cNvPr id="20" name="Shape 18"/>
          <p:cNvSpPr/>
          <p:nvPr/>
        </p:nvSpPr>
        <p:spPr>
          <a:xfrm>
            <a:off x="7131050" y="3323630"/>
            <a:ext cx="1362323" cy="264120"/>
          </a:xfrm>
          <a:prstGeom prst="roundRect">
            <a:avLst>
              <a:gd name="adj" fmla="val 19234"/>
            </a:avLst>
          </a:prstGeom>
          <a:solidFill>
            <a:srgbClr val="E4F2F8"/>
          </a:solidFill>
          <a:ln/>
        </p:spPr>
      </p:sp>
      <p:sp>
        <p:nvSpPr>
          <p:cNvPr id="21" name="Text 19"/>
          <p:cNvSpPr/>
          <p:nvPr/>
        </p:nvSpPr>
        <p:spPr>
          <a:xfrm>
            <a:off x="7207250" y="3349030"/>
            <a:ext cx="1260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1 large model call</a:t>
            </a:r>
            <a:endParaRPr lang="en-US" sz="1200" dirty="0"/>
          </a:p>
        </p:txBody>
      </p:sp>
      <p:sp>
        <p:nvSpPr>
          <p:cNvPr id="22" name="Shape 20"/>
          <p:cNvSpPr/>
          <p:nvPr/>
        </p:nvSpPr>
        <p:spPr>
          <a:xfrm>
            <a:off x="9483725" y="1908175"/>
            <a:ext cx="1892300" cy="1835150"/>
          </a:xfrm>
          <a:prstGeom prst="roundRect">
            <a:avLst>
              <a:gd name="adj" fmla="val 5363"/>
            </a:avLst>
          </a:prstGeom>
          <a:solidFill>
            <a:srgbClr val="FDFEFE"/>
          </a:solidFill>
          <a:ln w="6350">
            <a:solidFill>
              <a:srgbClr val="D6E1E6"/>
            </a:solidFill>
            <a:prstDash val="solid"/>
          </a:ln>
        </p:spPr>
      </p:sp>
      <p:sp>
        <p:nvSpPr>
          <p:cNvPr id="23" name="Text 21"/>
          <p:cNvSpPr/>
          <p:nvPr/>
        </p:nvSpPr>
        <p:spPr>
          <a:xfrm>
            <a:off x="9639300" y="2063750"/>
            <a:ext cx="1631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duplicate_check</a:t>
            </a:r>
            <a:endParaRPr lang="en-US" sz="1200" dirty="0"/>
          </a:p>
        </p:txBody>
      </p:sp>
      <p:sp>
        <p:nvSpPr>
          <p:cNvPr id="24" name="Text 22"/>
          <p:cNvSpPr/>
          <p:nvPr/>
        </p:nvSpPr>
        <p:spPr>
          <a:xfrm>
            <a:off x="9639300" y="2327870"/>
            <a:ext cx="16319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rejects near-duplicates by title and meaning</a:t>
            </a:r>
            <a:endParaRPr lang="en-US" sz="1200" dirty="0"/>
          </a:p>
        </p:txBody>
      </p:sp>
      <p:sp>
        <p:nvSpPr>
          <p:cNvPr id="25" name="Shape 23"/>
          <p:cNvSpPr/>
          <p:nvPr/>
        </p:nvSpPr>
        <p:spPr>
          <a:xfrm>
            <a:off x="9639300" y="3323630"/>
            <a:ext cx="1333054" cy="264120"/>
          </a:xfrm>
          <a:prstGeom prst="roundRect">
            <a:avLst>
              <a:gd name="adj" fmla="val 19234"/>
            </a:avLst>
          </a:prstGeom>
          <a:solidFill>
            <a:srgbClr val="FBEDE6"/>
          </a:solidFill>
          <a:ln/>
        </p:spPr>
      </p:sp>
      <p:sp>
        <p:nvSpPr>
          <p:cNvPr id="26" name="Text 24"/>
          <p:cNvSpPr/>
          <p:nvPr/>
        </p:nvSpPr>
        <p:spPr>
          <a:xfrm>
            <a:off x="9715500" y="3349030"/>
            <a:ext cx="1231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502C"/>
                </a:solidFill>
                <a:latin typeface="IBM Plex Sans" pitchFamily="34" charset="0"/>
                <a:ea typeface="IBM Plex Sans" pitchFamily="34" charset="-122"/>
                <a:cs typeface="IBM Plex Sans" pitchFamily="34" charset="-120"/>
              </a:rPr>
              <a:t>+1 call if rejected</a:t>
            </a:r>
            <a:endParaRPr lang="en-US" sz="1200" dirty="0"/>
          </a:p>
        </p:txBody>
      </p:sp>
      <p:pic>
        <p:nvPicPr>
          <p:cNvPr id="27" name="Image 0" descr="connector">    </p:cNvPr>
          <p:cNvPicPr>
            <a:picLocks noChangeAspect="1"/>
          </p:cNvPicPr>
          <p:nvPr/>
        </p:nvPicPr>
        <p:blipFill>
          <a:blip r:embed="rId1"/>
          <a:srcRect l="0" r="0" t="0" b="0"/>
          <a:stretch/>
        </p:blipFill>
        <p:spPr>
          <a:xfrm>
            <a:off x="2679700" y="2774950"/>
            <a:ext cx="679450" cy="101600"/>
          </a:xfrm>
          <a:prstGeom prst="rect">
            <a:avLst/>
          </a:prstGeom>
        </p:spPr>
      </p:pic>
      <p:pic>
        <p:nvPicPr>
          <p:cNvPr id="28" name="Image 1" descr="connector">    </p:cNvPr>
          <p:cNvPicPr>
            <a:picLocks noChangeAspect="1"/>
          </p:cNvPicPr>
          <p:nvPr/>
        </p:nvPicPr>
        <p:blipFill>
          <a:blip r:embed="rId2"/>
          <a:srcRect l="0" r="0" t="0" b="0"/>
          <a:stretch/>
        </p:blipFill>
        <p:spPr>
          <a:xfrm>
            <a:off x="6330950" y="2774950"/>
            <a:ext cx="679450" cy="101600"/>
          </a:xfrm>
          <a:prstGeom prst="rect">
            <a:avLst/>
          </a:prstGeom>
        </p:spPr>
      </p:pic>
      <p:pic>
        <p:nvPicPr>
          <p:cNvPr id="29" name="Image 2" descr="connector">    </p:cNvPr>
          <p:cNvPicPr>
            <a:picLocks noChangeAspect="1"/>
          </p:cNvPicPr>
          <p:nvPr/>
        </p:nvPicPr>
        <p:blipFill>
          <a:blip r:embed="rId3"/>
          <a:srcRect l="0" r="0" t="0" b="0"/>
          <a:stretch/>
        </p:blipFill>
        <p:spPr>
          <a:xfrm>
            <a:off x="8839200" y="2774950"/>
            <a:ext cx="679450" cy="101600"/>
          </a:xfrm>
          <a:prstGeom prst="rect">
            <a:avLst/>
          </a:prstGeom>
        </p:spPr>
      </p:pic>
      <p:sp>
        <p:nvSpPr>
          <p:cNvPr id="30" name="Shape 25"/>
          <p:cNvSpPr/>
          <p:nvPr/>
        </p:nvSpPr>
        <p:spPr>
          <a:xfrm>
            <a:off x="815975" y="4067175"/>
            <a:ext cx="5149850" cy="1309241"/>
          </a:xfrm>
          <a:prstGeom prst="roundRect">
            <a:avLst>
              <a:gd name="adj" fmla="val 7518"/>
            </a:avLst>
          </a:prstGeom>
          <a:solidFill>
            <a:srgbClr val="FDFEFE"/>
          </a:solidFill>
          <a:ln w="6350">
            <a:solidFill>
              <a:srgbClr val="D6E1E6"/>
            </a:solidFill>
            <a:prstDash val="solid"/>
          </a:ln>
        </p:spPr>
      </p:sp>
      <p:sp>
        <p:nvSpPr>
          <p:cNvPr id="31" name="Text 26"/>
          <p:cNvSpPr/>
          <p:nvPr/>
        </p:nvSpPr>
        <p:spPr>
          <a:xfrm>
            <a:off x="9969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Its tools: four sources it can look things up in</a:t>
            </a:r>
            <a:endParaRPr lang="en-US" sz="1400" dirty="0"/>
          </a:p>
        </p:txBody>
      </p:sp>
      <p:sp>
        <p:nvSpPr>
          <p:cNvPr id="32" name="Text 27"/>
          <p:cNvSpPr/>
          <p:nvPr/>
        </p:nvSpPr>
        <p:spPr>
          <a:xfrm>
            <a:off x="996950" y="4555480"/>
            <a:ext cx="493153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round the model picks up to three lookups: search the specification, pull up a screen already seen, find a path to a screen, or check past defects there.</a:t>
            </a:r>
            <a:endParaRPr lang="en-US" sz="1200" dirty="0"/>
          </a:p>
        </p:txBody>
      </p:sp>
      <p:sp>
        <p:nvSpPr>
          <p:cNvPr id="33" name="Shape 28"/>
          <p:cNvSpPr/>
          <p:nvPr/>
        </p:nvSpPr>
        <p:spPr>
          <a:xfrm>
            <a:off x="6226175" y="4067175"/>
            <a:ext cx="5149850" cy="1095921"/>
          </a:xfrm>
          <a:prstGeom prst="roundRect">
            <a:avLst>
              <a:gd name="adj" fmla="val 8981"/>
            </a:avLst>
          </a:prstGeom>
          <a:solidFill>
            <a:srgbClr val="FDFEFE"/>
          </a:solidFill>
          <a:ln w="6350">
            <a:solidFill>
              <a:srgbClr val="D6E1E6"/>
            </a:solidFill>
            <a:prstDash val="solid"/>
          </a:ln>
        </p:spPr>
      </p:sp>
      <p:sp>
        <p:nvSpPr>
          <p:cNvPr id="34" name="Text 29"/>
          <p:cNvSpPr/>
          <p:nvPr/>
        </p:nvSpPr>
        <p:spPr>
          <a:xfrm>
            <a:off x="64071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When it stops looking</a:t>
            </a:r>
            <a:endParaRPr lang="en-US" sz="1400" dirty="0"/>
          </a:p>
        </p:txBody>
      </p:sp>
      <p:sp>
        <p:nvSpPr>
          <p:cNvPr id="35" name="Text 30"/>
          <p:cNvSpPr/>
          <p:nvPr/>
        </p:nvSpPr>
        <p:spPr>
          <a:xfrm>
            <a:off x="6407150" y="4555480"/>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When the model says it is ready, after 2 rounds, when the context passes 9,000 characters, or when a retrieval returns nothing new.</a:t>
            </a:r>
            <a:endParaRPr lang="en-US" sz="1200" dirty="0"/>
          </a:p>
        </p:txBody>
      </p:sp>
      <p:sp>
        <p:nvSpPr>
          <p:cNvPr id="36" name="Text 31"/>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7" name="Text 32"/>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 name="Text 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13</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IN DETAIL</a:t>
            </a:r>
            <a:endParaRPr lang="en-US" sz="1200" dirty="0"/>
          </a:p>
        </p:txBody>
      </p:sp>
      <p:sp>
        <p:nvSpPr>
          <p:cNvPr id="5" name="Text 3"/>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full planning pipeline</a:t>
            </a:r>
            <a:endParaRPr lang="en-US" sz="3000" dirty="0"/>
          </a:p>
        </p:txBody>
      </p:sp>
      <p:sp>
        <p:nvSpPr>
          <p:cNvPr id="6" name="Shape 4"/>
          <p:cNvSpPr/>
          <p:nvPr/>
        </p:nvSpPr>
        <p:spPr>
          <a:xfrm>
            <a:off x="812800" y="1634133"/>
            <a:ext cx="10566400" cy="2489200"/>
          </a:xfrm>
          <a:prstGeom prst="roundRect">
            <a:avLst>
              <a:gd name="adj" fmla="val 4082"/>
            </a:avLst>
          </a:prstGeom>
          <a:solidFill>
            <a:srgbClr val="FDFEFE"/>
          </a:solidFill>
          <a:ln/>
        </p:spPr>
      </p:sp>
      <p:pic>
        <p:nvPicPr>
          <p:cNvPr id="7" name="Image 0" descr="Planner pipeline, left to right: bootstrap_context, planner_step, a should_continue decision that loops through execute_retrieval, shown in blue as the planner's tools with its four sources srs, live_ui, navtree and defects, then generate_testcase, duplicate_check with a retry path, auto-log to Neo4j, and return to the executor">    </p:cNvPr>
          <p:cNvPicPr>
            <a:picLocks noChangeAspect="1"/>
          </p:cNvPicPr>
          <p:nvPr/>
        </p:nvPicPr>
        <p:blipFill>
          <a:blip r:embed="rId1"/>
          <a:stretch>
            <a:fillRect/>
          </a:stretch>
        </p:blipFill>
        <p:spPr>
          <a:xfrm>
            <a:off x="819150" y="1745219"/>
            <a:ext cx="10553700" cy="2267028"/>
          </a:xfrm>
          <a:prstGeom prst="rect">
            <a:avLst/>
          </a:prstGeom>
        </p:spPr>
      </p:pic>
      <p:sp>
        <p:nvSpPr>
          <p:cNvPr id="8" name="Shape 5"/>
          <p:cNvSpPr/>
          <p:nvPr/>
        </p:nvSpPr>
        <p:spPr>
          <a:xfrm>
            <a:off x="815975" y="1637308"/>
            <a:ext cx="10560050" cy="2482850"/>
          </a:xfrm>
          <a:prstGeom prst="roundRect">
            <a:avLst>
              <a:gd name="adj" fmla="val 3964"/>
            </a:avLst>
          </a:prstGeom>
          <a:noFill/>
          <a:ln w="6350">
            <a:solidFill>
              <a:srgbClr val="D6E1E6"/>
            </a:solidFill>
            <a:prstDash val="solid"/>
          </a:ln>
        </p:spPr>
      </p:sp>
      <p:sp>
        <p:nvSpPr>
          <p:cNvPr id="9" name="Shape 6"/>
          <p:cNvSpPr/>
          <p:nvPr/>
        </p:nvSpPr>
        <p:spPr>
          <a:xfrm>
            <a:off x="815975" y="4219575"/>
            <a:ext cx="2540000" cy="1498600"/>
          </a:xfrm>
          <a:prstGeom prst="roundRect">
            <a:avLst>
              <a:gd name="adj" fmla="val 6568"/>
            </a:avLst>
          </a:prstGeom>
          <a:solidFill>
            <a:srgbClr val="FDFEFE"/>
          </a:solidFill>
          <a:ln w="6350">
            <a:solidFill>
              <a:srgbClr val="D6E1E6"/>
            </a:solidFill>
            <a:prstDash val="solid"/>
          </a:ln>
        </p:spPr>
      </p:sp>
      <p:sp>
        <p:nvSpPr>
          <p:cNvPr id="10" name="Text 7"/>
          <p:cNvSpPr/>
          <p:nvPr/>
        </p:nvSpPr>
        <p:spPr>
          <a:xfrm>
            <a:off x="99695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5E27"/>
                </a:solidFill>
                <a:latin typeface="IBM Plex Sans" pitchFamily="34" charset="0"/>
                <a:ea typeface="IBM Plex Sans" pitchFamily="34" charset="-122"/>
                <a:cs typeface="IBM Plex Sans" pitchFamily="34" charset="-120"/>
              </a:rPr>
              <a:t>Green: no model call</a:t>
            </a:r>
            <a:endParaRPr lang="en-US" sz="1400" dirty="0"/>
          </a:p>
        </p:txBody>
      </p:sp>
      <p:sp>
        <p:nvSpPr>
          <p:cNvPr id="11" name="Text 8"/>
          <p:cNvSpPr/>
          <p:nvPr/>
        </p:nvSpPr>
        <p:spPr>
          <a:xfrm>
            <a:off x="996950" y="4682480"/>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bootstrap_context and the final auto-log are plain graph work.</a:t>
            </a:r>
            <a:endParaRPr lang="en-US" sz="1200" dirty="0"/>
          </a:p>
        </p:txBody>
      </p:sp>
      <p:sp>
        <p:nvSpPr>
          <p:cNvPr id="12" name="Shape 9"/>
          <p:cNvSpPr/>
          <p:nvPr/>
        </p:nvSpPr>
        <p:spPr>
          <a:xfrm>
            <a:off x="3489325" y="4219575"/>
            <a:ext cx="2540000" cy="1498600"/>
          </a:xfrm>
          <a:prstGeom prst="roundRect">
            <a:avLst>
              <a:gd name="adj" fmla="val 6568"/>
            </a:avLst>
          </a:prstGeom>
          <a:solidFill>
            <a:srgbClr val="FDFEFE"/>
          </a:solidFill>
          <a:ln w="6350">
            <a:solidFill>
              <a:srgbClr val="D6E1E6"/>
            </a:solidFill>
            <a:prstDash val="solid"/>
          </a:ln>
        </p:spPr>
      </p:sp>
      <p:sp>
        <p:nvSpPr>
          <p:cNvPr id="13" name="Text 10"/>
          <p:cNvSpPr/>
          <p:nvPr/>
        </p:nvSpPr>
        <p:spPr>
          <a:xfrm>
            <a:off x="367030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4A87"/>
                </a:solidFill>
                <a:latin typeface="IBM Plex Sans" pitchFamily="34" charset="0"/>
                <a:ea typeface="IBM Plex Sans" pitchFamily="34" charset="-122"/>
                <a:cs typeface="IBM Plex Sans" pitchFamily="34" charset="-120"/>
              </a:rPr>
              <a:t>Blue: the planner's tools</a:t>
            </a:r>
            <a:endParaRPr lang="en-US" sz="1400" dirty="0"/>
          </a:p>
        </p:txBody>
      </p:sp>
      <p:sp>
        <p:nvSpPr>
          <p:cNvPr id="14" name="Text 11"/>
          <p:cNvSpPr/>
          <p:nvPr/>
        </p:nvSpPr>
        <p:spPr>
          <a:xfrm>
            <a:off x="3670300" y="4682480"/>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planner_step picks up to 3 lookups, each a source and a query; this step runs them.</a:t>
            </a:r>
            <a:endParaRPr lang="en-US" sz="1200" dirty="0"/>
          </a:p>
        </p:txBody>
      </p:sp>
      <p:sp>
        <p:nvSpPr>
          <p:cNvPr id="15" name="Shape 12"/>
          <p:cNvSpPr/>
          <p:nvPr/>
        </p:nvSpPr>
        <p:spPr>
          <a:xfrm>
            <a:off x="6162675" y="4219575"/>
            <a:ext cx="2540000" cy="1498600"/>
          </a:xfrm>
          <a:prstGeom prst="roundRect">
            <a:avLst>
              <a:gd name="adj" fmla="val 6568"/>
            </a:avLst>
          </a:prstGeom>
          <a:solidFill>
            <a:srgbClr val="FDFEFE"/>
          </a:solidFill>
          <a:ln w="6350">
            <a:solidFill>
              <a:srgbClr val="D6E1E6"/>
            </a:solidFill>
            <a:prstDash val="solid"/>
          </a:ln>
        </p:spPr>
      </p:sp>
      <p:sp>
        <p:nvSpPr>
          <p:cNvPr id="16" name="Text 13"/>
          <p:cNvSpPr/>
          <p:nvPr/>
        </p:nvSpPr>
        <p:spPr>
          <a:xfrm>
            <a:off x="634365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8B1A1A"/>
                </a:solidFill>
                <a:latin typeface="IBM Plex Sans" pitchFamily="34" charset="0"/>
                <a:ea typeface="IBM Plex Sans" pitchFamily="34" charset="-122"/>
                <a:cs typeface="IBM Plex Sans" pitchFamily="34" charset="-120"/>
              </a:rPr>
              <a:t>Red: a model call</a:t>
            </a:r>
            <a:endParaRPr lang="en-US" sz="1400" dirty="0"/>
          </a:p>
        </p:txBody>
      </p:sp>
      <p:sp>
        <p:nvSpPr>
          <p:cNvPr id="17" name="Text 14"/>
          <p:cNvSpPr/>
          <p:nvPr/>
        </p:nvSpPr>
        <p:spPr>
          <a:xfrm>
            <a:off x="6343650" y="4682480"/>
            <a:ext cx="2243392"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planner_step is small, generate_testcase is large, and the retry fires only on a near-duplicate.</a:t>
            </a:r>
            <a:endParaRPr lang="en-US" sz="1200" dirty="0"/>
          </a:p>
        </p:txBody>
      </p:sp>
      <p:sp>
        <p:nvSpPr>
          <p:cNvPr id="18" name="Shape 15"/>
          <p:cNvSpPr/>
          <p:nvPr/>
        </p:nvSpPr>
        <p:spPr>
          <a:xfrm>
            <a:off x="8836025" y="4219575"/>
            <a:ext cx="2540000" cy="1498600"/>
          </a:xfrm>
          <a:prstGeom prst="roundRect">
            <a:avLst>
              <a:gd name="adj" fmla="val 6568"/>
            </a:avLst>
          </a:prstGeom>
          <a:solidFill>
            <a:srgbClr val="FDFEFE"/>
          </a:solidFill>
          <a:ln w="6350">
            <a:solidFill>
              <a:srgbClr val="D6E1E6"/>
            </a:solidFill>
            <a:prstDash val="solid"/>
          </a:ln>
        </p:spPr>
      </p:sp>
      <p:sp>
        <p:nvSpPr>
          <p:cNvPr id="19" name="Text 16"/>
          <p:cNvSpPr/>
          <p:nvPr/>
        </p:nvSpPr>
        <p:spPr>
          <a:xfrm>
            <a:off x="901700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7A4A10"/>
                </a:solidFill>
                <a:latin typeface="IBM Plex Sans" pitchFamily="34" charset="0"/>
                <a:ea typeface="IBM Plex Sans" pitchFamily="34" charset="-122"/>
                <a:cs typeface="IBM Plex Sans" pitchFamily="34" charset="-120"/>
              </a:rPr>
              <a:t>Amber: a decision</a:t>
            </a:r>
            <a:endParaRPr lang="en-US" sz="1400" dirty="0"/>
          </a:p>
        </p:txBody>
      </p:sp>
      <p:sp>
        <p:nvSpPr>
          <p:cNvPr id="20" name="Text 17"/>
          <p:cNvSpPr/>
          <p:nvPr/>
        </p:nvSpPr>
        <p:spPr>
          <a:xfrm>
            <a:off x="9017000" y="4682480"/>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Keep retrieving, or write? And is the draft distinct enough to keep?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PLANNED THE COMMERCE CAMPAIGN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Tools mode: the model calls each tool itself</a:t>
            </a:r>
            <a:endParaRPr lang="en-US" sz="3000" dirty="0"/>
          </a:p>
        </p:txBody>
      </p:sp>
      <p:sp>
        <p:nvSpPr>
          <p:cNvPr id="4" name="Shape 2"/>
          <p:cNvSpPr/>
          <p:nvPr/>
        </p:nvSpPr>
        <p:spPr>
          <a:xfrm>
            <a:off x="812800" y="1775420"/>
            <a:ext cx="294680" cy="264120"/>
          </a:xfrm>
          <a:prstGeom prst="roundRect">
            <a:avLst>
              <a:gd name="adj" fmla="val 50000"/>
            </a:avLst>
          </a:prstGeom>
          <a:solidFill>
            <a:srgbClr val="0F7EA8"/>
          </a:solidFill>
          <a:ln/>
        </p:spPr>
      </p:sp>
      <p:sp>
        <p:nvSpPr>
          <p:cNvPr id="5" name="Text 3"/>
          <p:cNvSpPr/>
          <p:nvPr/>
        </p:nvSpPr>
        <p:spPr>
          <a:xfrm>
            <a:off x="914400" y="180082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234480" y="1775420"/>
            <a:ext cx="54521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 short brief</a:t>
            </a:r>
            <a:endParaRPr lang="en-US" sz="1400" dirty="0"/>
          </a:p>
        </p:txBody>
      </p:sp>
      <p:sp>
        <p:nvSpPr>
          <p:cNvPr id="7" name="Text 5"/>
          <p:cNvSpPr/>
          <p:nvPr/>
        </p:nvSpPr>
        <p:spPr>
          <a:xfrm>
            <a:off x="1234480" y="2031950"/>
            <a:ext cx="5452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coverage map, the last few runs and the open questions.</a:t>
            </a:r>
            <a:endParaRPr lang="en-US" sz="1200" dirty="0"/>
          </a:p>
        </p:txBody>
      </p:sp>
      <p:sp>
        <p:nvSpPr>
          <p:cNvPr id="8" name="Shape 6"/>
          <p:cNvSpPr/>
          <p:nvPr/>
        </p:nvSpPr>
        <p:spPr>
          <a:xfrm>
            <a:off x="812800" y="2397671"/>
            <a:ext cx="294680" cy="264120"/>
          </a:xfrm>
          <a:prstGeom prst="roundRect">
            <a:avLst>
              <a:gd name="adj" fmla="val 50000"/>
            </a:avLst>
          </a:prstGeom>
          <a:solidFill>
            <a:srgbClr val="0F7EA8"/>
          </a:solidFill>
          <a:ln/>
        </p:spPr>
      </p:sp>
      <p:sp>
        <p:nvSpPr>
          <p:cNvPr id="9" name="Text 7"/>
          <p:cNvSpPr/>
          <p:nvPr/>
        </p:nvSpPr>
        <p:spPr>
          <a:xfrm>
            <a:off x="914400" y="242307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1234480" y="2397671"/>
            <a:ext cx="54521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 investigates</a:t>
            </a:r>
            <a:endParaRPr lang="en-US" sz="1400" dirty="0"/>
          </a:p>
        </p:txBody>
      </p:sp>
      <p:sp>
        <p:nvSpPr>
          <p:cNvPr id="11" name="Text 9"/>
          <p:cNvSpPr/>
          <p:nvPr/>
        </p:nvSpPr>
        <p:spPr>
          <a:xfrm>
            <a:off x="1234480" y="2654201"/>
            <a:ext cx="5452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It calls a graph tool, reads the answer, and chooses the next question.</a:t>
            </a:r>
            <a:endParaRPr lang="en-US" sz="1200" dirty="0"/>
          </a:p>
        </p:txBody>
      </p:sp>
      <p:sp>
        <p:nvSpPr>
          <p:cNvPr id="12" name="Shape 10"/>
          <p:cNvSpPr/>
          <p:nvPr/>
        </p:nvSpPr>
        <p:spPr>
          <a:xfrm>
            <a:off x="812800" y="3019921"/>
            <a:ext cx="294680" cy="264120"/>
          </a:xfrm>
          <a:prstGeom prst="roundRect">
            <a:avLst>
              <a:gd name="adj" fmla="val 50000"/>
            </a:avLst>
          </a:prstGeom>
          <a:solidFill>
            <a:srgbClr val="0F7EA8"/>
          </a:solidFill>
          <a:ln/>
        </p:spPr>
      </p:sp>
      <p:sp>
        <p:nvSpPr>
          <p:cNvPr id="13" name="Text 11"/>
          <p:cNvSpPr/>
          <p:nvPr/>
        </p:nvSpPr>
        <p:spPr>
          <a:xfrm>
            <a:off x="914400" y="304532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1234480" y="3019921"/>
            <a:ext cx="54521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 proposes</a:t>
            </a:r>
            <a:endParaRPr lang="en-US" sz="1400" dirty="0"/>
          </a:p>
        </p:txBody>
      </p:sp>
      <p:sp>
        <p:nvSpPr>
          <p:cNvPr id="15" name="Text 13"/>
          <p:cNvSpPr/>
          <p:nvPr/>
        </p:nvSpPr>
        <p:spPr>
          <a:xfrm>
            <a:off x="1234480" y="3276451"/>
            <a:ext cx="5452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One call to propose_test_case, which must pass the gate on the right.</a:t>
            </a:r>
            <a:endParaRPr lang="en-US" sz="1200" dirty="0"/>
          </a:p>
        </p:txBody>
      </p:sp>
      <p:sp>
        <p:nvSpPr>
          <p:cNvPr id="16" name="Shape 14"/>
          <p:cNvSpPr/>
          <p:nvPr/>
        </p:nvSpPr>
        <p:spPr>
          <a:xfrm>
            <a:off x="6734175" y="1778595"/>
            <a:ext cx="4641850" cy="2553643"/>
          </a:xfrm>
          <a:prstGeom prst="roundRect">
            <a:avLst>
              <a:gd name="adj" fmla="val 3854"/>
            </a:avLst>
          </a:prstGeom>
          <a:solidFill>
            <a:srgbClr val="FDFEFE"/>
          </a:solidFill>
          <a:ln w="6350">
            <a:solidFill>
              <a:srgbClr val="D6E1E6"/>
            </a:solidFill>
            <a:prstDash val="solid"/>
          </a:ln>
        </p:spPr>
      </p:sp>
      <p:sp>
        <p:nvSpPr>
          <p:cNvPr id="17" name="Text 15"/>
          <p:cNvSpPr/>
          <p:nvPr/>
        </p:nvSpPr>
        <p:spPr>
          <a:xfrm>
            <a:off x="6940550" y="1984970"/>
            <a:ext cx="435597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proposal is validated</a:t>
            </a:r>
            <a:endParaRPr lang="en-US" sz="1400" dirty="0"/>
          </a:p>
        </p:txBody>
      </p:sp>
      <p:sp>
        <p:nvSpPr>
          <p:cNvPr id="18" name="Text 16"/>
          <p:cNvSpPr/>
          <p:nvPr/>
        </p:nvSpPr>
        <p:spPr>
          <a:xfrm>
            <a:off x="6940550" y="2317700"/>
            <a:ext cx="4355973"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It is rejected if it names a screen never observed, cites a requirement id that does not exist, repeats an earlier test, needs a precondition the tester cannot create, or falls outside the agreed scope. The model gets the reason and tries again, up to 3 times.</a:t>
            </a:r>
            <a:endParaRPr lang="en-US" sz="1200" dirty="0"/>
          </a:p>
        </p:txBody>
      </p:sp>
      <p:sp>
        <p:nvSpPr>
          <p:cNvPr id="19" name="Text 17"/>
          <p:cNvSpPr/>
          <p:nvPr/>
        </p:nvSpPr>
        <p:spPr>
          <a:xfrm>
            <a:off x="6940550" y="3485902"/>
            <a:ext cx="435597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Across all its commerce runs: 989 tool calls for 101 proposals, all nine tools used, most often search_requirements (247) and get_screen (199).</a:t>
            </a:r>
            <a:endParaRPr lang="en-US" sz="1200" dirty="0"/>
          </a:p>
        </p:txBody>
      </p:sp>
      <p:sp>
        <p:nvSpPr>
          <p:cNvPr id="20" name="Text 1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635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THE TOOLS</a:t>
            </a:r>
            <a:endParaRPr lang="en-US" sz="1200" dirty="0"/>
          </a:p>
        </p:txBody>
      </p:sp>
      <p:sp>
        <p:nvSpPr>
          <p:cNvPr id="3" name="Text 1"/>
          <p:cNvSpPr/>
          <p:nvPr/>
        </p:nvSpPr>
        <p:spPr>
          <a:xfrm>
            <a:off x="812800" y="9245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is allowed to ask the graph</a:t>
            </a:r>
            <a:endParaRPr lang="en-US" sz="3000" dirty="0"/>
          </a:p>
        </p:txBody>
      </p:sp>
      <p:sp>
        <p:nvSpPr>
          <p:cNvPr id="4" name="Text 2"/>
          <p:cNvSpPr/>
          <p:nvPr/>
        </p:nvSpPr>
        <p:spPr>
          <a:xfrm>
            <a:off x="812800" y="14198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Nine read-only tools, each answering one question. A tool whose source has no data is never offered.</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8241"/>
          <a:ext cx="10553700" cy="3326805"/>
        </p:xfrm>
        <a:graphic>
          <a:graphicData uri="http://schemas.openxmlformats.org/drawingml/2006/table">
            <a:tbl>
              <a:tblPr/>
              <a:tblGrid>
                <a:gridCol w="3377184"/>
                <a:gridCol w="5065776"/>
                <a:gridCol w="2110740"/>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it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Offered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search_requirements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semantic and keyword search over the specification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list_untested_requirements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coverage frontier: what no executed test covers yet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get_screen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real controls observed on one screen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list_screens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every screen actually seen, with visit counts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get_nav_path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to a screen the executor has already walked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exists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findings_summary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counts of everything earlier runs found, per screen and 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list_findings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claims themselves: confirmed, suspected, unverified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list_open_questions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questions earlier runs raised but never settled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tests run, failing hot spots, dead ends, exhausted areas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6" name="Text 3"/>
          <p:cNvSpPr/>
          <p:nvPr/>
        </p:nvSpPr>
        <p:spPr>
          <a:xfrm>
            <a:off x="812800" y="5277445"/>
            <a:ext cx="10883392" cy="25653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6596A"/>
                </a:solidFill>
                <a:latin typeface="Source Serif 4" pitchFamily="34" charset="0"/>
                <a:ea typeface="Source Serif 4" pitchFamily="34" charset="-122"/>
                <a:cs typeface="Source Serif 4" pitchFamily="34" charset="-120"/>
              </a:rPr>
              <a:t>So an empty answer can never mislead the model into planning against something that is not there.</a:t>
            </a:r>
            <a:endParaRPr lang="en-US" sz="1300" dirty="0"/>
          </a:p>
        </p:txBody>
      </p:sp>
      <p:sp>
        <p:nvSpPr>
          <p:cNvPr id="7" name="Text 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8" name="Text 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ONE ROUND</a:t>
            </a:r>
            <a:endParaRPr lang="en-US" sz="1200" dirty="0"/>
          </a:p>
        </p:txBody>
      </p:sp>
      <p:sp>
        <p:nvSpPr>
          <p:cNvPr id="3" name="Text 1"/>
          <p:cNvSpPr/>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planning round, call by call</a:t>
            </a:r>
            <a:endParaRPr lang="en-US" sz="3000" dirty="0"/>
          </a:p>
        </p:txBody>
      </p:sp>
      <p:sp>
        <p:nvSpPr>
          <p:cNvPr id="4" name="Shape 2"/>
          <p:cNvSpPr/>
          <p:nvPr/>
        </p:nvSpPr>
        <p:spPr>
          <a:xfrm>
            <a:off x="815975" y="1562695"/>
            <a:ext cx="10560050" cy="803870"/>
          </a:xfrm>
          <a:prstGeom prst="roundRect">
            <a:avLst>
              <a:gd name="adj" fmla="val 12244"/>
            </a:avLst>
          </a:prstGeom>
          <a:solidFill>
            <a:srgbClr val="FDFEFE"/>
          </a:solidFill>
          <a:ln w="6350">
            <a:solidFill>
              <a:srgbClr val="D6E1E6"/>
            </a:solidFill>
            <a:prstDash val="solid"/>
          </a:ln>
        </p:spPr>
      </p:sp>
      <p:sp>
        <p:nvSpPr>
          <p:cNvPr id="5" name="Shape 3"/>
          <p:cNvSpPr/>
          <p:nvPr/>
        </p:nvSpPr>
        <p:spPr>
          <a:xfrm>
            <a:off x="1022350" y="1760141"/>
            <a:ext cx="1270000" cy="408930"/>
          </a:xfrm>
          <a:prstGeom prst="roundRect">
            <a:avLst>
              <a:gd name="adj" fmla="val 18634"/>
            </a:avLst>
          </a:prstGeom>
          <a:solidFill>
            <a:srgbClr val="0F6E94"/>
          </a:solidFill>
          <a:ln/>
        </p:spPr>
      </p:sp>
      <p:sp>
        <p:nvSpPr>
          <p:cNvPr id="6" name="Text 4"/>
          <p:cNvSpPr/>
          <p:nvPr/>
        </p:nvSpPr>
        <p:spPr>
          <a:xfrm>
            <a:off x="996950" y="1849041"/>
            <a:ext cx="132080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Calls 1–3</a:t>
            </a:r>
            <a:endParaRPr lang="en-US" sz="1300" dirty="0"/>
          </a:p>
        </p:txBody>
      </p:sp>
      <p:sp>
        <p:nvSpPr>
          <p:cNvPr id="7" name="Text 5"/>
          <p:cNvSpPr/>
          <p:nvPr/>
        </p:nvSpPr>
        <p:spPr>
          <a:xfrm>
            <a:off x="2495550" y="1705570"/>
            <a:ext cx="89343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Orient: what is known, and where the gaps are</a:t>
            </a:r>
            <a:endParaRPr lang="en-US" sz="1500" dirty="0"/>
          </a:p>
        </p:txBody>
      </p:sp>
      <p:sp>
        <p:nvSpPr>
          <p:cNvPr id="8" name="Text 6"/>
          <p:cNvSpPr/>
          <p:nvPr/>
        </p:nvSpPr>
        <p:spPr>
          <a:xfrm>
            <a:off x="2495550" y="2010370"/>
            <a:ext cx="89343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findings_summary, get_coverage, list_screens</a:t>
            </a:r>
            <a:endParaRPr lang="en-US" sz="1200" dirty="0"/>
          </a:p>
        </p:txBody>
      </p:sp>
      <p:sp>
        <p:nvSpPr>
          <p:cNvPr id="9" name="Shape 7"/>
          <p:cNvSpPr/>
          <p:nvPr/>
        </p:nvSpPr>
        <p:spPr>
          <a:xfrm>
            <a:off x="815975" y="2512616"/>
            <a:ext cx="10560050" cy="803870"/>
          </a:xfrm>
          <a:prstGeom prst="roundRect">
            <a:avLst>
              <a:gd name="adj" fmla="val 12244"/>
            </a:avLst>
          </a:prstGeom>
          <a:solidFill>
            <a:srgbClr val="FDFEFE"/>
          </a:solidFill>
          <a:ln w="6350">
            <a:solidFill>
              <a:srgbClr val="D6E1E6"/>
            </a:solidFill>
            <a:prstDash val="solid"/>
          </a:ln>
        </p:spPr>
      </p:sp>
      <p:sp>
        <p:nvSpPr>
          <p:cNvPr id="10" name="Shape 8"/>
          <p:cNvSpPr/>
          <p:nvPr/>
        </p:nvSpPr>
        <p:spPr>
          <a:xfrm>
            <a:off x="1022350" y="2710061"/>
            <a:ext cx="1270000" cy="408930"/>
          </a:xfrm>
          <a:prstGeom prst="roundRect">
            <a:avLst>
              <a:gd name="adj" fmla="val 18634"/>
            </a:avLst>
          </a:prstGeom>
          <a:solidFill>
            <a:srgbClr val="0F6E94"/>
          </a:solidFill>
          <a:ln/>
        </p:spPr>
      </p:sp>
      <p:sp>
        <p:nvSpPr>
          <p:cNvPr id="11" name="Text 9"/>
          <p:cNvSpPr/>
          <p:nvPr/>
        </p:nvSpPr>
        <p:spPr>
          <a:xfrm>
            <a:off x="996950" y="2798961"/>
            <a:ext cx="132080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Call 4</a:t>
            </a:r>
            <a:endParaRPr lang="en-US" sz="1300" dirty="0"/>
          </a:p>
        </p:txBody>
      </p:sp>
      <p:sp>
        <p:nvSpPr>
          <p:cNvPr id="12" name="Text 10"/>
          <p:cNvSpPr/>
          <p:nvPr/>
        </p:nvSpPr>
        <p:spPr>
          <a:xfrm>
            <a:off x="2495550" y="2655491"/>
            <a:ext cx="89343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Pick up an unfinished thread</a:t>
            </a:r>
            <a:endParaRPr lang="en-US" sz="1500" dirty="0"/>
          </a:p>
        </p:txBody>
      </p:sp>
      <p:sp>
        <p:nvSpPr>
          <p:cNvPr id="13" name="Text 11"/>
          <p:cNvSpPr/>
          <p:nvPr/>
        </p:nvSpPr>
        <p:spPr>
          <a:xfrm>
            <a:off x="2495550" y="2960291"/>
            <a:ext cx="89343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list_open_questions, list_findings</a:t>
            </a:r>
            <a:endParaRPr lang="en-US" sz="1200" dirty="0"/>
          </a:p>
        </p:txBody>
      </p:sp>
      <p:sp>
        <p:nvSpPr>
          <p:cNvPr id="14" name="Shape 12"/>
          <p:cNvSpPr/>
          <p:nvPr/>
        </p:nvSpPr>
        <p:spPr>
          <a:xfrm>
            <a:off x="815975" y="3462536"/>
            <a:ext cx="10560050" cy="803870"/>
          </a:xfrm>
          <a:prstGeom prst="roundRect">
            <a:avLst>
              <a:gd name="adj" fmla="val 12244"/>
            </a:avLst>
          </a:prstGeom>
          <a:solidFill>
            <a:srgbClr val="FDFEFE"/>
          </a:solidFill>
          <a:ln w="6350">
            <a:solidFill>
              <a:srgbClr val="D6E1E6"/>
            </a:solidFill>
            <a:prstDash val="solid"/>
          </a:ln>
        </p:spPr>
      </p:sp>
      <p:sp>
        <p:nvSpPr>
          <p:cNvPr id="15" name="Shape 13"/>
          <p:cNvSpPr/>
          <p:nvPr/>
        </p:nvSpPr>
        <p:spPr>
          <a:xfrm>
            <a:off x="1022350" y="3659981"/>
            <a:ext cx="1270000" cy="408930"/>
          </a:xfrm>
          <a:prstGeom prst="roundRect">
            <a:avLst>
              <a:gd name="adj" fmla="val 18634"/>
            </a:avLst>
          </a:prstGeom>
          <a:solidFill>
            <a:srgbClr val="0F6E94"/>
          </a:solidFill>
          <a:ln/>
        </p:spPr>
      </p:sp>
      <p:sp>
        <p:nvSpPr>
          <p:cNvPr id="16" name="Text 14"/>
          <p:cNvSpPr/>
          <p:nvPr/>
        </p:nvSpPr>
        <p:spPr>
          <a:xfrm>
            <a:off x="996950" y="3748881"/>
            <a:ext cx="132080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Call 5 onward</a:t>
            </a:r>
            <a:endParaRPr lang="en-US" sz="1300" dirty="0"/>
          </a:p>
        </p:txBody>
      </p:sp>
      <p:sp>
        <p:nvSpPr>
          <p:cNvPr id="17" name="Text 15"/>
          <p:cNvSpPr/>
          <p:nvPr/>
        </p:nvSpPr>
        <p:spPr>
          <a:xfrm>
            <a:off x="2495550" y="3605411"/>
            <a:ext cx="89343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Ground it: a real requirement and a real screen</a:t>
            </a:r>
            <a:endParaRPr lang="en-US" sz="1500" dirty="0"/>
          </a:p>
        </p:txBody>
      </p:sp>
      <p:sp>
        <p:nvSpPr>
          <p:cNvPr id="18" name="Text 16"/>
          <p:cNvSpPr/>
          <p:nvPr/>
        </p:nvSpPr>
        <p:spPr>
          <a:xfrm>
            <a:off x="2495550" y="3910211"/>
            <a:ext cx="89343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search_requirements, get_screen</a:t>
            </a:r>
            <a:endParaRPr lang="en-US" sz="1200" dirty="0"/>
          </a:p>
        </p:txBody>
      </p:sp>
      <p:sp>
        <p:nvSpPr>
          <p:cNvPr id="19" name="Shape 17"/>
          <p:cNvSpPr/>
          <p:nvPr/>
        </p:nvSpPr>
        <p:spPr>
          <a:xfrm>
            <a:off x="815975" y="4412456"/>
            <a:ext cx="10560050" cy="803870"/>
          </a:xfrm>
          <a:prstGeom prst="roundRect">
            <a:avLst>
              <a:gd name="adj" fmla="val 12244"/>
            </a:avLst>
          </a:prstGeom>
          <a:solidFill>
            <a:srgbClr val="FDFEFE"/>
          </a:solidFill>
          <a:ln w="6350">
            <a:solidFill>
              <a:srgbClr val="D6E1E6"/>
            </a:solidFill>
            <a:prstDash val="solid"/>
          </a:ln>
        </p:spPr>
      </p:sp>
      <p:sp>
        <p:nvSpPr>
          <p:cNvPr id="20" name="Shape 18"/>
          <p:cNvSpPr/>
          <p:nvPr/>
        </p:nvSpPr>
        <p:spPr>
          <a:xfrm>
            <a:off x="1022350" y="4609902"/>
            <a:ext cx="1270000" cy="408930"/>
          </a:xfrm>
          <a:prstGeom prst="roundRect">
            <a:avLst>
              <a:gd name="adj" fmla="val 18634"/>
            </a:avLst>
          </a:prstGeom>
          <a:solidFill>
            <a:srgbClr val="A9502C"/>
          </a:solidFill>
          <a:ln/>
        </p:spPr>
      </p:sp>
      <p:sp>
        <p:nvSpPr>
          <p:cNvPr id="21" name="Text 19"/>
          <p:cNvSpPr/>
          <p:nvPr/>
        </p:nvSpPr>
        <p:spPr>
          <a:xfrm>
            <a:off x="996950" y="4698802"/>
            <a:ext cx="132080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Turn 7 onward</a:t>
            </a:r>
            <a:endParaRPr lang="en-US" sz="1300" dirty="0"/>
          </a:p>
        </p:txBody>
      </p:sp>
      <p:sp>
        <p:nvSpPr>
          <p:cNvPr id="22" name="Text 20"/>
          <p:cNvSpPr/>
          <p:nvPr/>
        </p:nvSpPr>
        <p:spPr>
          <a:xfrm>
            <a:off x="2495550" y="4555331"/>
            <a:ext cx="89343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Forced to commit, then validated</a:t>
            </a:r>
            <a:endParaRPr lang="en-US" sz="1500" dirty="0"/>
          </a:p>
        </p:txBody>
      </p:sp>
      <p:sp>
        <p:nvSpPr>
          <p:cNvPr id="23" name="Text 21"/>
          <p:cNvSpPr/>
          <p:nvPr/>
        </p:nvSpPr>
        <p:spPr>
          <a:xfrm>
            <a:off x="2495550" y="4860131"/>
            <a:ext cx="89343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the tool choice is pinned to propose_test_case</a:t>
            </a:r>
            <a:endParaRPr lang="en-US" sz="1200" dirty="0"/>
          </a:p>
        </p:txBody>
      </p:sp>
      <p:sp>
        <p:nvSpPr>
          <p:cNvPr id="24" name="Text 22"/>
          <p:cNvSpPr/>
          <p:nvPr/>
        </p:nvSpPr>
        <p:spPr>
          <a:xfrm>
            <a:off x="812800" y="5359202"/>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The most common tool at each position, over 62 rounds on the commerce app; a median of 13 calls per round. Ceiling of 12 turns: left free, the first live run investigated for ten turns and never proposed.</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THE OUTPUT CONTRACT</a:t>
            </a:r>
            <a:endParaRPr lang="en-US" sz="1200" dirty="0"/>
          </a:p>
        </p:txBody>
      </p:sp>
      <p:sp>
        <p:nvSpPr>
          <p:cNvPr id="3" name="Text 1"/>
          <p:cNvSpPr/>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actually emits</a:t>
            </a:r>
            <a:endParaRPr lang="en-US" sz="3000" dirty="0"/>
          </a:p>
        </p:txBody>
      </p:sp>
      <p:sp>
        <p:nvSpPr>
          <p:cNvPr id="4" name="Text 2"/>
          <p:cNvSpPr/>
          <p:nvPr/>
        </p:nvSpPr>
        <p:spPr>
          <a:xfrm>
            <a:off x="812800" y="14960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A test case in plain language, never a tap sequence. Both planner modes emit the same fields.</a:t>
            </a:r>
            <a:endParaRPr lang="en-US" sz="1200" dirty="0"/>
          </a:p>
        </p:txBody>
      </p:sp>
      <p:sp>
        <p:nvSpPr>
          <p:cNvPr id="5" name="Shape 3"/>
          <p:cNvSpPr/>
          <p:nvPr/>
        </p:nvSpPr>
        <p:spPr>
          <a:xfrm>
            <a:off x="812800" y="1887141"/>
            <a:ext cx="3937000" cy="2777133"/>
          </a:xfrm>
          <a:prstGeom prst="roundRect">
            <a:avLst>
              <a:gd name="adj" fmla="val 3658"/>
            </a:avLst>
          </a:prstGeom>
          <a:solidFill>
            <a:srgbClr val="14303D"/>
          </a:solidFill>
          <a:ln/>
        </p:spPr>
      </p:sp>
      <p:sp>
        <p:nvSpPr>
          <p:cNvPr id="6" name="Text 4"/>
          <p:cNvSpPr/>
          <p:nvPr/>
        </p:nvSpPr>
        <p:spPr>
          <a:xfrm>
            <a:off x="1092200" y="2115741"/>
            <a:ext cx="3479546" cy="234533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title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objective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expected_result</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preconditions[]</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screen_hint</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area · priority · test_type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requirement_ids[]</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rationale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addresses</a:t>
            </a:r>
            <a:endParaRPr lang="en-US" sz="1400" dirty="0"/>
          </a:p>
        </p:txBody>
      </p:sp>
      <p:sp>
        <p:nvSpPr>
          <p:cNvPr id="7" name="Shape 5"/>
          <p:cNvSpPr/>
          <p:nvPr/>
        </p:nvSpPr>
        <p:spPr>
          <a:xfrm>
            <a:off x="5006975" y="1890316"/>
            <a:ext cx="6369050" cy="2770783"/>
          </a:xfrm>
          <a:prstGeom prst="roundRect">
            <a:avLst>
              <a:gd name="adj" fmla="val 3552"/>
            </a:avLst>
          </a:prstGeom>
          <a:solidFill>
            <a:srgbClr val="FDFEFE"/>
          </a:solidFill>
          <a:ln w="6350">
            <a:solidFill>
              <a:srgbClr val="D6E1E6"/>
            </a:solidFill>
            <a:prstDash val="solid"/>
          </a:ln>
        </p:spPr>
      </p:sp>
      <p:sp>
        <p:nvSpPr>
          <p:cNvPr id="8" name="Text 6"/>
          <p:cNvSpPr/>
          <p:nvPr/>
        </p:nvSpPr>
        <p:spPr>
          <a:xfrm>
            <a:off x="5264150" y="2096691"/>
            <a:ext cx="60303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TC-003 · commerce app · tools mode</a:t>
            </a:r>
            <a:endParaRPr lang="en-US" sz="1200" dirty="0"/>
          </a:p>
        </p:txBody>
      </p:sp>
      <p:sp>
        <p:nvSpPr>
          <p:cNvPr id="9" name="Text 7"/>
          <p:cNvSpPr/>
          <p:nvPr/>
        </p:nvSpPr>
        <p:spPr>
          <a:xfrm>
            <a:off x="5264150" y="2398911"/>
            <a:ext cx="60303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objective</a:t>
            </a:r>
            <a:endParaRPr lang="en-US" sz="1200" dirty="0"/>
          </a:p>
        </p:txBody>
      </p:sp>
      <p:sp>
        <p:nvSpPr>
          <p:cNvPr id="10" name="Text 8"/>
          <p:cNvSpPr/>
          <p:nvPr/>
        </p:nvSpPr>
        <p:spPr>
          <a:xfrm>
            <a:off x="5264150" y="2701131"/>
            <a:ext cx="603034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Source Serif 4" pitchFamily="34" charset="0"/>
                <a:ea typeface="Source Serif 4" pitchFamily="34" charset="-122"/>
                <a:cs typeface="Source Serif 4" pitchFamily="34" charset="-120"/>
              </a:rPr>
              <a:t>“Verify that clearing the farm name field to empty and attempting to save produces a visible error identifying the farm name as required.”</a:t>
            </a:r>
            <a:endParaRPr lang="en-US" sz="1400" dirty="0"/>
          </a:p>
        </p:txBody>
      </p:sp>
      <p:sp>
        <p:nvSpPr>
          <p:cNvPr id="11" name="Text 9"/>
          <p:cNvSpPr/>
          <p:nvPr/>
        </p:nvSpPr>
        <p:spPr>
          <a:xfrm>
            <a:off x="5264150" y="3287812"/>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requirement_ids</a:t>
            </a:r>
            <a:endParaRPr lang="en-US" sz="1200" dirty="0"/>
          </a:p>
        </p:txBody>
      </p:sp>
      <p:sp>
        <p:nvSpPr>
          <p:cNvPr id="12" name="Text 10"/>
          <p:cNvSpPr/>
          <p:nvPr/>
        </p:nvSpPr>
        <p:spPr>
          <a:xfrm>
            <a:off x="5264150" y="3526532"/>
            <a:ext cx="1422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303D"/>
                </a:solidFill>
                <a:latin typeface="IBM Plex Mono" pitchFamily="34" charset="0"/>
                <a:ea typeface="IBM Plex Mono" pitchFamily="34" charset="-122"/>
                <a:cs typeface="IBM Plex Mono" pitchFamily="34" charset="-120"/>
              </a:rPr>
              <a:t>FR-FARM-04</a:t>
            </a:r>
            <a:endParaRPr lang="en-US" sz="1300" dirty="0"/>
          </a:p>
        </p:txBody>
      </p:sp>
      <p:sp>
        <p:nvSpPr>
          <p:cNvPr id="13" name="Text 11"/>
          <p:cNvSpPr/>
          <p:nvPr/>
        </p:nvSpPr>
        <p:spPr>
          <a:xfrm>
            <a:off x="6889750" y="3287812"/>
            <a:ext cx="1041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addresses</a:t>
            </a:r>
            <a:endParaRPr lang="en-US" sz="1200" dirty="0"/>
          </a:p>
        </p:txBody>
      </p:sp>
      <p:sp>
        <p:nvSpPr>
          <p:cNvPr id="14" name="Text 12"/>
          <p:cNvSpPr/>
          <p:nvPr/>
        </p:nvSpPr>
        <p:spPr>
          <a:xfrm>
            <a:off x="6889750" y="3526532"/>
            <a:ext cx="1041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303D"/>
                </a:solidFill>
                <a:latin typeface="IBM Plex Mono" pitchFamily="34" charset="0"/>
                <a:ea typeface="IBM Plex Mono" pitchFamily="34" charset="-122"/>
                <a:cs typeface="IBM Plex Mono" pitchFamily="34" charset="-120"/>
              </a:rPr>
              <a:t>F-422162fd</a:t>
            </a:r>
            <a:endParaRPr lang="en-US" sz="1300" dirty="0"/>
          </a:p>
        </p:txBody>
      </p:sp>
      <p:sp>
        <p:nvSpPr>
          <p:cNvPr id="15" name="Text 13"/>
          <p:cNvSpPr/>
          <p:nvPr/>
        </p:nvSpPr>
        <p:spPr>
          <a:xfrm>
            <a:off x="5264150" y="3846562"/>
            <a:ext cx="60303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 ids make requirement coverage reportable. </a:t>
            </a:r>
            <a:r>
              <a:rPr lang="en-US" sz="1200" b="1" dirty="0">
                <a:solidFill>
                  <a:srgbClr val="46596A"/>
                </a:solidFill>
                <a:latin typeface="IBM Plex Sans" pitchFamily="34" charset="0"/>
                <a:ea typeface="IBM Plex Sans" pitchFamily="34" charset="-122"/>
                <a:cs typeface="IBM Plex Sans" pitchFamily="34" charset="-120"/>
              </a:rPr>
              <a:t>addresses</a:t>
            </a:r>
            <a:r>
              <a:rPr lang="en-US" sz="1200" dirty="0">
                <a:solidFill>
                  <a:srgbClr val="46596A"/>
                </a:solidFill>
                <a:latin typeface="IBM Plex Sans" pitchFamily="34" charset="0"/>
                <a:ea typeface="IBM Plex Sans" pitchFamily="34" charset="-122"/>
                <a:cs typeface="IBM Plex Sans" pitchFamily="34" charset="-120"/>
              </a:rPr>
              <a:t> names the open question this test settles: an earlier run suspected farm names were never validated.</a:t>
            </a:r>
            <a:endParaRPr lang="en-US" sz="1200" dirty="0"/>
          </a:p>
        </p:txBody>
      </p:sp>
      <p:sp>
        <p:nvSpPr>
          <p:cNvPr id="16"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WHERE TO GO NEXT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Where to test next, without repeating itself</a:t>
            </a:r>
            <a:endParaRPr lang="en-US" sz="3000" dirty="0"/>
          </a:p>
        </p:txBody>
      </p:sp>
      <p:sp>
        <p:nvSpPr>
          <p:cNvPr id="4" name="Shape 2"/>
          <p:cNvSpPr/>
          <p:nvPr/>
        </p:nvSpPr>
        <p:spPr>
          <a:xfrm>
            <a:off x="815975" y="1778595"/>
            <a:ext cx="3380284" cy="1283841"/>
          </a:xfrm>
          <a:prstGeom prst="roundRect">
            <a:avLst>
              <a:gd name="adj" fmla="val 7666"/>
            </a:avLst>
          </a:prstGeom>
          <a:solidFill>
            <a:srgbClr val="FDFEFE"/>
          </a:solidFill>
          <a:ln w="6350">
            <a:solidFill>
              <a:srgbClr val="D6E1E6"/>
            </a:solidFill>
            <a:prstDash val="solid"/>
          </a:ln>
        </p:spPr>
      </p:sp>
      <p:sp>
        <p:nvSpPr>
          <p:cNvPr id="5" name="Text 3"/>
          <p:cNvSpPr/>
          <p:nvPr/>
        </p:nvSpPr>
        <p:spPr>
          <a:xfrm>
            <a:off x="996950" y="1959570"/>
            <a:ext cx="310888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Steered to the gaps</a:t>
            </a:r>
            <a:endParaRPr lang="en-US" sz="1400" dirty="0"/>
          </a:p>
        </p:txBody>
      </p:sp>
      <p:sp>
        <p:nvSpPr>
          <p:cNvPr id="6" name="Text 4"/>
          <p:cNvSpPr/>
          <p:nvPr/>
        </p:nvSpPr>
        <p:spPr>
          <a:xfrm>
            <a:off x="996950" y="2241500"/>
            <a:ext cx="31088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coverage map and an exploration directive point it at untested requirements and feature areas.</a:t>
            </a:r>
            <a:endParaRPr lang="en-US" sz="1200" dirty="0"/>
          </a:p>
        </p:txBody>
      </p:sp>
      <p:sp>
        <p:nvSpPr>
          <p:cNvPr id="7" name="Shape 5"/>
          <p:cNvSpPr/>
          <p:nvPr/>
        </p:nvSpPr>
        <p:spPr>
          <a:xfrm>
            <a:off x="4405809" y="1778595"/>
            <a:ext cx="3380333" cy="1283841"/>
          </a:xfrm>
          <a:prstGeom prst="roundRect">
            <a:avLst>
              <a:gd name="adj" fmla="val 7666"/>
            </a:avLst>
          </a:prstGeom>
          <a:solidFill>
            <a:srgbClr val="FDFEFE"/>
          </a:solidFill>
          <a:ln w="6350">
            <a:solidFill>
              <a:srgbClr val="D6E1E6"/>
            </a:solidFill>
            <a:prstDash val="solid"/>
          </a:ln>
        </p:spPr>
      </p:sp>
      <p:sp>
        <p:nvSpPr>
          <p:cNvPr id="8" name="Text 6"/>
          <p:cNvSpPr/>
          <p:nvPr/>
        </p:nvSpPr>
        <p:spPr>
          <a:xfrm>
            <a:off x="4586784"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 cap on every area</a:t>
            </a:r>
            <a:endParaRPr lang="en-US" sz="1400" dirty="0"/>
          </a:p>
        </p:txBody>
      </p:sp>
      <p:sp>
        <p:nvSpPr>
          <p:cNvPr id="9" name="Text 7"/>
          <p:cNvSpPr/>
          <p:nvPr/>
        </p:nvSpPr>
        <p:spPr>
          <a:xfrm>
            <a:off x="4586784" y="2241500"/>
            <a:ext cx="31089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After 5 tests an area is marked spent and is no longer promoted, whatever its results.</a:t>
            </a:r>
            <a:endParaRPr lang="en-US" sz="1200" dirty="0"/>
          </a:p>
        </p:txBody>
      </p:sp>
      <p:sp>
        <p:nvSpPr>
          <p:cNvPr id="10" name="Shape 8"/>
          <p:cNvSpPr/>
          <p:nvPr/>
        </p:nvSpPr>
        <p:spPr>
          <a:xfrm>
            <a:off x="7995692" y="1778595"/>
            <a:ext cx="3380333" cy="1283841"/>
          </a:xfrm>
          <a:prstGeom prst="roundRect">
            <a:avLst>
              <a:gd name="adj" fmla="val 7666"/>
            </a:avLst>
          </a:prstGeom>
          <a:solidFill>
            <a:srgbClr val="FDFEFE"/>
          </a:solidFill>
          <a:ln w="6350">
            <a:solidFill>
              <a:srgbClr val="D6E1E6"/>
            </a:solidFill>
            <a:prstDash val="solid"/>
          </a:ln>
        </p:spPr>
      </p:sp>
      <p:sp>
        <p:nvSpPr>
          <p:cNvPr id="11" name="Text 9"/>
          <p:cNvSpPr/>
          <p:nvPr/>
        </p:nvSpPr>
        <p:spPr>
          <a:xfrm>
            <a:off x="8176667"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No near-duplicates</a:t>
            </a:r>
            <a:endParaRPr lang="en-US" sz="1400" dirty="0"/>
          </a:p>
        </p:txBody>
      </p:sp>
      <p:sp>
        <p:nvSpPr>
          <p:cNvPr id="12" name="Text 10"/>
          <p:cNvSpPr/>
          <p:nvPr/>
        </p:nvSpPr>
        <p:spPr>
          <a:xfrm>
            <a:off x="8176667" y="2241500"/>
            <a:ext cx="3108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new title is compared with every earlier test, by word overlap (0.60) and by meaning (0.90 cosine).</a:t>
            </a:r>
            <a:endParaRPr lang="en-US" sz="1200" dirty="0"/>
          </a:p>
        </p:txBody>
      </p:sp>
      <p:sp>
        <p:nvSpPr>
          <p:cNvPr id="13" name="Shape 11"/>
          <p:cNvSpPr/>
          <p:nvPr/>
        </p:nvSpPr>
        <p:spPr>
          <a:xfrm>
            <a:off x="815975" y="3271986"/>
            <a:ext cx="10560050"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1022350" y="3452961"/>
            <a:ext cx="104517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A9502C"/>
                </a:solidFill>
                <a:latin typeface="IBM Plex Sans" pitchFamily="34" charset="0"/>
                <a:ea typeface="IBM Plex Sans" pitchFamily="34" charset="-122"/>
                <a:cs typeface="IBM Plex Sans" pitchFamily="34" charset="-120"/>
              </a:rPr>
              <a:t>Why the cap was needed</a:t>
            </a:r>
            <a:endParaRPr lang="en-US" sz="1400" dirty="0"/>
          </a:p>
        </p:txBody>
      </p:sp>
      <p:sp>
        <p:nvSpPr>
          <p:cNvPr id="15" name="Text 13"/>
          <p:cNvSpPr/>
          <p:nvPr/>
        </p:nvSpPr>
        <p:spPr>
          <a:xfrm>
            <a:off x="1022350" y="3734891"/>
            <a:ext cx="10451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one 13-round campaign, 9 tests landed on the same screen: a failing area kept being promoted, and nothing ever retired it. The intuitive fix, stopping once an area yields nothing new, would never have fired, because the ninth test was still producing technically new findings.</a:t>
            </a:r>
            <a:endParaRPr lang="en-US" sz="1200" dirty="0"/>
          </a:p>
        </p:txBody>
      </p:sp>
      <p:sp>
        <p:nvSpPr>
          <p:cNvPr id="16"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ONE REAL TEST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real test, from plan to finding</a:t>
            </a:r>
            <a:endParaRPr lang="en-US" sz="3000" dirty="0"/>
          </a:p>
        </p:txBody>
      </p:sp>
      <p:sp>
        <p:nvSpPr>
          <p:cNvPr id="4" name="Shape 2"/>
          <p:cNvSpPr/>
          <p:nvPr/>
        </p:nvSpPr>
        <p:spPr>
          <a:xfrm>
            <a:off x="815975" y="1778595"/>
            <a:ext cx="6343650" cy="3813274"/>
          </a:xfrm>
          <a:prstGeom prst="roundRect">
            <a:avLst>
              <a:gd name="adj" fmla="val 2581"/>
            </a:avLst>
          </a:prstGeom>
          <a:solidFill>
            <a:srgbClr val="FDFEFE"/>
          </a:solidFill>
          <a:ln w="6350">
            <a:solidFill>
              <a:srgbClr val="D6E1E6"/>
            </a:solidFill>
            <a:prstDash val="solid"/>
          </a:ln>
        </p:spPr>
      </p:sp>
      <p:sp>
        <p:nvSpPr>
          <p:cNvPr id="5" name="Text 3"/>
          <p:cNvSpPr/>
          <p:nvPr/>
        </p:nvSpPr>
        <p:spPr>
          <a:xfrm>
            <a:off x="1022350" y="1984970"/>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TC-018 · written by the planner</a:t>
            </a:r>
            <a:endParaRPr lang="en-US" sz="1200" dirty="0"/>
          </a:p>
        </p:txBody>
      </p:sp>
      <p:sp>
        <p:nvSpPr>
          <p:cNvPr id="6" name="Text 4"/>
          <p:cNvSpPr/>
          <p:nvPr/>
        </p:nvSpPr>
        <p:spPr>
          <a:xfrm>
            <a:off x="1022350" y="2287191"/>
            <a:ext cx="6108827"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303D"/>
                </a:solidFill>
                <a:latin typeface="IBM Plex Sans" pitchFamily="34" charset="0"/>
                <a:ea typeface="IBM Plex Sans" pitchFamily="34" charset="-122"/>
                <a:cs typeface="IBM Plex Sans" pitchFamily="34" charset="-120"/>
              </a:rPr>
              <a:t>Verify duplicate detection triggers for a phone number match when the display name is intentionally different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868811"/>
          <a:ext cx="5918200" cy="2516684"/>
        </p:xfrm>
        <a:graphic>
          <a:graphicData uri="http://schemas.openxmlformats.org/drawingml/2006/table">
            <a:tbl>
              <a:tblPr/>
              <a:tblGrid>
                <a:gridCol w="1420368"/>
                <a:gridCol w="4497832"/>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the planner wrote (condensed)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FR-DUP-02, FR-DUP-04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75932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Why this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Earlier runs saw silent duplicates but left phone-only detection unverified. A different name isolates FR-DUP-02 from the name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Objective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Create a contact with a new name but an existing contact’s phone number.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Expected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duplicate dialog shows both records (FR-DUP-04), instead of a silent save.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bl>
          </a:graphicData>
        </a:graphic>
      </p:graphicFrame>
      <p:sp>
        <p:nvSpPr>
          <p:cNvPr id="8" name="Shape 5"/>
          <p:cNvSpPr/>
          <p:nvPr/>
        </p:nvSpPr>
        <p:spPr>
          <a:xfrm>
            <a:off x="7369175" y="1778595"/>
            <a:ext cx="4006850" cy="1042591"/>
          </a:xfrm>
          <a:prstGeom prst="roundRect">
            <a:avLst>
              <a:gd name="adj" fmla="val 9440"/>
            </a:avLst>
          </a:prstGeom>
          <a:solidFill>
            <a:srgbClr val="FDFEFE"/>
          </a:solidFill>
          <a:ln w="6350">
            <a:solidFill>
              <a:srgbClr val="D6E1E6"/>
            </a:solidFill>
            <a:prstDash val="solid"/>
          </a:ln>
        </p:spPr>
      </p:sp>
      <p:sp>
        <p:nvSpPr>
          <p:cNvPr id="9" name="Text 6"/>
          <p:cNvSpPr/>
          <p:nvPr/>
        </p:nvSpPr>
        <p:spPr>
          <a:xfrm>
            <a:off x="7550150" y="1934170"/>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EXECUTOR</a:t>
            </a:r>
            <a:endParaRPr lang="en-US" sz="1200" dirty="0"/>
          </a:p>
        </p:txBody>
      </p:sp>
      <p:sp>
        <p:nvSpPr>
          <p:cNvPr id="10" name="Text 7"/>
          <p:cNvSpPr/>
          <p:nvPr/>
        </p:nvSpPr>
        <p:spPr>
          <a:xfrm>
            <a:off x="7550150" y="218559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48 steps. Created and saved the contact, then found both entries in the list.</a:t>
            </a:r>
            <a:endParaRPr lang="en-US" sz="1400" dirty="0"/>
          </a:p>
        </p:txBody>
      </p:sp>
      <p:sp>
        <p:nvSpPr>
          <p:cNvPr id="11" name="Shape 8"/>
          <p:cNvSpPr/>
          <p:nvPr/>
        </p:nvSpPr>
        <p:spPr>
          <a:xfrm>
            <a:off x="7369175" y="2929136"/>
            <a:ext cx="4006850" cy="1042591"/>
          </a:xfrm>
          <a:prstGeom prst="roundRect">
            <a:avLst>
              <a:gd name="adj" fmla="val 9440"/>
            </a:avLst>
          </a:prstGeom>
          <a:solidFill>
            <a:srgbClr val="FDFEFE"/>
          </a:solidFill>
          <a:ln w="6350">
            <a:solidFill>
              <a:srgbClr val="D6E1E6"/>
            </a:solidFill>
            <a:prstDash val="solid"/>
          </a:ln>
        </p:spPr>
      </p:sp>
      <p:sp>
        <p:nvSpPr>
          <p:cNvPr id="12" name="Text 9"/>
          <p:cNvSpPr/>
          <p:nvPr/>
        </p:nvSpPr>
        <p:spPr>
          <a:xfrm>
            <a:off x="7550150" y="3084711"/>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13" name="Text 10"/>
          <p:cNvSpPr/>
          <p:nvPr/>
        </p:nvSpPr>
        <p:spPr>
          <a:xfrm>
            <a:off x="7550150" y="333613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Objective refuted · spec violation, high severity</a:t>
            </a:r>
            <a:endParaRPr lang="en-US" sz="1400" dirty="0"/>
          </a:p>
        </p:txBody>
      </p:sp>
      <p:sp>
        <p:nvSpPr>
          <p:cNvPr id="14" name="Shape 11"/>
          <p:cNvSpPr/>
          <p:nvPr/>
        </p:nvSpPr>
        <p:spPr>
          <a:xfrm>
            <a:off x="7366000" y="4076502"/>
            <a:ext cx="4013200" cy="1518543"/>
          </a:xfrm>
          <a:prstGeom prst="roundRect">
            <a:avLst>
              <a:gd name="adj" fmla="val 6691"/>
            </a:avLst>
          </a:prstGeom>
          <a:solidFill>
            <a:srgbClr val="FBEDE6"/>
          </a:solidFill>
          <a:ln/>
        </p:spPr>
      </p:sp>
      <p:sp>
        <p:nvSpPr>
          <p:cNvPr id="15" name="Text 12"/>
          <p:cNvSpPr/>
          <p:nvPr/>
        </p:nvSpPr>
        <p:spPr>
          <a:xfrm>
            <a:off x="7543800" y="4228902"/>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502C"/>
                </a:solidFill>
                <a:latin typeface="IBM Plex Sans" pitchFamily="34" charset="0"/>
                <a:ea typeface="IBM Plex Sans" pitchFamily="34" charset="-122"/>
                <a:cs typeface="IBM Plex Sans" pitchFamily="34" charset="-120"/>
              </a:rPr>
              <a:t>ITS VERDICT</a:t>
            </a:r>
            <a:endParaRPr lang="en-US" sz="1200" dirty="0"/>
          </a:p>
        </p:txBody>
      </p:sp>
      <p:sp>
        <p:nvSpPr>
          <p:cNvPr id="16" name="Text 13"/>
          <p:cNvSpPr/>
          <p:nvPr/>
        </p:nvSpPr>
        <p:spPr>
          <a:xfrm>
            <a:off x="7543800" y="4480322"/>
            <a:ext cx="3767328" cy="77207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303D"/>
                </a:solidFill>
                <a:latin typeface="Source Serif 4" pitchFamily="34" charset="0"/>
                <a:ea typeface="Source Serif 4" pitchFamily="34" charset="-122"/>
                <a:cs typeface="Source Serif 4" pitchFamily="34" charset="-120"/>
              </a:rPr>
              <a:t>“This directly answers the earlier open question: duplicate detection is not triggered by phone-number match alone.”</a:t>
            </a:r>
            <a:endParaRPr lang="en-US" sz="1400" dirty="0"/>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PptxGenJS</cp:lastModifiedBy>
  <cp:revision>1</cp:revision>
  <dcterms:created xsi:type="dcterms:W3CDTF">2026-09-29T19:53:35Z</dcterms:created>
  <dcterms:modified xsi:type="dcterms:W3CDTF">2026-09-29T19:53:35Z</dcterms:modified>
</cp:coreProperties>
</file>