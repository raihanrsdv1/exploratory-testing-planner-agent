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80" r:id="rId2"/>
    <p:sldId id="281" r:id="rId3"/>
    <p:sldId id="282" r:id="rId4"/>
    <p:sldId id="283" r:id="rId5"/>
    <p:sldId id="286" r:id="rId6"/>
    <p:sldId id="285"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5314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Before the investigator, nothing a run observed ever reached the next plan. Now it reads each trajectory against what the test intended and writes typed findings. Each finding is one claim, and repeats are merged, so the graph records how often something was seen rather than piling up duplicates. There are eight kinds in four groups. Defects go to a human. Oracle findings feed back to the planner, which is how the next test is better informed. And the agent's own difficulties are kept separate, because they say nothing about the app. Open questions have a lifecycle, so the agent reaches conclusions instead of asking the same thing forever.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eight finding kinds across the top, each routed to exactly one destination. Red is defects, which a human reviews. Green is the oracle group, which is what the planner reads back next round. Blue is new controls, which enrich the map. Grey is the agent's own difficulties, kept apart so they can never inflate the defect count.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hard question is how the system knows it has seen something before, when every run is described by a model in different words. We first tried embedding similarity alone, and measured that it cannot work: a true restatement of a finding scored 0.846, while a genuinely different defect scored higher, 0.853. So the model decides. It is shown the known findings for the screens it touched and states which ones this run confirms; a confirmation reinforces the existing finding. Similarity is kept only as a safety net at 0.90. Similar findings on one screen can also be collapsed into one general claim. And storing findings rather than prose reports reversed the growth of the investigator's input: under prose it grew to almost 98,000 characters over a campaign; with findings it shrinks as the campaign goes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A finding that poses a question, such as "does this field really accept anything?", stays open until a later run settles it. The planner treats open questions as missions: it reserves room for them so old ones are not forgotten, and its test declares which question it is addressing. If the run settles it, it is resolved, confirmed or refuted. If three attempts fail to settle it, it is retired as inconclusive rather than asked forever. This is how the agent reaches conclusions instead of re-testing the same doubt. To be honest about scale: on the contacts app, 8 questions have been settled by a later run and 115 are still open, mostly unverified observations. The mechanism works end to end; it needs longer campaigns to pay off fully.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slide answers the question you will be asked about the pass rate. When a test fails, we record why, and classify it three ways. An app fault means the agent reached its checkpoint and the app really did the wrong thing: that is a finding. An agent fault means our executor could not drive the app, which says nothing about the app. An environment fault means a precondition was missing or the step budget ran out before any evidence. On the commerce app only 11 of 25 failures were about the app. Reporting the raw failure rate would have more than doubled the apparent defect count. None of the research systems we reviewed makes this distinction.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full tree behind the previous slide. A pass needs no classification. A failure is routed by its error type into exactly one of three classes: red is an app fault, and only these count as findings; grey is our executor failing to drive the app; orange is the environment, including running out of step budget before any evidence was produced. There is one definition of this mapping in the code, so every number in this deck is counted the same 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5">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investigator turns runs into knowledge</a:t>
            </a:r>
            <a:endParaRPr lang="en-US" sz="3000" dirty="0"/>
          </a:p>
        </p:txBody>
      </p:sp>
      <p:sp>
        <p:nvSpPr>
          <p:cNvPr id="4" name="Shape 2"/>
          <p:cNvSpPr/>
          <p:nvPr/>
        </p:nvSpPr>
        <p:spPr>
          <a:xfrm>
            <a:off x="812800" y="1775420"/>
            <a:ext cx="294680" cy="264120"/>
          </a:xfrm>
          <a:prstGeom prst="roundRect">
            <a:avLst>
              <a:gd name="adj" fmla="val 50000"/>
            </a:avLst>
          </a:prstGeom>
          <a:solidFill>
            <a:srgbClr val="0F7EA8"/>
          </a:solidFill>
          <a:ln/>
        </p:spPr>
        <p:txBody>
          <a:bodyPr/>
          <a:lstStyle/>
          <a:p>
            <a:endParaRPr lang="en-US"/>
          </a:p>
        </p:txBody>
      </p:sp>
      <p:sp>
        <p:nvSpPr>
          <p:cNvPr id="5" name="Text 3"/>
          <p:cNvSpPr/>
          <p:nvPr/>
        </p:nvSpPr>
        <p:spPr>
          <a:xfrm>
            <a:off x="914400" y="180082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1234480" y="1775420"/>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Reads the run</a:t>
            </a:r>
            <a:endParaRPr lang="en-US" sz="1400" dirty="0"/>
          </a:p>
        </p:txBody>
      </p:sp>
      <p:sp>
        <p:nvSpPr>
          <p:cNvPr id="7" name="Text 5"/>
          <p:cNvSpPr/>
          <p:nvPr/>
        </p:nvSpPr>
        <p:spPr>
          <a:xfrm>
            <a:off x="1234480" y="2031950"/>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Compares the device's step log with what the test was meant to verify.</a:t>
            </a:r>
            <a:endParaRPr lang="en-US" sz="1200" dirty="0"/>
          </a:p>
        </p:txBody>
      </p:sp>
      <p:sp>
        <p:nvSpPr>
          <p:cNvPr id="8" name="Shape 6"/>
          <p:cNvSpPr/>
          <p:nvPr/>
        </p:nvSpPr>
        <p:spPr>
          <a:xfrm>
            <a:off x="812800" y="2636391"/>
            <a:ext cx="294680" cy="264120"/>
          </a:xfrm>
          <a:prstGeom prst="roundRect">
            <a:avLst>
              <a:gd name="adj" fmla="val 50000"/>
            </a:avLst>
          </a:prstGeom>
          <a:solidFill>
            <a:srgbClr val="0F7EA8"/>
          </a:solidFill>
          <a:ln/>
        </p:spPr>
        <p:txBody>
          <a:bodyPr/>
          <a:lstStyle/>
          <a:p>
            <a:endParaRPr lang="en-US"/>
          </a:p>
        </p:txBody>
      </p:sp>
      <p:sp>
        <p:nvSpPr>
          <p:cNvPr id="9" name="Text 7"/>
          <p:cNvSpPr/>
          <p:nvPr/>
        </p:nvSpPr>
        <p:spPr>
          <a:xfrm>
            <a:off x="914400" y="2661791"/>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1234480" y="2636391"/>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Writes typed findings</a:t>
            </a:r>
            <a:endParaRPr lang="en-US" sz="1400" dirty="0"/>
          </a:p>
        </p:txBody>
      </p:sp>
      <p:sp>
        <p:nvSpPr>
          <p:cNvPr id="11" name="Text 9"/>
          <p:cNvSpPr/>
          <p:nvPr/>
        </p:nvSpPr>
        <p:spPr>
          <a:xfrm>
            <a:off x="1234480" y="2892921"/>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is one atomic claim. A repeat observation reinforces an existing finding instead of creating a new one.</a:t>
            </a:r>
            <a:endParaRPr lang="en-US" sz="1200" dirty="0"/>
          </a:p>
        </p:txBody>
      </p:sp>
      <p:sp>
        <p:nvSpPr>
          <p:cNvPr id="12" name="Shape 10"/>
          <p:cNvSpPr/>
          <p:nvPr/>
        </p:nvSpPr>
        <p:spPr>
          <a:xfrm>
            <a:off x="812800" y="3497362"/>
            <a:ext cx="294680" cy="264120"/>
          </a:xfrm>
          <a:prstGeom prst="roundRect">
            <a:avLst>
              <a:gd name="adj" fmla="val 50000"/>
            </a:avLst>
          </a:prstGeom>
          <a:solidFill>
            <a:srgbClr val="0F7EA8"/>
          </a:solidFill>
          <a:ln/>
        </p:spPr>
        <p:txBody>
          <a:bodyPr/>
          <a:lstStyle/>
          <a:p>
            <a:endParaRPr lang="en-US"/>
          </a:p>
        </p:txBody>
      </p:sp>
      <p:sp>
        <p:nvSpPr>
          <p:cNvPr id="13" name="Text 11"/>
          <p:cNvSpPr/>
          <p:nvPr/>
        </p:nvSpPr>
        <p:spPr>
          <a:xfrm>
            <a:off x="914400" y="3522762"/>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1234480" y="3497362"/>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Settles open questions</a:t>
            </a:r>
            <a:endParaRPr lang="en-US" sz="1400" dirty="0"/>
          </a:p>
        </p:txBody>
      </p:sp>
      <p:sp>
        <p:nvSpPr>
          <p:cNvPr id="15" name="Text 13"/>
          <p:cNvSpPr/>
          <p:nvPr/>
        </p:nvSpPr>
        <p:spPr>
          <a:xfrm>
            <a:off x="1234480" y="3753892"/>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question one run raises is answered by a later run, or retired as inconclusive after three attempts.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829300" y="1788120"/>
          <a:ext cx="5549900" cy="2516683"/>
        </p:xfrm>
        <a:graphic>
          <a:graphicData uri="http://schemas.openxmlformats.org/drawingml/2006/table">
            <a:tbl>
              <a:tblPr/>
              <a:tblGrid>
                <a:gridCol w="998982">
                  <a:extLst>
                    <a:ext uri="{9D8B030D-6E8A-4147-A177-3AD203B41FA5}">
                      <a16:colId xmlns:a16="http://schemas.microsoft.com/office/drawing/2014/main" val="20000"/>
                    </a:ext>
                  </a:extLst>
                </a:gridCol>
                <a:gridCol w="2774950">
                  <a:extLst>
                    <a:ext uri="{9D8B030D-6E8A-4147-A177-3AD203B41FA5}">
                      <a16:colId xmlns:a16="http://schemas.microsoft.com/office/drawing/2014/main" val="20001"/>
                    </a:ext>
                  </a:extLst>
                </a:gridCol>
                <a:gridCol w="1775968">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Group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Finding kinds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Used for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Defect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SUSPECTED_DEFECT, SPEC_VIOLATION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human reviews 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75932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Oracle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CONFIRMED_BEHAVIOUR, UNEXPECTED_BEHAVIOUR, SPEC_GAP, UNVERIFIED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Fed back to the planner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UI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CONTROL_DISCOVERED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Adds to the app map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Agent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AGENT_DIFFICULTY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Our own limits, never app evidence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p:nvPr/>
        </p:nvSpPr>
        <p:spPr>
          <a:xfrm>
            <a:off x="5816600" y="4457204"/>
            <a:ext cx="572947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Contacts app so far: 345 findings, including 36 suspected defects and 21 specification violations.</a:t>
            </a:r>
            <a:endParaRPr lang="en-US" sz="1200" dirty="0"/>
          </a:p>
        </p:txBody>
      </p:sp>
      <p:sp>
        <p:nvSpPr>
          <p:cNvPr id="18" name="Text 1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9" name="Text 16"/>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6">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IN DETAIL</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Eight kinds of finding, four destinations</a:t>
            </a:r>
            <a:endParaRPr lang="en-US" sz="3000" dirty="0"/>
          </a:p>
        </p:txBody>
      </p:sp>
      <p:sp>
        <p:nvSpPr>
          <p:cNvPr id="4" name="Shape 2"/>
          <p:cNvSpPr/>
          <p:nvPr/>
        </p:nvSpPr>
        <p:spPr>
          <a:xfrm>
            <a:off x="812800" y="1724620"/>
            <a:ext cx="10566400" cy="1778000"/>
          </a:xfrm>
          <a:prstGeom prst="roundRect">
            <a:avLst>
              <a:gd name="adj" fmla="val 5714"/>
            </a:avLst>
          </a:prstGeom>
          <a:solidFill>
            <a:srgbClr val="FDFEFE"/>
          </a:solidFill>
          <a:ln/>
        </p:spPr>
        <p:txBody>
          <a:bodyPr/>
          <a:lstStyle/>
          <a:p>
            <a:endParaRPr lang="en-US"/>
          </a:p>
        </p:txBody>
      </p:sp>
      <p:pic>
        <p:nvPicPr>
          <p:cNvPr id="5" name="Image 0" descr="Finding taxonomy: eight finding kinds in a row, each routed to one of four groups: defect, oracle, UI and agent"/>
          <p:cNvPicPr>
            <a:picLocks noChangeAspect="1"/>
          </p:cNvPicPr>
          <p:nvPr/>
        </p:nvPicPr>
        <p:blipFill>
          <a:blip r:embed="rId3"/>
          <a:stretch>
            <a:fillRect/>
          </a:stretch>
        </p:blipFill>
        <p:spPr>
          <a:xfrm>
            <a:off x="819150" y="1795950"/>
            <a:ext cx="10553700" cy="1635340"/>
          </a:xfrm>
          <a:custGeom>
            <a:avLst/>
            <a:gdLst/>
            <a:ahLst/>
            <a:cxnLst/>
            <a:rect l="l" t="t" r="r" b="b"/>
            <a:pathLst>
              <a:path w="10553700" h="1635340">
                <a:moveTo>
                  <a:pt x="0" y="30270"/>
                </a:moveTo>
                <a:arcTo wR="95250" hR="95250" stAng="10800000" swAng="1111775"/>
                <a:lnTo>
                  <a:pt x="10548762" y="0"/>
                </a:lnTo>
                <a:arcTo wR="95250" hR="95250" stAng="20488225" swAng="1111775"/>
                <a:lnTo>
                  <a:pt x="10553700" y="1605070"/>
                </a:lnTo>
                <a:arcTo wR="95250" hR="95250" stAng="0" swAng="1111775"/>
                <a:lnTo>
                  <a:pt x="4938" y="1635340"/>
                </a:lnTo>
                <a:arcTo wR="95250" hR="95250" stAng="9688225" swAng="1111775"/>
                <a:close/>
              </a:path>
            </a:pathLst>
          </a:custGeom>
        </p:spPr>
      </p:pic>
      <p:sp>
        <p:nvSpPr>
          <p:cNvPr id="6" name="Shape 3"/>
          <p:cNvSpPr/>
          <p:nvPr/>
        </p:nvSpPr>
        <p:spPr>
          <a:xfrm>
            <a:off x="815975" y="1727795"/>
            <a:ext cx="10560050" cy="1771650"/>
          </a:xfrm>
          <a:prstGeom prst="roundRect">
            <a:avLst>
              <a:gd name="adj" fmla="val 5556"/>
            </a:avLst>
          </a:prstGeom>
          <a:noFill/>
          <a:ln w="6350">
            <a:solidFill>
              <a:srgbClr val="D6E1E6"/>
            </a:solidFill>
            <a:prstDash val="solid"/>
          </a:ln>
        </p:spPr>
        <p:txBody>
          <a:bodyPr/>
          <a:lstStyle/>
          <a:p>
            <a:endParaRPr lang="en-US"/>
          </a:p>
        </p:txBody>
      </p:sp>
      <p:sp>
        <p:nvSpPr>
          <p:cNvPr id="7" name="Shape 4"/>
          <p:cNvSpPr/>
          <p:nvPr/>
        </p:nvSpPr>
        <p:spPr>
          <a:xfrm>
            <a:off x="8159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8" name="Text 5"/>
          <p:cNvSpPr/>
          <p:nvPr/>
        </p:nvSpPr>
        <p:spPr>
          <a:xfrm>
            <a:off x="9969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8B1A1A"/>
                </a:solidFill>
                <a:latin typeface="IBM Plex Sans" pitchFamily="34" charset="0"/>
                <a:ea typeface="IBM Plex Sans" pitchFamily="34" charset="-122"/>
                <a:cs typeface="IBM Plex Sans" pitchFamily="34" charset="-120"/>
              </a:rPr>
              <a:t>Red: defect</a:t>
            </a:r>
            <a:endParaRPr lang="en-US" sz="1400" dirty="0"/>
          </a:p>
        </p:txBody>
      </p:sp>
      <p:sp>
        <p:nvSpPr>
          <p:cNvPr id="9" name="Text 6"/>
          <p:cNvSpPr/>
          <p:nvPr/>
        </p:nvSpPr>
        <p:spPr>
          <a:xfrm>
            <a:off x="9969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Suspected defects and spec violations go to a human.</a:t>
            </a:r>
            <a:endParaRPr lang="en-US" sz="1200" dirty="0"/>
          </a:p>
        </p:txBody>
      </p:sp>
      <p:sp>
        <p:nvSpPr>
          <p:cNvPr id="10" name="Shape 7"/>
          <p:cNvSpPr/>
          <p:nvPr/>
        </p:nvSpPr>
        <p:spPr>
          <a:xfrm>
            <a:off x="34956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1" name="Text 8"/>
          <p:cNvSpPr/>
          <p:nvPr/>
        </p:nvSpPr>
        <p:spPr>
          <a:xfrm>
            <a:off x="36766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B5E27"/>
                </a:solidFill>
                <a:latin typeface="IBM Plex Sans" pitchFamily="34" charset="0"/>
                <a:ea typeface="IBM Plex Sans" pitchFamily="34" charset="-122"/>
                <a:cs typeface="IBM Plex Sans" pitchFamily="34" charset="-120"/>
              </a:rPr>
              <a:t>Green: oracle</a:t>
            </a:r>
            <a:endParaRPr lang="en-US" sz="1400" dirty="0"/>
          </a:p>
        </p:txBody>
      </p:sp>
      <p:sp>
        <p:nvSpPr>
          <p:cNvPr id="12" name="Text 9"/>
          <p:cNvSpPr/>
          <p:nvPr/>
        </p:nvSpPr>
        <p:spPr>
          <a:xfrm>
            <a:off x="36766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the app does, or leaves unclear, feeds the planner.</a:t>
            </a:r>
            <a:endParaRPr lang="en-US" sz="1200" dirty="0"/>
          </a:p>
        </p:txBody>
      </p:sp>
      <p:sp>
        <p:nvSpPr>
          <p:cNvPr id="13" name="Shape 10"/>
          <p:cNvSpPr/>
          <p:nvPr/>
        </p:nvSpPr>
        <p:spPr>
          <a:xfrm>
            <a:off x="61753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4" name="Text 11"/>
          <p:cNvSpPr/>
          <p:nvPr/>
        </p:nvSpPr>
        <p:spPr>
          <a:xfrm>
            <a:off x="63563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B4A87"/>
                </a:solidFill>
                <a:latin typeface="IBM Plex Sans" pitchFamily="34" charset="0"/>
                <a:ea typeface="IBM Plex Sans" pitchFamily="34" charset="-122"/>
                <a:cs typeface="IBM Plex Sans" pitchFamily="34" charset="-120"/>
              </a:rPr>
              <a:t>Blue: UI</a:t>
            </a:r>
            <a:endParaRPr lang="en-US" sz="1400" dirty="0"/>
          </a:p>
        </p:txBody>
      </p:sp>
      <p:sp>
        <p:nvSpPr>
          <p:cNvPr id="15" name="Text 12"/>
          <p:cNvSpPr/>
          <p:nvPr/>
        </p:nvSpPr>
        <p:spPr>
          <a:xfrm>
            <a:off x="63563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newly found control enriches the app map.</a:t>
            </a:r>
            <a:endParaRPr lang="en-US" sz="1200" dirty="0"/>
          </a:p>
        </p:txBody>
      </p:sp>
      <p:sp>
        <p:nvSpPr>
          <p:cNvPr id="16" name="Shape 13"/>
          <p:cNvSpPr/>
          <p:nvPr/>
        </p:nvSpPr>
        <p:spPr>
          <a:xfrm>
            <a:off x="88550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7" name="Text 14"/>
          <p:cNvSpPr/>
          <p:nvPr/>
        </p:nvSpPr>
        <p:spPr>
          <a:xfrm>
            <a:off x="90360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343A40"/>
                </a:solidFill>
                <a:latin typeface="IBM Plex Sans" pitchFamily="34" charset="0"/>
                <a:ea typeface="IBM Plex Sans" pitchFamily="34" charset="-122"/>
                <a:cs typeface="IBM Plex Sans" pitchFamily="34" charset="-120"/>
              </a:rPr>
              <a:t>Grey: agent</a:t>
            </a:r>
            <a:endParaRPr lang="en-US" sz="1400" dirty="0"/>
          </a:p>
        </p:txBody>
      </p:sp>
      <p:sp>
        <p:nvSpPr>
          <p:cNvPr id="18" name="Text 15"/>
          <p:cNvSpPr/>
          <p:nvPr/>
        </p:nvSpPr>
        <p:spPr>
          <a:xfrm>
            <a:off x="90360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Our own difficulties, never counted as app evidence.</a:t>
            </a:r>
            <a:endParaRPr lang="en-US" sz="1200" dirty="0"/>
          </a:p>
        </p:txBody>
      </p:sp>
      <p:sp>
        <p:nvSpPr>
          <p:cNvPr id="19" name="Text 16"/>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0" name="Text 17"/>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7">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DEDUPLICATION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Knowing a finding is the same finding</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1 · Shown what is known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sees up to 12 known findings for the screens this run touched.</a:t>
            </a:r>
            <a:endParaRPr lang="en-US" sz="1200" dirty="0"/>
          </a:p>
        </p:txBody>
      </p:sp>
      <p:sp>
        <p:nvSpPr>
          <p:cNvPr id="7" name="Shape 5"/>
          <p:cNvSpPr/>
          <p:nvPr/>
        </p:nvSpPr>
        <p:spPr>
          <a:xfrm>
            <a:off x="4388892" y="1778595"/>
            <a:ext cx="3414216"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8" name="Text 6"/>
          <p:cNvSpPr/>
          <p:nvPr/>
        </p:nvSpPr>
        <p:spPr>
          <a:xfrm>
            <a:off x="4569867" y="1959570"/>
            <a:ext cx="3143834"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2 · Says what it confirms</a:t>
            </a:r>
            <a:endParaRPr lang="en-US" sz="1400" dirty="0"/>
          </a:p>
        </p:txBody>
      </p:sp>
      <p:sp>
        <p:nvSpPr>
          <p:cNvPr id="9" name="Text 7"/>
          <p:cNvSpPr/>
          <p:nvPr/>
        </p:nvSpPr>
        <p:spPr>
          <a:xfrm>
            <a:off x="4569867" y="2241500"/>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confirmation reinforces the existing finding instead of adding a new one.</a:t>
            </a:r>
            <a:endParaRPr lang="en-US" sz="1200" dirty="0"/>
          </a:p>
        </p:txBody>
      </p:sp>
      <p:sp>
        <p:nvSpPr>
          <p:cNvPr id="10" name="Shape 8"/>
          <p:cNvSpPr/>
          <p:nvPr/>
        </p:nvSpPr>
        <p:spPr>
          <a:xfrm>
            <a:off x="7961858" y="1778595"/>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8142833" y="1959570"/>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3 · Embedding safety net</a:t>
            </a:r>
            <a:endParaRPr lang="en-US" sz="1400" dirty="0"/>
          </a:p>
        </p:txBody>
      </p:sp>
      <p:sp>
        <p:nvSpPr>
          <p:cNvPr id="12" name="Text 10"/>
          <p:cNvSpPr/>
          <p:nvPr/>
        </p:nvSpPr>
        <p:spPr>
          <a:xfrm>
            <a:off x="8142833" y="2241500"/>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new claim at 0.90 cosine or more to one in the same group is merged anyway.</a:t>
            </a:r>
            <a:endParaRPr lang="en-US" sz="1200" dirty="0"/>
          </a:p>
        </p:txBody>
      </p:sp>
      <p:sp>
        <p:nvSpPr>
          <p:cNvPr id="13" name="Text 11"/>
          <p:cNvSpPr/>
          <p:nvPr/>
        </p:nvSpPr>
        <p:spPr>
          <a:xfrm>
            <a:off x="812800" y="300469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Why the model decides, not similarity alone:</a:t>
            </a:r>
            <a:r>
              <a:rPr lang="en-US" sz="1200" dirty="0">
                <a:solidFill>
                  <a:srgbClr val="14303D"/>
                </a:solidFill>
                <a:latin typeface="IBM Plex Sans" pitchFamily="34" charset="0"/>
                <a:ea typeface="IBM Plex Sans" pitchFamily="34" charset="-122"/>
                <a:cs typeface="IBM Plex Sans" pitchFamily="34" charset="-120"/>
              </a:rPr>
              <a:t> a true restatement of one finding scored 0.846, while a genuinely different defect scored 0.853.</a:t>
            </a:r>
            <a:endParaRPr lang="en-US" sz="1200" dirty="0"/>
          </a:p>
        </p:txBody>
      </p:sp>
      <p:sp>
        <p:nvSpPr>
          <p:cNvPr id="14" name="Shape 12"/>
          <p:cNvSpPr/>
          <p:nvPr/>
        </p:nvSpPr>
        <p:spPr>
          <a:xfrm>
            <a:off x="815975" y="3373586"/>
            <a:ext cx="5207000" cy="1283841"/>
          </a:xfrm>
          <a:prstGeom prst="roundRect">
            <a:avLst>
              <a:gd name="adj" fmla="val 7666"/>
            </a:avLst>
          </a:prstGeom>
          <a:solidFill>
            <a:srgbClr val="FDFEFE"/>
          </a:solidFill>
          <a:ln w="6350">
            <a:solidFill>
              <a:srgbClr val="D6E1E6"/>
            </a:solidFill>
            <a:prstDash val="solid"/>
          </a:ln>
        </p:spPr>
        <p:txBody>
          <a:bodyPr/>
          <a:lstStyle/>
          <a:p>
            <a:endParaRPr lang="en-US"/>
          </a:p>
        </p:txBody>
      </p:sp>
      <p:sp>
        <p:nvSpPr>
          <p:cNvPr id="15" name="Text 13"/>
          <p:cNvSpPr/>
          <p:nvPr/>
        </p:nvSpPr>
        <p:spPr>
          <a:xfrm>
            <a:off x="996950" y="3554561"/>
            <a:ext cx="499040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Clusters become one claim</a:t>
            </a:r>
            <a:endParaRPr lang="en-US" sz="1400" dirty="0"/>
          </a:p>
        </p:txBody>
      </p:sp>
      <p:sp>
        <p:nvSpPr>
          <p:cNvPr id="16" name="Text 14"/>
          <p:cNvSpPr/>
          <p:nvPr/>
        </p:nvSpPr>
        <p:spPr>
          <a:xfrm>
            <a:off x="996950" y="3836491"/>
            <a:ext cx="49904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Three or more similar findings on one screen (0.72) can be merged into a general claim. On the contacts app, 5 general claims stand for 26 specific ones.</a:t>
            </a:r>
            <a:endParaRPr lang="en-US" sz="1200" dirty="0"/>
          </a:p>
        </p:txBody>
      </p:sp>
      <p:sp>
        <p:nvSpPr>
          <p:cNvPr id="17" name="Shape 15"/>
          <p:cNvSpPr/>
          <p:nvPr/>
        </p:nvSpPr>
        <p:spPr>
          <a:xfrm>
            <a:off x="6178550" y="3370411"/>
            <a:ext cx="5200650" cy="1290191"/>
          </a:xfrm>
          <a:prstGeom prst="roundRect">
            <a:avLst>
              <a:gd name="adj" fmla="val 7875"/>
            </a:avLst>
          </a:prstGeom>
          <a:solidFill>
            <a:srgbClr val="14303D"/>
          </a:solidFill>
          <a:ln/>
        </p:spPr>
        <p:txBody>
          <a:bodyPr/>
          <a:lstStyle/>
          <a:p>
            <a:endParaRPr lang="en-US"/>
          </a:p>
        </p:txBody>
      </p:sp>
      <p:sp>
        <p:nvSpPr>
          <p:cNvPr id="18" name="Text 16"/>
          <p:cNvSpPr/>
          <p:nvPr/>
        </p:nvSpPr>
        <p:spPr>
          <a:xfrm>
            <a:off x="6356350" y="3548211"/>
            <a:ext cx="499040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Findings, not prose, keep input small</a:t>
            </a:r>
            <a:endParaRPr lang="en-US" sz="1400" dirty="0"/>
          </a:p>
        </p:txBody>
      </p:sp>
      <p:sp>
        <p:nvSpPr>
          <p:cNvPr id="19" name="Text 17"/>
          <p:cNvSpPr/>
          <p:nvPr/>
        </p:nvSpPr>
        <p:spPr>
          <a:xfrm>
            <a:off x="6356350" y="3830141"/>
            <a:ext cx="49904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A"/>
                </a:solidFill>
                <a:latin typeface="IBM Plex Sans" pitchFamily="34" charset="0"/>
                <a:ea typeface="IBM Plex Sans" pitchFamily="34" charset="-122"/>
                <a:cs typeface="IBM Plex Sans" pitchFamily="34" charset="-120"/>
              </a:rPr>
              <a:t>With prose reports the investigator's input grew from 28,344 to 97,796 characters over a campaign. With findings it shrank from 20,466 to 10,959.</a:t>
            </a:r>
            <a:endParaRPr lang="en-US" sz="1200" dirty="0"/>
          </a:p>
        </p:txBody>
      </p:sp>
      <p:sp>
        <p:nvSpPr>
          <p:cNvPr id="20" name="Text 18"/>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8">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OPEN QUESTIONS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From observations to conclusions</a:t>
            </a:r>
            <a:endParaRPr lang="en-US" sz="3000" dirty="0"/>
          </a:p>
        </p:txBody>
      </p:sp>
      <p:sp>
        <p:nvSpPr>
          <p:cNvPr id="4" name="Shape 2"/>
          <p:cNvSpPr/>
          <p:nvPr/>
        </p:nvSpPr>
        <p:spPr>
          <a:xfrm>
            <a:off x="819150" y="2101850"/>
            <a:ext cx="2146300" cy="939800"/>
          </a:xfrm>
          <a:prstGeom prst="roundRect">
            <a:avLst>
              <a:gd name="adj" fmla="val 10135"/>
            </a:avLst>
          </a:prstGeom>
          <a:solidFill>
            <a:srgbClr val="FDFEFE"/>
          </a:solidFill>
          <a:ln w="12700">
            <a:solidFill>
              <a:srgbClr val="0F7EA8"/>
            </a:solidFill>
            <a:prstDash val="solid"/>
          </a:ln>
        </p:spPr>
        <p:txBody>
          <a:bodyPr/>
          <a:lstStyle/>
          <a:p>
            <a:endParaRPr lang="en-US"/>
          </a:p>
        </p:txBody>
      </p:sp>
      <p:sp>
        <p:nvSpPr>
          <p:cNvPr id="5" name="Text 3"/>
          <p:cNvSpPr/>
          <p:nvPr/>
        </p:nvSpPr>
        <p:spPr>
          <a:xfrm>
            <a:off x="977900" y="2260600"/>
            <a:ext cx="1883664" cy="235099"/>
          </a:xfrm>
          <a:prstGeom prst="rect">
            <a:avLst/>
          </a:prstGeom>
          <a:noFill/>
          <a:ln/>
        </p:spPr>
        <p:txBody>
          <a:bodyPr wrap="square" lIns="0" tIns="0" rIns="0" bIns="0" rtlCol="0" anchor="t">
            <a:normAutofit/>
          </a:bodyPr>
          <a:lstStyle/>
          <a:p>
            <a:pPr marL="0" indent="0" algn="l">
              <a:lnSpc>
                <a:spcPts val="1672"/>
              </a:lnSpc>
              <a:buNone/>
            </a:pPr>
            <a:r>
              <a:rPr lang="en-US" sz="1286" b="1" dirty="0">
                <a:solidFill>
                  <a:srgbClr val="14303D"/>
                </a:solidFill>
                <a:latin typeface="IBM Plex Sans" pitchFamily="34" charset="0"/>
                <a:ea typeface="IBM Plex Sans" pitchFamily="34" charset="-122"/>
                <a:cs typeface="IBM Plex Sans" pitchFamily="34" charset="-120"/>
              </a:rPr>
              <a:t>Open</a:t>
            </a:r>
            <a:endParaRPr lang="en-US" sz="1286" dirty="0"/>
          </a:p>
        </p:txBody>
      </p:sp>
      <p:sp>
        <p:nvSpPr>
          <p:cNvPr id="6" name="Text 4"/>
          <p:cNvSpPr/>
          <p:nvPr/>
        </p:nvSpPr>
        <p:spPr>
          <a:xfrm>
            <a:off x="977900" y="2495699"/>
            <a:ext cx="1883664" cy="412601"/>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6596A"/>
                </a:solidFill>
                <a:latin typeface="IBM Plex Sans" pitchFamily="34" charset="0"/>
                <a:ea typeface="IBM Plex Sans" pitchFamily="34" charset="-122"/>
                <a:cs typeface="IBM Plex Sans" pitchFamily="34" charset="-120"/>
              </a:rPr>
              <a:t>a run raised a question it could not settle</a:t>
            </a:r>
            <a:endParaRPr lang="en-US" sz="1095" dirty="0"/>
          </a:p>
        </p:txBody>
      </p:sp>
      <p:sp>
        <p:nvSpPr>
          <p:cNvPr id="7" name="Shape 5"/>
          <p:cNvSpPr/>
          <p:nvPr/>
        </p:nvSpPr>
        <p:spPr>
          <a:xfrm>
            <a:off x="3943350" y="2101850"/>
            <a:ext cx="2146300" cy="939800"/>
          </a:xfrm>
          <a:prstGeom prst="roundRect">
            <a:avLst>
              <a:gd name="adj" fmla="val 10135"/>
            </a:avLst>
          </a:prstGeom>
          <a:solidFill>
            <a:srgbClr val="FDFEFE"/>
          </a:solidFill>
          <a:ln w="12700">
            <a:solidFill>
              <a:srgbClr val="0F7EA8"/>
            </a:solidFill>
            <a:prstDash val="solid"/>
          </a:ln>
        </p:spPr>
        <p:txBody>
          <a:bodyPr/>
          <a:lstStyle/>
          <a:p>
            <a:endParaRPr lang="en-US"/>
          </a:p>
        </p:txBody>
      </p:sp>
      <p:sp>
        <p:nvSpPr>
          <p:cNvPr id="8" name="Text 6"/>
          <p:cNvSpPr/>
          <p:nvPr/>
        </p:nvSpPr>
        <p:spPr>
          <a:xfrm>
            <a:off x="4102100" y="2260600"/>
            <a:ext cx="1883664" cy="235099"/>
          </a:xfrm>
          <a:prstGeom prst="rect">
            <a:avLst/>
          </a:prstGeom>
          <a:noFill/>
          <a:ln/>
        </p:spPr>
        <p:txBody>
          <a:bodyPr wrap="square" lIns="0" tIns="0" rIns="0" bIns="0" rtlCol="0" anchor="t">
            <a:normAutofit/>
          </a:bodyPr>
          <a:lstStyle/>
          <a:p>
            <a:pPr marL="0" indent="0" algn="l">
              <a:lnSpc>
                <a:spcPts val="1672"/>
              </a:lnSpc>
              <a:buNone/>
            </a:pPr>
            <a:r>
              <a:rPr lang="en-US" sz="1286" b="1" dirty="0">
                <a:solidFill>
                  <a:srgbClr val="14303D"/>
                </a:solidFill>
                <a:latin typeface="IBM Plex Sans" pitchFamily="34" charset="0"/>
                <a:ea typeface="IBM Plex Sans" pitchFamily="34" charset="-122"/>
                <a:cs typeface="IBM Plex Sans" pitchFamily="34" charset="-120"/>
              </a:rPr>
              <a:t>Attempted</a:t>
            </a:r>
            <a:endParaRPr lang="en-US" sz="1286" dirty="0"/>
          </a:p>
        </p:txBody>
      </p:sp>
      <p:sp>
        <p:nvSpPr>
          <p:cNvPr id="9" name="Text 7"/>
          <p:cNvSpPr/>
          <p:nvPr/>
        </p:nvSpPr>
        <p:spPr>
          <a:xfrm>
            <a:off x="4102100" y="2495699"/>
            <a:ext cx="1883664" cy="412601"/>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6596A"/>
                </a:solidFill>
                <a:latin typeface="IBM Plex Sans" pitchFamily="34" charset="0"/>
                <a:ea typeface="IBM Plex Sans" pitchFamily="34" charset="-122"/>
                <a:cs typeface="IBM Plex Sans" pitchFamily="34" charset="-120"/>
              </a:rPr>
              <a:t>a later test declares it addresses it</a:t>
            </a:r>
            <a:endParaRPr lang="en-US" sz="1095" dirty="0"/>
          </a:p>
        </p:txBody>
      </p:sp>
      <p:sp>
        <p:nvSpPr>
          <p:cNvPr id="10" name="Shape 8"/>
          <p:cNvSpPr/>
          <p:nvPr/>
        </p:nvSpPr>
        <p:spPr>
          <a:xfrm>
            <a:off x="7064375" y="1844675"/>
            <a:ext cx="4311650" cy="692150"/>
          </a:xfrm>
          <a:prstGeom prst="roundRect">
            <a:avLst>
              <a:gd name="adj" fmla="val 14220"/>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7219950" y="1974850"/>
            <a:ext cx="4120515" cy="243334"/>
          </a:xfrm>
          <a:prstGeom prst="rect">
            <a:avLst/>
          </a:prstGeom>
          <a:noFill/>
          <a:ln/>
        </p:spPr>
        <p:txBody>
          <a:bodyPr wrap="square" lIns="0" tIns="0" rIns="0" bIns="0" rtlCol="0" anchor="t">
            <a:normAutofit/>
          </a:bodyPr>
          <a:lstStyle/>
          <a:p>
            <a:pPr marL="0" indent="0" algn="l">
              <a:lnSpc>
                <a:spcPts val="1723"/>
              </a:lnSpc>
              <a:buNone/>
            </a:pPr>
            <a:r>
              <a:rPr lang="en-US" sz="1326" b="1" dirty="0">
                <a:solidFill>
                  <a:srgbClr val="0B6A8F"/>
                </a:solidFill>
                <a:latin typeface="IBM Plex Sans" pitchFamily="34" charset="0"/>
                <a:ea typeface="IBM Plex Sans" pitchFamily="34" charset="-122"/>
                <a:cs typeface="IBM Plex Sans" pitchFamily="34" charset="-120"/>
              </a:rPr>
              <a:t>Resolved</a:t>
            </a:r>
            <a:endParaRPr lang="en-US" sz="1326" dirty="0"/>
          </a:p>
        </p:txBody>
      </p:sp>
      <p:sp>
        <p:nvSpPr>
          <p:cNvPr id="12" name="Text 10"/>
          <p:cNvSpPr/>
          <p:nvPr/>
        </p:nvSpPr>
        <p:spPr>
          <a:xfrm>
            <a:off x="7219950" y="2205484"/>
            <a:ext cx="4120515" cy="226566"/>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6596A"/>
                </a:solidFill>
                <a:latin typeface="IBM Plex Sans" pitchFamily="34" charset="0"/>
                <a:ea typeface="IBM Plex Sans" pitchFamily="34" charset="-122"/>
                <a:cs typeface="IBM Plex Sans" pitchFamily="34" charset="-120"/>
              </a:rPr>
              <a:t>the run settled it, confirmed or refuted</a:t>
            </a:r>
            <a:endParaRPr lang="en-US" sz="1159" dirty="0"/>
          </a:p>
        </p:txBody>
      </p:sp>
      <p:sp>
        <p:nvSpPr>
          <p:cNvPr id="13" name="Shape 11"/>
          <p:cNvSpPr/>
          <p:nvPr/>
        </p:nvSpPr>
        <p:spPr>
          <a:xfrm>
            <a:off x="7064375" y="2670175"/>
            <a:ext cx="4311650" cy="692150"/>
          </a:xfrm>
          <a:prstGeom prst="roundRect">
            <a:avLst>
              <a:gd name="adj" fmla="val 14220"/>
            </a:avLst>
          </a:prstGeom>
          <a:solidFill>
            <a:srgbClr val="FDFEFE"/>
          </a:solidFill>
          <a:ln w="6350">
            <a:solidFill>
              <a:srgbClr val="D6E1E6"/>
            </a:solidFill>
            <a:prstDash val="solid"/>
          </a:ln>
        </p:spPr>
        <p:txBody>
          <a:bodyPr/>
          <a:lstStyle/>
          <a:p>
            <a:endParaRPr lang="en-US"/>
          </a:p>
        </p:txBody>
      </p:sp>
      <p:sp>
        <p:nvSpPr>
          <p:cNvPr id="14" name="Text 12"/>
          <p:cNvSpPr/>
          <p:nvPr/>
        </p:nvSpPr>
        <p:spPr>
          <a:xfrm>
            <a:off x="7219950" y="2800350"/>
            <a:ext cx="4120515" cy="243334"/>
          </a:xfrm>
          <a:prstGeom prst="rect">
            <a:avLst/>
          </a:prstGeom>
          <a:noFill/>
          <a:ln/>
        </p:spPr>
        <p:txBody>
          <a:bodyPr wrap="square" lIns="0" tIns="0" rIns="0" bIns="0" rtlCol="0" anchor="t">
            <a:normAutofit/>
          </a:bodyPr>
          <a:lstStyle/>
          <a:p>
            <a:pPr marL="0" indent="0" algn="l">
              <a:lnSpc>
                <a:spcPts val="1723"/>
              </a:lnSpc>
              <a:buNone/>
            </a:pPr>
            <a:r>
              <a:rPr lang="en-US" sz="1326" b="1" dirty="0">
                <a:solidFill>
                  <a:srgbClr val="A9502C"/>
                </a:solidFill>
                <a:latin typeface="IBM Plex Sans" pitchFamily="34" charset="0"/>
                <a:ea typeface="IBM Plex Sans" pitchFamily="34" charset="-122"/>
                <a:cs typeface="IBM Plex Sans" pitchFamily="34" charset="-120"/>
              </a:rPr>
              <a:t>Inconclusive</a:t>
            </a:r>
            <a:endParaRPr lang="en-US" sz="1326" dirty="0"/>
          </a:p>
        </p:txBody>
      </p:sp>
      <p:sp>
        <p:nvSpPr>
          <p:cNvPr id="15" name="Text 13"/>
          <p:cNvSpPr/>
          <p:nvPr/>
        </p:nvSpPr>
        <p:spPr>
          <a:xfrm>
            <a:off x="7219950" y="3030984"/>
            <a:ext cx="4120515" cy="226566"/>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6596A"/>
                </a:solidFill>
                <a:latin typeface="IBM Plex Sans" pitchFamily="34" charset="0"/>
                <a:ea typeface="IBM Plex Sans" pitchFamily="34" charset="-122"/>
                <a:cs typeface="IBM Plex Sans" pitchFamily="34" charset="-120"/>
              </a:rPr>
              <a:t>retired after 3 attempts, instead of asked forever</a:t>
            </a:r>
            <a:endParaRPr lang="en-US" sz="1159" dirty="0"/>
          </a:p>
        </p:txBody>
      </p:sp>
      <p:pic>
        <p:nvPicPr>
          <p:cNvPr id="16" name="Image 0" descr="connector"/>
          <p:cNvPicPr>
            <a:picLocks noChangeAspect="1"/>
          </p:cNvPicPr>
          <p:nvPr/>
        </p:nvPicPr>
        <p:blipFill>
          <a:blip r:embed="rId3"/>
          <a:srcRect/>
          <a:stretch/>
        </p:blipFill>
        <p:spPr>
          <a:xfrm>
            <a:off x="2933700" y="2520950"/>
            <a:ext cx="1041400" cy="101600"/>
          </a:xfrm>
          <a:prstGeom prst="rect">
            <a:avLst/>
          </a:prstGeom>
        </p:spPr>
      </p:pic>
      <p:pic>
        <p:nvPicPr>
          <p:cNvPr id="17" name="Image 1" descr="connector"/>
          <p:cNvPicPr>
            <a:picLocks noChangeAspect="1"/>
          </p:cNvPicPr>
          <p:nvPr/>
        </p:nvPicPr>
        <p:blipFill>
          <a:blip r:embed="rId4"/>
          <a:srcRect/>
          <a:stretch/>
        </p:blipFill>
        <p:spPr>
          <a:xfrm>
            <a:off x="6057900" y="2139950"/>
            <a:ext cx="1041400" cy="323850"/>
          </a:xfrm>
          <a:prstGeom prst="rect">
            <a:avLst/>
          </a:prstGeom>
        </p:spPr>
      </p:pic>
      <p:pic>
        <p:nvPicPr>
          <p:cNvPr id="18" name="Image 2" descr="connector"/>
          <p:cNvPicPr>
            <a:picLocks noChangeAspect="1"/>
          </p:cNvPicPr>
          <p:nvPr/>
        </p:nvPicPr>
        <p:blipFill>
          <a:blip r:embed="rId5"/>
          <a:srcRect/>
          <a:stretch/>
        </p:blipFill>
        <p:spPr>
          <a:xfrm>
            <a:off x="6057900" y="2679700"/>
            <a:ext cx="1041400" cy="387350"/>
          </a:xfrm>
          <a:prstGeom prst="rect">
            <a:avLst/>
          </a:prstGeom>
        </p:spPr>
      </p:pic>
      <p:pic>
        <p:nvPicPr>
          <p:cNvPr id="19" name="Image 3" descr="connector"/>
          <p:cNvPicPr>
            <a:picLocks noChangeAspect="1"/>
          </p:cNvPicPr>
          <p:nvPr/>
        </p:nvPicPr>
        <p:blipFill>
          <a:blip r:embed="rId6"/>
          <a:srcRect/>
          <a:stretch/>
        </p:blipFill>
        <p:spPr>
          <a:xfrm>
            <a:off x="1841500" y="3009900"/>
            <a:ext cx="3225800" cy="406400"/>
          </a:xfrm>
          <a:prstGeom prst="rect">
            <a:avLst/>
          </a:prstGeom>
        </p:spPr>
      </p:pic>
      <p:pic>
        <p:nvPicPr>
          <p:cNvPr id="20" name="Image 4" descr="connector"/>
          <p:cNvPicPr>
            <a:picLocks noChangeAspect="1"/>
          </p:cNvPicPr>
          <p:nvPr/>
        </p:nvPicPr>
        <p:blipFill>
          <a:blip r:embed="rId7"/>
          <a:srcRect/>
          <a:stretch/>
        </p:blipFill>
        <p:spPr>
          <a:xfrm>
            <a:off x="1841500" y="3022600"/>
            <a:ext cx="101600" cy="393700"/>
          </a:xfrm>
          <a:prstGeom prst="rect">
            <a:avLst/>
          </a:prstGeom>
        </p:spPr>
      </p:pic>
      <p:sp>
        <p:nvSpPr>
          <p:cNvPr id="21" name="Text 14"/>
          <p:cNvSpPr/>
          <p:nvPr/>
        </p:nvSpPr>
        <p:spPr>
          <a:xfrm>
            <a:off x="2095500" y="3441700"/>
            <a:ext cx="28778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not settled, fewer than 3 attempts</a:t>
            </a:r>
            <a:endParaRPr lang="en-US" sz="1200" dirty="0"/>
          </a:p>
        </p:txBody>
      </p:sp>
      <p:sp>
        <p:nvSpPr>
          <p:cNvPr id="22" name="Shape 15"/>
          <p:cNvSpPr/>
          <p:nvPr/>
        </p:nvSpPr>
        <p:spPr>
          <a:xfrm>
            <a:off x="815975" y="3876675"/>
            <a:ext cx="6724650" cy="1083221"/>
          </a:xfrm>
          <a:prstGeom prst="roundRect">
            <a:avLst>
              <a:gd name="adj" fmla="val 9086"/>
            </a:avLst>
          </a:prstGeom>
          <a:solidFill>
            <a:srgbClr val="FDFEFE"/>
          </a:solidFill>
          <a:ln w="6350">
            <a:solidFill>
              <a:srgbClr val="D6E1E6"/>
            </a:solidFill>
            <a:prstDash val="solid"/>
          </a:ln>
        </p:spPr>
        <p:txBody>
          <a:bodyPr/>
          <a:lstStyle/>
          <a:p>
            <a:endParaRPr lang="en-US"/>
          </a:p>
        </p:txBody>
      </p:sp>
      <p:sp>
        <p:nvSpPr>
          <p:cNvPr id="23" name="Text 16"/>
          <p:cNvSpPr/>
          <p:nvPr/>
        </p:nvSpPr>
        <p:spPr>
          <a:xfrm>
            <a:off x="1022350" y="4057650"/>
            <a:ext cx="6501257"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Open questions become the planner's missions</a:t>
            </a:r>
            <a:endParaRPr lang="en-US" sz="1400" dirty="0"/>
          </a:p>
        </p:txBody>
      </p:sp>
      <p:sp>
        <p:nvSpPr>
          <p:cNvPr id="24" name="Text 17"/>
          <p:cNvSpPr/>
          <p:nvPr/>
        </p:nvSpPr>
        <p:spPr>
          <a:xfrm>
            <a:off x="1022350" y="4352280"/>
            <a:ext cx="650125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planner reserves room for open questions, so older ones are not crowded out by new ones. Its test declares which question it addresses, and the investigator records the answer.</a:t>
            </a:r>
            <a:endParaRPr lang="en-US" sz="1200" dirty="0"/>
          </a:p>
        </p:txBody>
      </p:sp>
      <p:sp>
        <p:nvSpPr>
          <p:cNvPr id="25" name="Text 18"/>
          <p:cNvSpPr/>
          <p:nvPr/>
        </p:nvSpPr>
        <p:spPr>
          <a:xfrm>
            <a:off x="7848600" y="3810000"/>
            <a:ext cx="1461145"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8</a:t>
            </a:r>
            <a:endParaRPr lang="en-US" sz="5600" dirty="0"/>
          </a:p>
        </p:txBody>
      </p:sp>
      <p:sp>
        <p:nvSpPr>
          <p:cNvPr id="26" name="Text 19"/>
          <p:cNvSpPr/>
          <p:nvPr/>
        </p:nvSpPr>
        <p:spPr>
          <a:xfrm>
            <a:off x="7848600" y="4556720"/>
            <a:ext cx="14611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settled by a later run</a:t>
            </a:r>
            <a:endParaRPr lang="en-US" sz="1200" dirty="0"/>
          </a:p>
        </p:txBody>
      </p:sp>
      <p:sp>
        <p:nvSpPr>
          <p:cNvPr id="27" name="Text 20"/>
          <p:cNvSpPr/>
          <p:nvPr/>
        </p:nvSpPr>
        <p:spPr>
          <a:xfrm>
            <a:off x="9512945" y="3810000"/>
            <a:ext cx="1218952" cy="772120"/>
          </a:xfrm>
          <a:prstGeom prst="rect">
            <a:avLst/>
          </a:prstGeom>
          <a:noFill/>
          <a:ln/>
        </p:spPr>
        <p:txBody>
          <a:bodyPr wrap="square" lIns="0" tIns="0" rIns="0" bIns="0" rtlCol="0" anchor="t">
            <a:normAutofit fontScale="92500"/>
          </a:bodyPr>
          <a:lstStyle/>
          <a:p>
            <a:pPr marL="0" indent="0" algn="l">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115</a:t>
            </a:r>
            <a:endParaRPr lang="en-US" sz="5600" dirty="0"/>
          </a:p>
        </p:txBody>
      </p:sp>
      <p:sp>
        <p:nvSpPr>
          <p:cNvPr id="28" name="Text 21"/>
          <p:cNvSpPr/>
          <p:nvPr/>
        </p:nvSpPr>
        <p:spPr>
          <a:xfrm>
            <a:off x="9512945" y="4556720"/>
            <a:ext cx="12189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still open</a:t>
            </a:r>
            <a:endParaRPr lang="en-US" sz="1200" dirty="0"/>
          </a:p>
        </p:txBody>
      </p:sp>
      <p:sp>
        <p:nvSpPr>
          <p:cNvPr id="29" name="Text 22"/>
          <p:cNvSpPr/>
          <p:nvPr/>
        </p:nvSpPr>
        <p:spPr>
          <a:xfrm>
            <a:off x="7848600" y="5080000"/>
            <a:ext cx="363651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Contacts app. The loop works; most questions need longer campaigns.</a:t>
            </a:r>
            <a:endParaRPr lang="en-US" sz="1200" dirty="0"/>
          </a:p>
        </p:txBody>
      </p:sp>
      <p:sp>
        <p:nvSpPr>
          <p:cNvPr id="30" name="Text 2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1" name="Text 24"/>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FAULT ATTRIBUTION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Not every failure is the app's fault</a:t>
            </a:r>
            <a:endParaRPr lang="en-US" sz="3000" dirty="0"/>
          </a:p>
        </p:txBody>
      </p:sp>
      <p:sp>
        <p:nvSpPr>
          <p:cNvPr id="4" name="Shape 2"/>
          <p:cNvSpPr/>
          <p:nvPr/>
        </p:nvSpPr>
        <p:spPr>
          <a:xfrm>
            <a:off x="819150" y="1781770"/>
            <a:ext cx="3382417" cy="3101032"/>
          </a:xfrm>
          <a:prstGeom prst="roundRect">
            <a:avLst>
              <a:gd name="adj" fmla="val 3072"/>
            </a:avLst>
          </a:prstGeom>
          <a:solidFill>
            <a:srgbClr val="FDFEFE"/>
          </a:solidFill>
          <a:ln w="12700">
            <a:solidFill>
              <a:srgbClr val="C8663F"/>
            </a:solidFill>
            <a:prstDash val="solid"/>
          </a:ln>
        </p:spPr>
        <p:txBody>
          <a:bodyPr/>
          <a:lstStyle/>
          <a:p>
            <a:endParaRPr lang="en-US" dirty="0"/>
          </a:p>
        </p:txBody>
      </p:sp>
      <p:sp>
        <p:nvSpPr>
          <p:cNvPr id="5" name="Text 3"/>
          <p:cNvSpPr/>
          <p:nvPr/>
        </p:nvSpPr>
        <p:spPr>
          <a:xfrm>
            <a:off x="1028700" y="1991320"/>
            <a:ext cx="305221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02C"/>
                </a:solidFill>
                <a:latin typeface="IBM Plex Sans" pitchFamily="34" charset="0"/>
                <a:ea typeface="IBM Plex Sans" pitchFamily="34" charset="-122"/>
                <a:cs typeface="IBM Plex Sans" pitchFamily="34" charset="-120"/>
              </a:rPr>
              <a:t>App fault</a:t>
            </a:r>
            <a:endParaRPr lang="en-US" sz="1800" dirty="0"/>
          </a:p>
        </p:txBody>
      </p:sp>
      <p:sp>
        <p:nvSpPr>
          <p:cNvPr id="6" name="Text 4"/>
          <p:cNvSpPr/>
          <p:nvPr/>
        </p:nvSpPr>
        <p:spPr>
          <a:xfrm>
            <a:off x="1028700" y="234181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agent reached its checkpoint and the app misbehaved. These are the findings.</a:t>
            </a:r>
            <a:endParaRPr lang="en-US" sz="1200" dirty="0"/>
          </a:p>
        </p:txBody>
      </p:sp>
      <p:sp>
        <p:nvSpPr>
          <p:cNvPr id="7" name="Text 5"/>
          <p:cNvSpPr/>
          <p:nvPr/>
        </p:nvSpPr>
        <p:spPr>
          <a:xfrm>
            <a:off x="1028700" y="284465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ASSERTION_FAILURE · CRASH · APP_UNRESPONSIVE</a:t>
            </a:r>
            <a:endParaRPr lang="en-US" sz="1200" dirty="0"/>
          </a:p>
        </p:txBody>
      </p:sp>
      <p:pic>
        <p:nvPicPr>
          <p:cNvPr id="8" name="Image 0" descr="line"/>
          <p:cNvPicPr>
            <a:picLocks noChangeAspect="1"/>
          </p:cNvPicPr>
          <p:nvPr/>
        </p:nvPicPr>
        <p:blipFill>
          <a:blip r:embed="rId3"/>
          <a:srcRect t="-35" b="-35"/>
          <a:stretch/>
        </p:blipFill>
        <p:spPr>
          <a:xfrm>
            <a:off x="1028700" y="3624312"/>
            <a:ext cx="2963317" cy="12700"/>
          </a:xfrm>
          <a:prstGeom prst="rect">
            <a:avLst/>
          </a:prstGeom>
        </p:spPr>
      </p:pic>
      <p:sp>
        <p:nvSpPr>
          <p:cNvPr id="9" name="Text 6"/>
          <p:cNvSpPr/>
          <p:nvPr/>
        </p:nvSpPr>
        <p:spPr>
          <a:xfrm>
            <a:off x="1028699" y="3713212"/>
            <a:ext cx="1043831"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11</a:t>
            </a:r>
            <a:endParaRPr lang="en-US" sz="5600" dirty="0"/>
          </a:p>
        </p:txBody>
      </p:sp>
      <p:sp>
        <p:nvSpPr>
          <p:cNvPr id="10" name="Text 7"/>
          <p:cNvSpPr/>
          <p:nvPr/>
        </p:nvSpPr>
        <p:spPr>
          <a:xfrm>
            <a:off x="1028700" y="445993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11" name="Text 8"/>
          <p:cNvSpPr/>
          <p:nvPr/>
        </p:nvSpPr>
        <p:spPr>
          <a:xfrm>
            <a:off x="2112267" y="3713212"/>
            <a:ext cx="1083567"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32</a:t>
            </a:r>
            <a:endParaRPr lang="en-US" sz="5600" dirty="0"/>
          </a:p>
        </p:txBody>
      </p:sp>
      <p:sp>
        <p:nvSpPr>
          <p:cNvPr id="12" name="Text 9"/>
          <p:cNvSpPr/>
          <p:nvPr/>
        </p:nvSpPr>
        <p:spPr>
          <a:xfrm>
            <a:off x="2112268" y="445993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13" name="Shape 10"/>
          <p:cNvSpPr/>
          <p:nvPr/>
        </p:nvSpPr>
        <p:spPr>
          <a:xfrm>
            <a:off x="4414292" y="1778595"/>
            <a:ext cx="3376116" cy="3107382"/>
          </a:xfrm>
          <a:prstGeom prst="roundRect">
            <a:avLst>
              <a:gd name="adj" fmla="val 3167"/>
            </a:avLst>
          </a:prstGeom>
          <a:solidFill>
            <a:srgbClr val="FDFEFE"/>
          </a:solidFill>
          <a:ln w="6350">
            <a:solidFill>
              <a:srgbClr val="B8C5CB"/>
            </a:solidFill>
            <a:prstDash val="solid"/>
          </a:ln>
        </p:spPr>
        <p:txBody>
          <a:bodyPr/>
          <a:lstStyle/>
          <a:p>
            <a:endParaRPr lang="en-US"/>
          </a:p>
        </p:txBody>
      </p:sp>
      <p:sp>
        <p:nvSpPr>
          <p:cNvPr id="14" name="Text 11"/>
          <p:cNvSpPr/>
          <p:nvPr/>
        </p:nvSpPr>
        <p:spPr>
          <a:xfrm>
            <a:off x="4620667" y="1984970"/>
            <a:ext cx="305226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Agent fault</a:t>
            </a:r>
            <a:endParaRPr lang="en-US" sz="1800" dirty="0"/>
          </a:p>
        </p:txBody>
      </p:sp>
      <p:sp>
        <p:nvSpPr>
          <p:cNvPr id="15" name="Text 12"/>
          <p:cNvSpPr/>
          <p:nvPr/>
        </p:nvSpPr>
        <p:spPr>
          <a:xfrm>
            <a:off x="4620667" y="2335461"/>
            <a:ext cx="30522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Our executor could not drive the app. Says nothing about its quality.</a:t>
            </a:r>
            <a:endParaRPr lang="en-US" sz="1200" dirty="0"/>
          </a:p>
        </p:txBody>
      </p:sp>
      <p:sp>
        <p:nvSpPr>
          <p:cNvPr id="16" name="Text 13"/>
          <p:cNvSpPr/>
          <p:nvPr/>
        </p:nvSpPr>
        <p:spPr>
          <a:xfrm>
            <a:off x="4620667" y="2838301"/>
            <a:ext cx="305226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NAVIGATION_FAILURE · ELEMENT_NOT_FOUND · TIMEOUT · NAVIGATION_LIVELOCK</a:t>
            </a:r>
            <a:endParaRPr lang="en-US" sz="1200" dirty="0"/>
          </a:p>
        </p:txBody>
      </p:sp>
      <p:pic>
        <p:nvPicPr>
          <p:cNvPr id="17" name="Image 1" descr="line"/>
          <p:cNvPicPr>
            <a:picLocks noChangeAspect="1"/>
          </p:cNvPicPr>
          <p:nvPr/>
        </p:nvPicPr>
        <p:blipFill>
          <a:blip r:embed="rId3"/>
          <a:srcRect t="-35" b="-35"/>
          <a:stretch/>
        </p:blipFill>
        <p:spPr>
          <a:xfrm>
            <a:off x="4620667" y="3630662"/>
            <a:ext cx="2963366" cy="12700"/>
          </a:xfrm>
          <a:prstGeom prst="rect">
            <a:avLst/>
          </a:prstGeom>
        </p:spPr>
      </p:pic>
      <p:sp>
        <p:nvSpPr>
          <p:cNvPr id="18" name="Text 14"/>
          <p:cNvSpPr/>
          <p:nvPr/>
        </p:nvSpPr>
        <p:spPr>
          <a:xfrm>
            <a:off x="4620667" y="3719562"/>
            <a:ext cx="776238"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2</a:t>
            </a:r>
            <a:endParaRPr lang="en-US" sz="5600" dirty="0"/>
          </a:p>
        </p:txBody>
      </p:sp>
      <p:sp>
        <p:nvSpPr>
          <p:cNvPr id="19" name="Text 15"/>
          <p:cNvSpPr/>
          <p:nvPr/>
        </p:nvSpPr>
        <p:spPr>
          <a:xfrm>
            <a:off x="4620667" y="4466282"/>
            <a:ext cx="7762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20" name="Text 16"/>
          <p:cNvSpPr/>
          <p:nvPr/>
        </p:nvSpPr>
        <p:spPr>
          <a:xfrm>
            <a:off x="5650905" y="3719562"/>
            <a:ext cx="637729"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6</a:t>
            </a:r>
            <a:endParaRPr lang="en-US" sz="5600" dirty="0"/>
          </a:p>
        </p:txBody>
      </p:sp>
      <p:sp>
        <p:nvSpPr>
          <p:cNvPr id="21" name="Text 17"/>
          <p:cNvSpPr/>
          <p:nvPr/>
        </p:nvSpPr>
        <p:spPr>
          <a:xfrm>
            <a:off x="5650905" y="4466282"/>
            <a:ext cx="6377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22" name="Shape 18"/>
          <p:cNvSpPr/>
          <p:nvPr/>
        </p:nvSpPr>
        <p:spPr>
          <a:xfrm>
            <a:off x="7999958" y="1778595"/>
            <a:ext cx="3376067" cy="3107382"/>
          </a:xfrm>
          <a:prstGeom prst="roundRect">
            <a:avLst>
              <a:gd name="adj" fmla="val 3167"/>
            </a:avLst>
          </a:prstGeom>
          <a:solidFill>
            <a:srgbClr val="FDFEFE"/>
          </a:solidFill>
          <a:ln w="6350">
            <a:solidFill>
              <a:srgbClr val="B8C5CB"/>
            </a:solidFill>
            <a:prstDash val="solid"/>
          </a:ln>
        </p:spPr>
        <p:txBody>
          <a:bodyPr/>
          <a:lstStyle/>
          <a:p>
            <a:endParaRPr lang="en-US" dirty="0"/>
          </a:p>
        </p:txBody>
      </p:sp>
      <p:sp>
        <p:nvSpPr>
          <p:cNvPr id="23" name="Text 19"/>
          <p:cNvSpPr/>
          <p:nvPr/>
        </p:nvSpPr>
        <p:spPr>
          <a:xfrm>
            <a:off x="8206333" y="1984970"/>
            <a:ext cx="305221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Environment</a:t>
            </a:r>
            <a:endParaRPr lang="en-US" sz="1800" dirty="0"/>
          </a:p>
        </p:txBody>
      </p:sp>
      <p:sp>
        <p:nvSpPr>
          <p:cNvPr id="24" name="Text 20"/>
          <p:cNvSpPr/>
          <p:nvPr/>
        </p:nvSpPr>
        <p:spPr>
          <a:xfrm>
            <a:off x="8206333" y="233546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precondition was missing, or the step budget ran out before any evidence.</a:t>
            </a:r>
            <a:endParaRPr lang="en-US" sz="1200" dirty="0"/>
          </a:p>
        </p:txBody>
      </p:sp>
      <p:sp>
        <p:nvSpPr>
          <p:cNvPr id="25" name="Text 21"/>
          <p:cNvSpPr/>
          <p:nvPr/>
        </p:nvSpPr>
        <p:spPr>
          <a:xfrm>
            <a:off x="8206333" y="2838301"/>
            <a:ext cx="305221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PRECONDITION_NOT_MET · PERMISSION_DENIED · STEP_LIMIT_EXCEEDED</a:t>
            </a:r>
            <a:endParaRPr lang="en-US" sz="1200" dirty="0"/>
          </a:p>
        </p:txBody>
      </p:sp>
      <p:pic>
        <p:nvPicPr>
          <p:cNvPr id="26" name="Image 2" descr="line"/>
          <p:cNvPicPr>
            <a:picLocks noChangeAspect="1"/>
          </p:cNvPicPr>
          <p:nvPr/>
        </p:nvPicPr>
        <p:blipFill>
          <a:blip r:embed="rId3"/>
          <a:srcRect t="-35" b="-35"/>
          <a:stretch/>
        </p:blipFill>
        <p:spPr>
          <a:xfrm>
            <a:off x="8206333" y="3630662"/>
            <a:ext cx="2963317" cy="12700"/>
          </a:xfrm>
          <a:prstGeom prst="rect">
            <a:avLst/>
          </a:prstGeom>
        </p:spPr>
      </p:pic>
      <p:sp>
        <p:nvSpPr>
          <p:cNvPr id="27" name="Text 22"/>
          <p:cNvSpPr/>
          <p:nvPr/>
        </p:nvSpPr>
        <p:spPr>
          <a:xfrm>
            <a:off x="8206332" y="3719562"/>
            <a:ext cx="1340993"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12</a:t>
            </a:r>
            <a:endParaRPr lang="en-US" sz="5600" dirty="0"/>
          </a:p>
        </p:txBody>
      </p:sp>
      <p:sp>
        <p:nvSpPr>
          <p:cNvPr id="28" name="Text 23"/>
          <p:cNvSpPr/>
          <p:nvPr/>
        </p:nvSpPr>
        <p:spPr>
          <a:xfrm>
            <a:off x="8206333" y="446628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29" name="Text 24"/>
          <p:cNvSpPr/>
          <p:nvPr/>
        </p:nvSpPr>
        <p:spPr>
          <a:xfrm>
            <a:off x="9289900" y="3719562"/>
            <a:ext cx="1340993" cy="91559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10</a:t>
            </a:r>
            <a:endParaRPr lang="en-US" sz="5600" dirty="0"/>
          </a:p>
        </p:txBody>
      </p:sp>
      <p:sp>
        <p:nvSpPr>
          <p:cNvPr id="30" name="Text 25"/>
          <p:cNvSpPr/>
          <p:nvPr/>
        </p:nvSpPr>
        <p:spPr>
          <a:xfrm>
            <a:off x="9289901" y="446628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31" name="Text 26"/>
          <p:cNvSpPr/>
          <p:nvPr/>
        </p:nvSpPr>
        <p:spPr>
          <a:xfrm>
            <a:off x="812800" y="5143153"/>
            <a:ext cx="1088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Only the first column counts as defects: 11 of 25 failures on the commerce app, 32 of 48 on the contacts app.</a:t>
            </a:r>
            <a:endParaRPr lang="en-US" sz="1400" dirty="0"/>
          </a:p>
        </p:txBody>
      </p:sp>
      <p:sp>
        <p:nvSpPr>
          <p:cNvPr id="32" name="Text 27"/>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2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0">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FAULT ATTRIBUTION · IN DETAIL</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Every error type, and where it goes</a:t>
            </a:r>
            <a:endParaRPr lang="en-US" sz="3000" dirty="0"/>
          </a:p>
        </p:txBody>
      </p:sp>
      <p:sp>
        <p:nvSpPr>
          <p:cNvPr id="4" name="Text 2"/>
          <p:cNvSpPr/>
          <p:nvPr/>
        </p:nvSpPr>
        <p:spPr>
          <a:xfrm>
            <a:off x="812800" y="1724620"/>
            <a:ext cx="5206238"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How to read it</a:t>
            </a:r>
            <a:endParaRPr lang="en-US" sz="1400" dirty="0"/>
          </a:p>
        </p:txBody>
      </p:sp>
      <p:sp>
        <p:nvSpPr>
          <p:cNvPr id="5" name="Shape 3"/>
          <p:cNvSpPr/>
          <p:nvPr/>
        </p:nvSpPr>
        <p:spPr>
          <a:xfrm>
            <a:off x="819150" y="2101800"/>
            <a:ext cx="139700" cy="139700"/>
          </a:xfrm>
          <a:prstGeom prst="roundRect">
            <a:avLst>
              <a:gd name="adj" fmla="val 22727"/>
            </a:avLst>
          </a:prstGeom>
          <a:solidFill>
            <a:srgbClr val="D3F9D8"/>
          </a:solidFill>
          <a:ln w="12700">
            <a:solidFill>
              <a:srgbClr val="2F9E44"/>
            </a:solidFill>
            <a:prstDash val="solid"/>
          </a:ln>
        </p:spPr>
        <p:txBody>
          <a:bodyPr/>
          <a:lstStyle/>
          <a:p>
            <a:endParaRPr lang="en-US"/>
          </a:p>
        </p:txBody>
      </p:sp>
      <p:sp>
        <p:nvSpPr>
          <p:cNvPr id="6" name="Text 4"/>
          <p:cNvSpPr/>
          <p:nvPr/>
        </p:nvSpPr>
        <p:spPr>
          <a:xfrm>
            <a:off x="1041400" y="2095450"/>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Green: pass, the app did what the test expected</a:t>
            </a:r>
            <a:endParaRPr lang="en-US" sz="1200" dirty="0"/>
          </a:p>
        </p:txBody>
      </p:sp>
      <p:sp>
        <p:nvSpPr>
          <p:cNvPr id="7" name="Shape 5"/>
          <p:cNvSpPr/>
          <p:nvPr/>
        </p:nvSpPr>
        <p:spPr>
          <a:xfrm>
            <a:off x="819150" y="2454821"/>
            <a:ext cx="139700" cy="139700"/>
          </a:xfrm>
          <a:prstGeom prst="roundRect">
            <a:avLst>
              <a:gd name="adj" fmla="val 22727"/>
            </a:avLst>
          </a:prstGeom>
          <a:solidFill>
            <a:srgbClr val="FFE3E3"/>
          </a:solidFill>
          <a:ln w="12700">
            <a:solidFill>
              <a:srgbClr val="E03131"/>
            </a:solidFill>
            <a:prstDash val="solid"/>
          </a:ln>
        </p:spPr>
        <p:txBody>
          <a:bodyPr/>
          <a:lstStyle/>
          <a:p>
            <a:endParaRPr lang="en-US"/>
          </a:p>
        </p:txBody>
      </p:sp>
      <p:sp>
        <p:nvSpPr>
          <p:cNvPr id="8" name="Text 6"/>
          <p:cNvSpPr/>
          <p:nvPr/>
        </p:nvSpPr>
        <p:spPr>
          <a:xfrm>
            <a:off x="1041400" y="2448471"/>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Red: app fault, the real finding count</a:t>
            </a:r>
            <a:endParaRPr lang="en-US" sz="1200" dirty="0"/>
          </a:p>
        </p:txBody>
      </p:sp>
      <p:sp>
        <p:nvSpPr>
          <p:cNvPr id="9" name="Shape 7"/>
          <p:cNvSpPr/>
          <p:nvPr/>
        </p:nvSpPr>
        <p:spPr>
          <a:xfrm>
            <a:off x="819150" y="2807841"/>
            <a:ext cx="139700" cy="139700"/>
          </a:xfrm>
          <a:prstGeom prst="roundRect">
            <a:avLst>
              <a:gd name="adj" fmla="val 22727"/>
            </a:avLst>
          </a:prstGeom>
          <a:solidFill>
            <a:srgbClr val="E9ECEF"/>
          </a:solidFill>
          <a:ln w="12700">
            <a:solidFill>
              <a:srgbClr val="868E96"/>
            </a:solidFill>
            <a:prstDash val="solid"/>
          </a:ln>
        </p:spPr>
        <p:txBody>
          <a:bodyPr/>
          <a:lstStyle/>
          <a:p>
            <a:endParaRPr lang="en-US"/>
          </a:p>
        </p:txBody>
      </p:sp>
      <p:sp>
        <p:nvSpPr>
          <p:cNvPr id="10" name="Text 8"/>
          <p:cNvSpPr/>
          <p:nvPr/>
        </p:nvSpPr>
        <p:spPr>
          <a:xfrm>
            <a:off x="1041400" y="2801491"/>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Grey: agent fault, our executor could not drive the app</a:t>
            </a:r>
            <a:endParaRPr lang="en-US" sz="1200" dirty="0"/>
          </a:p>
        </p:txBody>
      </p:sp>
      <p:sp>
        <p:nvSpPr>
          <p:cNvPr id="11" name="Shape 9"/>
          <p:cNvSpPr/>
          <p:nvPr/>
        </p:nvSpPr>
        <p:spPr>
          <a:xfrm>
            <a:off x="819150" y="3160861"/>
            <a:ext cx="139700" cy="139700"/>
          </a:xfrm>
          <a:prstGeom prst="roundRect">
            <a:avLst>
              <a:gd name="adj" fmla="val 22727"/>
            </a:avLst>
          </a:prstGeom>
          <a:solidFill>
            <a:srgbClr val="FFE8CC"/>
          </a:solidFill>
          <a:ln w="12700">
            <a:solidFill>
              <a:srgbClr val="E8892B"/>
            </a:solidFill>
            <a:prstDash val="solid"/>
          </a:ln>
        </p:spPr>
        <p:txBody>
          <a:bodyPr/>
          <a:lstStyle/>
          <a:p>
            <a:endParaRPr lang="en-US"/>
          </a:p>
        </p:txBody>
      </p:sp>
      <p:sp>
        <p:nvSpPr>
          <p:cNvPr id="12" name="Text 10"/>
          <p:cNvSpPr/>
          <p:nvPr/>
        </p:nvSpPr>
        <p:spPr>
          <a:xfrm>
            <a:off x="1041400" y="3154511"/>
            <a:ext cx="49707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Orange: environment fault, refused or out of budget before any evidence</a:t>
            </a:r>
            <a:endParaRPr lang="en-US" sz="1200" dirty="0"/>
          </a:p>
        </p:txBody>
      </p:sp>
      <p:sp>
        <p:nvSpPr>
          <p:cNvPr id="13" name="Text 11"/>
          <p:cNvSpPr/>
          <p:nvPr/>
        </p:nvSpPr>
        <p:spPr>
          <a:xfrm>
            <a:off x="812800" y="3720852"/>
            <a:ext cx="520623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The taxonomy has a single definition in the code, so the dashboard, the reports and these slides all count the same way.</a:t>
            </a:r>
            <a:endParaRPr lang="en-US" sz="1200" dirty="0"/>
          </a:p>
        </p:txBody>
      </p:sp>
      <p:sp>
        <p:nvSpPr>
          <p:cNvPr id="14" name="Shape 12"/>
          <p:cNvSpPr/>
          <p:nvPr/>
        </p:nvSpPr>
        <p:spPr>
          <a:xfrm>
            <a:off x="6172200" y="1724620"/>
            <a:ext cx="5207000" cy="4064000"/>
          </a:xfrm>
          <a:prstGeom prst="roundRect">
            <a:avLst>
              <a:gd name="adj" fmla="val 2500"/>
            </a:avLst>
          </a:prstGeom>
          <a:solidFill>
            <a:srgbClr val="FDFEFE"/>
          </a:solidFill>
          <a:ln/>
        </p:spPr>
        <p:txBody>
          <a:bodyPr/>
          <a:lstStyle/>
          <a:p>
            <a:endParaRPr lang="en-US"/>
          </a:p>
        </p:txBody>
      </p:sp>
      <p:pic>
        <p:nvPicPr>
          <p:cNvPr id="15" name="Image 0" descr="Fault attribution tree: a failed verdict's error type is routed to APP_FAULT, AGENT_FAULT or ENV_FAULT"/>
          <p:cNvPicPr>
            <a:picLocks noChangeAspect="1"/>
          </p:cNvPicPr>
          <p:nvPr/>
        </p:nvPicPr>
        <p:blipFill>
          <a:blip r:embed="rId3"/>
          <a:stretch>
            <a:fillRect/>
          </a:stretch>
        </p:blipFill>
        <p:spPr>
          <a:xfrm>
            <a:off x="6236240" y="1730970"/>
            <a:ext cx="5078921" cy="4051300"/>
          </a:xfrm>
          <a:custGeom>
            <a:avLst/>
            <a:gdLst/>
            <a:ahLst/>
            <a:cxnLst/>
            <a:rect l="l" t="t" r="r" b="b"/>
            <a:pathLst>
              <a:path w="5078921" h="4051300">
                <a:moveTo>
                  <a:pt x="0" y="7718"/>
                </a:moveTo>
                <a:arcTo wR="95250" hR="95250" stAng="14806534" swAng="1393466"/>
                <a:lnTo>
                  <a:pt x="5041360" y="0"/>
                </a:lnTo>
                <a:arcTo wR="95250" hR="95250" stAng="16200000" swAng="1393466"/>
                <a:lnTo>
                  <a:pt x="5078921" y="4043582"/>
                </a:lnTo>
                <a:arcTo wR="95250" hR="95250" stAng="4006534" swAng="1393466"/>
                <a:lnTo>
                  <a:pt x="37560" y="4051300"/>
                </a:lnTo>
                <a:arcTo wR="95250" hR="95250" stAng="5400000" swAng="1393466"/>
                <a:close/>
              </a:path>
            </a:pathLst>
          </a:custGeom>
        </p:spPr>
      </p:pic>
      <p:sp>
        <p:nvSpPr>
          <p:cNvPr id="16" name="Shape 13"/>
          <p:cNvSpPr/>
          <p:nvPr/>
        </p:nvSpPr>
        <p:spPr>
          <a:xfrm>
            <a:off x="6175375" y="1727795"/>
            <a:ext cx="5200650" cy="4057650"/>
          </a:xfrm>
          <a:prstGeom prst="roundRect">
            <a:avLst>
              <a:gd name="adj" fmla="val 2426"/>
            </a:avLst>
          </a:prstGeom>
          <a:noFill/>
          <a:ln w="6350">
            <a:solidFill>
              <a:srgbClr val="D6E1E6"/>
            </a:solidFill>
            <a:prstDash val="solid"/>
          </a:ln>
        </p:spPr>
        <p:txBody>
          <a:bodyPr/>
          <a:lstStyle/>
          <a:p>
            <a:endParaRPr lang="en-US"/>
          </a:p>
        </p:txBody>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1523</Words>
  <Application>Microsoft Office PowerPoint</Application>
  <PresentationFormat>Widescreen</PresentationFormat>
  <Paragraphs>124</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IBM Plex Mono</vt:lpstr>
      <vt:lpstr>IBM Plex Sans</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Jonayed Mohiuddin</cp:lastModifiedBy>
  <cp:revision>2</cp:revision>
  <dcterms:created xsi:type="dcterms:W3CDTF">2026-09-29T19:53:35Z</dcterms:created>
  <dcterms:modified xsi:type="dcterms:W3CDTF">2026-09-29T20:28:33Z</dcterms:modified>
</cp:coreProperties>
</file>