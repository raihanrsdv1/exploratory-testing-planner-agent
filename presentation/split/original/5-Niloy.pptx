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ran the same unmodified system on two very different Android apps, which is our evidence that it is application-agnostic. The first is a production commerce app with live users, in Bengali. The second is Google Contacts, tested against a 141-requirement specification we wrote independently, before testing, so that it acts as a real oracle. Requirement coverage is the number to notice: no existing tool can report it, because none reads a specification. It rose from 31 percent on the first app to 56 percent on the second. The cost figure is the one in our report, reconciled against the provider's billing. Every one of these tests was designed by the agent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Running a test costs about 0.8 US cents, roughly one taka. It is built bottom-up from measurements: about 10 device steps per test, an accessibility tree of about 4,700 bytes per step, and the planner's logged tokens, then checked against the provider's billing record. 92 percent of it is the device agent, because it calls a vision model on every step, which is why cutting steps per test saved real money and optimising the planner's prompt would not have. So a 25-test campaign is about 20 cents and a 500-test nightly suite about 4 dollars. Ingesting a specification is the opposite shape: about 30 cents, the price of some 40 test runs, because it uses the most accurate model tier, but it is paid once per document. The whole project cost under 50 dollars in cash, almost all of it development, because every change to ingestion meant re-reading the specification. We had no GPU, so hosted inference was the only option, not a cost optimisation. [Confirm before presenting: the report's budget table says USD 2.69 was consumed across 88 device executions, which works out to about 3 cents per run, not 0.8. Ask whoever wrote the budget section what else that balance paid for, so you can answer if a sir divides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rebuilt the planner during the project, so we compared the two on the same commerce app, with the same specification loaded in both. The old one, on 30 August, was the pipeline planner: it wrote a step-by-step script, the executor decided for itself whether it had succeeded, and there was no investigator, no findings memory and no validation gate. The new one, on 20 September, ran in tools mode with the validation gate; it writes a goal and lets the executor work out the steps, and the investigator judges every run and writes findings the next plan reads. Two things improved significantly. Vague titles like "verify it works correctly" fell from 64 percent to 2 percent, and titles citing a requirement rose from none to a quarter, even though both runs had the same specification. The share of runs producing evidence about the app doubled, but that is not significant at this sample size, and the two runs were judged differently, so we do not claim it. Be clear if asked: this is two whole configurations compared, not one change isolated, which is why an ablation is on our next-steps slide. Also, the area cap and a duplicate-generation fix were added during the new campaign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Four things the agent found without anyone telling it where to look. Notice that every one is tied to a requirement in the specification. That is the point of reading the spec: a random tester would never flag these, because nothing crashed. A name of only spaces is accepted with a success message and then vanishes from the list. Identical contacts are saved twice with no warning. An import never says how many contacts it brought in. And deletion is permanent, while the spec asks for a recovery period. Some of these may be deliberate design choices by the app's makers rather than bugs, and that is exactly the judgement the tool hands to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a frame from a real campaign. The dashboard shows which of the three agents is working at that moment. Here the executor is on step 16 of 50, and the feed below lists every step. On the right is the phone at that instant, showing the deletion dialog behind one of the findings on the previous slide. When the planner is working, the same panel shows each pipeline stage, each retrieval and each model call with its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want to be precise about what these results do not show. Both apps are closed-source, so there is no list of known bugs to measure against, and we cannot compute precision or recall. We have not yet switched components off one at a time, so we cannot say how much each contributes. The findings are the model's claims and need a human. And a third of the contacts failures were the agent or the environment, not the app. The next step fixes the biggest of these: running on an open-source benchmark of real, reproducible bugs, with ablations and a random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Thank the supervisor and the partner, and invite questions. If a question needs a diagram, the detailed ones are slides 6, 8, 9, 13, 23, 24, 26 and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Two real apps, 130 autonomous test runs</a:t>
            </a:r>
            <a:endParaRPr lang="en-US" sz="3000" dirty="0"/>
          </a:p>
        </p:txBody>
      </p:sp>
      <p:sp>
        <p:nvSpPr>
          <p:cNvPr id="4" name="Shape 2"/>
          <p:cNvSpPr/>
          <p:nvPr/>
        </p:nvSpPr>
        <p:spPr>
          <a:xfrm>
            <a:off x="815975" y="1778595"/>
            <a:ext cx="5175250" cy="2998242"/>
          </a:xfrm>
          <a:prstGeom prst="roundRect">
            <a:avLst>
              <a:gd name="adj" fmla="val 3283"/>
            </a:avLst>
          </a:prstGeom>
          <a:solidFill>
            <a:srgbClr val="FDFEFE"/>
          </a:solidFill>
          <a:ln w="6350">
            <a:solidFill>
              <a:srgbClr val="D6E1E6"/>
            </a:solidFill>
            <a:prstDash val="solid"/>
          </a:ln>
        </p:spPr>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Commerce app</a:t>
            </a:r>
            <a:endParaRPr lang="en-US" sz="1800" dirty="0"/>
          </a:p>
        </p:txBody>
      </p:sp>
      <p:sp>
        <p:nvSpPr>
          <p:cNvPr id="6" name="Text 4"/>
          <p:cNvSpPr/>
          <p:nvPr/>
        </p:nvSpPr>
        <p:spPr>
          <a:xfrm>
            <a:off x="1073150" y="23862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Production app with live users · 20 passed, 25 failed</a:t>
            </a:r>
            <a:endParaRPr lang="en-US" sz="1200" dirty="0"/>
          </a:p>
        </p:txBody>
      </p:sp>
      <p:sp>
        <p:nvSpPr>
          <p:cNvPr id="7" name="Text 5"/>
          <p:cNvSpPr/>
          <p:nvPr/>
        </p:nvSpPr>
        <p:spPr>
          <a:xfrm>
            <a:off x="1073150" y="267578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45</a:t>
            </a:r>
            <a:endParaRPr lang="en-US" sz="3000" dirty="0"/>
          </a:p>
        </p:txBody>
      </p:sp>
      <p:sp>
        <p:nvSpPr>
          <p:cNvPr id="8" name="Text 6"/>
          <p:cNvSpPr/>
          <p:nvPr/>
        </p:nvSpPr>
        <p:spPr>
          <a:xfrm>
            <a:off x="1073150" y="309488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9" name="Text 7"/>
          <p:cNvSpPr/>
          <p:nvPr/>
        </p:nvSpPr>
        <p:spPr>
          <a:xfrm>
            <a:off x="3479800" y="267578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31%</a:t>
            </a:r>
            <a:endParaRPr lang="en-US" sz="3000" dirty="0"/>
          </a:p>
        </p:txBody>
      </p:sp>
      <p:sp>
        <p:nvSpPr>
          <p:cNvPr id="10" name="Text 8"/>
          <p:cNvSpPr/>
          <p:nvPr/>
        </p:nvSpPr>
        <p:spPr>
          <a:xfrm>
            <a:off x="3479800" y="3094881"/>
            <a:ext cx="232187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(33 of 106)</a:t>
            </a:r>
            <a:endParaRPr lang="en-US" sz="1200" dirty="0"/>
          </a:p>
        </p:txBody>
      </p:sp>
      <p:sp>
        <p:nvSpPr>
          <p:cNvPr id="11" name="Text 9"/>
          <p:cNvSpPr/>
          <p:nvPr/>
        </p:nvSpPr>
        <p:spPr>
          <a:xfrm>
            <a:off x="1073150" y="367392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11</a:t>
            </a:r>
            <a:endParaRPr lang="en-US" sz="3000" dirty="0"/>
          </a:p>
        </p:txBody>
      </p:sp>
      <p:sp>
        <p:nvSpPr>
          <p:cNvPr id="12" name="Text 10"/>
          <p:cNvSpPr/>
          <p:nvPr/>
        </p:nvSpPr>
        <p:spPr>
          <a:xfrm>
            <a:off x="1073150" y="409302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13" name="Text 11"/>
          <p:cNvSpPr/>
          <p:nvPr/>
        </p:nvSpPr>
        <p:spPr>
          <a:xfrm>
            <a:off x="3479800" y="367392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5</a:t>
            </a:r>
            <a:endParaRPr lang="en-US" sz="3000" dirty="0"/>
          </a:p>
        </p:txBody>
      </p:sp>
      <p:sp>
        <p:nvSpPr>
          <p:cNvPr id="14" name="Text 12"/>
          <p:cNvSpPr/>
          <p:nvPr/>
        </p:nvSpPr>
        <p:spPr>
          <a:xfrm>
            <a:off x="3479800" y="409302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15" name="Shape 13"/>
          <p:cNvSpPr/>
          <p:nvPr/>
        </p:nvSpPr>
        <p:spPr>
          <a:xfrm>
            <a:off x="6200775" y="1778595"/>
            <a:ext cx="5175250" cy="2998242"/>
          </a:xfrm>
          <a:prstGeom prst="roundRect">
            <a:avLst>
              <a:gd name="adj" fmla="val 3283"/>
            </a:avLst>
          </a:prstGeom>
          <a:solidFill>
            <a:srgbClr val="FDFEFE"/>
          </a:solidFill>
          <a:ln w="6350">
            <a:solidFill>
              <a:srgbClr val="D6E1E6"/>
            </a:solidFill>
            <a:prstDash val="solid"/>
          </a:ln>
        </p:spPr>
      </p:sp>
      <p:sp>
        <p:nvSpPr>
          <p:cNvPr id="16" name="Text 14"/>
          <p:cNvSpPr/>
          <p:nvPr/>
        </p:nvSpPr>
        <p:spPr>
          <a:xfrm>
            <a:off x="64579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Contacts app</a:t>
            </a:r>
            <a:endParaRPr lang="en-US" sz="1800" dirty="0"/>
          </a:p>
        </p:txBody>
      </p:sp>
      <p:sp>
        <p:nvSpPr>
          <p:cNvPr id="17" name="Text 15"/>
          <p:cNvSpPr/>
          <p:nvPr/>
        </p:nvSpPr>
        <p:spPr>
          <a:xfrm>
            <a:off x="6457950" y="238626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Google Contacts, against a 141-requirement spec we wrote · 37 passed, 48 failed</a:t>
            </a:r>
            <a:endParaRPr lang="en-US" sz="1200" dirty="0"/>
          </a:p>
        </p:txBody>
      </p:sp>
      <p:sp>
        <p:nvSpPr>
          <p:cNvPr id="18" name="Text 16"/>
          <p:cNvSpPr/>
          <p:nvPr/>
        </p:nvSpPr>
        <p:spPr>
          <a:xfrm>
            <a:off x="6457950" y="288910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85</a:t>
            </a:r>
            <a:endParaRPr lang="en-US" sz="3000" dirty="0"/>
          </a:p>
        </p:txBody>
      </p:sp>
      <p:sp>
        <p:nvSpPr>
          <p:cNvPr id="19" name="Text 17"/>
          <p:cNvSpPr/>
          <p:nvPr/>
        </p:nvSpPr>
        <p:spPr>
          <a:xfrm>
            <a:off x="6457950" y="330820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20" name="Text 18"/>
          <p:cNvSpPr/>
          <p:nvPr/>
        </p:nvSpPr>
        <p:spPr>
          <a:xfrm>
            <a:off x="8864600" y="288910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56%</a:t>
            </a:r>
            <a:endParaRPr lang="en-US" sz="3000" dirty="0"/>
          </a:p>
        </p:txBody>
      </p:sp>
      <p:sp>
        <p:nvSpPr>
          <p:cNvPr id="21" name="Text 19"/>
          <p:cNvSpPr/>
          <p:nvPr/>
        </p:nvSpPr>
        <p:spPr>
          <a:xfrm>
            <a:off x="8864600" y="3308201"/>
            <a:ext cx="232187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(79 of 141)</a:t>
            </a:r>
            <a:endParaRPr lang="en-US" sz="1200" dirty="0"/>
          </a:p>
        </p:txBody>
      </p:sp>
      <p:sp>
        <p:nvSpPr>
          <p:cNvPr id="22" name="Text 20"/>
          <p:cNvSpPr/>
          <p:nvPr/>
        </p:nvSpPr>
        <p:spPr>
          <a:xfrm>
            <a:off x="6457950" y="3887242"/>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32</a:t>
            </a:r>
            <a:endParaRPr lang="en-US" sz="3000" dirty="0"/>
          </a:p>
        </p:txBody>
      </p:sp>
      <p:sp>
        <p:nvSpPr>
          <p:cNvPr id="23" name="Text 21"/>
          <p:cNvSpPr/>
          <p:nvPr/>
        </p:nvSpPr>
        <p:spPr>
          <a:xfrm>
            <a:off x="6457950" y="4306342"/>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24" name="Text 22"/>
          <p:cNvSpPr/>
          <p:nvPr/>
        </p:nvSpPr>
        <p:spPr>
          <a:xfrm>
            <a:off x="8864600" y="3887242"/>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21</a:t>
            </a:r>
            <a:endParaRPr lang="en-US" sz="3000" dirty="0"/>
          </a:p>
        </p:txBody>
      </p:sp>
      <p:sp>
        <p:nvSpPr>
          <p:cNvPr id="25" name="Text 23"/>
          <p:cNvSpPr/>
          <p:nvPr/>
        </p:nvSpPr>
        <p:spPr>
          <a:xfrm>
            <a:off x="8864600" y="4306342"/>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26" name="Text 24"/>
          <p:cNvSpPr/>
          <p:nvPr/>
        </p:nvSpPr>
        <p:spPr>
          <a:xfrm>
            <a:off x="812800" y="5034012"/>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About one US cent per test. No human wrote a single test case.</a:t>
            </a:r>
            <a:endParaRPr lang="en-US" sz="1400" dirty="0"/>
          </a:p>
        </p:txBody>
      </p:sp>
      <p:sp>
        <p:nvSpPr>
          <p:cNvPr id="27" name="Text 2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8" name="Text 2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COST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it costs to run</a:t>
            </a:r>
            <a:endParaRPr lang="en-US" sz="3000" dirty="0"/>
          </a:p>
        </p:txBody>
      </p:sp>
      <p:sp>
        <p:nvSpPr>
          <p:cNvPr id="4" name="Shape 2"/>
          <p:cNvSpPr/>
          <p:nvPr/>
        </p:nvSpPr>
        <p:spPr>
          <a:xfrm>
            <a:off x="815975" y="1778595"/>
            <a:ext cx="3414167" cy="1347391"/>
          </a:xfrm>
          <a:prstGeom prst="roundRect">
            <a:avLst>
              <a:gd name="adj" fmla="val 7305"/>
            </a:avLst>
          </a:prstGeom>
          <a:solidFill>
            <a:srgbClr val="FDFEFE"/>
          </a:solidFill>
          <a:ln w="6350">
            <a:solidFill>
              <a:srgbClr val="D6E1E6"/>
            </a:solidFill>
            <a:prstDash val="solid"/>
          </a:ln>
        </p:spPr>
      </p:sp>
      <p:sp>
        <p:nvSpPr>
          <p:cNvPr id="5" name="Text 3"/>
          <p:cNvSpPr/>
          <p:nvPr/>
        </p:nvSpPr>
        <p:spPr>
          <a:xfrm>
            <a:off x="996950" y="1959570"/>
            <a:ext cx="3143783"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$0.008</a:t>
            </a:r>
            <a:endParaRPr lang="en-US" sz="5600" dirty="0"/>
          </a:p>
        </p:txBody>
      </p:sp>
      <p:sp>
        <p:nvSpPr>
          <p:cNvPr id="6" name="Text 4"/>
          <p:cNvSpPr/>
          <p:nvPr/>
        </p:nvSpPr>
        <p:spPr>
          <a:xfrm>
            <a:off x="996950" y="27316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per executed test, about one taka</a:t>
            </a:r>
            <a:endParaRPr lang="en-US" sz="1200" dirty="0"/>
          </a:p>
        </p:txBody>
      </p:sp>
      <p:sp>
        <p:nvSpPr>
          <p:cNvPr id="7" name="Shape 5"/>
          <p:cNvSpPr/>
          <p:nvPr/>
        </p:nvSpPr>
        <p:spPr>
          <a:xfrm>
            <a:off x="4388892" y="1778595"/>
            <a:ext cx="3414216" cy="1347391"/>
          </a:xfrm>
          <a:prstGeom prst="roundRect">
            <a:avLst>
              <a:gd name="adj" fmla="val 7305"/>
            </a:avLst>
          </a:prstGeom>
          <a:solidFill>
            <a:srgbClr val="FDFEFE"/>
          </a:solidFill>
          <a:ln w="6350">
            <a:solidFill>
              <a:srgbClr val="D6E1E6"/>
            </a:solidFill>
            <a:prstDash val="solid"/>
          </a:ln>
        </p:spPr>
      </p:sp>
      <p:sp>
        <p:nvSpPr>
          <p:cNvPr id="8" name="Text 6"/>
          <p:cNvSpPr/>
          <p:nvPr/>
        </p:nvSpPr>
        <p:spPr>
          <a:xfrm>
            <a:off x="4569867" y="1959570"/>
            <a:ext cx="3143834"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92%</a:t>
            </a:r>
            <a:endParaRPr lang="en-US" sz="5600" dirty="0"/>
          </a:p>
        </p:txBody>
      </p:sp>
      <p:sp>
        <p:nvSpPr>
          <p:cNvPr id="9" name="Text 7"/>
          <p:cNvSpPr/>
          <p:nvPr/>
        </p:nvSpPr>
        <p:spPr>
          <a:xfrm>
            <a:off x="4569867" y="273169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of it is the device agent; the planner is 8%</a:t>
            </a:r>
            <a:endParaRPr lang="en-US" sz="1200" dirty="0"/>
          </a:p>
        </p:txBody>
      </p:sp>
      <p:sp>
        <p:nvSpPr>
          <p:cNvPr id="10" name="Shape 8"/>
          <p:cNvSpPr/>
          <p:nvPr/>
        </p:nvSpPr>
        <p:spPr>
          <a:xfrm>
            <a:off x="7961858" y="1778595"/>
            <a:ext cx="3414167" cy="1347391"/>
          </a:xfrm>
          <a:prstGeom prst="roundRect">
            <a:avLst>
              <a:gd name="adj" fmla="val 7305"/>
            </a:avLst>
          </a:prstGeom>
          <a:solidFill>
            <a:srgbClr val="FDFEFE"/>
          </a:solidFill>
          <a:ln w="6350">
            <a:solidFill>
              <a:srgbClr val="D6E1E6"/>
            </a:solidFill>
            <a:prstDash val="solid"/>
          </a:ln>
        </p:spPr>
      </p:sp>
      <p:sp>
        <p:nvSpPr>
          <p:cNvPr id="11" name="Text 9"/>
          <p:cNvSpPr/>
          <p:nvPr/>
        </p:nvSpPr>
        <p:spPr>
          <a:xfrm>
            <a:off x="8142833" y="1959570"/>
            <a:ext cx="3143783"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$0.30</a:t>
            </a:r>
            <a:endParaRPr lang="en-US" sz="5600" dirty="0"/>
          </a:p>
        </p:txBody>
      </p:sp>
      <p:sp>
        <p:nvSpPr>
          <p:cNvPr id="12" name="Text 10"/>
          <p:cNvSpPr/>
          <p:nvPr/>
        </p:nvSpPr>
        <p:spPr>
          <a:xfrm>
            <a:off x="8142833" y="27316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to ingest a specification, once per document</a:t>
            </a:r>
            <a:endParaRPr lang="en-US" sz="1200" dirty="0"/>
          </a:p>
        </p:txBody>
      </p:sp>
      <p:sp>
        <p:nvSpPr>
          <p:cNvPr id="13" name="Shape 11"/>
          <p:cNvSpPr/>
          <p:nvPr/>
        </p:nvSpPr>
        <p:spPr>
          <a:xfrm>
            <a:off x="815975" y="3284736"/>
            <a:ext cx="10560050" cy="1019721"/>
          </a:xfrm>
          <a:prstGeom prst="roundRect">
            <a:avLst>
              <a:gd name="adj" fmla="val 9652"/>
            </a:avLst>
          </a:prstGeom>
          <a:solidFill>
            <a:srgbClr val="FDFEFE"/>
          </a:solidFill>
          <a:ln w="6350">
            <a:solidFill>
              <a:srgbClr val="D6E1E6"/>
            </a:solidFill>
            <a:prstDash val="solid"/>
          </a:ln>
        </p:spPr>
      </p:sp>
      <p:sp>
        <p:nvSpPr>
          <p:cNvPr id="14" name="Text 12"/>
          <p:cNvSpPr/>
          <p:nvPr/>
        </p:nvSpPr>
        <p:spPr>
          <a:xfrm>
            <a:off x="1022350" y="344031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the per-test figure is built</a:t>
            </a:r>
            <a:endParaRPr lang="en-US" sz="1400" dirty="0"/>
          </a:p>
        </p:txBody>
      </p:sp>
      <p:sp>
        <p:nvSpPr>
          <p:cNvPr id="15" name="Text 13"/>
          <p:cNvSpPr/>
          <p:nvPr/>
        </p:nvSpPr>
        <p:spPr>
          <a:xfrm>
            <a:off x="1022350" y="372224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10.1 device steps per test across 232 stored observations, an accessibility tree averaging 4,686 bytes per step, and the planner's 384,000 logged tokens over 108 calls. Measured from the runs themselves, not taken from a price card.</a:t>
            </a:r>
            <a:endParaRPr lang="en-US" sz="1200" dirty="0"/>
          </a:p>
        </p:txBody>
      </p:sp>
      <p:sp>
        <p:nvSpPr>
          <p:cNvPr id="16" name="Shape 14"/>
          <p:cNvSpPr/>
          <p:nvPr/>
        </p:nvSpPr>
        <p:spPr>
          <a:xfrm>
            <a:off x="815975" y="4463207"/>
            <a:ext cx="5207000" cy="1019721"/>
          </a:xfrm>
          <a:prstGeom prst="roundRect">
            <a:avLst>
              <a:gd name="adj" fmla="val 9652"/>
            </a:avLst>
          </a:prstGeom>
          <a:solidFill>
            <a:srgbClr val="FDFEFE"/>
          </a:solidFill>
          <a:ln w="6350">
            <a:solidFill>
              <a:srgbClr val="D6E1E6"/>
            </a:solidFill>
            <a:prstDash val="solid"/>
          </a:ln>
        </p:spPr>
      </p:sp>
      <p:sp>
        <p:nvSpPr>
          <p:cNvPr id="17" name="Text 15"/>
          <p:cNvSpPr/>
          <p:nvPr/>
        </p:nvSpPr>
        <p:spPr>
          <a:xfrm>
            <a:off x="1022350" y="4618782"/>
            <a:ext cx="493807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At scale</a:t>
            </a:r>
            <a:endParaRPr lang="en-US" sz="1400" dirty="0"/>
          </a:p>
        </p:txBody>
      </p:sp>
      <p:sp>
        <p:nvSpPr>
          <p:cNvPr id="18" name="Text 16"/>
          <p:cNvSpPr/>
          <p:nvPr/>
        </p:nvSpPr>
        <p:spPr>
          <a:xfrm>
            <a:off x="1022350" y="4900712"/>
            <a:ext cx="49380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25-test campaign costs about $0.20; a 500-test nightly suite about $4.</a:t>
            </a:r>
            <a:endParaRPr lang="en-US" sz="1200" dirty="0"/>
          </a:p>
        </p:txBody>
      </p:sp>
      <p:sp>
        <p:nvSpPr>
          <p:cNvPr id="19" name="Shape 17"/>
          <p:cNvSpPr/>
          <p:nvPr/>
        </p:nvSpPr>
        <p:spPr>
          <a:xfrm>
            <a:off x="6178550" y="4460032"/>
            <a:ext cx="5200650" cy="1026071"/>
          </a:xfrm>
          <a:prstGeom prst="roundRect">
            <a:avLst>
              <a:gd name="adj" fmla="val 9902"/>
            </a:avLst>
          </a:prstGeom>
          <a:solidFill>
            <a:srgbClr val="14303D"/>
          </a:solidFill>
          <a:ln/>
        </p:spPr>
      </p:sp>
      <p:sp>
        <p:nvSpPr>
          <p:cNvPr id="20" name="Text 18"/>
          <p:cNvSpPr/>
          <p:nvPr/>
        </p:nvSpPr>
        <p:spPr>
          <a:xfrm>
            <a:off x="6381750" y="4612432"/>
            <a:ext cx="493807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The whole project</a:t>
            </a:r>
            <a:endParaRPr lang="en-US" sz="1400" dirty="0"/>
          </a:p>
        </p:txBody>
      </p:sp>
      <p:sp>
        <p:nvSpPr>
          <p:cNvPr id="21" name="Text 19"/>
          <p:cNvSpPr/>
          <p:nvPr/>
        </p:nvSpPr>
        <p:spPr>
          <a:xfrm>
            <a:off x="6381750" y="4894362"/>
            <a:ext cx="49380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Under $50 in cash (about BDT 5,500), almost all of it development. Emulators, laptops and open source cost nothing.</a:t>
            </a:r>
            <a:endParaRPr lang="en-US" sz="1200" dirty="0"/>
          </a:p>
        </p:txBody>
      </p:sp>
      <p:sp>
        <p:nvSpPr>
          <p:cNvPr id="22" name="Text 2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 · SAME COMMERCE APP, SAME SPECIFICATION</a:t>
            </a:r>
            <a:endParaRPr lang="en-US" sz="1200" dirty="0"/>
          </a:p>
        </p:txBody>
      </p:sp>
      <p:sp>
        <p:nvSpPr>
          <p:cNvPr id="3" name="Text 1"/>
          <p:cNvSpPr/>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Old planner against the redesigned one</a:t>
            </a:r>
            <a:endParaRPr lang="en-US" sz="3000" dirty="0"/>
          </a:p>
        </p:txBody>
      </p:sp>
      <p:sp>
        <p:nvSpPr>
          <p:cNvPr id="4" name="Shape 2"/>
          <p:cNvSpPr/>
          <p:nvPr/>
        </p:nvSpPr>
        <p:spPr>
          <a:xfrm>
            <a:off x="815975" y="1499195"/>
            <a:ext cx="5187950" cy="1245741"/>
          </a:xfrm>
          <a:prstGeom prst="roundRect">
            <a:avLst>
              <a:gd name="adj" fmla="val 7901"/>
            </a:avLst>
          </a:prstGeom>
          <a:solidFill>
            <a:srgbClr val="FDFEFE"/>
          </a:solidFill>
          <a:ln w="6350">
            <a:solidFill>
              <a:srgbClr val="D6E1E6"/>
            </a:solidFill>
            <a:prstDash val="solid"/>
          </a:ln>
        </p:spPr>
      </p:sp>
      <p:sp>
        <p:nvSpPr>
          <p:cNvPr id="5" name="Text 3"/>
          <p:cNvSpPr/>
          <p:nvPr/>
        </p:nvSpPr>
        <p:spPr>
          <a:xfrm>
            <a:off x="996950" y="1654770"/>
            <a:ext cx="49707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46596A"/>
                </a:solidFill>
                <a:latin typeface="IBM Plex Sans" pitchFamily="34" charset="0"/>
                <a:ea typeface="IBM Plex Sans" pitchFamily="34" charset="-122"/>
                <a:cs typeface="IBM Plex Sans" pitchFamily="34" charset="-120"/>
              </a:rPr>
              <a:t>Old · 30 Aug · 25 tests</a:t>
            </a:r>
            <a:endParaRPr lang="en-US" sz="1400" dirty="0"/>
          </a:p>
        </p:txBody>
      </p:sp>
      <p:sp>
        <p:nvSpPr>
          <p:cNvPr id="6" name="Text 4"/>
          <p:cNvSpPr/>
          <p:nvPr/>
        </p:nvSpPr>
        <p:spPr>
          <a:xfrm>
            <a:off x="996950" y="1949400"/>
            <a:ext cx="4970780"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Pipeline planner; wrote a step-by-step script</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executor judged its own success</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No investigator, findings memory or validation gate</a:t>
            </a:r>
            <a:endParaRPr lang="en-US" sz="1200" dirty="0"/>
          </a:p>
        </p:txBody>
      </p:sp>
      <p:sp>
        <p:nvSpPr>
          <p:cNvPr id="7" name="Shape 5"/>
          <p:cNvSpPr/>
          <p:nvPr/>
        </p:nvSpPr>
        <p:spPr>
          <a:xfrm>
            <a:off x="6188075" y="1499195"/>
            <a:ext cx="5187950" cy="1245741"/>
          </a:xfrm>
          <a:prstGeom prst="roundRect">
            <a:avLst>
              <a:gd name="adj" fmla="val 7901"/>
            </a:avLst>
          </a:prstGeom>
          <a:solidFill>
            <a:srgbClr val="FDFEFE"/>
          </a:solidFill>
          <a:ln w="6350">
            <a:solidFill>
              <a:srgbClr val="D6E1E6"/>
            </a:solidFill>
            <a:prstDash val="solid"/>
          </a:ln>
        </p:spPr>
      </p:sp>
      <p:sp>
        <p:nvSpPr>
          <p:cNvPr id="8" name="Text 6"/>
          <p:cNvSpPr/>
          <p:nvPr/>
        </p:nvSpPr>
        <p:spPr>
          <a:xfrm>
            <a:off x="6369050" y="1654770"/>
            <a:ext cx="49707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6A8F"/>
                </a:solidFill>
                <a:latin typeface="IBM Plex Sans" pitchFamily="34" charset="0"/>
                <a:ea typeface="IBM Plex Sans" pitchFamily="34" charset="-122"/>
                <a:cs typeface="IBM Plex Sans" pitchFamily="34" charset="-120"/>
              </a:rPr>
              <a:t>New · 20 Sep · 45 tests</a:t>
            </a:r>
            <a:endParaRPr lang="en-US" sz="1400" dirty="0"/>
          </a:p>
        </p:txBody>
      </p:sp>
      <p:sp>
        <p:nvSpPr>
          <p:cNvPr id="9" name="Text 7"/>
          <p:cNvSpPr/>
          <p:nvPr/>
        </p:nvSpPr>
        <p:spPr>
          <a:xfrm>
            <a:off x="6369050" y="1949400"/>
            <a:ext cx="4970780"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Tools mode: nine read-only tools and a validation gate</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Writes a goal; the executor works out the steps</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investigator judges each run; its findings feed the next plan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938611"/>
          <a:ext cx="10553700" cy="1437283"/>
        </p:xfrm>
        <a:graphic>
          <a:graphicData uri="http://schemas.openxmlformats.org/drawingml/2006/table">
            <a:tbl>
              <a:tblPr/>
              <a:tblGrid>
                <a:gridCol w="4854702"/>
                <a:gridCol w="1899666"/>
                <a:gridCol w="1899666"/>
                <a:gridCol w="1899666"/>
              </a:tblGrid>
              <a:tr h="359321">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Measure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Old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New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Fisher's 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Vague titles (“works correctly”)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0B6A8F"/>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&lt; 0.0001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Titles citing a requirement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0B6A8F"/>
                          </a:solidFill>
                          <a:latin typeface="IBM Plex Sans" pitchFamily="34" charset="0"/>
                          <a:ea typeface="IBM Plex Sans" pitchFamily="34" charset="-122"/>
                          <a:cs typeface="IBM Plex Sans" pitchFamily="34" charset="-120"/>
                        </a:rPr>
                        <a:t>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0.003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Runs yielding app-level evidence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0.35 (not significant)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11" name="Text 8"/>
          <p:cNvSpPr/>
          <p:nvPr/>
        </p:nvSpPr>
        <p:spPr>
          <a:xfrm>
            <a:off x="812800" y="455369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This compares two whole configurations, not one change. Test design improved significantly; defect yield has not been shown to.</a:t>
            </a:r>
            <a:endParaRPr lang="en-US" sz="1200" dirty="0"/>
          </a:p>
        </p:txBody>
      </p:sp>
      <p:sp>
        <p:nvSpPr>
          <p:cNvPr id="12" name="Text 9"/>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3" name="Text 10"/>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agent found on its own</a:t>
            </a:r>
            <a:endParaRPr lang="en-US" sz="3000" dirty="0"/>
          </a:p>
        </p:txBody>
      </p:sp>
      <p:sp>
        <p:nvSpPr>
          <p:cNvPr id="4" name="Shape 2"/>
          <p:cNvSpPr/>
          <p:nvPr/>
        </p:nvSpPr>
        <p:spPr>
          <a:xfrm>
            <a:off x="815975" y="1778595"/>
            <a:ext cx="5200650" cy="1489571"/>
          </a:xfrm>
          <a:prstGeom prst="roundRect">
            <a:avLst>
              <a:gd name="adj" fmla="val 6608"/>
            </a:avLst>
          </a:prstGeom>
          <a:solidFill>
            <a:srgbClr val="FDFEFE"/>
          </a:solidFill>
          <a:ln w="6350">
            <a:solidFill>
              <a:srgbClr val="D6E1E6"/>
            </a:solidFill>
            <a:prstDash val="solid"/>
          </a:ln>
        </p:spPr>
      </p:sp>
      <p:sp>
        <p:nvSpPr>
          <p:cNvPr id="5" name="Shape 3"/>
          <p:cNvSpPr/>
          <p:nvPr/>
        </p:nvSpPr>
        <p:spPr>
          <a:xfrm>
            <a:off x="996950" y="1959570"/>
            <a:ext cx="2026741" cy="264120"/>
          </a:xfrm>
          <a:prstGeom prst="roundRect">
            <a:avLst>
              <a:gd name="adj" fmla="val 19234"/>
            </a:avLst>
          </a:prstGeom>
          <a:solidFill>
            <a:srgbClr val="FBEDE6"/>
          </a:solidFill>
          <a:ln/>
        </p:spPr>
      </p:sp>
      <p:sp>
        <p:nvSpPr>
          <p:cNvPr id="6" name="Text 4"/>
          <p:cNvSpPr/>
          <p:nvPr/>
        </p:nvSpPr>
        <p:spPr>
          <a:xfrm>
            <a:off x="1073150" y="1984970"/>
            <a:ext cx="1930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FR-VAL-02</a:t>
            </a:r>
            <a:endParaRPr lang="en-US" sz="1200" dirty="0"/>
          </a:p>
        </p:txBody>
      </p:sp>
      <p:sp>
        <p:nvSpPr>
          <p:cNvPr id="7" name="Text 5"/>
          <p:cNvSpPr/>
          <p:nvPr/>
        </p:nvSpPr>
        <p:spPr>
          <a:xfrm>
            <a:off x="996950" y="2299891"/>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A name made only of spaces saves with a success message, but the contact never appears in the list.</a:t>
            </a:r>
            <a:endParaRPr lang="en-US" sz="1400" dirty="0"/>
          </a:p>
        </p:txBody>
      </p:sp>
      <p:sp>
        <p:nvSpPr>
          <p:cNvPr id="8" name="Text 6"/>
          <p:cNvSpPr/>
          <p:nvPr/>
        </p:nvSpPr>
        <p:spPr>
          <a:xfrm>
            <a:off x="996950" y="287387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independently in 6 runs</a:t>
            </a:r>
            <a:endParaRPr lang="en-US" sz="1200" dirty="0"/>
          </a:p>
        </p:txBody>
      </p:sp>
      <p:sp>
        <p:nvSpPr>
          <p:cNvPr id="9" name="Shape 7"/>
          <p:cNvSpPr/>
          <p:nvPr/>
        </p:nvSpPr>
        <p:spPr>
          <a:xfrm>
            <a:off x="6175375" y="1778595"/>
            <a:ext cx="5200650" cy="1489571"/>
          </a:xfrm>
          <a:prstGeom prst="roundRect">
            <a:avLst>
              <a:gd name="adj" fmla="val 6608"/>
            </a:avLst>
          </a:prstGeom>
          <a:solidFill>
            <a:srgbClr val="FDFEFE"/>
          </a:solidFill>
          <a:ln w="6350">
            <a:solidFill>
              <a:srgbClr val="D6E1E6"/>
            </a:solidFill>
            <a:prstDash val="solid"/>
          </a:ln>
        </p:spPr>
      </p:sp>
      <p:sp>
        <p:nvSpPr>
          <p:cNvPr id="10" name="Shape 8"/>
          <p:cNvSpPr/>
          <p:nvPr/>
        </p:nvSpPr>
        <p:spPr>
          <a:xfrm>
            <a:off x="6356350" y="1959570"/>
            <a:ext cx="2954089" cy="264120"/>
          </a:xfrm>
          <a:prstGeom prst="roundRect">
            <a:avLst>
              <a:gd name="adj" fmla="val 19234"/>
            </a:avLst>
          </a:prstGeom>
          <a:solidFill>
            <a:srgbClr val="FBEDE6"/>
          </a:solidFill>
          <a:ln/>
        </p:spPr>
      </p:sp>
      <p:sp>
        <p:nvSpPr>
          <p:cNvPr id="11" name="Text 9"/>
          <p:cNvSpPr/>
          <p:nvPr/>
        </p:nvSpPr>
        <p:spPr>
          <a:xfrm>
            <a:off x="6432550" y="1984970"/>
            <a:ext cx="28857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FR-DUP-01, FR-DUP-02</a:t>
            </a:r>
            <a:endParaRPr lang="en-US" sz="1200" dirty="0"/>
          </a:p>
        </p:txBody>
      </p:sp>
      <p:sp>
        <p:nvSpPr>
          <p:cNvPr id="12" name="Text 10"/>
          <p:cNvSpPr/>
          <p:nvPr/>
        </p:nvSpPr>
        <p:spPr>
          <a:xfrm>
            <a:off x="6356350" y="2299891"/>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Saving a contact identical to an existing one raises no duplicate warning. Two identical entries appear.</a:t>
            </a:r>
            <a:endParaRPr lang="en-US" sz="1400" dirty="0"/>
          </a:p>
        </p:txBody>
      </p:sp>
      <p:sp>
        <p:nvSpPr>
          <p:cNvPr id="13" name="Text 11"/>
          <p:cNvSpPr/>
          <p:nvPr/>
        </p:nvSpPr>
        <p:spPr>
          <a:xfrm>
            <a:off x="6356350" y="287387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7 runs, by manual save and by vCard import</a:t>
            </a:r>
            <a:endParaRPr lang="en-US" sz="1200" dirty="0"/>
          </a:p>
        </p:txBody>
      </p:sp>
      <p:sp>
        <p:nvSpPr>
          <p:cNvPr id="14" name="Shape 12"/>
          <p:cNvSpPr/>
          <p:nvPr/>
        </p:nvSpPr>
        <p:spPr>
          <a:xfrm>
            <a:off x="815975" y="3426916"/>
            <a:ext cx="5200650" cy="1489571"/>
          </a:xfrm>
          <a:prstGeom prst="roundRect">
            <a:avLst>
              <a:gd name="adj" fmla="val 6608"/>
            </a:avLst>
          </a:prstGeom>
          <a:solidFill>
            <a:srgbClr val="FDFEFE"/>
          </a:solidFill>
          <a:ln w="6350">
            <a:solidFill>
              <a:srgbClr val="D6E1E6"/>
            </a:solidFill>
            <a:prstDash val="solid"/>
          </a:ln>
        </p:spPr>
      </p:sp>
      <p:sp>
        <p:nvSpPr>
          <p:cNvPr id="15" name="Shape 13"/>
          <p:cNvSpPr/>
          <p:nvPr/>
        </p:nvSpPr>
        <p:spPr>
          <a:xfrm>
            <a:off x="996950" y="3607891"/>
            <a:ext cx="2842568" cy="264120"/>
          </a:xfrm>
          <a:prstGeom prst="roundRect">
            <a:avLst>
              <a:gd name="adj" fmla="val 19234"/>
            </a:avLst>
          </a:prstGeom>
          <a:solidFill>
            <a:srgbClr val="FBEDE6"/>
          </a:solidFill>
          <a:ln/>
        </p:spPr>
      </p:sp>
      <p:sp>
        <p:nvSpPr>
          <p:cNvPr id="16" name="Text 14"/>
          <p:cNvSpPr/>
          <p:nvPr/>
        </p:nvSpPr>
        <p:spPr>
          <a:xfrm>
            <a:off x="1073150" y="3633291"/>
            <a:ext cx="2770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FR-EXP-05</a:t>
            </a:r>
            <a:endParaRPr lang="en-US" sz="1200" dirty="0"/>
          </a:p>
        </p:txBody>
      </p:sp>
      <p:sp>
        <p:nvSpPr>
          <p:cNvPr id="17" name="Text 15"/>
          <p:cNvSpPr/>
          <p:nvPr/>
        </p:nvSpPr>
        <p:spPr>
          <a:xfrm>
            <a:off x="996950" y="3948212"/>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An import shows only “will be imported shortly”. It never reports how many contacts were read or created.</a:t>
            </a:r>
            <a:endParaRPr lang="en-US" sz="1400" dirty="0"/>
          </a:p>
        </p:txBody>
      </p:sp>
      <p:sp>
        <p:nvSpPr>
          <p:cNvPr id="18" name="Text 16"/>
          <p:cNvSpPr/>
          <p:nvPr/>
        </p:nvSpPr>
        <p:spPr>
          <a:xfrm>
            <a:off x="996950" y="4522192"/>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5 runs</a:t>
            </a:r>
            <a:endParaRPr lang="en-US" sz="1200" dirty="0"/>
          </a:p>
        </p:txBody>
      </p:sp>
      <p:sp>
        <p:nvSpPr>
          <p:cNvPr id="19" name="Shape 17"/>
          <p:cNvSpPr/>
          <p:nvPr/>
        </p:nvSpPr>
        <p:spPr>
          <a:xfrm>
            <a:off x="6175375" y="3426916"/>
            <a:ext cx="5200650" cy="1489571"/>
          </a:xfrm>
          <a:prstGeom prst="roundRect">
            <a:avLst>
              <a:gd name="adj" fmla="val 6608"/>
            </a:avLst>
          </a:prstGeom>
          <a:solidFill>
            <a:srgbClr val="FDFEFE"/>
          </a:solidFill>
          <a:ln w="6350">
            <a:solidFill>
              <a:srgbClr val="D6E1E6"/>
            </a:solidFill>
            <a:prstDash val="solid"/>
          </a:ln>
        </p:spPr>
      </p:sp>
      <p:sp>
        <p:nvSpPr>
          <p:cNvPr id="20" name="Shape 18"/>
          <p:cNvSpPr/>
          <p:nvPr/>
        </p:nvSpPr>
        <p:spPr>
          <a:xfrm>
            <a:off x="6356350" y="3607891"/>
            <a:ext cx="2823914" cy="264120"/>
          </a:xfrm>
          <a:prstGeom prst="roundRect">
            <a:avLst>
              <a:gd name="adj" fmla="val 19234"/>
            </a:avLst>
          </a:prstGeom>
          <a:solidFill>
            <a:srgbClr val="FBEDE6"/>
          </a:solidFill>
          <a:ln/>
        </p:spPr>
      </p:sp>
      <p:sp>
        <p:nvSpPr>
          <p:cNvPr id="21" name="Text 19"/>
          <p:cNvSpPr/>
          <p:nvPr/>
        </p:nvSpPr>
        <p:spPr>
          <a:xfrm>
            <a:off x="6432550" y="3633291"/>
            <a:ext cx="27516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FR-DEL-01</a:t>
            </a:r>
            <a:endParaRPr lang="en-US" sz="1200" dirty="0"/>
          </a:p>
        </p:txBody>
      </p:sp>
      <p:sp>
        <p:nvSpPr>
          <p:cNvPr id="22" name="Text 20"/>
          <p:cNvSpPr/>
          <p:nvPr/>
        </p:nvSpPr>
        <p:spPr>
          <a:xfrm>
            <a:off x="6356350" y="3948212"/>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The delete dialog promises permanent deletion, while the specification requires a recovery period.</a:t>
            </a:r>
            <a:endParaRPr lang="en-US" sz="1400" dirty="0"/>
          </a:p>
        </p:txBody>
      </p:sp>
      <p:sp>
        <p:nvSpPr>
          <p:cNvPr id="23" name="Text 21"/>
          <p:cNvSpPr/>
          <p:nvPr/>
        </p:nvSpPr>
        <p:spPr>
          <a:xfrm>
            <a:off x="6356350" y="4522192"/>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No recovery area was found anywhere in the app</a:t>
            </a:r>
            <a:endParaRPr lang="en-US" sz="1200" dirty="0"/>
          </a:p>
        </p:txBody>
      </p:sp>
      <p:sp>
        <p:nvSpPr>
          <p:cNvPr id="24" name="Text 22"/>
          <p:cNvSpPr/>
          <p:nvPr/>
        </p:nvSpPr>
        <p:spPr>
          <a:xfrm>
            <a:off x="812800" y="51736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Each finding is the model's claim from a device trajectory; a human still has to confirm it.</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LIVE VIEW</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Watching the agents work, live</a:t>
            </a:r>
            <a:endParaRPr lang="en-US" sz="3000" dirty="0"/>
          </a:p>
        </p:txBody>
      </p:sp>
      <p:sp>
        <p:nvSpPr>
          <p:cNvPr id="4" name="Shape 2"/>
          <p:cNvSpPr/>
          <p:nvPr/>
        </p:nvSpPr>
        <p:spPr>
          <a:xfrm>
            <a:off x="812800" y="1775420"/>
            <a:ext cx="7194550" cy="3302000"/>
          </a:xfrm>
          <a:prstGeom prst="roundRect">
            <a:avLst>
              <a:gd name="adj" fmla="val 3077"/>
            </a:avLst>
          </a:prstGeom>
          <a:solidFill>
            <a:srgbClr val="FDFEFE"/>
          </a:solidFill>
          <a:ln/>
        </p:spPr>
      </p:sp>
      <p:pic>
        <p:nvPicPr>
          <p:cNvPr id="5" name="Image 0" descr="The live agent-activity panel: the Executor card is highlighted at step 16 of 50, the Planner and Investigator are idle, and a feed lists each device step">    </p:cNvPr>
          <p:cNvPicPr>
            <a:picLocks noChangeAspect="1"/>
          </p:cNvPicPr>
          <p:nvPr/>
        </p:nvPicPr>
        <p:blipFill>
          <a:blip r:embed="rId1"/>
          <a:srcRect l="0" r="0" t="-19" b="-19"/>
          <a:stretch/>
        </p:blipFill>
        <p:spPr>
          <a:xfrm>
            <a:off x="819150" y="1781770"/>
            <a:ext cx="7181850" cy="3289300"/>
          </a:xfrm>
          <a:prstGeom prst="roundRect">
            <a:avLst>
              <a:gd name="adj" fmla="val 2896"/>
            </a:avLst>
          </a:prstGeom>
        </p:spPr>
      </p:pic>
      <p:sp>
        <p:nvSpPr>
          <p:cNvPr id="6" name="Shape 3"/>
          <p:cNvSpPr/>
          <p:nvPr/>
        </p:nvSpPr>
        <p:spPr>
          <a:xfrm>
            <a:off x="815975" y="1778595"/>
            <a:ext cx="7188200" cy="3295650"/>
          </a:xfrm>
          <a:prstGeom prst="roundRect">
            <a:avLst>
              <a:gd name="adj" fmla="val 2987"/>
            </a:avLst>
          </a:prstGeom>
          <a:noFill/>
          <a:ln w="6350">
            <a:solidFill>
              <a:srgbClr val="D6E1E6"/>
            </a:solidFill>
            <a:prstDash val="solid"/>
          </a:ln>
        </p:spPr>
      </p:sp>
      <p:pic>
        <p:nvPicPr>
          <p:cNvPr id="7" name="Image 1" descr="The emulator running Google Contacts, showing a dialog: Delete contact? This contact will be permanently deleted from your device">    </p:cNvPr>
          <p:cNvPicPr>
            <a:picLocks noChangeAspect="1"/>
          </p:cNvPicPr>
          <p:nvPr/>
        </p:nvPicPr>
        <p:blipFill>
          <a:blip r:embed="rId2"/>
          <a:stretch>
            <a:fillRect/>
          </a:stretch>
        </p:blipFill>
        <p:spPr>
          <a:xfrm>
            <a:off x="8276393" y="1775420"/>
            <a:ext cx="1493915" cy="3302000"/>
          </a:xfrm>
          <a:custGeom>
            <a:avLst/>
            <a:gdLst/>
            <a:ahLst/>
            <a:cxnLst/>
            <a:rect l="l" t="t" r="r" b="b"/>
            <a:pathLst>
              <a:path w="1493915" h="3302000">
                <a:moveTo>
                  <a:pt x="0" y="48399"/>
                </a:moveTo>
                <a:arcTo wR="101600" hR="101600" stAng="12694590" swAng="3505410"/>
                <a:lnTo>
                  <a:pt x="1407357" y="0"/>
                </a:lnTo>
                <a:arcTo wR="101600" hR="101600" stAng="16200000" swAng="3505410"/>
                <a:lnTo>
                  <a:pt x="1493915" y="3253601"/>
                </a:lnTo>
                <a:arcTo wR="101600" hR="101600" stAng="1894590" swAng="3505410"/>
                <a:lnTo>
                  <a:pt x="86557" y="3302000"/>
                </a:lnTo>
                <a:arcTo wR="101600" hR="101600" stAng="5400000" swAng="3505410"/>
                <a:close/>
              </a:path>
            </a:pathLst>
          </a:custGeom>
        </p:spPr>
      </p:pic>
      <p:sp>
        <p:nvSpPr>
          <p:cNvPr id="8" name="Text 4"/>
          <p:cNvSpPr/>
          <p:nvPr/>
        </p:nvSpPr>
        <p:spPr>
          <a:xfrm>
            <a:off x="10039350" y="2855020"/>
            <a:ext cx="139065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The working agent lights up</a:t>
            </a:r>
            <a:endParaRPr lang="en-US" sz="1200" dirty="0"/>
          </a:p>
        </p:txBody>
      </p:sp>
      <p:sp>
        <p:nvSpPr>
          <p:cNvPr id="9" name="Text 5"/>
          <p:cNvSpPr/>
          <p:nvPr/>
        </p:nvSpPr>
        <p:spPr>
          <a:xfrm>
            <a:off x="10039350" y="3357860"/>
            <a:ext cx="13906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with its stage, each retrieval and each model call.</a:t>
            </a:r>
            <a:endParaRPr lang="en-US" sz="1200" dirty="0"/>
          </a:p>
        </p:txBody>
      </p:sp>
      <p:sp>
        <p:nvSpPr>
          <p:cNvPr id="10" name="Text 6"/>
          <p:cNvSpPr/>
          <p:nvPr/>
        </p:nvSpPr>
        <p:spPr>
          <a:xfrm>
            <a:off x="812800" y="53314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Mid-campaign: the executor at step 16 of 50 on the contacts app, while the phone shows the deletion dialog it is exercising.</a:t>
            </a:r>
            <a:endParaRPr lang="en-US" sz="1200" dirty="0"/>
          </a:p>
        </p:txBody>
      </p:sp>
      <p:sp>
        <p:nvSpPr>
          <p:cNvPr id="11" name="Text 7"/>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2" name="Text 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HONEST LIMITS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Limitations and next steps</a:t>
            </a:r>
            <a:endParaRPr lang="en-US" sz="3000" dirty="0"/>
          </a:p>
        </p:txBody>
      </p:sp>
      <p:sp>
        <p:nvSpPr>
          <p:cNvPr id="4" name="Shape 2"/>
          <p:cNvSpPr/>
          <p:nvPr/>
        </p:nvSpPr>
        <p:spPr>
          <a:xfrm>
            <a:off x="815975" y="1778595"/>
            <a:ext cx="5175250" cy="2657872"/>
          </a:xfrm>
          <a:prstGeom prst="roundRect">
            <a:avLst>
              <a:gd name="adj" fmla="val 3703"/>
            </a:avLst>
          </a:prstGeom>
          <a:solidFill>
            <a:srgbClr val="FDFEFE"/>
          </a:solidFill>
          <a:ln w="6350">
            <a:solidFill>
              <a:srgbClr val="D6E1E6"/>
            </a:solidFill>
            <a:prstDash val="solid"/>
          </a:ln>
        </p:spPr>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What we cannot claim yet</a:t>
            </a:r>
            <a:endParaRPr lang="en-US" sz="1800" dirty="0"/>
          </a:p>
        </p:txBody>
      </p:sp>
      <p:sp>
        <p:nvSpPr>
          <p:cNvPr id="6" name="Text 4"/>
          <p:cNvSpPr/>
          <p:nvPr/>
        </p:nvSpPr>
        <p:spPr>
          <a:xfrm>
            <a:off x="1073150" y="2437061"/>
            <a:ext cx="4800727" cy="1767632"/>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ground truth: both apps are closed-source, so precision and recall cannot be computed.</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ablation yet: we have not measured what each component contributes.</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Findings are model-written claims; each needs a human to confirm it.</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16 of 48 contacts failures were not about the app.</a:t>
            </a:r>
            <a:endParaRPr lang="en-US" sz="1400" dirty="0"/>
          </a:p>
        </p:txBody>
      </p:sp>
      <p:sp>
        <p:nvSpPr>
          <p:cNvPr id="7" name="Shape 5"/>
          <p:cNvSpPr/>
          <p:nvPr/>
        </p:nvSpPr>
        <p:spPr>
          <a:xfrm>
            <a:off x="6200775" y="1778595"/>
            <a:ext cx="5175250" cy="2657872"/>
          </a:xfrm>
          <a:prstGeom prst="roundRect">
            <a:avLst>
              <a:gd name="adj" fmla="val 3703"/>
            </a:avLst>
          </a:prstGeom>
          <a:solidFill>
            <a:srgbClr val="FDFEFE"/>
          </a:solidFill>
          <a:ln w="6350">
            <a:solidFill>
              <a:srgbClr val="D6E1E6"/>
            </a:solidFill>
            <a:prstDash val="solid"/>
          </a:ln>
        </p:spPr>
      </p:sp>
      <p:sp>
        <p:nvSpPr>
          <p:cNvPr id="8" name="Text 6"/>
          <p:cNvSpPr/>
          <p:nvPr/>
        </p:nvSpPr>
        <p:spPr>
          <a:xfrm>
            <a:off x="64579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6A8F"/>
                </a:solidFill>
                <a:latin typeface="IBM Plex Sans" pitchFamily="34" charset="0"/>
                <a:ea typeface="IBM Plex Sans" pitchFamily="34" charset="-122"/>
                <a:cs typeface="IBM Plex Sans" pitchFamily="34" charset="-120"/>
              </a:rPr>
              <a:t>What comes next</a:t>
            </a:r>
            <a:endParaRPr lang="en-US" sz="1800" dirty="0"/>
          </a:p>
        </p:txBody>
      </p:sp>
      <p:sp>
        <p:nvSpPr>
          <p:cNvPr id="9" name="Text 7"/>
          <p:cNvSpPr/>
          <p:nvPr/>
        </p:nvSpPr>
        <p:spPr>
          <a:xfrm>
            <a:off x="6457950" y="2437061"/>
            <a:ext cx="4800727" cy="1518741"/>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An open-source benchmark with known, reproducible bugs (Themis) for bug-detection rate.</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Ablations: findings off, memory off, and a random baseline.</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Requirement coverage as a headline metric no other tool can report.</a:t>
            </a:r>
            <a:endParaRPr lang="en-US" sz="1400" dirty="0"/>
          </a:p>
        </p:txBody>
      </p:sp>
      <p:sp>
        <p:nvSpPr>
          <p:cNvPr id="10" name="Text 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1" name="Text 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303D"/>
        </a:solidFill>
      </p:bgPr>
    </p:bg>
    <p:spTree>
      <p:nvGrpSpPr>
        <p:cNvPr id="1" name=""/>
        <p:cNvGrpSpPr/>
        <p:nvPr/>
      </p:nvGrpSpPr>
      <p:grpSpPr>
        <a:xfrm>
          <a:off x="0" y="0"/>
          <a:ext cx="0" cy="0"/>
          <a:chOff x="0" y="0"/>
          <a:chExt cx="0" cy="0"/>
        </a:xfrm>
      </p:grpSpPr>
      <p:sp>
        <p:nvSpPr>
          <p:cNvPr id="2" name="Text 0"/>
          <p:cNvSpPr/>
          <p:nvPr/>
        </p:nvSpPr>
        <p:spPr>
          <a:xfrm>
            <a:off x="812800" y="2587675"/>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Thank you</a:t>
            </a:r>
            <a:endParaRPr lang="en-US" sz="5600" dirty="0"/>
          </a:p>
        </p:txBody>
      </p:sp>
      <p:sp>
        <p:nvSpPr>
          <p:cNvPr id="3" name="Text 1"/>
          <p:cNvSpPr/>
          <p:nvPr/>
        </p:nvSpPr>
        <p:spPr>
          <a:xfrm>
            <a:off x="812800" y="353759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Questions are welcome.</a:t>
            </a:r>
            <a:endParaRPr lang="en-US" sz="1800" dirty="0"/>
          </a:p>
        </p:txBody>
      </p:sp>
      <p:sp>
        <p:nvSpPr>
          <p:cNvPr id="4" name="Text 2"/>
          <p:cNvSpPr/>
          <p:nvPr/>
        </p:nvSpPr>
        <p:spPr>
          <a:xfrm>
            <a:off x="812800" y="4049365"/>
            <a:ext cx="91567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D3DA"/>
                </a:solidFill>
                <a:latin typeface="IBM Plex Sans" pitchFamily="34" charset="0"/>
                <a:ea typeface="IBM Plex Sans" pitchFamily="34" charset="-122"/>
                <a:cs typeface="IBM Plex Sans" pitchFamily="34" charset="-120"/>
              </a:rPr>
              <a:t>With thanks to our supervisor, Dr. A. B. M. Alim Al Islam, and to Samsung R&amp;D Institute Bangladesh.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2026-09-29T19:53:35Z</dcterms:created>
  <dcterms:modified xsi:type="dcterms:W3CDTF">2026-09-29T19:53:35Z</dcterms:modified>
</cp:coreProperties>
</file>