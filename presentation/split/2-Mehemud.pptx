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1"/>
    <p:sldId id="266" r:id="rId12"/>
    <p:sldId id="267" r:id="rId13"/>
    <p:sldId id="268" r:id="rId14"/>
    <p:sldId id="269" r:id="rId15"/>
    <p:sldId id="270" r:id="rId16"/>
    <p:sldId id="271" r:id="rId17"/>
    <p:sldId id="272" r:id="rId18"/>
    <p:sldId id="273" r:id="rId19"/>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[Opening, after the intro] Thank you. I'll take you inside the first of the three agents, the planner. Its job is to choose the single most useful test to run next. It cannot see the phone, so everything it knows, it reads from the graph. There are six kinds of knowledge: the specification, split into individual requirements; the screens we have actually seen, 79 on the contacts app; learned routes to each screen; findings from earlier runs; coverage, meaning what is still untested; and past bug reports when a project has them. All of it is capped, so the prompt does not grow as a campaign goes on. The summary of earlier runs used to be 35,000 characters, 69 percent of a prompt; stored as findings, it is about 2,000. [Transition] So where does all of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In one Neo4j graph. Orange is the specification: each requirement is traced to the passage of the document it came from. Purple is testing: test cases, the requirements they cover, and a log for every run, including the ordered path of screens it went through. Blue is the app map the executor builds: one node per distinct screen, and the transitions between them. Red is findings, each tied to the run that found it, the screen it is about and the requirement it concerns. Every agent reads and writes this one structure, and nothing else survives between calls. [Transition] The planner reads this graph in one of two modes. The first is a fixed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pipeline is a LangGraph state machine. It first loads what is known, with no model call. Then a small model call asks: what do I still need? The model can pick up to three lookups: search the specification, pull up a screen it has seen, find a route to a screen, or check past defects there. Those run, the answers come back, and it asks again, for at most two rounds. Then one large call writes the test, and a duplicate check compares it with every earlier test, by wording and by meaning. This mode planned the contacts campaign. [Transition] Here is the same pipeline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skip if short of time. Read it by colour, and follow the numbers. Red boxes are model calls: only two are guaranteed per test, the small planner_step and the large generate_testcase. Blue is the planner's tools, the lookups it asked for. Green is plain graph work, and amber are decisions. The loop between steps 2 and 3 is the planner deciding whether it knows enough. The retry at the bottom only fires when a draft is too similar to an earlier test, and every test is stored as planned before the executor ever sees it. The weakness is in that loop: the model lists its lookups up front and gets them back as a batch, so one answer cannot shape the next question. [Transition] That is what the second mode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In tools mode, the model calls the graph itself. It calls one tool, reads the answer, and decides what to ask next, so each question can depend on the last result. It has nine read-only tools: two for what the specification says should exist, three for what the app actually has, three for what earlier runs established, and one for coverage. The right-hand column is the safety rule: a tool is offered only when its source has data. On a brand-new app with no screens yet, get_screen does not exist for the model, so an empty answer can never mislead it. This mode planned the 45-test commerce campaign. [Transition] Here is what one planning round actually looked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measured this from 62 real planning rounds on the commerce app. It starts from a short brief: the coverage map, the last few runs and the open questions. Nothing in the code fixes the order after that; the model chose it. It orients first, with a summary of the findings, the coverage state and the list of screens. Then it picks up an unfinished thread, usually an open question from an earlier run. Only then does it ground the test in a real requirement and a real screen. That is about 13 calls a round. After six free turns it is forced to propose, because on our first live run it investigated for ten turns and never wrote a test. And every proposal must pass the gate on the right: a screen we have really seen, requirement ids that exist, not a repeat, and no precondition the tester cannot create. If it fails, the model is told why and tries again, up to three times. [Transition] Whichever mode runs, it also has to decide where to test next without going in circles.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Three mechanisms steer it. A coverage map points it at untested requirements and feature areas. A cap retires an area after five tests, whatever happened in them. And a duplicate check runs against every earlier test. The cap came from a real failure: in one campaign, 9 of 13 tests landed on the same screen, because a failing area kept being promoted. The obvious fix, stopping when an area stops yielding new findings, would never have fired, because the ninth test was still producing technically new ones. [Transition] So after all of this, what does the planner actually hand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A test case in plain language, never a sequence of taps; the executor works those out on the device. Both modes emit exactly these fields, so the executor does not care which planner ran. Two fields do the most work. requirement_ids are what let us report requirement coverage at all. And addresses links the test to the open question it settles. Here, TC-003 from the commerce app: an earlier run suspected farm names were never validated, so the planner aimed a test at exactly that, citing FR-FARM-04. [Transition] Let me finish with one test followed all the 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TC-018, from the contacts campaign. Earlier runs had seen duplicate contacts saved silently, but whether a matching phone number alone triggers detection was still unverified. The planner picked that up and gave the new contact a completely different name, so that only the phone number matched. That isolates one requirement, FR-DUP-02. The executor saved the contact and found both entries side by side in the list: no duplicate dialog. The investigator marked the objective refuted, a high-severity spec violation, and in its words this directly answers the earlier open question. Nobody told the agent to look at duplicates; it chose this from the specification and from what earlier runs had left open. If asked about the 48 steps: the evidence is in the first 15, and the rest went to a search box that did not respond, which the investigator's summary says itself. [Handover] That run was driven on a real phone by the executor, which [next presenter] will now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WHAT IT KNOWS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knows before it writes a test</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Specification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requirement as a node, retrieved by meaning and by keyword.</a:t>
            </a:r>
            <a:endParaRPr lang="en-US" sz="1200" dirty="0"/>
          </a:p>
        </p:txBody>
      </p:sp>
      <p:sp>
        <p:nvSpPr>
          <p:cNvPr id="7" name="Shape 5"/>
          <p:cNvSpPr/>
          <p:nvPr/>
        </p:nvSpPr>
        <p:spPr>
          <a:xfrm>
            <a:off x="4388892" y="1778595"/>
            <a:ext cx="3414167" cy="1070521"/>
          </a:xfrm>
          <a:prstGeom prst="roundRect">
            <a:avLst>
              <a:gd name="adj" fmla="val 9194"/>
            </a:avLst>
          </a:prstGeom>
          <a:solidFill>
            <a:srgbClr val="FDFEFE"/>
          </a:solidFill>
          <a:ln w="6350">
            <a:solidFill>
              <a:srgbClr val="D6E1E6"/>
            </a:solidFill>
            <a:prstDash val="solid"/>
          </a:ln>
        </p:spPr>
      </p:sp>
      <p:sp>
        <p:nvSpPr>
          <p:cNvPr id="8" name="Text 6"/>
          <p:cNvSpPr/>
          <p:nvPr/>
        </p:nvSpPr>
        <p:spPr>
          <a:xfrm>
            <a:off x="4569867"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Screens seen</a:t>
            </a:r>
            <a:endParaRPr lang="en-US" sz="1400" dirty="0"/>
          </a:p>
        </p:txBody>
      </p:sp>
      <p:sp>
        <p:nvSpPr>
          <p:cNvPr id="9" name="Text 7"/>
          <p:cNvSpPr/>
          <p:nvPr/>
        </p:nvSpPr>
        <p:spPr>
          <a:xfrm>
            <a:off x="4569867"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live map of the app: 79 screens and 797 transitions on the contacts app.</a:t>
            </a:r>
            <a:endParaRPr lang="en-US" sz="1200" dirty="0"/>
          </a:p>
        </p:txBody>
      </p:sp>
      <p:sp>
        <p:nvSpPr>
          <p:cNvPr id="10" name="Shape 8"/>
          <p:cNvSpPr/>
          <p:nvPr/>
        </p:nvSpPr>
        <p:spPr>
          <a:xfrm>
            <a:off x="7961809" y="1778595"/>
            <a:ext cx="3414216" cy="1070521"/>
          </a:xfrm>
          <a:prstGeom prst="roundRect">
            <a:avLst>
              <a:gd name="adj" fmla="val 9194"/>
            </a:avLst>
          </a:prstGeom>
          <a:solidFill>
            <a:srgbClr val="FDFEFE"/>
          </a:solidFill>
          <a:ln w="6350">
            <a:solidFill>
              <a:srgbClr val="D6E1E6"/>
            </a:solidFill>
            <a:prstDash val="solid"/>
          </a:ln>
        </p:spPr>
      </p:sp>
      <p:sp>
        <p:nvSpPr>
          <p:cNvPr id="11" name="Text 9"/>
          <p:cNvSpPr/>
          <p:nvPr/>
        </p:nvSpPr>
        <p:spPr>
          <a:xfrm>
            <a:off x="8142784" y="1959570"/>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Navigation paths</a:t>
            </a:r>
            <a:endParaRPr lang="en-US" sz="1400" dirty="0"/>
          </a:p>
        </p:txBody>
      </p:sp>
      <p:sp>
        <p:nvSpPr>
          <p:cNvPr id="12" name="Text 10"/>
          <p:cNvSpPr/>
          <p:nvPr/>
        </p:nvSpPr>
        <p:spPr>
          <a:xfrm>
            <a:off x="8142784" y="2241500"/>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Learned routes to each screen, and the routes known to fail.</a:t>
            </a:r>
            <a:endParaRPr lang="en-US" sz="1200" dirty="0"/>
          </a:p>
        </p:txBody>
      </p:sp>
      <p:sp>
        <p:nvSpPr>
          <p:cNvPr id="13" name="Shape 11"/>
          <p:cNvSpPr/>
          <p:nvPr/>
        </p:nvSpPr>
        <p:spPr>
          <a:xfrm>
            <a:off x="815975" y="3007866"/>
            <a:ext cx="3414167"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996950"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Findings</a:t>
            </a:r>
            <a:endParaRPr lang="en-US" sz="1400" dirty="0"/>
          </a:p>
        </p:txBody>
      </p:sp>
      <p:sp>
        <p:nvSpPr>
          <p:cNvPr id="15" name="Text 13"/>
          <p:cNvSpPr/>
          <p:nvPr/>
        </p:nvSpPr>
        <p:spPr>
          <a:xfrm>
            <a:off x="996950"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earlier runs confirmed, contradicted or left open.</a:t>
            </a:r>
            <a:endParaRPr lang="en-US" sz="1200" dirty="0"/>
          </a:p>
        </p:txBody>
      </p:sp>
      <p:sp>
        <p:nvSpPr>
          <p:cNvPr id="16" name="Shape 14"/>
          <p:cNvSpPr/>
          <p:nvPr/>
        </p:nvSpPr>
        <p:spPr>
          <a:xfrm>
            <a:off x="4388892" y="3007866"/>
            <a:ext cx="3414167" cy="1070521"/>
          </a:xfrm>
          <a:prstGeom prst="roundRect">
            <a:avLst>
              <a:gd name="adj" fmla="val 9194"/>
            </a:avLst>
          </a:prstGeom>
          <a:solidFill>
            <a:srgbClr val="FDFEFE"/>
          </a:solidFill>
          <a:ln w="6350">
            <a:solidFill>
              <a:srgbClr val="D6E1E6"/>
            </a:solidFill>
            <a:prstDash val="solid"/>
          </a:ln>
        </p:spPr>
      </p:sp>
      <p:sp>
        <p:nvSpPr>
          <p:cNvPr id="17" name="Text 15"/>
          <p:cNvSpPr/>
          <p:nvPr/>
        </p:nvSpPr>
        <p:spPr>
          <a:xfrm>
            <a:off x="4569867"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Coverage</a:t>
            </a:r>
            <a:endParaRPr lang="en-US" sz="1400" dirty="0"/>
          </a:p>
        </p:txBody>
      </p:sp>
      <p:sp>
        <p:nvSpPr>
          <p:cNvPr id="18" name="Text 16"/>
          <p:cNvSpPr/>
          <p:nvPr/>
        </p:nvSpPr>
        <p:spPr>
          <a:xfrm>
            <a:off x="4569867"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Which requirements and feature areas are still untested.</a:t>
            </a:r>
            <a:endParaRPr lang="en-US" sz="1200" dirty="0"/>
          </a:p>
        </p:txBody>
      </p:sp>
      <p:sp>
        <p:nvSpPr>
          <p:cNvPr id="19" name="Shape 17"/>
          <p:cNvSpPr/>
          <p:nvPr/>
        </p:nvSpPr>
        <p:spPr>
          <a:xfrm>
            <a:off x="7961809" y="3007866"/>
            <a:ext cx="3414216" cy="1070521"/>
          </a:xfrm>
          <a:prstGeom prst="roundRect">
            <a:avLst>
              <a:gd name="adj" fmla="val 9194"/>
            </a:avLst>
          </a:prstGeom>
          <a:solidFill>
            <a:srgbClr val="FDFEFE"/>
          </a:solidFill>
          <a:ln w="6350">
            <a:solidFill>
              <a:srgbClr val="D6E1E6"/>
            </a:solidFill>
            <a:prstDash val="solid"/>
          </a:ln>
        </p:spPr>
      </p:sp>
      <p:sp>
        <p:nvSpPr>
          <p:cNvPr id="20" name="Text 18"/>
          <p:cNvSpPr/>
          <p:nvPr/>
        </p:nvSpPr>
        <p:spPr>
          <a:xfrm>
            <a:off x="8142784" y="318884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Defect history</a:t>
            </a:r>
            <a:endParaRPr lang="en-US" sz="1400" dirty="0"/>
          </a:p>
        </p:txBody>
      </p:sp>
      <p:sp>
        <p:nvSpPr>
          <p:cNvPr id="21" name="Text 19"/>
          <p:cNvSpPr/>
          <p:nvPr/>
        </p:nvSpPr>
        <p:spPr>
          <a:xfrm>
            <a:off x="8142784" y="347077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Past bug reports, when a project has them.</a:t>
            </a:r>
            <a:endParaRPr lang="en-US" sz="1200" dirty="0"/>
          </a:p>
        </p:txBody>
      </p:sp>
      <p:sp>
        <p:nvSpPr>
          <p:cNvPr id="22" name="Shape 20"/>
          <p:cNvSpPr/>
          <p:nvPr/>
        </p:nvSpPr>
        <p:spPr>
          <a:xfrm>
            <a:off x="812800" y="4284762"/>
            <a:ext cx="10566400" cy="850850"/>
          </a:xfrm>
          <a:prstGeom prst="roundRect">
            <a:avLst>
              <a:gd name="adj" fmla="val 11941"/>
            </a:avLst>
          </a:prstGeom>
          <a:solidFill>
            <a:srgbClr val="14303D"/>
          </a:solidFill>
          <a:ln/>
        </p:spPr>
      </p:sp>
      <p:sp>
        <p:nvSpPr>
          <p:cNvPr id="23" name="Text 21"/>
          <p:cNvSpPr/>
          <p:nvPr/>
        </p:nvSpPr>
        <p:spPr>
          <a:xfrm>
            <a:off x="1016000" y="4462562"/>
            <a:ext cx="10464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Bounded context, so long campaigns stay cheap</a:t>
            </a:r>
            <a:endParaRPr lang="en-US" sz="1400" dirty="0"/>
          </a:p>
        </p:txBody>
      </p:sp>
      <p:sp>
        <p:nvSpPr>
          <p:cNvPr id="24" name="Text 22"/>
          <p:cNvSpPr/>
          <p:nvPr/>
        </p:nvSpPr>
        <p:spPr>
          <a:xfrm>
            <a:off x="1016000" y="4744492"/>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The block summarising earlier runs was 35,233 characters, 69% of one prompt. Stored as findings instead of prose, it is now about 2,000.</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508000"/>
            <a:ext cx="10883392" cy="23127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0B6A8F"/>
                </a:solidFill>
                <a:latin typeface="IBM Plex Sans" pitchFamily="34" charset="0"/>
                <a:ea typeface="IBM Plex Sans" pitchFamily="34" charset="-122"/>
                <a:cs typeface="IBM Plex Sans" pitchFamily="34" charset="-120"/>
              </a:rPr>
              <a:t>PLANNER · WHERE IT ALL LIVES</a:t>
            </a:r>
            <a:endParaRPr lang="en-US" sz="1159" dirty="0"/>
          </a:p>
        </p:txBody>
      </p:sp>
      <p:sp>
        <p:nvSpPr>
          <p:cNvPr id="3" name="Text 1"/>
          <p:cNvSpPr/>
          <p:nvPr/>
        </p:nvSpPr>
        <p:spPr>
          <a:xfrm>
            <a:off x="812800" y="790079"/>
            <a:ext cx="10883392" cy="429816"/>
          </a:xfrm>
          <a:prstGeom prst="rect">
            <a:avLst/>
          </a:prstGeom>
          <a:noFill/>
          <a:ln/>
        </p:spPr>
        <p:txBody>
          <a:bodyPr wrap="square" lIns="0" tIns="0" rIns="0" bIns="0" rtlCol="0" anchor="t">
            <a:normAutofit/>
          </a:bodyPr>
          <a:lstStyle/>
          <a:p>
            <a:pPr algn="l" indent="0" marL="0">
              <a:lnSpc>
                <a:spcPts val="3218"/>
              </a:lnSpc>
              <a:buNone/>
            </a:pPr>
            <a:r>
              <a:rPr lang="en-US" sz="2925" b="1" dirty="0">
                <a:solidFill>
                  <a:srgbClr val="14303D"/>
                </a:solidFill>
                <a:latin typeface="Source Serif 4" pitchFamily="34" charset="0"/>
                <a:ea typeface="Source Serif 4" pitchFamily="34" charset="-122"/>
                <a:cs typeface="Source Serif 4" pitchFamily="34" charset="-120"/>
              </a:rPr>
              <a:t>What the knowledge graph stores</a:t>
            </a:r>
            <a:endParaRPr lang="en-US" sz="2925" dirty="0"/>
          </a:p>
        </p:txBody>
      </p:sp>
      <p:sp>
        <p:nvSpPr>
          <p:cNvPr id="4" name="Shape 2"/>
          <p:cNvSpPr/>
          <p:nvPr/>
        </p:nvSpPr>
        <p:spPr>
          <a:xfrm>
            <a:off x="812800" y="1346895"/>
            <a:ext cx="10566400" cy="4183410"/>
          </a:xfrm>
          <a:prstGeom prst="roundRect">
            <a:avLst>
              <a:gd name="adj" fmla="val 2429"/>
            </a:avLst>
          </a:prstGeom>
          <a:solidFill>
            <a:srgbClr val="FDFEFE"/>
          </a:solidFill>
          <a:ln/>
        </p:spPr>
      </p:sp>
      <p:pic>
        <p:nvPicPr>
          <p:cNvPr id="5" name="Image 0" descr="Neo4j schema. Specification side: SRS has chunks; each Requirement is derived from a chunk, has validation rules and involves entities. Tests: a TestCase covers requirements and a feature area and has runs; an ExecutionLog points to its test case and stores the ordered path of screens. App model: UIState transitions to UIState, and navigation-tree nodes lead to screens. A Finding is found by an execution log, is about a screen, concerns a requirement, and can be generalised by another finding.">    </p:cNvPr>
          <p:cNvPicPr>
            <a:picLocks noChangeAspect="1"/>
          </p:cNvPicPr>
          <p:nvPr/>
        </p:nvPicPr>
        <p:blipFill>
          <a:blip r:embed="rId1"/>
          <a:stretch>
            <a:fillRect/>
          </a:stretch>
        </p:blipFill>
        <p:spPr>
          <a:xfrm>
            <a:off x="1330082" y="1353245"/>
            <a:ext cx="9531836" cy="4170710"/>
          </a:xfrm>
          <a:prstGeom prst="rect">
            <a:avLst/>
          </a:prstGeom>
        </p:spPr>
      </p:pic>
      <p:sp>
        <p:nvSpPr>
          <p:cNvPr id="6" name="Shape 3"/>
          <p:cNvSpPr/>
          <p:nvPr/>
        </p:nvSpPr>
        <p:spPr>
          <a:xfrm>
            <a:off x="815975" y="1350070"/>
            <a:ext cx="10560050" cy="4177060"/>
          </a:xfrm>
          <a:prstGeom prst="roundRect">
            <a:avLst>
              <a:gd name="adj" fmla="val 2356"/>
            </a:avLst>
          </a:prstGeom>
          <a:noFill/>
          <a:ln w="6350">
            <a:solidFill>
              <a:srgbClr val="D6E1E6"/>
            </a:solidFill>
            <a:prstDash val="solid"/>
          </a:ln>
        </p:spPr>
      </p:sp>
      <p:sp>
        <p:nvSpPr>
          <p:cNvPr id="7" name="Text 4"/>
          <p:cNvSpPr/>
          <p:nvPr/>
        </p:nvSpPr>
        <p:spPr>
          <a:xfrm>
            <a:off x="812800" y="5682704"/>
            <a:ext cx="10883392" cy="438696"/>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46596A"/>
                </a:solidFill>
                <a:latin typeface="IBM Plex Sans" pitchFamily="34" charset="0"/>
                <a:ea typeface="IBM Plex Sans" pitchFamily="34" charset="-122"/>
                <a:cs typeface="IBM Plex Sans" pitchFamily="34" charset="-120"/>
              </a:rPr>
              <a:t>Orange: from the specification · Purple: tests and runs · Blue: the app model · Red: findings · Dashed: stored as a property, not a relationship. Every node belongs to one project.</a:t>
            </a:r>
            <a:endParaRPr lang="en-US" sz="1166"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PIPELINE MODE · A LANGGRAPH STATE MACHINE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planner asks what it still needs</a:t>
            </a:r>
            <a:endParaRPr lang="en-US" sz="3000" dirty="0"/>
          </a:p>
        </p:txBody>
      </p:sp>
      <p:sp>
        <p:nvSpPr>
          <p:cNvPr id="4" name="Shape 2"/>
          <p:cNvSpPr/>
          <p:nvPr/>
        </p:nvSpPr>
        <p:spPr>
          <a:xfrm>
            <a:off x="815975" y="1908175"/>
            <a:ext cx="1898650" cy="1835150"/>
          </a:xfrm>
          <a:prstGeom prst="roundRect">
            <a:avLst>
              <a:gd name="adj" fmla="val 5363"/>
            </a:avLst>
          </a:prstGeom>
          <a:solidFill>
            <a:srgbClr val="FDFEFE"/>
          </a:solidFill>
          <a:ln w="6350">
            <a:solidFill>
              <a:srgbClr val="D6E1E6"/>
            </a:solidFill>
            <a:prstDash val="solid"/>
          </a:ln>
        </p:spPr>
      </p:sp>
      <p:sp>
        <p:nvSpPr>
          <p:cNvPr id="5" name="Text 3"/>
          <p:cNvSpPr/>
          <p:nvPr/>
        </p:nvSpPr>
        <p:spPr>
          <a:xfrm>
            <a:off x="9715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15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loads coverage, tests and findings</a:t>
            </a:r>
            <a:endParaRPr lang="en-US" sz="1200" dirty="0"/>
          </a:p>
        </p:txBody>
      </p:sp>
      <p:sp>
        <p:nvSpPr>
          <p:cNvPr id="7" name="Text 5"/>
          <p:cNvSpPr/>
          <p:nvPr/>
        </p:nvSpPr>
        <p:spPr>
          <a:xfrm>
            <a:off x="971550" y="3323630"/>
            <a:ext cx="1068338" cy="264120"/>
          </a:xfrm>
          <a:prstGeom prst="roundRect">
            <a:avLst>
              <a:gd name="adj" fmla="val 19234"/>
            </a:avLst>
          </a:prstGeom>
          <a:solidFill>
            <a:srgbClr val="EDF2F4"/>
          </a:solidFill>
          <a:ln/>
        </p:spPr>
        <p:txBody>
          <a:bodyPr wrap="none" lIns="0" tIns="0" rIns="0" bIns="0" rtlCol="0" anchor="ctr">
            <a:normAutofit/>
          </a:bodyPr>
          <a:lstStyle/>
          <a:p>
            <a:pPr algn="ctr"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no model call</a:t>
            </a:r>
            <a:endParaRPr lang="en-US" sz="1200" dirty="0"/>
          </a:p>
        </p:txBody>
      </p:sp>
      <p:sp>
        <p:nvSpPr>
          <p:cNvPr id="8" name="Shape 6"/>
          <p:cNvSpPr/>
          <p:nvPr/>
        </p:nvSpPr>
        <p:spPr>
          <a:xfrm>
            <a:off x="3327400" y="1911350"/>
            <a:ext cx="3035300" cy="1828800"/>
          </a:xfrm>
          <a:prstGeom prst="roundRect">
            <a:avLst>
              <a:gd name="adj" fmla="val 5208"/>
            </a:avLst>
          </a:prstGeom>
          <a:solidFill>
            <a:srgbClr val="EDF2F4"/>
          </a:solidFill>
          <a:ln w="12700">
            <a:solidFill>
              <a:srgbClr val="0F7EA8"/>
            </a:solidFill>
            <a:prstDash val="dash"/>
          </a:ln>
        </p:spPr>
      </p:sp>
      <p:sp>
        <p:nvSpPr>
          <p:cNvPr id="9" name="Shape 7"/>
          <p:cNvSpPr/>
          <p:nvPr/>
        </p:nvSpPr>
        <p:spPr>
          <a:xfrm>
            <a:off x="3448050" y="2032000"/>
            <a:ext cx="2794000" cy="468660"/>
          </a:xfrm>
          <a:prstGeom prst="roundRect">
            <a:avLst>
              <a:gd name="adj" fmla="val 13549"/>
            </a:avLst>
          </a:prstGeom>
          <a:solidFill>
            <a:srgbClr val="FDFEFE"/>
          </a:solidFill>
          <a:ln/>
        </p:spPr>
      </p:sp>
      <p:sp>
        <p:nvSpPr>
          <p:cNvPr id="10" name="Text 8"/>
          <p:cNvSpPr/>
          <p:nvPr/>
        </p:nvSpPr>
        <p:spPr>
          <a:xfrm>
            <a:off x="3549650" y="2095500"/>
            <a:ext cx="2668524" cy="18990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planner_step</a:t>
            </a:r>
            <a:endParaRPr lang="en-US" sz="945" dirty="0"/>
          </a:p>
        </p:txBody>
      </p:sp>
      <p:sp>
        <p:nvSpPr>
          <p:cNvPr id="11" name="Text 9"/>
          <p:cNvSpPr/>
          <p:nvPr/>
        </p:nvSpPr>
        <p:spPr>
          <a:xfrm>
            <a:off x="3549650" y="2272705"/>
            <a:ext cx="2668524" cy="18985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46596A"/>
                </a:solidFill>
                <a:latin typeface="IBM Plex Sans" pitchFamily="34" charset="0"/>
                <a:ea typeface="IBM Plex Sans" pitchFamily="34" charset="-122"/>
                <a:cs typeface="IBM Plex Sans" pitchFamily="34" charset="-120"/>
              </a:rPr>
              <a:t>model: “what do I still need?”</a:t>
            </a:r>
            <a:endParaRPr lang="en-US" sz="945" dirty="0"/>
          </a:p>
        </p:txBody>
      </p:sp>
      <p:sp>
        <p:nvSpPr>
          <p:cNvPr id="12" name="Shape 10"/>
          <p:cNvSpPr/>
          <p:nvPr/>
        </p:nvSpPr>
        <p:spPr>
          <a:xfrm>
            <a:off x="3448050" y="2576860"/>
            <a:ext cx="2794000" cy="634603"/>
          </a:xfrm>
          <a:prstGeom prst="roundRect">
            <a:avLst>
              <a:gd name="adj" fmla="val 10006"/>
            </a:avLst>
          </a:prstGeom>
          <a:solidFill>
            <a:srgbClr val="FDFEFE"/>
          </a:solidFill>
          <a:ln/>
        </p:spPr>
      </p:sp>
      <p:sp>
        <p:nvSpPr>
          <p:cNvPr id="13" name="Text 11"/>
          <p:cNvSpPr/>
          <p:nvPr/>
        </p:nvSpPr>
        <p:spPr>
          <a:xfrm>
            <a:off x="3549650" y="2640360"/>
            <a:ext cx="2668524" cy="190351"/>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execute_retrieval</a:t>
            </a:r>
            <a:endParaRPr lang="en-US" sz="945" dirty="0"/>
          </a:p>
        </p:txBody>
      </p:sp>
      <p:sp>
        <p:nvSpPr>
          <p:cNvPr id="14" name="Text 12"/>
          <p:cNvSpPr/>
          <p:nvPr/>
        </p:nvSpPr>
        <p:spPr>
          <a:xfrm>
            <a:off x="3549650" y="2818011"/>
            <a:ext cx="2668524" cy="355352"/>
          </a:xfrm>
          <a:prstGeom prst="rect">
            <a:avLst/>
          </a:prstGeom>
          <a:noFill/>
          <a:ln/>
        </p:spPr>
        <p:txBody>
          <a:bodyPr wrap="square" lIns="0" tIns="0" rIns="0" bIns="0" rtlCol="0" anchor="t">
            <a:normAutofit/>
          </a:bodyPr>
          <a:lstStyle/>
          <a:p>
            <a:pPr algn="l" indent="0" marL="0">
              <a:lnSpc>
                <a:spcPts val="1475"/>
              </a:lnSpc>
              <a:buNone/>
            </a:pPr>
            <a:r>
              <a:rPr lang="en-US" sz="1054" dirty="0">
                <a:solidFill>
                  <a:srgbClr val="46596A"/>
                </a:solidFill>
                <a:latin typeface="IBM Plex Sans" pitchFamily="34" charset="0"/>
                <a:ea typeface="IBM Plex Sans" pitchFamily="34" charset="-122"/>
                <a:cs typeface="IBM Plex Sans" pitchFamily="34" charset="-120"/>
              </a:rPr>
              <a:t>runs its tools: spec, screens, paths, defects</a:t>
            </a:r>
            <a:endParaRPr lang="en-US" sz="1054" dirty="0"/>
          </a:p>
        </p:txBody>
      </p:sp>
      <p:sp>
        <p:nvSpPr>
          <p:cNvPr id="15" name="Text 13"/>
          <p:cNvSpPr/>
          <p:nvPr/>
        </p:nvSpPr>
        <p:spPr>
          <a:xfrm>
            <a:off x="3448050" y="3287663"/>
            <a:ext cx="2877820" cy="357237"/>
          </a:xfrm>
          <a:prstGeom prst="rect">
            <a:avLst/>
          </a:prstGeom>
          <a:noFill/>
          <a:ln/>
        </p:spPr>
        <p:txBody>
          <a:bodyPr wrap="square" lIns="0" tIns="0" rIns="0" bIns="0" rtlCol="0" anchor="t">
            <a:normAutofit/>
          </a:bodyPr>
          <a:lstStyle/>
          <a:p>
            <a:pPr algn="l" indent="0" marL="0">
              <a:lnSpc>
                <a:spcPts val="1412"/>
              </a:lnSpc>
              <a:buNone/>
            </a:pPr>
            <a:r>
              <a:rPr lang="en-US" sz="1009" b="1" dirty="0">
                <a:solidFill>
                  <a:srgbClr val="0B6A8F"/>
                </a:solidFill>
                <a:latin typeface="IBM Plex Sans" pitchFamily="34" charset="0"/>
                <a:ea typeface="IBM Plex Sans" pitchFamily="34" charset="-122"/>
                <a:cs typeface="IBM Plex Sans" pitchFamily="34" charset="-120"/>
              </a:rPr>
              <a:t>repeats until ready · 2 rounds in our campaigns</a:t>
            </a:r>
            <a:endParaRPr lang="en-US" sz="1009" dirty="0"/>
          </a:p>
        </p:txBody>
      </p:sp>
      <p:sp>
        <p:nvSpPr>
          <p:cNvPr id="16" name="Shape 14"/>
          <p:cNvSpPr/>
          <p:nvPr/>
        </p:nvSpPr>
        <p:spPr>
          <a:xfrm>
            <a:off x="6975475" y="1908175"/>
            <a:ext cx="1898650" cy="1835150"/>
          </a:xfrm>
          <a:prstGeom prst="roundRect">
            <a:avLst>
              <a:gd name="adj" fmla="val 5363"/>
            </a:avLst>
          </a:prstGeom>
          <a:solidFill>
            <a:srgbClr val="FDFEFE"/>
          </a:solidFill>
          <a:ln w="6350">
            <a:solidFill>
              <a:srgbClr val="D6E1E6"/>
            </a:solidFill>
            <a:prstDash val="solid"/>
          </a:ln>
        </p:spPr>
      </p:sp>
      <p:sp>
        <p:nvSpPr>
          <p:cNvPr id="17" name="Text 15"/>
          <p:cNvSpPr/>
          <p:nvPr/>
        </p:nvSpPr>
        <p:spPr>
          <a:xfrm>
            <a:off x="71310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generate_testcase</a:t>
            </a:r>
            <a:endParaRPr lang="en-US" sz="1200" dirty="0"/>
          </a:p>
        </p:txBody>
      </p:sp>
      <p:sp>
        <p:nvSpPr>
          <p:cNvPr id="18" name="Text 16"/>
          <p:cNvSpPr/>
          <p:nvPr/>
        </p:nvSpPr>
        <p:spPr>
          <a:xfrm>
            <a:off x="71310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writes the test as structured JSON</a:t>
            </a:r>
            <a:endParaRPr lang="en-US" sz="1200" dirty="0"/>
          </a:p>
        </p:txBody>
      </p:sp>
      <p:sp>
        <p:nvSpPr>
          <p:cNvPr id="19" name="Text 17"/>
          <p:cNvSpPr/>
          <p:nvPr/>
        </p:nvSpPr>
        <p:spPr>
          <a:xfrm>
            <a:off x="7131050" y="3323630"/>
            <a:ext cx="1362323" cy="264120"/>
          </a:xfrm>
          <a:prstGeom prst="roundRect">
            <a:avLst>
              <a:gd name="adj" fmla="val 19234"/>
            </a:avLst>
          </a:prstGeom>
          <a:solidFill>
            <a:srgbClr val="E4F2F8"/>
          </a:solidFill>
          <a:ln/>
        </p:spPr>
        <p:txBody>
          <a:bodyPr wrap="none" lIns="0" tIns="0" rIns="0" bIns="0" rtlCol="0" anchor="ctr">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1 large model call</a:t>
            </a:r>
            <a:endParaRPr lang="en-US" sz="1200" dirty="0"/>
          </a:p>
        </p:txBody>
      </p:sp>
      <p:sp>
        <p:nvSpPr>
          <p:cNvPr id="20" name="Shape 18"/>
          <p:cNvSpPr/>
          <p:nvPr/>
        </p:nvSpPr>
        <p:spPr>
          <a:xfrm>
            <a:off x="9483725" y="1908175"/>
            <a:ext cx="1892300" cy="1835150"/>
          </a:xfrm>
          <a:prstGeom prst="roundRect">
            <a:avLst>
              <a:gd name="adj" fmla="val 5363"/>
            </a:avLst>
          </a:prstGeom>
          <a:solidFill>
            <a:srgbClr val="FDFEFE"/>
          </a:solidFill>
          <a:ln w="6350">
            <a:solidFill>
              <a:srgbClr val="D6E1E6"/>
            </a:solidFill>
            <a:prstDash val="solid"/>
          </a:ln>
        </p:spPr>
      </p:sp>
      <p:sp>
        <p:nvSpPr>
          <p:cNvPr id="21" name="Text 19"/>
          <p:cNvSpPr/>
          <p:nvPr/>
        </p:nvSpPr>
        <p:spPr>
          <a:xfrm>
            <a:off x="9639300" y="2063750"/>
            <a:ext cx="1631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duplicate_check</a:t>
            </a:r>
            <a:endParaRPr lang="en-US" sz="1200" dirty="0"/>
          </a:p>
        </p:txBody>
      </p:sp>
      <p:sp>
        <p:nvSpPr>
          <p:cNvPr id="22" name="Text 20"/>
          <p:cNvSpPr/>
          <p:nvPr/>
        </p:nvSpPr>
        <p:spPr>
          <a:xfrm>
            <a:off x="9639300" y="2327870"/>
            <a:ext cx="1631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rejects near-duplicates by title and meaning</a:t>
            </a:r>
            <a:endParaRPr lang="en-US" sz="1200" dirty="0"/>
          </a:p>
        </p:txBody>
      </p:sp>
      <p:sp>
        <p:nvSpPr>
          <p:cNvPr id="23" name="Text 21"/>
          <p:cNvSpPr/>
          <p:nvPr/>
        </p:nvSpPr>
        <p:spPr>
          <a:xfrm>
            <a:off x="9639300" y="3323630"/>
            <a:ext cx="1333054" cy="264120"/>
          </a:xfrm>
          <a:prstGeom prst="roundRect">
            <a:avLst>
              <a:gd name="adj" fmla="val 19234"/>
            </a:avLst>
          </a:prstGeom>
          <a:solidFill>
            <a:srgbClr val="FBEDE6"/>
          </a:solidFill>
          <a:ln/>
        </p:spPr>
        <p:txBody>
          <a:bodyPr wrap="none" lIns="0" tIns="0" rIns="0" bIns="0" rtlCol="0" anchor="ctr">
            <a:normAutofit/>
          </a:bodyPr>
          <a:lstStyle/>
          <a:p>
            <a:pPr algn="ctr" indent="0" marL="0">
              <a:lnSpc>
                <a:spcPts val="1680"/>
              </a:lnSpc>
              <a:buNone/>
            </a:pPr>
            <a:r>
              <a:rPr lang="en-US" sz="1200" dirty="0">
                <a:solidFill>
                  <a:srgbClr val="A9502C"/>
                </a:solidFill>
                <a:latin typeface="IBM Plex Sans" pitchFamily="34" charset="0"/>
                <a:ea typeface="IBM Plex Sans" pitchFamily="34" charset="-122"/>
                <a:cs typeface="IBM Plex Sans" pitchFamily="34" charset="-120"/>
              </a:rPr>
              <a:t>+1 call if rejected</a:t>
            </a:r>
            <a:endParaRPr lang="en-US" sz="1200" dirty="0"/>
          </a:p>
        </p:txBody>
      </p:sp>
      <p:pic>
        <p:nvPicPr>
          <p:cNvPr id="24" name="Image 0" descr="connector">    </p:cNvPr>
          <p:cNvPicPr>
            <a:picLocks noChangeAspect="1"/>
          </p:cNvPicPr>
          <p:nvPr/>
        </p:nvPicPr>
        <p:blipFill>
          <a:blip r:embed="rId1"/>
          <a:srcRect l="0" r="0" t="0" b="0"/>
          <a:stretch/>
        </p:blipFill>
        <p:spPr>
          <a:xfrm>
            <a:off x="2679700" y="2774950"/>
            <a:ext cx="679450" cy="101600"/>
          </a:xfrm>
          <a:prstGeom prst="rect">
            <a:avLst/>
          </a:prstGeom>
        </p:spPr>
      </p:pic>
      <p:pic>
        <p:nvPicPr>
          <p:cNvPr id="25" name="Image 1" descr="connector">    </p:cNvPr>
          <p:cNvPicPr>
            <a:picLocks noChangeAspect="1"/>
          </p:cNvPicPr>
          <p:nvPr/>
        </p:nvPicPr>
        <p:blipFill>
          <a:blip r:embed="rId2"/>
          <a:srcRect l="0" r="0" t="0" b="0"/>
          <a:stretch/>
        </p:blipFill>
        <p:spPr>
          <a:xfrm>
            <a:off x="6330950" y="2774950"/>
            <a:ext cx="679450" cy="101600"/>
          </a:xfrm>
          <a:prstGeom prst="rect">
            <a:avLst/>
          </a:prstGeom>
        </p:spPr>
      </p:pic>
      <p:pic>
        <p:nvPicPr>
          <p:cNvPr id="26" name="Image 2" descr="connector">    </p:cNvPr>
          <p:cNvPicPr>
            <a:picLocks noChangeAspect="1"/>
          </p:cNvPicPr>
          <p:nvPr/>
        </p:nvPicPr>
        <p:blipFill>
          <a:blip r:embed="rId3"/>
          <a:srcRect l="0" r="0" t="0" b="0"/>
          <a:stretch/>
        </p:blipFill>
        <p:spPr>
          <a:xfrm>
            <a:off x="8839200" y="2774950"/>
            <a:ext cx="679450" cy="101600"/>
          </a:xfrm>
          <a:prstGeom prst="rect">
            <a:avLst/>
          </a:prstGeom>
        </p:spPr>
      </p:pic>
      <p:sp>
        <p:nvSpPr>
          <p:cNvPr id="27" name="Shape 22"/>
          <p:cNvSpPr/>
          <p:nvPr/>
        </p:nvSpPr>
        <p:spPr>
          <a:xfrm>
            <a:off x="815975" y="4067175"/>
            <a:ext cx="5149850" cy="1309241"/>
          </a:xfrm>
          <a:prstGeom prst="roundRect">
            <a:avLst>
              <a:gd name="adj" fmla="val 7518"/>
            </a:avLst>
          </a:prstGeom>
          <a:solidFill>
            <a:srgbClr val="FDFEFE"/>
          </a:solidFill>
          <a:ln w="6350">
            <a:solidFill>
              <a:srgbClr val="D6E1E6"/>
            </a:solidFill>
            <a:prstDash val="solid"/>
          </a:ln>
        </p:spPr>
      </p:sp>
      <p:sp>
        <p:nvSpPr>
          <p:cNvPr id="28" name="Text 23"/>
          <p:cNvSpPr/>
          <p:nvPr/>
        </p:nvSpPr>
        <p:spPr>
          <a:xfrm>
            <a:off x="9969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Its tools: four sources it can look things up in</a:t>
            </a:r>
            <a:endParaRPr lang="en-US" sz="1400" dirty="0"/>
          </a:p>
        </p:txBody>
      </p:sp>
      <p:sp>
        <p:nvSpPr>
          <p:cNvPr id="29" name="Text 24"/>
          <p:cNvSpPr/>
          <p:nvPr/>
        </p:nvSpPr>
        <p:spPr>
          <a:xfrm>
            <a:off x="996950" y="4555480"/>
            <a:ext cx="49315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round the model picks up to three lookups: search the specification, pull up a screen already seen, find a path to a screen, or check past defects there.</a:t>
            </a:r>
            <a:endParaRPr lang="en-US" sz="1200" dirty="0"/>
          </a:p>
        </p:txBody>
      </p:sp>
      <p:sp>
        <p:nvSpPr>
          <p:cNvPr id="30" name="Shape 25"/>
          <p:cNvSpPr/>
          <p:nvPr/>
        </p:nvSpPr>
        <p:spPr>
          <a:xfrm>
            <a:off x="6226175" y="4067175"/>
            <a:ext cx="5149850" cy="1095921"/>
          </a:xfrm>
          <a:prstGeom prst="roundRect">
            <a:avLst>
              <a:gd name="adj" fmla="val 8981"/>
            </a:avLst>
          </a:prstGeom>
          <a:solidFill>
            <a:srgbClr val="FDFEFE"/>
          </a:solidFill>
          <a:ln w="6350">
            <a:solidFill>
              <a:srgbClr val="D6E1E6"/>
            </a:solidFill>
            <a:prstDash val="solid"/>
          </a:ln>
        </p:spPr>
      </p:sp>
      <p:sp>
        <p:nvSpPr>
          <p:cNvPr id="31" name="Text 26"/>
          <p:cNvSpPr/>
          <p:nvPr/>
        </p:nvSpPr>
        <p:spPr>
          <a:xfrm>
            <a:off x="64071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When it stops looking</a:t>
            </a:r>
            <a:endParaRPr lang="en-US" sz="1400" dirty="0"/>
          </a:p>
        </p:txBody>
      </p:sp>
      <p:sp>
        <p:nvSpPr>
          <p:cNvPr id="32" name="Text 27"/>
          <p:cNvSpPr/>
          <p:nvPr/>
        </p:nvSpPr>
        <p:spPr>
          <a:xfrm>
            <a:off x="6407150" y="4555480"/>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When the model says it is ready, after 2 rounds, when the context passes 9,000 characters, or when a retrieval returns nothing new.</a:t>
            </a:r>
            <a:endParaRPr lang="en-US" sz="1200" dirty="0"/>
          </a:p>
        </p:txBody>
      </p:sp>
      <p:sp>
        <p:nvSpPr>
          <p:cNvPr id="33" name="Text 2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4" name="Text 2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IN DETAIL</a:t>
            </a:r>
            <a:endParaRPr lang="en-US" sz="1200" dirty="0"/>
          </a:p>
        </p:txBody>
      </p:sp>
      <p:sp>
        <p:nvSpPr>
          <p:cNvPr id="3" name="Text 1"/>
          <p:cNvSpPr/>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full planning pipeline</a:t>
            </a:r>
            <a:endParaRPr lang="en-US" sz="3000" dirty="0"/>
          </a:p>
        </p:txBody>
      </p:sp>
      <p:sp>
        <p:nvSpPr>
          <p:cNvPr id="4" name="Shape 2"/>
          <p:cNvSpPr/>
          <p:nvPr/>
        </p:nvSpPr>
        <p:spPr>
          <a:xfrm>
            <a:off x="819150" y="1730970"/>
            <a:ext cx="2019300" cy="1257300"/>
          </a:xfrm>
          <a:prstGeom prst="roundRect">
            <a:avLst>
              <a:gd name="adj" fmla="val 6566"/>
            </a:avLst>
          </a:prstGeom>
          <a:solidFill>
            <a:srgbClr val="D3F9D8"/>
          </a:solidFill>
          <a:ln w="12700">
            <a:solidFill>
              <a:srgbClr val="2F9E44"/>
            </a:solidFill>
            <a:prstDash val="solid"/>
          </a:ln>
        </p:spPr>
      </p:sp>
      <p:sp>
        <p:nvSpPr>
          <p:cNvPr id="5" name="Text 3"/>
          <p:cNvSpPr/>
          <p:nvPr/>
        </p:nvSpPr>
        <p:spPr>
          <a:xfrm>
            <a:off x="977900" y="18770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5E27"/>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7900" y="2128441"/>
            <a:ext cx="175285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5E27"/>
                </a:solidFill>
                <a:latin typeface="IBM Plex Sans" pitchFamily="34" charset="0"/>
                <a:ea typeface="IBM Plex Sans" pitchFamily="34" charset="-122"/>
                <a:cs typeface="IBM Plex Sans" pitchFamily="34" charset="-120"/>
              </a:rPr>
              <a:t>1 · loads coverage, tests and findings · no model call</a:t>
            </a:r>
            <a:endParaRPr lang="en-US" sz="1200" dirty="0"/>
          </a:p>
        </p:txBody>
      </p:sp>
      <p:sp>
        <p:nvSpPr>
          <p:cNvPr id="7" name="Shape 5"/>
          <p:cNvSpPr/>
          <p:nvPr/>
        </p:nvSpPr>
        <p:spPr>
          <a:xfrm>
            <a:off x="3359150" y="1730970"/>
            <a:ext cx="2400300" cy="1257300"/>
          </a:xfrm>
          <a:prstGeom prst="roundRect">
            <a:avLst>
              <a:gd name="adj" fmla="val 6566"/>
            </a:avLst>
          </a:prstGeom>
          <a:solidFill>
            <a:srgbClr val="FFE3E3"/>
          </a:solidFill>
          <a:ln w="12700">
            <a:solidFill>
              <a:srgbClr val="E03131"/>
            </a:solidFill>
            <a:prstDash val="solid"/>
          </a:ln>
        </p:spPr>
      </p:sp>
      <p:sp>
        <p:nvSpPr>
          <p:cNvPr id="8" name="Text 6"/>
          <p:cNvSpPr/>
          <p:nvPr/>
        </p:nvSpPr>
        <p:spPr>
          <a:xfrm>
            <a:off x="3517900" y="1877020"/>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1A1A"/>
                </a:solidFill>
                <a:latin typeface="IBM Plex Mono" pitchFamily="34" charset="0"/>
                <a:ea typeface="IBM Plex Mono" pitchFamily="34" charset="-122"/>
                <a:cs typeface="IBM Plex Mono" pitchFamily="34" charset="-120"/>
              </a:rPr>
              <a:t>planner_step</a:t>
            </a:r>
            <a:endParaRPr lang="en-US" sz="1200" dirty="0"/>
          </a:p>
        </p:txBody>
      </p:sp>
      <p:sp>
        <p:nvSpPr>
          <p:cNvPr id="9" name="Text 7"/>
          <p:cNvSpPr/>
          <p:nvPr/>
        </p:nvSpPr>
        <p:spPr>
          <a:xfrm>
            <a:off x="3517900" y="2128441"/>
            <a:ext cx="214528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B1A1A"/>
                </a:solidFill>
                <a:latin typeface="IBM Plex Sans" pitchFamily="34" charset="0"/>
                <a:ea typeface="IBM Plex Sans" pitchFamily="34" charset="-122"/>
                <a:cs typeface="IBM Plex Sans" pitchFamily="34" charset="-120"/>
              </a:rPr>
              <a:t>2 · small model call: “what do I still need?” Picks up to 3 lookups.</a:t>
            </a:r>
            <a:endParaRPr lang="en-US" sz="1200" dirty="0"/>
          </a:p>
        </p:txBody>
      </p:sp>
      <p:sp>
        <p:nvSpPr>
          <p:cNvPr id="10" name="Shape 8"/>
          <p:cNvSpPr/>
          <p:nvPr/>
        </p:nvSpPr>
        <p:spPr>
          <a:xfrm>
            <a:off x="6280150" y="1730970"/>
            <a:ext cx="1892300" cy="1257300"/>
          </a:xfrm>
          <a:prstGeom prst="roundRect">
            <a:avLst>
              <a:gd name="adj" fmla="val 6566"/>
            </a:avLst>
          </a:prstGeom>
          <a:solidFill>
            <a:srgbClr val="FFF3BF"/>
          </a:solidFill>
          <a:ln w="12700">
            <a:solidFill>
              <a:srgbClr val="F08C00"/>
            </a:solidFill>
            <a:prstDash val="solid"/>
          </a:ln>
        </p:spPr>
      </p:sp>
      <p:sp>
        <p:nvSpPr>
          <p:cNvPr id="11" name="Text 9"/>
          <p:cNvSpPr/>
          <p:nvPr/>
        </p:nvSpPr>
        <p:spPr>
          <a:xfrm>
            <a:off x="6438900" y="1877020"/>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A10"/>
                </a:solidFill>
                <a:latin typeface="IBM Plex Mono" pitchFamily="34" charset="0"/>
                <a:ea typeface="IBM Plex Mono" pitchFamily="34" charset="-122"/>
                <a:cs typeface="IBM Plex Mono" pitchFamily="34" charset="-120"/>
              </a:rPr>
              <a:t>should_continue?</a:t>
            </a:r>
            <a:endParaRPr lang="en-US" sz="1200" dirty="0"/>
          </a:p>
        </p:txBody>
      </p:sp>
      <p:sp>
        <p:nvSpPr>
          <p:cNvPr id="12" name="Text 10"/>
          <p:cNvSpPr/>
          <p:nvPr/>
        </p:nvSpPr>
        <p:spPr>
          <a:xfrm>
            <a:off x="6438900" y="2128441"/>
            <a:ext cx="16256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4A10"/>
                </a:solidFill>
                <a:latin typeface="IBM Plex Sans" pitchFamily="34" charset="0"/>
                <a:ea typeface="IBM Plex Sans" pitchFamily="34" charset="-122"/>
                <a:cs typeface="IBM Plex Sans" pitchFamily="34" charset="-120"/>
              </a:rPr>
              <a:t>3 · write when ready, after 2 rounds, or nothing new</a:t>
            </a:r>
            <a:endParaRPr lang="en-US" sz="1200" dirty="0"/>
          </a:p>
        </p:txBody>
      </p:sp>
      <p:sp>
        <p:nvSpPr>
          <p:cNvPr id="13" name="Shape 11"/>
          <p:cNvSpPr/>
          <p:nvPr/>
        </p:nvSpPr>
        <p:spPr>
          <a:xfrm>
            <a:off x="8693150" y="1730970"/>
            <a:ext cx="2679700" cy="1257300"/>
          </a:xfrm>
          <a:prstGeom prst="roundRect">
            <a:avLst>
              <a:gd name="adj" fmla="val 6566"/>
            </a:avLst>
          </a:prstGeom>
          <a:solidFill>
            <a:srgbClr val="FFE3E3"/>
          </a:solidFill>
          <a:ln w="12700">
            <a:solidFill>
              <a:srgbClr val="E03131"/>
            </a:solidFill>
            <a:prstDash val="solid"/>
          </a:ln>
        </p:spPr>
      </p:sp>
      <p:sp>
        <p:nvSpPr>
          <p:cNvPr id="14" name="Text 12"/>
          <p:cNvSpPr/>
          <p:nvPr/>
        </p:nvSpPr>
        <p:spPr>
          <a:xfrm>
            <a:off x="8851900" y="187702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1A1A"/>
                </a:solidFill>
                <a:latin typeface="IBM Plex Mono" pitchFamily="34" charset="0"/>
                <a:ea typeface="IBM Plex Mono" pitchFamily="34" charset="-122"/>
                <a:cs typeface="IBM Plex Mono" pitchFamily="34" charset="-120"/>
              </a:rPr>
              <a:t>generate_testcase</a:t>
            </a:r>
            <a:endParaRPr lang="en-US" sz="1200" dirty="0"/>
          </a:p>
        </p:txBody>
      </p:sp>
      <p:sp>
        <p:nvSpPr>
          <p:cNvPr id="15" name="Text 13"/>
          <p:cNvSpPr/>
          <p:nvPr/>
        </p:nvSpPr>
        <p:spPr>
          <a:xfrm>
            <a:off x="8851900" y="2128441"/>
            <a:ext cx="243306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B1A1A"/>
                </a:solidFill>
                <a:latin typeface="IBM Plex Sans" pitchFamily="34" charset="0"/>
                <a:ea typeface="IBM Plex Sans" pitchFamily="34" charset="-122"/>
                <a:cs typeface="IBM Plex Sans" pitchFamily="34" charset="-120"/>
              </a:rPr>
              <a:t>4 · large model call · writes the test as JSON</a:t>
            </a:r>
            <a:endParaRPr lang="en-US" sz="1200" dirty="0"/>
          </a:p>
        </p:txBody>
      </p:sp>
      <p:sp>
        <p:nvSpPr>
          <p:cNvPr id="16" name="Shape 14"/>
          <p:cNvSpPr/>
          <p:nvPr/>
        </p:nvSpPr>
        <p:spPr>
          <a:xfrm>
            <a:off x="3359150" y="3318470"/>
            <a:ext cx="4813300" cy="1066800"/>
          </a:xfrm>
          <a:prstGeom prst="roundRect">
            <a:avLst>
              <a:gd name="adj" fmla="val 7738"/>
            </a:avLst>
          </a:prstGeom>
          <a:solidFill>
            <a:srgbClr val="D0EBFF"/>
          </a:solidFill>
          <a:ln w="12700">
            <a:solidFill>
              <a:srgbClr val="1971C2"/>
            </a:solidFill>
            <a:prstDash val="solid"/>
          </a:ln>
        </p:spPr>
      </p:sp>
      <p:sp>
        <p:nvSpPr>
          <p:cNvPr id="17" name="Text 15"/>
          <p:cNvSpPr/>
          <p:nvPr/>
        </p:nvSpPr>
        <p:spPr>
          <a:xfrm>
            <a:off x="3543300" y="34518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4A87"/>
                </a:solidFill>
                <a:latin typeface="IBM Plex Sans" pitchFamily="34" charset="0"/>
                <a:ea typeface="IBM Plex Sans" pitchFamily="34" charset="-122"/>
                <a:cs typeface="IBM Plex Sans" pitchFamily="34" charset="-120"/>
              </a:rPr>
              <a:t>execute_retrieval · the planner's tools</a:t>
            </a:r>
            <a:endParaRPr lang="en-US" sz="1200" dirty="0"/>
          </a:p>
        </p:txBody>
      </p:sp>
      <p:sp>
        <p:nvSpPr>
          <p:cNvPr id="18" name="Text 16"/>
          <p:cNvSpPr/>
          <p:nvPr/>
        </p:nvSpPr>
        <p:spPr>
          <a:xfrm>
            <a:off x="3543300" y="3703241"/>
            <a:ext cx="457835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4A87"/>
                </a:solidFill>
                <a:latin typeface="IBM Plex Sans" pitchFamily="34" charset="0"/>
                <a:ea typeface="IBM Plex Sans" pitchFamily="34" charset="-122"/>
                <a:cs typeface="IBM Plex Sans" pitchFamily="34" charset="-120"/>
              </a:rPr>
              <a:t>no model call · srs: search the spec · live_ui: a screen already seen · navtree: a route to it · defects: past failures there</a:t>
            </a:r>
            <a:endParaRPr lang="en-US" sz="1200" dirty="0"/>
          </a:p>
        </p:txBody>
      </p:sp>
      <p:sp>
        <p:nvSpPr>
          <p:cNvPr id="19" name="Shape 17"/>
          <p:cNvSpPr/>
          <p:nvPr/>
        </p:nvSpPr>
        <p:spPr>
          <a:xfrm>
            <a:off x="8693150" y="4651970"/>
            <a:ext cx="2679700" cy="876300"/>
          </a:xfrm>
          <a:prstGeom prst="roundRect">
            <a:avLst>
              <a:gd name="adj" fmla="val 9420"/>
            </a:avLst>
          </a:prstGeom>
          <a:solidFill>
            <a:srgbClr val="FFF3BF"/>
          </a:solidFill>
          <a:ln w="12700">
            <a:solidFill>
              <a:srgbClr val="F08C00"/>
            </a:solidFill>
            <a:prstDash val="solid"/>
          </a:ln>
        </p:spPr>
      </p:sp>
      <p:sp>
        <p:nvSpPr>
          <p:cNvPr id="20" name="Text 18"/>
          <p:cNvSpPr/>
          <p:nvPr/>
        </p:nvSpPr>
        <p:spPr>
          <a:xfrm>
            <a:off x="8851900" y="4785320"/>
            <a:ext cx="2433066" cy="22051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7A4A10"/>
                </a:solidFill>
                <a:latin typeface="IBM Plex Mono" pitchFamily="34" charset="0"/>
                <a:ea typeface="IBM Plex Mono" pitchFamily="34" charset="-122"/>
                <a:cs typeface="IBM Plex Mono" pitchFamily="34" charset="-120"/>
              </a:rPr>
              <a:t>duplicate_check</a:t>
            </a:r>
            <a:endParaRPr lang="en-US" sz="1121" dirty="0"/>
          </a:p>
        </p:txBody>
      </p:sp>
      <p:sp>
        <p:nvSpPr>
          <p:cNvPr id="21" name="Text 19"/>
          <p:cNvSpPr/>
          <p:nvPr/>
        </p:nvSpPr>
        <p:spPr>
          <a:xfrm>
            <a:off x="8851900" y="5018534"/>
            <a:ext cx="2433066" cy="401786"/>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7A4A10"/>
                </a:solidFill>
                <a:latin typeface="IBM Plex Sans" pitchFamily="34" charset="0"/>
                <a:ea typeface="IBM Plex Sans" pitchFamily="34" charset="-122"/>
                <a:cs typeface="IBM Plex Sans" pitchFamily="34" charset="-120"/>
              </a:rPr>
              <a:t>5 · wording and meaning against every earlier test</a:t>
            </a:r>
            <a:endParaRPr lang="en-US" sz="1099" dirty="0"/>
          </a:p>
        </p:txBody>
      </p:sp>
      <p:sp>
        <p:nvSpPr>
          <p:cNvPr id="22" name="Shape 20"/>
          <p:cNvSpPr/>
          <p:nvPr/>
        </p:nvSpPr>
        <p:spPr>
          <a:xfrm>
            <a:off x="3994150" y="4651970"/>
            <a:ext cx="3035300" cy="876300"/>
          </a:xfrm>
          <a:prstGeom prst="roundRect">
            <a:avLst>
              <a:gd name="adj" fmla="val 9420"/>
            </a:avLst>
          </a:prstGeom>
          <a:solidFill>
            <a:srgbClr val="FFE3E3"/>
          </a:solidFill>
          <a:ln w="12700">
            <a:solidFill>
              <a:srgbClr val="E03131"/>
            </a:solidFill>
            <a:prstDash val="solid"/>
          </a:ln>
        </p:spPr>
      </p:sp>
      <p:sp>
        <p:nvSpPr>
          <p:cNvPr id="23" name="Text 21"/>
          <p:cNvSpPr/>
          <p:nvPr/>
        </p:nvSpPr>
        <p:spPr>
          <a:xfrm>
            <a:off x="4152900" y="4785320"/>
            <a:ext cx="2799334" cy="22051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8B1A1A"/>
                </a:solidFill>
                <a:latin typeface="IBM Plex Sans" pitchFamily="34" charset="0"/>
                <a:ea typeface="IBM Plex Sans" pitchFamily="34" charset="-122"/>
                <a:cs typeface="IBM Plex Sans" pitchFamily="34" charset="-120"/>
              </a:rPr>
              <a:t>One more model call</a:t>
            </a:r>
            <a:endParaRPr lang="en-US" sz="1121" dirty="0"/>
          </a:p>
        </p:txBody>
      </p:sp>
      <p:sp>
        <p:nvSpPr>
          <p:cNvPr id="24" name="Text 22"/>
          <p:cNvSpPr/>
          <p:nvPr/>
        </p:nvSpPr>
        <p:spPr>
          <a:xfrm>
            <a:off x="4152900" y="5018534"/>
            <a:ext cx="2799334" cy="401786"/>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8B1A1A"/>
                </a:solidFill>
                <a:latin typeface="IBM Plex Sans" pitchFamily="34" charset="0"/>
                <a:ea typeface="IBM Plex Sans" pitchFamily="34" charset="-122"/>
                <a:cs typeface="IBM Plex Sans" pitchFamily="34" charset="-120"/>
              </a:rPr>
              <a:t>rewrite with other screens; similar titles blocked</a:t>
            </a:r>
            <a:endParaRPr lang="en-US" sz="1099" dirty="0"/>
          </a:p>
        </p:txBody>
      </p:sp>
      <p:sp>
        <p:nvSpPr>
          <p:cNvPr id="25" name="Shape 23"/>
          <p:cNvSpPr/>
          <p:nvPr/>
        </p:nvSpPr>
        <p:spPr>
          <a:xfrm>
            <a:off x="819150" y="4651970"/>
            <a:ext cx="2654300" cy="876300"/>
          </a:xfrm>
          <a:prstGeom prst="roundRect">
            <a:avLst>
              <a:gd name="adj" fmla="val 9420"/>
            </a:avLst>
          </a:prstGeom>
          <a:solidFill>
            <a:srgbClr val="D3F9D8"/>
          </a:solidFill>
          <a:ln w="12700">
            <a:solidFill>
              <a:srgbClr val="2F9E44"/>
            </a:solidFill>
            <a:prstDash val="solid"/>
          </a:ln>
        </p:spPr>
      </p:sp>
      <p:sp>
        <p:nvSpPr>
          <p:cNvPr id="26" name="Text 24"/>
          <p:cNvSpPr/>
          <p:nvPr/>
        </p:nvSpPr>
        <p:spPr>
          <a:xfrm>
            <a:off x="977900" y="4785320"/>
            <a:ext cx="2406904" cy="22051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B5E27"/>
                </a:solidFill>
                <a:latin typeface="IBM Plex Sans" pitchFamily="34" charset="0"/>
                <a:ea typeface="IBM Plex Sans" pitchFamily="34" charset="-122"/>
                <a:cs typeface="IBM Plex Sans" pitchFamily="34" charset="-120"/>
              </a:rPr>
              <a:t>6 · Auto-log to Neo4j</a:t>
            </a:r>
            <a:endParaRPr lang="en-US" sz="1121" dirty="0"/>
          </a:p>
        </p:txBody>
      </p:sp>
      <p:sp>
        <p:nvSpPr>
          <p:cNvPr id="27" name="Text 25"/>
          <p:cNvSpPr/>
          <p:nvPr/>
        </p:nvSpPr>
        <p:spPr>
          <a:xfrm>
            <a:off x="977900" y="5018534"/>
            <a:ext cx="2406904" cy="401786"/>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1B5E27"/>
                </a:solidFill>
                <a:latin typeface="IBM Plex Sans" pitchFamily="34" charset="0"/>
                <a:ea typeface="IBM Plex Sans" pitchFamily="34" charset="-122"/>
                <a:cs typeface="IBM Plex Sans" pitchFamily="34" charset="-120"/>
              </a:rPr>
              <a:t>stored as planned, then handed to the executor</a:t>
            </a:r>
            <a:endParaRPr lang="en-US" sz="1099" dirty="0"/>
          </a:p>
        </p:txBody>
      </p:sp>
      <p:pic>
        <p:nvPicPr>
          <p:cNvPr id="28" name="Image 0" descr="connector">    </p:cNvPr>
          <p:cNvPicPr>
            <a:picLocks noChangeAspect="1"/>
          </p:cNvPicPr>
          <p:nvPr/>
        </p:nvPicPr>
        <p:blipFill>
          <a:blip r:embed="rId1"/>
          <a:srcRect l="0" r="0" t="0" b="0"/>
          <a:stretch/>
        </p:blipFill>
        <p:spPr>
          <a:xfrm>
            <a:off x="2794000" y="2308820"/>
            <a:ext cx="609600" cy="101600"/>
          </a:xfrm>
          <a:prstGeom prst="rect">
            <a:avLst/>
          </a:prstGeom>
        </p:spPr>
      </p:pic>
      <p:pic>
        <p:nvPicPr>
          <p:cNvPr id="29" name="Image 1" descr="connector">    </p:cNvPr>
          <p:cNvPicPr>
            <a:picLocks noChangeAspect="1"/>
          </p:cNvPicPr>
          <p:nvPr/>
        </p:nvPicPr>
        <p:blipFill>
          <a:blip r:embed="rId2"/>
          <a:srcRect l="0" r="0" t="0" b="0"/>
          <a:stretch/>
        </p:blipFill>
        <p:spPr>
          <a:xfrm>
            <a:off x="5715000" y="2308820"/>
            <a:ext cx="609600" cy="101600"/>
          </a:xfrm>
          <a:prstGeom prst="rect">
            <a:avLst/>
          </a:prstGeom>
        </p:spPr>
      </p:pic>
      <p:pic>
        <p:nvPicPr>
          <p:cNvPr id="30" name="Image 2" descr="connector">    </p:cNvPr>
          <p:cNvPicPr>
            <a:picLocks noChangeAspect="1"/>
          </p:cNvPicPr>
          <p:nvPr/>
        </p:nvPicPr>
        <p:blipFill>
          <a:blip r:embed="rId3"/>
          <a:srcRect l="0" r="0" t="0" b="0"/>
          <a:stretch/>
        </p:blipFill>
        <p:spPr>
          <a:xfrm>
            <a:off x="8128000" y="2308820"/>
            <a:ext cx="609600" cy="101600"/>
          </a:xfrm>
          <a:prstGeom prst="rect">
            <a:avLst/>
          </a:prstGeom>
        </p:spPr>
      </p:pic>
      <p:pic>
        <p:nvPicPr>
          <p:cNvPr id="31" name="Image 3" descr="connector">    </p:cNvPr>
          <p:cNvPicPr>
            <a:picLocks noChangeAspect="1"/>
          </p:cNvPicPr>
          <p:nvPr/>
        </p:nvPicPr>
        <p:blipFill>
          <a:blip r:embed="rId4"/>
          <a:srcRect l="0" r="0" t="0" b="0"/>
          <a:stretch/>
        </p:blipFill>
        <p:spPr>
          <a:xfrm>
            <a:off x="7175500" y="2943820"/>
            <a:ext cx="101600" cy="419100"/>
          </a:xfrm>
          <a:prstGeom prst="rect">
            <a:avLst/>
          </a:prstGeom>
        </p:spPr>
      </p:pic>
      <p:pic>
        <p:nvPicPr>
          <p:cNvPr id="32" name="Image 4" descr="connector">    </p:cNvPr>
          <p:cNvPicPr>
            <a:picLocks noChangeAspect="1"/>
          </p:cNvPicPr>
          <p:nvPr/>
        </p:nvPicPr>
        <p:blipFill>
          <a:blip r:embed="rId5"/>
          <a:srcRect l="0" r="0" t="0" b="0"/>
          <a:stretch/>
        </p:blipFill>
        <p:spPr>
          <a:xfrm>
            <a:off x="4508500" y="2943820"/>
            <a:ext cx="101600" cy="419100"/>
          </a:xfrm>
          <a:prstGeom prst="rect">
            <a:avLst/>
          </a:prstGeom>
        </p:spPr>
      </p:pic>
      <p:pic>
        <p:nvPicPr>
          <p:cNvPr id="33" name="Image 5" descr="connector">    </p:cNvPr>
          <p:cNvPicPr>
            <a:picLocks noChangeAspect="1"/>
          </p:cNvPicPr>
          <p:nvPr/>
        </p:nvPicPr>
        <p:blipFill>
          <a:blip r:embed="rId6"/>
          <a:srcRect l="0" r="0" t="0" b="0"/>
          <a:stretch/>
        </p:blipFill>
        <p:spPr>
          <a:xfrm>
            <a:off x="9982200" y="2943820"/>
            <a:ext cx="101600" cy="1752600"/>
          </a:xfrm>
          <a:prstGeom prst="rect">
            <a:avLst/>
          </a:prstGeom>
        </p:spPr>
      </p:pic>
      <p:pic>
        <p:nvPicPr>
          <p:cNvPr id="34" name="Image 6" descr="connector">    </p:cNvPr>
          <p:cNvPicPr>
            <a:picLocks noChangeAspect="1"/>
          </p:cNvPicPr>
          <p:nvPr/>
        </p:nvPicPr>
        <p:blipFill>
          <a:blip r:embed="rId7"/>
          <a:srcRect l="0" r="0" t="0" b="0"/>
          <a:stretch/>
        </p:blipFill>
        <p:spPr>
          <a:xfrm>
            <a:off x="6985000" y="5039320"/>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3429000" y="5039320"/>
            <a:ext cx="609600" cy="101600"/>
          </a:xfrm>
          <a:prstGeom prst="rect">
            <a:avLst/>
          </a:prstGeom>
        </p:spPr>
      </p:pic>
      <p:pic>
        <p:nvPicPr>
          <p:cNvPr id="36" name="Image 8" descr="connector">    </p:cNvPr>
          <p:cNvPicPr>
            <a:picLocks noChangeAspect="1"/>
          </p:cNvPicPr>
          <p:nvPr/>
        </p:nvPicPr>
        <p:blipFill>
          <a:blip r:embed="rId9"/>
          <a:srcRect l="0" r="0" t="0" b="0"/>
          <a:stretch/>
        </p:blipFill>
        <p:spPr>
          <a:xfrm>
            <a:off x="9982200" y="5483820"/>
            <a:ext cx="101600" cy="419100"/>
          </a:xfrm>
          <a:prstGeom prst="rect">
            <a:avLst/>
          </a:prstGeom>
        </p:spPr>
      </p:pic>
      <p:pic>
        <p:nvPicPr>
          <p:cNvPr id="37" name="Image 9" descr="connector">    </p:cNvPr>
          <p:cNvPicPr>
            <a:picLocks noChangeAspect="1"/>
          </p:cNvPicPr>
          <p:nvPr/>
        </p:nvPicPr>
        <p:blipFill>
          <a:blip r:embed="rId10"/>
          <a:srcRect l="0" r="0" t="0" b="0"/>
          <a:stretch/>
        </p:blipFill>
        <p:spPr>
          <a:xfrm>
            <a:off x="2095500" y="5801320"/>
            <a:ext cx="7988300" cy="101600"/>
          </a:xfrm>
          <a:prstGeom prst="rect">
            <a:avLst/>
          </a:prstGeom>
        </p:spPr>
      </p:pic>
      <p:pic>
        <p:nvPicPr>
          <p:cNvPr id="38" name="Image 10" descr="connector">    </p:cNvPr>
          <p:cNvPicPr>
            <a:picLocks noChangeAspect="1"/>
          </p:cNvPicPr>
          <p:nvPr/>
        </p:nvPicPr>
        <p:blipFill>
          <a:blip r:embed="rId11"/>
          <a:srcRect l="0" r="0" t="0" b="0"/>
          <a:stretch/>
        </p:blipFill>
        <p:spPr>
          <a:xfrm>
            <a:off x="2095500" y="5483820"/>
            <a:ext cx="101600" cy="419100"/>
          </a:xfrm>
          <a:prstGeom prst="rect">
            <a:avLst/>
          </a:prstGeom>
        </p:spPr>
      </p:pic>
      <p:sp>
        <p:nvSpPr>
          <p:cNvPr id="39" name="Text 26"/>
          <p:cNvSpPr/>
          <p:nvPr/>
        </p:nvSpPr>
        <p:spPr>
          <a:xfrm>
            <a:off x="7302500" y="3051770"/>
            <a:ext cx="1320800" cy="22805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4A87"/>
                </a:solidFill>
                <a:latin typeface="IBM Plex Sans" pitchFamily="34" charset="0"/>
                <a:ea typeface="IBM Plex Sans" pitchFamily="34" charset="-122"/>
                <a:cs typeface="IBM Plex Sans" pitchFamily="34" charset="-120"/>
              </a:rPr>
              <a:t>retrieve more</a:t>
            </a:r>
            <a:endParaRPr lang="en-US" sz="1200" dirty="0"/>
          </a:p>
        </p:txBody>
      </p:sp>
      <p:sp>
        <p:nvSpPr>
          <p:cNvPr id="40" name="Text 27"/>
          <p:cNvSpPr/>
          <p:nvPr/>
        </p:nvSpPr>
        <p:spPr>
          <a:xfrm>
            <a:off x="3797300" y="3051770"/>
            <a:ext cx="749300" cy="22805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4A87"/>
                </a:solidFill>
                <a:latin typeface="IBM Plex Sans" pitchFamily="34" charset="0"/>
                <a:ea typeface="IBM Plex Sans" pitchFamily="34" charset="-122"/>
                <a:cs typeface="IBM Plex Sans" pitchFamily="34" charset="-120"/>
              </a:rPr>
              <a:t>answers</a:t>
            </a:r>
            <a:endParaRPr lang="en-US" sz="1200" dirty="0"/>
          </a:p>
        </p:txBody>
      </p:sp>
      <p:sp>
        <p:nvSpPr>
          <p:cNvPr id="41" name="Text 28"/>
          <p:cNvSpPr/>
          <p:nvPr/>
        </p:nvSpPr>
        <p:spPr>
          <a:xfrm>
            <a:off x="7353300" y="4836120"/>
            <a:ext cx="12573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6596A"/>
                </a:solidFill>
                <a:latin typeface="IBM Plex Sans" pitchFamily="34" charset="0"/>
                <a:ea typeface="IBM Plex Sans" pitchFamily="34" charset="-122"/>
                <a:cs typeface="IBM Plex Sans" pitchFamily="34" charset="-120"/>
              </a:rPr>
              <a:t>too similar</a:t>
            </a:r>
            <a:endParaRPr lang="en-US" sz="1200" dirty="0"/>
          </a:p>
        </p:txBody>
      </p:sp>
      <p:sp>
        <p:nvSpPr>
          <p:cNvPr id="42" name="Text 29"/>
          <p:cNvSpPr/>
          <p:nvPr/>
        </p:nvSpPr>
        <p:spPr>
          <a:xfrm>
            <a:off x="9004300" y="5598120"/>
            <a:ext cx="9398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6596A"/>
                </a:solidFill>
                <a:latin typeface="IBM Plex Sans" pitchFamily="34" charset="0"/>
                <a:ea typeface="IBM Plex Sans" pitchFamily="34" charset="-122"/>
                <a:cs typeface="IBM Plex Sans" pitchFamily="34" charset="-120"/>
              </a:rPr>
              <a:t>distinct</a:t>
            </a:r>
            <a:endParaRPr lang="en-US" sz="1200" dirty="0"/>
          </a:p>
        </p:txBody>
      </p:sp>
      <p:sp>
        <p:nvSpPr>
          <p:cNvPr id="43" name="Text 3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44" name="Text 3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35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PLANNED THE COMMERCE CAMPAIGN</a:t>
            </a:r>
            <a:endParaRPr lang="en-US" sz="1200" dirty="0"/>
          </a:p>
        </p:txBody>
      </p:sp>
      <p:sp>
        <p:nvSpPr>
          <p:cNvPr id="3" name="Text 1"/>
          <p:cNvSpPr/>
          <p:nvPr/>
        </p:nvSpPr>
        <p:spPr>
          <a:xfrm>
            <a:off x="812800" y="9245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Tools philosophy: the model asks the graph itself</a:t>
            </a:r>
            <a:endParaRPr lang="en-US" sz="3000" dirty="0"/>
          </a:p>
        </p:txBody>
      </p:sp>
      <p:sp>
        <p:nvSpPr>
          <p:cNvPr id="4" name="Text 2"/>
          <p:cNvSpPr/>
          <p:nvPr/>
        </p:nvSpPr>
        <p:spPr>
          <a:xfrm>
            <a:off x="812800" y="14198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It calls one tool, reads the answer, then chooses the next question. Nine read-only tools, each offered only when its source has data.</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8241"/>
          <a:ext cx="10553700" cy="3326805"/>
        </p:xfrm>
        <a:graphic>
          <a:graphicData uri="http://schemas.openxmlformats.org/drawingml/2006/table">
            <a:tbl>
              <a:tblPr/>
              <a:tblGrid>
                <a:gridCol w="3377184"/>
                <a:gridCol w="5065776"/>
                <a:gridCol w="2110740"/>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it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Offered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search_requirements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semantic and keyword search over the specification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list_untested_requirements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coverage frontier: what no executed test covers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real controls observed on one 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list_screens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every screen actually seen, with visit counts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get_nav_path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to a screen the executor has already walked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exists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findings_summary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counts of everything earlier runs found, per screen and 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list_findings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claims themselves: confirmed, suspected, unverified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list_open_questions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questions earlier runs raised but never settled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tests run, failing hot spots, dead ends, exhausted areas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35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ONE ROUND</a:t>
            </a:r>
            <a:endParaRPr lang="en-US" sz="1200" dirty="0"/>
          </a:p>
        </p:txBody>
      </p:sp>
      <p:sp>
        <p:nvSpPr>
          <p:cNvPr id="3" name="Text 1"/>
          <p:cNvSpPr/>
          <p:nvPr/>
        </p:nvSpPr>
        <p:spPr>
          <a:xfrm>
            <a:off x="812800" y="9245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round: investigate, then propose</a:t>
            </a:r>
            <a:endParaRPr lang="en-US" sz="3000" dirty="0"/>
          </a:p>
        </p:txBody>
      </p:sp>
      <p:sp>
        <p:nvSpPr>
          <p:cNvPr id="4" name="Shape 2"/>
          <p:cNvSpPr/>
          <p:nvPr/>
        </p:nvSpPr>
        <p:spPr>
          <a:xfrm>
            <a:off x="815975" y="1499195"/>
            <a:ext cx="6343650" cy="654000"/>
          </a:xfrm>
          <a:prstGeom prst="roundRect">
            <a:avLst>
              <a:gd name="adj" fmla="val 13108"/>
            </a:avLst>
          </a:prstGeom>
          <a:solidFill>
            <a:srgbClr val="FDFEFE"/>
          </a:solidFill>
          <a:ln w="6350">
            <a:solidFill>
              <a:srgbClr val="D6E1E6"/>
            </a:solidFill>
            <a:prstDash val="solid"/>
          </a:ln>
        </p:spPr>
      </p:sp>
      <p:sp>
        <p:nvSpPr>
          <p:cNvPr id="5" name="Text 3"/>
          <p:cNvSpPr/>
          <p:nvPr/>
        </p:nvSpPr>
        <p:spPr>
          <a:xfrm>
            <a:off x="971550" y="1656011"/>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55697A"/>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Given</a:t>
            </a:r>
            <a:endParaRPr lang="en-US" sz="1200" dirty="0"/>
          </a:p>
        </p:txBody>
      </p:sp>
      <p:sp>
        <p:nvSpPr>
          <p:cNvPr id="6" name="Text 4"/>
          <p:cNvSpPr/>
          <p:nvPr/>
        </p:nvSpPr>
        <p:spPr>
          <a:xfrm>
            <a:off x="2203450" y="1591270"/>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Starts from a short brief</a:t>
            </a:r>
            <a:endParaRPr lang="en-US" sz="1400" dirty="0"/>
          </a:p>
        </p:txBody>
      </p:sp>
      <p:sp>
        <p:nvSpPr>
          <p:cNvPr id="7" name="Text 5"/>
          <p:cNvSpPr/>
          <p:nvPr/>
        </p:nvSpPr>
        <p:spPr>
          <a:xfrm>
            <a:off x="2203450" y="1847800"/>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coverage map, last few runs, open questions</a:t>
            </a:r>
            <a:endParaRPr lang="en-US" sz="1200" dirty="0"/>
          </a:p>
        </p:txBody>
      </p:sp>
      <p:sp>
        <p:nvSpPr>
          <p:cNvPr id="8" name="Shape 6"/>
          <p:cNvSpPr/>
          <p:nvPr/>
        </p:nvSpPr>
        <p:spPr>
          <a:xfrm>
            <a:off x="815975" y="2248446"/>
            <a:ext cx="6343650" cy="654000"/>
          </a:xfrm>
          <a:prstGeom prst="roundRect">
            <a:avLst>
              <a:gd name="adj" fmla="val 13108"/>
            </a:avLst>
          </a:prstGeom>
          <a:solidFill>
            <a:srgbClr val="FDFEFE"/>
          </a:solidFill>
          <a:ln w="6350">
            <a:solidFill>
              <a:srgbClr val="D6E1E6"/>
            </a:solidFill>
            <a:prstDash val="solid"/>
          </a:ln>
        </p:spPr>
      </p:sp>
      <p:sp>
        <p:nvSpPr>
          <p:cNvPr id="9" name="Text 7"/>
          <p:cNvSpPr/>
          <p:nvPr/>
        </p:nvSpPr>
        <p:spPr>
          <a:xfrm>
            <a:off x="971550" y="2405261"/>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0F6E94"/>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Calls 1–3</a:t>
            </a:r>
            <a:endParaRPr lang="en-US" sz="1200" dirty="0"/>
          </a:p>
        </p:txBody>
      </p:sp>
      <p:sp>
        <p:nvSpPr>
          <p:cNvPr id="10" name="Text 8"/>
          <p:cNvSpPr/>
          <p:nvPr/>
        </p:nvSpPr>
        <p:spPr>
          <a:xfrm>
            <a:off x="2203450" y="2340521"/>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Orient: what is known, and where the gaps are</a:t>
            </a:r>
            <a:endParaRPr lang="en-US" sz="1400" dirty="0"/>
          </a:p>
        </p:txBody>
      </p:sp>
      <p:sp>
        <p:nvSpPr>
          <p:cNvPr id="11" name="Text 9"/>
          <p:cNvSpPr/>
          <p:nvPr/>
        </p:nvSpPr>
        <p:spPr>
          <a:xfrm>
            <a:off x="2203450" y="2597051"/>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findings_summary, get_coverage, list_screens</a:t>
            </a:r>
            <a:endParaRPr lang="en-US" sz="1200" dirty="0"/>
          </a:p>
        </p:txBody>
      </p:sp>
      <p:sp>
        <p:nvSpPr>
          <p:cNvPr id="12" name="Shape 10"/>
          <p:cNvSpPr/>
          <p:nvPr/>
        </p:nvSpPr>
        <p:spPr>
          <a:xfrm>
            <a:off x="815975" y="2997696"/>
            <a:ext cx="6343650" cy="654000"/>
          </a:xfrm>
          <a:prstGeom prst="roundRect">
            <a:avLst>
              <a:gd name="adj" fmla="val 13108"/>
            </a:avLst>
          </a:prstGeom>
          <a:solidFill>
            <a:srgbClr val="FDFEFE"/>
          </a:solidFill>
          <a:ln w="6350">
            <a:solidFill>
              <a:srgbClr val="D6E1E6"/>
            </a:solidFill>
            <a:prstDash val="solid"/>
          </a:ln>
        </p:spPr>
      </p:sp>
      <p:sp>
        <p:nvSpPr>
          <p:cNvPr id="13" name="Text 11"/>
          <p:cNvSpPr/>
          <p:nvPr/>
        </p:nvSpPr>
        <p:spPr>
          <a:xfrm>
            <a:off x="971550" y="3154511"/>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0F6E94"/>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Call 4</a:t>
            </a:r>
            <a:endParaRPr lang="en-US" sz="1200" dirty="0"/>
          </a:p>
        </p:txBody>
      </p:sp>
      <p:sp>
        <p:nvSpPr>
          <p:cNvPr id="14" name="Text 12"/>
          <p:cNvSpPr/>
          <p:nvPr/>
        </p:nvSpPr>
        <p:spPr>
          <a:xfrm>
            <a:off x="2203450" y="3089771"/>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Pick up an unfinished thread</a:t>
            </a:r>
            <a:endParaRPr lang="en-US" sz="1400" dirty="0"/>
          </a:p>
        </p:txBody>
      </p:sp>
      <p:sp>
        <p:nvSpPr>
          <p:cNvPr id="15" name="Text 13"/>
          <p:cNvSpPr/>
          <p:nvPr/>
        </p:nvSpPr>
        <p:spPr>
          <a:xfrm>
            <a:off x="2203450" y="3346301"/>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list_open_questions, list_findings</a:t>
            </a:r>
            <a:endParaRPr lang="en-US" sz="1200" dirty="0"/>
          </a:p>
        </p:txBody>
      </p:sp>
      <p:sp>
        <p:nvSpPr>
          <p:cNvPr id="16" name="Shape 14"/>
          <p:cNvSpPr/>
          <p:nvPr/>
        </p:nvSpPr>
        <p:spPr>
          <a:xfrm>
            <a:off x="815975" y="3746946"/>
            <a:ext cx="6343650" cy="654000"/>
          </a:xfrm>
          <a:prstGeom prst="roundRect">
            <a:avLst>
              <a:gd name="adj" fmla="val 13108"/>
            </a:avLst>
          </a:prstGeom>
          <a:solidFill>
            <a:srgbClr val="FDFEFE"/>
          </a:solidFill>
          <a:ln w="6350">
            <a:solidFill>
              <a:srgbClr val="D6E1E6"/>
            </a:solidFill>
            <a:prstDash val="solid"/>
          </a:ln>
        </p:spPr>
      </p:sp>
      <p:sp>
        <p:nvSpPr>
          <p:cNvPr id="17" name="Text 15"/>
          <p:cNvSpPr/>
          <p:nvPr/>
        </p:nvSpPr>
        <p:spPr>
          <a:xfrm>
            <a:off x="971550" y="3903762"/>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0F6E94"/>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Call 5 on</a:t>
            </a:r>
            <a:endParaRPr lang="en-US" sz="1200" dirty="0"/>
          </a:p>
        </p:txBody>
      </p:sp>
      <p:sp>
        <p:nvSpPr>
          <p:cNvPr id="18" name="Text 16"/>
          <p:cNvSpPr/>
          <p:nvPr/>
        </p:nvSpPr>
        <p:spPr>
          <a:xfrm>
            <a:off x="2203450" y="3839021"/>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Ground it in a real requirement and screen</a:t>
            </a:r>
            <a:endParaRPr lang="en-US" sz="1400" dirty="0"/>
          </a:p>
        </p:txBody>
      </p:sp>
      <p:sp>
        <p:nvSpPr>
          <p:cNvPr id="19" name="Text 17"/>
          <p:cNvSpPr/>
          <p:nvPr/>
        </p:nvSpPr>
        <p:spPr>
          <a:xfrm>
            <a:off x="2203450" y="409555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search_requirements, get_screen</a:t>
            </a:r>
            <a:endParaRPr lang="en-US" sz="1200" dirty="0"/>
          </a:p>
        </p:txBody>
      </p:sp>
      <p:sp>
        <p:nvSpPr>
          <p:cNvPr id="20" name="Shape 18"/>
          <p:cNvSpPr/>
          <p:nvPr/>
        </p:nvSpPr>
        <p:spPr>
          <a:xfrm>
            <a:off x="815975" y="4496197"/>
            <a:ext cx="6343650" cy="654000"/>
          </a:xfrm>
          <a:prstGeom prst="roundRect">
            <a:avLst>
              <a:gd name="adj" fmla="val 13108"/>
            </a:avLst>
          </a:prstGeom>
          <a:solidFill>
            <a:srgbClr val="FDFEFE"/>
          </a:solidFill>
          <a:ln w="6350">
            <a:solidFill>
              <a:srgbClr val="D6E1E6"/>
            </a:solidFill>
            <a:prstDash val="solid"/>
          </a:ln>
        </p:spPr>
      </p:sp>
      <p:sp>
        <p:nvSpPr>
          <p:cNvPr id="21" name="Text 19"/>
          <p:cNvSpPr/>
          <p:nvPr/>
        </p:nvSpPr>
        <p:spPr>
          <a:xfrm>
            <a:off x="971550" y="4653012"/>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A9502C"/>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Turn 7 on</a:t>
            </a:r>
            <a:endParaRPr lang="en-US" sz="1200" dirty="0"/>
          </a:p>
        </p:txBody>
      </p:sp>
      <p:sp>
        <p:nvSpPr>
          <p:cNvPr id="22" name="Text 20"/>
          <p:cNvSpPr/>
          <p:nvPr/>
        </p:nvSpPr>
        <p:spPr>
          <a:xfrm>
            <a:off x="2203450" y="4588272"/>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Forced to commit</a:t>
            </a:r>
            <a:endParaRPr lang="en-US" sz="1400" dirty="0"/>
          </a:p>
        </p:txBody>
      </p:sp>
      <p:sp>
        <p:nvSpPr>
          <p:cNvPr id="23" name="Text 21"/>
          <p:cNvSpPr/>
          <p:nvPr/>
        </p:nvSpPr>
        <p:spPr>
          <a:xfrm>
            <a:off x="2203450" y="484480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the tool choice is pinned to propose_test_case</a:t>
            </a:r>
            <a:endParaRPr lang="en-US" sz="1200" dirty="0"/>
          </a:p>
        </p:txBody>
      </p:sp>
      <p:sp>
        <p:nvSpPr>
          <p:cNvPr id="24" name="Shape 22"/>
          <p:cNvSpPr/>
          <p:nvPr/>
        </p:nvSpPr>
        <p:spPr>
          <a:xfrm>
            <a:off x="7369175" y="1499195"/>
            <a:ext cx="4006850" cy="3651002"/>
          </a:xfrm>
          <a:prstGeom prst="roundRect">
            <a:avLst>
              <a:gd name="adj" fmla="val 2696"/>
            </a:avLst>
          </a:prstGeom>
          <a:solidFill>
            <a:srgbClr val="FDFEFE"/>
          </a:solidFill>
          <a:ln w="6350">
            <a:solidFill>
              <a:srgbClr val="D6E1E6"/>
            </a:solidFill>
            <a:prstDash val="solid"/>
          </a:ln>
        </p:spPr>
      </p:sp>
      <p:sp>
        <p:nvSpPr>
          <p:cNvPr id="25" name="Text 23"/>
          <p:cNvSpPr/>
          <p:nvPr/>
        </p:nvSpPr>
        <p:spPr>
          <a:xfrm>
            <a:off x="7550150" y="1680170"/>
            <a:ext cx="375424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proposal is validated</a:t>
            </a:r>
            <a:endParaRPr lang="en-US" sz="1400" dirty="0"/>
          </a:p>
        </p:txBody>
      </p:sp>
      <p:sp>
        <p:nvSpPr>
          <p:cNvPr id="26" name="Text 24"/>
          <p:cNvSpPr/>
          <p:nvPr/>
        </p:nvSpPr>
        <p:spPr>
          <a:xfrm>
            <a:off x="7550150" y="1987500"/>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Rejected if it:</a:t>
            </a:r>
            <a:endParaRPr lang="en-US" sz="1200" dirty="0"/>
          </a:p>
        </p:txBody>
      </p:sp>
      <p:sp>
        <p:nvSpPr>
          <p:cNvPr id="27" name="Text 25"/>
          <p:cNvSpPr/>
          <p:nvPr/>
        </p:nvSpPr>
        <p:spPr>
          <a:xfrm>
            <a:off x="7550150" y="2277021"/>
            <a:ext cx="3754247" cy="1130201"/>
          </a:xfrm>
          <a:prstGeom prst="rect">
            <a:avLst/>
          </a:prstGeom>
          <a:noFill/>
          <a:ln/>
        </p:spPr>
        <p:txBody>
          <a:bodyPr wrap="square" lIns="0" tIns="0" rIns="0" bIns="0" rtlCol="0" anchor="t">
            <a:normAutofit/>
          </a:bodyPr>
          <a:lstStyle/>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names a screen never observed</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cites a requirement id that does not exist</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repeats an earlier test</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needs a precondition the tester cannot create</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falls outside the agreed scope</a:t>
            </a:r>
            <a:endParaRPr lang="en-US" sz="1200" dirty="0"/>
          </a:p>
        </p:txBody>
      </p:sp>
      <p:sp>
        <p:nvSpPr>
          <p:cNvPr id="28" name="Text 26"/>
          <p:cNvSpPr/>
          <p:nvPr/>
        </p:nvSpPr>
        <p:spPr>
          <a:xfrm>
            <a:off x="7550150" y="3458021"/>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is told why and retries, up to 3 times.</a:t>
            </a:r>
            <a:endParaRPr lang="en-US" sz="1200" dirty="0"/>
          </a:p>
        </p:txBody>
      </p:sp>
      <p:sp>
        <p:nvSpPr>
          <p:cNvPr id="29" name="Text 27"/>
          <p:cNvSpPr/>
          <p:nvPr/>
        </p:nvSpPr>
        <p:spPr>
          <a:xfrm>
            <a:off x="812800" y="5305772"/>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Measured over 62 rounds on the commerce app: the most common tool at each position, a median of 13 calls per round, 989 calls for 101 proposals. Left free, the first live run investigated for ten turns and never proposed.</a:t>
            </a:r>
            <a:endParaRPr lang="en-US" sz="1200" dirty="0"/>
          </a:p>
        </p:txBody>
      </p:sp>
      <p:sp>
        <p:nvSpPr>
          <p:cNvPr id="30" name="Text 2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1" name="Text 2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WHERE TO GO NEXT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Where to test next, without repeating itself</a:t>
            </a:r>
            <a:endParaRPr lang="en-US" sz="3000" dirty="0"/>
          </a:p>
        </p:txBody>
      </p:sp>
      <p:sp>
        <p:nvSpPr>
          <p:cNvPr id="4" name="Shape 2"/>
          <p:cNvSpPr/>
          <p:nvPr/>
        </p:nvSpPr>
        <p:spPr>
          <a:xfrm>
            <a:off x="815975" y="1778595"/>
            <a:ext cx="3380284" cy="1283841"/>
          </a:xfrm>
          <a:prstGeom prst="roundRect">
            <a:avLst>
              <a:gd name="adj" fmla="val 7666"/>
            </a:avLst>
          </a:prstGeom>
          <a:solidFill>
            <a:srgbClr val="FDFEFE"/>
          </a:solidFill>
          <a:ln w="6350">
            <a:solidFill>
              <a:srgbClr val="D6E1E6"/>
            </a:solidFill>
            <a:prstDash val="solid"/>
          </a:ln>
        </p:spPr>
      </p:sp>
      <p:sp>
        <p:nvSpPr>
          <p:cNvPr id="5" name="Text 3"/>
          <p:cNvSpPr/>
          <p:nvPr/>
        </p:nvSpPr>
        <p:spPr>
          <a:xfrm>
            <a:off x="996950" y="1959570"/>
            <a:ext cx="310888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Steered to the gaps</a:t>
            </a:r>
            <a:endParaRPr lang="en-US" sz="1400" dirty="0"/>
          </a:p>
        </p:txBody>
      </p:sp>
      <p:sp>
        <p:nvSpPr>
          <p:cNvPr id="6" name="Text 4"/>
          <p:cNvSpPr/>
          <p:nvPr/>
        </p:nvSpPr>
        <p:spPr>
          <a:xfrm>
            <a:off x="996950" y="2241500"/>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coverage map and an exploration directive point it at untested requirements and feature areas.</a:t>
            </a:r>
            <a:endParaRPr lang="en-US" sz="1200" dirty="0"/>
          </a:p>
        </p:txBody>
      </p:sp>
      <p:sp>
        <p:nvSpPr>
          <p:cNvPr id="7" name="Shape 5"/>
          <p:cNvSpPr/>
          <p:nvPr/>
        </p:nvSpPr>
        <p:spPr>
          <a:xfrm>
            <a:off x="4405809" y="1778595"/>
            <a:ext cx="3380333" cy="1283841"/>
          </a:xfrm>
          <a:prstGeom prst="roundRect">
            <a:avLst>
              <a:gd name="adj" fmla="val 7666"/>
            </a:avLst>
          </a:prstGeom>
          <a:solidFill>
            <a:srgbClr val="FDFEFE"/>
          </a:solidFill>
          <a:ln w="6350">
            <a:solidFill>
              <a:srgbClr val="D6E1E6"/>
            </a:solidFill>
            <a:prstDash val="solid"/>
          </a:ln>
        </p:spPr>
      </p:sp>
      <p:sp>
        <p:nvSpPr>
          <p:cNvPr id="8" name="Text 6"/>
          <p:cNvSpPr/>
          <p:nvPr/>
        </p:nvSpPr>
        <p:spPr>
          <a:xfrm>
            <a:off x="4586784"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cap on every area</a:t>
            </a:r>
            <a:endParaRPr lang="en-US" sz="1400" dirty="0"/>
          </a:p>
        </p:txBody>
      </p:sp>
      <p:sp>
        <p:nvSpPr>
          <p:cNvPr id="9" name="Text 7"/>
          <p:cNvSpPr/>
          <p:nvPr/>
        </p:nvSpPr>
        <p:spPr>
          <a:xfrm>
            <a:off x="4586784" y="2241500"/>
            <a:ext cx="31089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After 5 tests an area is marked spent and is no longer promoted, whatever its results.</a:t>
            </a:r>
            <a:endParaRPr lang="en-US" sz="1200" dirty="0"/>
          </a:p>
        </p:txBody>
      </p:sp>
      <p:sp>
        <p:nvSpPr>
          <p:cNvPr id="10" name="Shape 8"/>
          <p:cNvSpPr/>
          <p:nvPr/>
        </p:nvSpPr>
        <p:spPr>
          <a:xfrm>
            <a:off x="7995692" y="1778595"/>
            <a:ext cx="3380333" cy="1283841"/>
          </a:xfrm>
          <a:prstGeom prst="roundRect">
            <a:avLst>
              <a:gd name="adj" fmla="val 7666"/>
            </a:avLst>
          </a:prstGeom>
          <a:solidFill>
            <a:srgbClr val="FDFEFE"/>
          </a:solidFill>
          <a:ln w="6350">
            <a:solidFill>
              <a:srgbClr val="D6E1E6"/>
            </a:solidFill>
            <a:prstDash val="solid"/>
          </a:ln>
        </p:spPr>
      </p:sp>
      <p:sp>
        <p:nvSpPr>
          <p:cNvPr id="11" name="Text 9"/>
          <p:cNvSpPr/>
          <p:nvPr/>
        </p:nvSpPr>
        <p:spPr>
          <a:xfrm>
            <a:off x="8176667"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No near-duplicates</a:t>
            </a:r>
            <a:endParaRPr lang="en-US" sz="1400" dirty="0"/>
          </a:p>
        </p:txBody>
      </p:sp>
      <p:sp>
        <p:nvSpPr>
          <p:cNvPr id="12" name="Text 10"/>
          <p:cNvSpPr/>
          <p:nvPr/>
        </p:nvSpPr>
        <p:spPr>
          <a:xfrm>
            <a:off x="8176667" y="2241500"/>
            <a:ext cx="3108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new title is compared with every earlier test, by word overlap (0.60) and by meaning (0.90 cosine).</a:t>
            </a:r>
            <a:endParaRPr lang="en-US" sz="1200" dirty="0"/>
          </a:p>
        </p:txBody>
      </p:sp>
      <p:sp>
        <p:nvSpPr>
          <p:cNvPr id="13" name="Shape 11"/>
          <p:cNvSpPr/>
          <p:nvPr/>
        </p:nvSpPr>
        <p:spPr>
          <a:xfrm>
            <a:off x="815975" y="3271986"/>
            <a:ext cx="10560050"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1022350" y="3452961"/>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A9502C"/>
                </a:solidFill>
                <a:latin typeface="IBM Plex Sans" pitchFamily="34" charset="0"/>
                <a:ea typeface="IBM Plex Sans" pitchFamily="34" charset="-122"/>
                <a:cs typeface="IBM Plex Sans" pitchFamily="34" charset="-120"/>
              </a:rPr>
              <a:t>Why the cap was needed</a:t>
            </a:r>
            <a:endParaRPr lang="en-US" sz="1400" dirty="0"/>
          </a:p>
        </p:txBody>
      </p:sp>
      <p:sp>
        <p:nvSpPr>
          <p:cNvPr id="15" name="Text 13"/>
          <p:cNvSpPr/>
          <p:nvPr/>
        </p:nvSpPr>
        <p:spPr>
          <a:xfrm>
            <a:off x="1022350" y="3734891"/>
            <a:ext cx="1045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one 13-round campaign, 9 tests landed on the same screen: a failing area kept being promoted, and nothing ever retired it. The intuitive fix, stopping once an area yields nothing new, would never have fired, because the ninth test was still producing technically new findings.</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THE OUTPUT CONTRACT</a:t>
            </a:r>
            <a:endParaRPr lang="en-US" sz="1200" dirty="0"/>
          </a:p>
        </p:txBody>
      </p:sp>
      <p:sp>
        <p:nvSpPr>
          <p:cNvPr id="3" name="Text 1"/>
          <p:cNvSpPr/>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actually emits</a:t>
            </a:r>
            <a:endParaRPr lang="en-US" sz="3000" dirty="0"/>
          </a:p>
        </p:txBody>
      </p:sp>
      <p:sp>
        <p:nvSpPr>
          <p:cNvPr id="4" name="Text 2"/>
          <p:cNvSpPr/>
          <p:nvPr/>
        </p:nvSpPr>
        <p:spPr>
          <a:xfrm>
            <a:off x="812800" y="14960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 test case in plain language, never a tap sequence. Both planner modes emit the same fields.</a:t>
            </a:r>
            <a:endParaRPr lang="en-US" sz="1200" dirty="0"/>
          </a:p>
        </p:txBody>
      </p:sp>
      <p:sp>
        <p:nvSpPr>
          <p:cNvPr id="5" name="Text 3"/>
          <p:cNvSpPr/>
          <p:nvPr/>
        </p:nvSpPr>
        <p:spPr>
          <a:xfrm>
            <a:off x="812800" y="1887141"/>
            <a:ext cx="3937000" cy="2777133"/>
          </a:xfrm>
          <a:prstGeom prst="roundRect">
            <a:avLst>
              <a:gd name="adj" fmla="val 3658"/>
            </a:avLst>
          </a:prstGeom>
          <a:solidFill>
            <a:srgbClr val="14303D"/>
          </a:solidFill>
          <a:ln/>
        </p:spPr>
        <p:txBody>
          <a:bodyPr wrap="square" lIns="249642" tIns="198842" rIns="148296" bIns="173442" rtlCol="0" anchor="t">
            <a:normAutofit/>
          </a:bodyPr>
          <a:lstStyle/>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title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objective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expected_result</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preconditions[]</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screen_hint</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area · priority · test_type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requirement_ids[]</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rationale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addresses</a:t>
            </a:r>
            <a:endParaRPr lang="en-US" sz="1400" dirty="0"/>
          </a:p>
        </p:txBody>
      </p:sp>
      <p:sp>
        <p:nvSpPr>
          <p:cNvPr id="6" name="Shape 4"/>
          <p:cNvSpPr/>
          <p:nvPr/>
        </p:nvSpPr>
        <p:spPr>
          <a:xfrm>
            <a:off x="5006975" y="1890316"/>
            <a:ext cx="6369050" cy="2770783"/>
          </a:xfrm>
          <a:prstGeom prst="roundRect">
            <a:avLst>
              <a:gd name="adj" fmla="val 3552"/>
            </a:avLst>
          </a:prstGeom>
          <a:solidFill>
            <a:srgbClr val="FDFEFE"/>
          </a:solidFill>
          <a:ln w="6350">
            <a:solidFill>
              <a:srgbClr val="D6E1E6"/>
            </a:solidFill>
            <a:prstDash val="solid"/>
          </a:ln>
        </p:spPr>
      </p:sp>
      <p:sp>
        <p:nvSpPr>
          <p:cNvPr id="7" name="Text 5"/>
          <p:cNvSpPr/>
          <p:nvPr/>
        </p:nvSpPr>
        <p:spPr>
          <a:xfrm>
            <a:off x="5264150" y="2096691"/>
            <a:ext cx="6030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TC-003 · commerce app · tools mode</a:t>
            </a:r>
            <a:endParaRPr lang="en-US" sz="1200" dirty="0"/>
          </a:p>
        </p:txBody>
      </p:sp>
      <p:sp>
        <p:nvSpPr>
          <p:cNvPr id="8" name="Text 6"/>
          <p:cNvSpPr/>
          <p:nvPr/>
        </p:nvSpPr>
        <p:spPr>
          <a:xfrm>
            <a:off x="5264150" y="2398911"/>
            <a:ext cx="6030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objective</a:t>
            </a:r>
            <a:endParaRPr lang="en-US" sz="1200" dirty="0"/>
          </a:p>
        </p:txBody>
      </p:sp>
      <p:sp>
        <p:nvSpPr>
          <p:cNvPr id="9" name="Text 7"/>
          <p:cNvSpPr/>
          <p:nvPr/>
        </p:nvSpPr>
        <p:spPr>
          <a:xfrm>
            <a:off x="5264150" y="2701131"/>
            <a:ext cx="603034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Source Serif 4" pitchFamily="34" charset="0"/>
                <a:ea typeface="Source Serif 4" pitchFamily="34" charset="-122"/>
                <a:cs typeface="Source Serif 4" pitchFamily="34" charset="-120"/>
              </a:rPr>
              <a:t>“Verify that clearing the farm name field to empty and attempting to save produces a visible error identifying the farm name as required.”</a:t>
            </a:r>
            <a:endParaRPr lang="en-US" sz="1400" dirty="0"/>
          </a:p>
        </p:txBody>
      </p:sp>
      <p:sp>
        <p:nvSpPr>
          <p:cNvPr id="10" name="Text 8"/>
          <p:cNvSpPr/>
          <p:nvPr/>
        </p:nvSpPr>
        <p:spPr>
          <a:xfrm>
            <a:off x="5264150" y="3287812"/>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requirement_ids</a:t>
            </a:r>
            <a:endParaRPr lang="en-US" sz="1200" dirty="0"/>
          </a:p>
        </p:txBody>
      </p:sp>
      <p:sp>
        <p:nvSpPr>
          <p:cNvPr id="11" name="Text 9"/>
          <p:cNvSpPr/>
          <p:nvPr/>
        </p:nvSpPr>
        <p:spPr>
          <a:xfrm>
            <a:off x="5264150" y="3526532"/>
            <a:ext cx="1422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303D"/>
                </a:solidFill>
                <a:latin typeface="IBM Plex Mono" pitchFamily="34" charset="0"/>
                <a:ea typeface="IBM Plex Mono" pitchFamily="34" charset="-122"/>
                <a:cs typeface="IBM Plex Mono" pitchFamily="34" charset="-120"/>
              </a:rPr>
              <a:t>FR-FARM-04</a:t>
            </a:r>
            <a:endParaRPr lang="en-US" sz="1300" dirty="0"/>
          </a:p>
        </p:txBody>
      </p:sp>
      <p:sp>
        <p:nvSpPr>
          <p:cNvPr id="12" name="Text 10"/>
          <p:cNvSpPr/>
          <p:nvPr/>
        </p:nvSpPr>
        <p:spPr>
          <a:xfrm>
            <a:off x="6889750" y="3287812"/>
            <a:ext cx="1041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addresses</a:t>
            </a:r>
            <a:endParaRPr lang="en-US" sz="1200" dirty="0"/>
          </a:p>
        </p:txBody>
      </p:sp>
      <p:sp>
        <p:nvSpPr>
          <p:cNvPr id="13" name="Text 11"/>
          <p:cNvSpPr/>
          <p:nvPr/>
        </p:nvSpPr>
        <p:spPr>
          <a:xfrm>
            <a:off x="6889750" y="3526532"/>
            <a:ext cx="1041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303D"/>
                </a:solidFill>
                <a:latin typeface="IBM Plex Mono" pitchFamily="34" charset="0"/>
                <a:ea typeface="IBM Plex Mono" pitchFamily="34" charset="-122"/>
                <a:cs typeface="IBM Plex Mono" pitchFamily="34" charset="-120"/>
              </a:rPr>
              <a:t>F-422162fd</a:t>
            </a:r>
            <a:endParaRPr lang="en-US" sz="1300" dirty="0"/>
          </a:p>
        </p:txBody>
      </p:sp>
      <p:sp>
        <p:nvSpPr>
          <p:cNvPr id="14" name="Text 12"/>
          <p:cNvSpPr/>
          <p:nvPr/>
        </p:nvSpPr>
        <p:spPr>
          <a:xfrm>
            <a:off x="5264150" y="3846562"/>
            <a:ext cx="60303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 ids make requirement coverage reportable. </a:t>
            </a:r>
            <a:r>
              <a:rPr lang="en-US" sz="1200" b="1" dirty="0">
                <a:solidFill>
                  <a:srgbClr val="46596A"/>
                </a:solidFill>
                <a:latin typeface="IBM Plex Sans" pitchFamily="34" charset="0"/>
                <a:ea typeface="IBM Plex Sans" pitchFamily="34" charset="-122"/>
                <a:cs typeface="IBM Plex Sans" pitchFamily="34" charset="-120"/>
              </a:rPr>
              <a:t>addresses</a:t>
            </a:r>
            <a:r>
              <a:rPr lang="en-US" sz="1200" dirty="0">
                <a:solidFill>
                  <a:srgbClr val="46596A"/>
                </a:solidFill>
                <a:latin typeface="IBM Plex Sans" pitchFamily="34" charset="0"/>
                <a:ea typeface="IBM Plex Sans" pitchFamily="34" charset="-122"/>
                <a:cs typeface="IBM Plex Sans" pitchFamily="34" charset="-120"/>
              </a:rPr>
              <a:t> names the open question this test settles: an earlier run suspected farm names were never validated.</a:t>
            </a:r>
            <a:endParaRPr lang="en-US" sz="1200" dirty="0"/>
          </a:p>
        </p:txBody>
      </p:sp>
      <p:sp>
        <p:nvSpPr>
          <p:cNvPr id="15" name="Text 1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6" name="Text 1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ONE REAL TEST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real test, from plan to finding</a:t>
            </a:r>
            <a:endParaRPr lang="en-US" sz="3000" dirty="0"/>
          </a:p>
        </p:txBody>
      </p:sp>
      <p:sp>
        <p:nvSpPr>
          <p:cNvPr id="4" name="Shape 2"/>
          <p:cNvSpPr/>
          <p:nvPr/>
        </p:nvSpPr>
        <p:spPr>
          <a:xfrm>
            <a:off x="815975" y="1778595"/>
            <a:ext cx="6343650" cy="3813274"/>
          </a:xfrm>
          <a:prstGeom prst="roundRect">
            <a:avLst>
              <a:gd name="adj" fmla="val 2581"/>
            </a:avLst>
          </a:prstGeom>
          <a:solidFill>
            <a:srgbClr val="FDFEFE"/>
          </a:solidFill>
          <a:ln w="6350">
            <a:solidFill>
              <a:srgbClr val="D6E1E6"/>
            </a:solidFill>
            <a:prstDash val="solid"/>
          </a:ln>
        </p:spPr>
      </p:sp>
      <p:sp>
        <p:nvSpPr>
          <p:cNvPr id="5" name="Text 3"/>
          <p:cNvSpPr/>
          <p:nvPr/>
        </p:nvSpPr>
        <p:spPr>
          <a:xfrm>
            <a:off x="1022350" y="1984970"/>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TC-018 · written by the planner</a:t>
            </a:r>
            <a:endParaRPr lang="en-US" sz="1200" dirty="0"/>
          </a:p>
        </p:txBody>
      </p:sp>
      <p:sp>
        <p:nvSpPr>
          <p:cNvPr id="6" name="Text 4"/>
          <p:cNvSpPr/>
          <p:nvPr/>
        </p:nvSpPr>
        <p:spPr>
          <a:xfrm>
            <a:off x="1022350" y="2287191"/>
            <a:ext cx="6108827"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303D"/>
                </a:solidFill>
                <a:latin typeface="IBM Plex Sans" pitchFamily="34" charset="0"/>
                <a:ea typeface="IBM Plex Sans" pitchFamily="34" charset="-122"/>
                <a:cs typeface="IBM Plex Sans" pitchFamily="34" charset="-120"/>
              </a:rPr>
              <a:t>Verify duplicate detection triggers for a phone number match when the display name is intentionally different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868811"/>
          <a:ext cx="5918200" cy="2516684"/>
        </p:xfrm>
        <a:graphic>
          <a:graphicData uri="http://schemas.openxmlformats.org/drawingml/2006/table">
            <a:tbl>
              <a:tblPr/>
              <a:tblGrid>
                <a:gridCol w="1420368"/>
                <a:gridCol w="4497832"/>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the planner wrote (condensed)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FR-DUP-02, FR-DUP-04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75932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Why this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Earlier runs saw silent duplicates but left phone-only detection unverified. A different name isolates FR-DUP-02 from the name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Objective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Create a contact with a new name but an existing contact’s phone number.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Expected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duplicate dialog shows both records (FR-DUP-04), instead of a silent save.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bl>
          </a:graphicData>
        </a:graphic>
      </p:graphicFrame>
      <p:sp>
        <p:nvSpPr>
          <p:cNvPr id="8" name="Shape 5"/>
          <p:cNvSpPr/>
          <p:nvPr/>
        </p:nvSpPr>
        <p:spPr>
          <a:xfrm>
            <a:off x="7369175" y="1778595"/>
            <a:ext cx="4006850" cy="1042591"/>
          </a:xfrm>
          <a:prstGeom prst="roundRect">
            <a:avLst>
              <a:gd name="adj" fmla="val 9440"/>
            </a:avLst>
          </a:prstGeom>
          <a:solidFill>
            <a:srgbClr val="FDFEFE"/>
          </a:solidFill>
          <a:ln w="6350">
            <a:solidFill>
              <a:srgbClr val="D6E1E6"/>
            </a:solidFill>
            <a:prstDash val="solid"/>
          </a:ln>
        </p:spPr>
      </p:sp>
      <p:sp>
        <p:nvSpPr>
          <p:cNvPr id="9" name="Text 6"/>
          <p:cNvSpPr/>
          <p:nvPr/>
        </p:nvSpPr>
        <p:spPr>
          <a:xfrm>
            <a:off x="7550150" y="1934170"/>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a:t>
            </a:r>
            <a:endParaRPr lang="en-US" sz="1200" dirty="0"/>
          </a:p>
        </p:txBody>
      </p:sp>
      <p:sp>
        <p:nvSpPr>
          <p:cNvPr id="10" name="Text 7"/>
          <p:cNvSpPr/>
          <p:nvPr/>
        </p:nvSpPr>
        <p:spPr>
          <a:xfrm>
            <a:off x="7550150" y="218559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48 steps. Created and saved the contact, then found both entries in the list.</a:t>
            </a:r>
            <a:endParaRPr lang="en-US" sz="1400" dirty="0"/>
          </a:p>
        </p:txBody>
      </p:sp>
      <p:sp>
        <p:nvSpPr>
          <p:cNvPr id="11" name="Shape 8"/>
          <p:cNvSpPr/>
          <p:nvPr/>
        </p:nvSpPr>
        <p:spPr>
          <a:xfrm>
            <a:off x="7369175" y="2929136"/>
            <a:ext cx="4006850" cy="1042591"/>
          </a:xfrm>
          <a:prstGeom prst="roundRect">
            <a:avLst>
              <a:gd name="adj" fmla="val 9440"/>
            </a:avLst>
          </a:prstGeom>
          <a:solidFill>
            <a:srgbClr val="FDFEFE"/>
          </a:solidFill>
          <a:ln w="6350">
            <a:solidFill>
              <a:srgbClr val="D6E1E6"/>
            </a:solidFill>
            <a:prstDash val="solid"/>
          </a:ln>
        </p:spPr>
      </p:sp>
      <p:sp>
        <p:nvSpPr>
          <p:cNvPr id="12" name="Text 9"/>
          <p:cNvSpPr/>
          <p:nvPr/>
        </p:nvSpPr>
        <p:spPr>
          <a:xfrm>
            <a:off x="7550150" y="3084711"/>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13" name="Text 10"/>
          <p:cNvSpPr/>
          <p:nvPr/>
        </p:nvSpPr>
        <p:spPr>
          <a:xfrm>
            <a:off x="7550150" y="333613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Objective refuted · spec violation, high severity</a:t>
            </a:r>
            <a:endParaRPr lang="en-US" sz="1400" dirty="0"/>
          </a:p>
        </p:txBody>
      </p:sp>
      <p:sp>
        <p:nvSpPr>
          <p:cNvPr id="14" name="Shape 11"/>
          <p:cNvSpPr/>
          <p:nvPr/>
        </p:nvSpPr>
        <p:spPr>
          <a:xfrm>
            <a:off x="7366000" y="4076502"/>
            <a:ext cx="4013200" cy="1518543"/>
          </a:xfrm>
          <a:prstGeom prst="roundRect">
            <a:avLst>
              <a:gd name="adj" fmla="val 6691"/>
            </a:avLst>
          </a:prstGeom>
          <a:solidFill>
            <a:srgbClr val="FBEDE6"/>
          </a:solidFill>
          <a:ln/>
        </p:spPr>
      </p:sp>
      <p:sp>
        <p:nvSpPr>
          <p:cNvPr id="15" name="Text 12"/>
          <p:cNvSpPr/>
          <p:nvPr/>
        </p:nvSpPr>
        <p:spPr>
          <a:xfrm>
            <a:off x="7543800" y="4228902"/>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02C"/>
                </a:solidFill>
                <a:latin typeface="IBM Plex Sans" pitchFamily="34" charset="0"/>
                <a:ea typeface="IBM Plex Sans" pitchFamily="34" charset="-122"/>
                <a:cs typeface="IBM Plex Sans" pitchFamily="34" charset="-120"/>
              </a:rPr>
              <a:t>ITS VERDICT</a:t>
            </a:r>
            <a:endParaRPr lang="en-US" sz="1200" dirty="0"/>
          </a:p>
        </p:txBody>
      </p:sp>
      <p:sp>
        <p:nvSpPr>
          <p:cNvPr id="16" name="Text 13"/>
          <p:cNvSpPr/>
          <p:nvPr/>
        </p:nvSpPr>
        <p:spPr>
          <a:xfrm>
            <a:off x="7543800" y="4480322"/>
            <a:ext cx="3767328" cy="77207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303D"/>
                </a:solidFill>
                <a:latin typeface="Source Serif 4" pitchFamily="34" charset="0"/>
                <a:ea typeface="Source Serif 4" pitchFamily="34" charset="-122"/>
                <a:cs typeface="Source Serif 4" pitchFamily="34" charset="-120"/>
              </a:rPr>
              <a:t>“This directly answers the earlier open question: duplicate detection is not triggered by phone-number match alone.”</a:t>
            </a:r>
            <a:endParaRPr lang="en-US" sz="1400" dirty="0"/>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PptxGenJS</cp:lastModifiedBy>
  <cp:revision>1</cp:revision>
  <dcterms:created xsi:type="dcterms:W3CDTF">2026-09-30T03:50:15Z</dcterms:created>
  <dcterms:modified xsi:type="dcterms:W3CDTF">2026-09-30T03:50:15Z</dcterms:modified>
</cp:coreProperties>
</file>