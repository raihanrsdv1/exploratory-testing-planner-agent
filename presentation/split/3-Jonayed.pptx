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5" r:id="rId2"/>
    <p:sldId id="276" r:id="rId3"/>
    <p:sldId id="280" r:id="rId4"/>
    <p:sldId id="281" r:id="rId5"/>
    <p:sldId id="279" r:id="rId6"/>
    <p:sldId id="278" r:id="rId7"/>
    <p:sldId id="282" r:id="rId8"/>
    <p:sldId id="28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385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executor, which we also call the player, is the one component we did not build, so we chose it carefully. We surveyed the mobile GUI-agent benchmarks and then tried several executors hands-on, among them MUI, GeLab and MobileAgent-V3, before selecting mobilerun, also known as Droidrun. [Add one line per alternative on why it was not chosen.] What decided it was what our design needs: it works from a goal in plain language rather than a script, drives a real device through the accessibility tree and screenshots, lets us plug in our own model provider, saves a step-by-step trajectory for the investigator, and streams every screen it sees, which is how we build the map of the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executor receives a goal, not a script: the planner's objective and screen hint, plus login and input details. It then loops: observe the screen through the accessibility tree and a screenshot, let the model decide the next action, and act, tapping, typing or swiping over adb. Up to 50 steps, about 20 seconds each. It returns a trajectory: every step's reasoning, action and result. The loop is mobilerun, but the harness around it is ours: building the goal from the test case, the on-device portal that makes typing reliable, resetting the app between tests and keeping the agent inside it, keeping login secrets out of the planner's prompt, streaming every screen into the live map, and surviving network loss mid-campaign.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result of the screen matching on the previous slide, as it appears on our dashboard. Every circle is one distinct screen of the contacts app, 79 in all, joined by 797 recorded transitions. Nothing here came from documentation; it is only what the agent reached. Every execution stores the ordered list of screens it passed through, so we can pick any run and see exactly where it went: in orange, the path of TC-088, which imported a vCard of duplicates and then searched: from the contact list through Organize, the import screen and the close sheet, and back. Clicking a screen shows the screenshot we stored for it, here Contact List number 12, visited 19 times, with 14 controls. The same map is what the planner draws on when it looks up a screen or a route to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screen-identity cascade, left to right. Each check exists because the previous one failed on a real case, and the grey notes say which. Structural similarity handles counters and timestamps. Containment handles a screen captured before it finished drawing, which similarity scores as different. Skeleton containment handles form fields, where typing changes the labels: one wizard once produced nine separate states. And the perceptual hash is the last resort for screens built with Compose, games or web views, whose accessibility tree says almost nothing.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0">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96469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THE PLAYER</a:t>
            </a:r>
            <a:endParaRPr lang="en-US" sz="1200" dirty="0"/>
          </a:p>
        </p:txBody>
      </p:sp>
      <p:sp>
        <p:nvSpPr>
          <p:cNvPr id="3" name="Text 1"/>
          <p:cNvSpPr/>
          <p:nvPr/>
        </p:nvSpPr>
        <p:spPr>
          <a:xfrm>
            <a:off x="812800" y="1102320"/>
            <a:ext cx="96469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We chose the executor by trying several</a:t>
            </a:r>
            <a:endParaRPr lang="en-US" sz="3000" dirty="0"/>
          </a:p>
        </p:txBody>
      </p:sp>
      <p:sp>
        <p:nvSpPr>
          <p:cNvPr id="4" name="Shape 2"/>
          <p:cNvSpPr/>
          <p:nvPr/>
        </p:nvSpPr>
        <p:spPr>
          <a:xfrm>
            <a:off x="815975" y="1778595"/>
            <a:ext cx="44386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22350" y="1984970"/>
            <a:ext cx="414667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Surveyed benchmarks, then tried hands-on</a:t>
            </a:r>
            <a:endParaRPr lang="en-US" sz="1400" dirty="0"/>
          </a:p>
        </p:txBody>
      </p:sp>
      <p:sp>
        <p:nvSpPr>
          <p:cNvPr id="6" name="Shape 4"/>
          <p:cNvSpPr/>
          <p:nvPr/>
        </p:nvSpPr>
        <p:spPr>
          <a:xfrm>
            <a:off x="1022350" y="2747566"/>
            <a:ext cx="4025900" cy="0"/>
          </a:xfrm>
          <a:prstGeom prst="line">
            <a:avLst/>
          </a:prstGeom>
          <a:noFill/>
          <a:ln w="6350">
            <a:solidFill>
              <a:srgbClr val="D6E1E6"/>
            </a:solidFill>
            <a:prstDash val="solid"/>
          </a:ln>
        </p:spPr>
        <p:txBody>
          <a:bodyPr/>
          <a:lstStyle/>
          <a:p>
            <a:endParaRPr lang="en-US"/>
          </a:p>
        </p:txBody>
      </p:sp>
      <p:sp>
        <p:nvSpPr>
          <p:cNvPr id="7" name="Text 5"/>
          <p:cNvSpPr/>
          <p:nvPr/>
        </p:nvSpPr>
        <p:spPr>
          <a:xfrm>
            <a:off x="1022350" y="2406600"/>
            <a:ext cx="38685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MUI</a:t>
            </a:r>
            <a:endParaRPr lang="en-US" sz="1400" dirty="0"/>
          </a:p>
        </p:txBody>
      </p:sp>
      <p:sp>
        <p:nvSpPr>
          <p:cNvPr id="8" name="Text 6"/>
          <p:cNvSpPr/>
          <p:nvPr/>
        </p:nvSpPr>
        <p:spPr>
          <a:xfrm>
            <a:off x="4376440" y="242436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9" name="Shape 7"/>
          <p:cNvSpPr/>
          <p:nvPr/>
        </p:nvSpPr>
        <p:spPr>
          <a:xfrm>
            <a:off x="1022350" y="3180606"/>
            <a:ext cx="4025900" cy="0"/>
          </a:xfrm>
          <a:prstGeom prst="line">
            <a:avLst/>
          </a:prstGeom>
          <a:noFill/>
          <a:ln w="6350">
            <a:solidFill>
              <a:srgbClr val="D6E1E6"/>
            </a:solidFill>
            <a:prstDash val="solid"/>
          </a:ln>
        </p:spPr>
        <p:txBody>
          <a:bodyPr/>
          <a:lstStyle/>
          <a:p>
            <a:endParaRPr lang="en-US"/>
          </a:p>
        </p:txBody>
      </p:sp>
      <p:sp>
        <p:nvSpPr>
          <p:cNvPr id="10" name="Text 8"/>
          <p:cNvSpPr/>
          <p:nvPr/>
        </p:nvSpPr>
        <p:spPr>
          <a:xfrm>
            <a:off x="1022350" y="2839641"/>
            <a:ext cx="558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GeLab</a:t>
            </a:r>
            <a:endParaRPr lang="en-US" sz="1400" dirty="0"/>
          </a:p>
        </p:txBody>
      </p:sp>
      <p:sp>
        <p:nvSpPr>
          <p:cNvPr id="11" name="Text 9"/>
          <p:cNvSpPr/>
          <p:nvPr/>
        </p:nvSpPr>
        <p:spPr>
          <a:xfrm>
            <a:off x="4376440" y="285740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2" name="Shape 10"/>
          <p:cNvSpPr/>
          <p:nvPr/>
        </p:nvSpPr>
        <p:spPr>
          <a:xfrm>
            <a:off x="1022350" y="3613646"/>
            <a:ext cx="4025900" cy="0"/>
          </a:xfrm>
          <a:prstGeom prst="line">
            <a:avLst/>
          </a:prstGeom>
          <a:noFill/>
          <a:ln w="6350">
            <a:solidFill>
              <a:srgbClr val="D6E1E6"/>
            </a:solidFill>
            <a:prstDash val="solid"/>
          </a:ln>
        </p:spPr>
        <p:txBody>
          <a:bodyPr/>
          <a:lstStyle/>
          <a:p>
            <a:endParaRPr lang="en-US"/>
          </a:p>
        </p:txBody>
      </p:sp>
      <p:sp>
        <p:nvSpPr>
          <p:cNvPr id="13" name="Text 11"/>
          <p:cNvSpPr/>
          <p:nvPr/>
        </p:nvSpPr>
        <p:spPr>
          <a:xfrm>
            <a:off x="1022350" y="3272681"/>
            <a:ext cx="133399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MobileAgent-V3</a:t>
            </a:r>
            <a:endParaRPr lang="en-US" sz="1400" dirty="0"/>
          </a:p>
        </p:txBody>
      </p:sp>
      <p:sp>
        <p:nvSpPr>
          <p:cNvPr id="14" name="Text 12"/>
          <p:cNvSpPr/>
          <p:nvPr/>
        </p:nvSpPr>
        <p:spPr>
          <a:xfrm>
            <a:off x="4376440" y="329044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5" name="Text 13"/>
          <p:cNvSpPr/>
          <p:nvPr/>
        </p:nvSpPr>
        <p:spPr>
          <a:xfrm>
            <a:off x="1022350" y="3705721"/>
            <a:ext cx="178381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mobilerun (Droidrun)</a:t>
            </a:r>
            <a:endParaRPr lang="en-US" sz="1400" dirty="0"/>
          </a:p>
        </p:txBody>
      </p:sp>
      <p:pic>
        <p:nvPicPr>
          <p:cNvPr id="16" name="Image 0" descr="CheckCircle"/>
          <p:cNvPicPr>
            <a:picLocks noChangeAspect="1"/>
          </p:cNvPicPr>
          <p:nvPr/>
        </p:nvPicPr>
        <p:blipFill>
          <a:blip r:embed="rId3"/>
          <a:srcRect/>
          <a:stretch/>
        </p:blipFill>
        <p:spPr>
          <a:xfrm>
            <a:off x="4192339" y="3728541"/>
            <a:ext cx="203200" cy="203200"/>
          </a:xfrm>
          <a:prstGeom prst="rect">
            <a:avLst/>
          </a:prstGeom>
        </p:spPr>
      </p:pic>
      <p:sp>
        <p:nvSpPr>
          <p:cNvPr id="17" name="Text 14"/>
          <p:cNvSpPr/>
          <p:nvPr/>
        </p:nvSpPr>
        <p:spPr>
          <a:xfrm>
            <a:off x="4446339" y="3723481"/>
            <a:ext cx="652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selected</a:t>
            </a:r>
            <a:endParaRPr lang="en-US" sz="1200" dirty="0"/>
          </a:p>
        </p:txBody>
      </p:sp>
      <p:sp>
        <p:nvSpPr>
          <p:cNvPr id="18" name="Shape 15"/>
          <p:cNvSpPr/>
          <p:nvPr/>
        </p:nvSpPr>
        <p:spPr>
          <a:xfrm>
            <a:off x="5464175" y="1778595"/>
            <a:ext cx="59118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19" name="Text 16"/>
          <p:cNvSpPr/>
          <p:nvPr/>
        </p:nvSpPr>
        <p:spPr>
          <a:xfrm>
            <a:off x="5670550" y="1984970"/>
            <a:ext cx="566407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needed from it</a:t>
            </a:r>
            <a:endParaRPr lang="en-US" sz="1400" dirty="0"/>
          </a:p>
        </p:txBody>
      </p:sp>
      <p:sp>
        <p:nvSpPr>
          <p:cNvPr id="20" name="Text 17"/>
          <p:cNvSpPr/>
          <p:nvPr/>
        </p:nvSpPr>
        <p:spPr>
          <a:xfrm>
            <a:off x="5670550" y="2317700"/>
            <a:ext cx="5664073" cy="1130201"/>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Runs from a goal in plain language, not a script</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Drives a real Android device through its accessibility tree and screenshots</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Accepts our own model provider (OpenRouter)</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Saves a step-by-step trajectory we can analyse</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Streams every screen it sees, so we can map the app</a:t>
            </a:r>
            <a:endParaRPr lang="en-US" sz="1200" dirty="0"/>
          </a:p>
        </p:txBody>
      </p:sp>
      <p:sp>
        <p:nvSpPr>
          <p:cNvPr id="22" name="Text 19"/>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0"/>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20</a:t>
            </a:r>
            <a:endParaRPr lang="en-US" sz="1200" dirty="0"/>
          </a:p>
        </p:txBody>
      </p:sp>
      <p:pic>
        <p:nvPicPr>
          <p:cNvPr id="24" name="Picture 23" descr="android.png"/>
          <p:cNvPicPr>
            <a:picLocks noChangeAspect="1"/>
          </p:cNvPicPr>
          <p:nvPr/>
        </p:nvPicPr>
        <p:blipFill>
          <a:blip r:embed="rId4"/>
          <a:stretch>
            <a:fillRect/>
          </a:stretch>
        </p:blipFill>
        <p:spPr>
          <a:xfrm>
            <a:off x="10716768" y="731520"/>
            <a:ext cx="804672" cy="8046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1">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ONE RUN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How a test is executed on the device</a:t>
            </a:r>
            <a:endParaRPr lang="en-US" sz="3000" dirty="0"/>
          </a:p>
        </p:txBody>
      </p:sp>
      <p:sp>
        <p:nvSpPr>
          <p:cNvPr id="4" name="Shape 2"/>
          <p:cNvSpPr/>
          <p:nvPr/>
        </p:nvSpPr>
        <p:spPr>
          <a:xfrm>
            <a:off x="8159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Goal</a:t>
            </a:r>
            <a:endParaRPr lang="en-US" sz="1400" dirty="0"/>
          </a:p>
        </p:txBody>
      </p:sp>
      <p:sp>
        <p:nvSpPr>
          <p:cNvPr id="6" name="Text 4"/>
          <p:cNvSpPr/>
          <p:nvPr/>
        </p:nvSpPr>
        <p:spPr>
          <a:xfrm>
            <a:off x="996950" y="2371080"/>
            <a:ext cx="17145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objective, screen hint, and login and input details</a:t>
            </a:r>
            <a:endParaRPr lang="en-US" sz="1200" dirty="0"/>
          </a:p>
        </p:txBody>
      </p:sp>
      <p:sp>
        <p:nvSpPr>
          <p:cNvPr id="7" name="Shape 5"/>
          <p:cNvSpPr/>
          <p:nvPr/>
        </p:nvSpPr>
        <p:spPr>
          <a:xfrm>
            <a:off x="3308350" y="1911350"/>
            <a:ext cx="5575300" cy="1701800"/>
          </a:xfrm>
          <a:prstGeom prst="roundRect">
            <a:avLst>
              <a:gd name="adj" fmla="val 5597"/>
            </a:avLst>
          </a:prstGeom>
          <a:solidFill>
            <a:srgbClr val="EDF2F4"/>
          </a:solidFill>
          <a:ln w="12700">
            <a:solidFill>
              <a:srgbClr val="0F7EA8"/>
            </a:solidFill>
            <a:prstDash val="dash"/>
          </a:ln>
        </p:spPr>
        <p:txBody>
          <a:bodyPr/>
          <a:lstStyle/>
          <a:p>
            <a:endParaRPr lang="en-US"/>
          </a:p>
        </p:txBody>
      </p:sp>
      <p:sp>
        <p:nvSpPr>
          <p:cNvPr id="8" name="Shape 6"/>
          <p:cNvSpPr/>
          <p:nvPr/>
        </p:nvSpPr>
        <p:spPr>
          <a:xfrm>
            <a:off x="3429000" y="2032000"/>
            <a:ext cx="1524000" cy="937171"/>
          </a:xfrm>
          <a:prstGeom prst="roundRect">
            <a:avLst>
              <a:gd name="adj" fmla="val 6776"/>
            </a:avLst>
          </a:prstGeom>
          <a:solidFill>
            <a:srgbClr val="FDFEFE"/>
          </a:solidFill>
          <a:ln/>
        </p:spPr>
        <p:txBody>
          <a:bodyPr/>
          <a:lstStyle/>
          <a:p>
            <a:endParaRPr lang="en-US"/>
          </a:p>
        </p:txBody>
      </p:sp>
      <p:sp>
        <p:nvSpPr>
          <p:cNvPr id="9" name="Text 7"/>
          <p:cNvSpPr/>
          <p:nvPr/>
        </p:nvSpPr>
        <p:spPr>
          <a:xfrm>
            <a:off x="355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Observe</a:t>
            </a:r>
            <a:endParaRPr lang="en-US" sz="1400" dirty="0"/>
          </a:p>
        </p:txBody>
      </p:sp>
      <p:sp>
        <p:nvSpPr>
          <p:cNvPr id="10" name="Text 8"/>
          <p:cNvSpPr/>
          <p:nvPr/>
        </p:nvSpPr>
        <p:spPr>
          <a:xfrm>
            <a:off x="355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accessibility tree and screenshot</a:t>
            </a:r>
            <a:endParaRPr lang="en-US" sz="1200" dirty="0"/>
          </a:p>
        </p:txBody>
      </p:sp>
      <p:pic>
        <p:nvPicPr>
          <p:cNvPr id="11" name="Image 0" descr="arrow-right"/>
          <p:cNvPicPr>
            <a:picLocks noChangeAspect="1"/>
          </p:cNvPicPr>
          <p:nvPr/>
        </p:nvPicPr>
        <p:blipFill>
          <a:blip r:embed="rId3"/>
          <a:srcRect/>
          <a:stretch/>
        </p:blipFill>
        <p:spPr>
          <a:xfrm>
            <a:off x="5029200" y="2424361"/>
            <a:ext cx="228600" cy="152400"/>
          </a:xfrm>
          <a:prstGeom prst="rect">
            <a:avLst/>
          </a:prstGeom>
        </p:spPr>
      </p:pic>
      <p:sp>
        <p:nvSpPr>
          <p:cNvPr id="12" name="Shape 9"/>
          <p:cNvSpPr/>
          <p:nvPr/>
        </p:nvSpPr>
        <p:spPr>
          <a:xfrm>
            <a:off x="5334000" y="2032000"/>
            <a:ext cx="1524000" cy="937171"/>
          </a:xfrm>
          <a:prstGeom prst="roundRect">
            <a:avLst>
              <a:gd name="adj" fmla="val 6776"/>
            </a:avLst>
          </a:prstGeom>
          <a:solidFill>
            <a:srgbClr val="FDFEFE"/>
          </a:solidFill>
          <a:ln/>
        </p:spPr>
        <p:txBody>
          <a:bodyPr/>
          <a:lstStyle/>
          <a:p>
            <a:endParaRPr lang="en-US"/>
          </a:p>
        </p:txBody>
      </p:sp>
      <p:sp>
        <p:nvSpPr>
          <p:cNvPr id="13" name="Text 10"/>
          <p:cNvSpPr/>
          <p:nvPr/>
        </p:nvSpPr>
        <p:spPr>
          <a:xfrm>
            <a:off x="5461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Decide</a:t>
            </a:r>
            <a:endParaRPr lang="en-US" sz="1400" dirty="0"/>
          </a:p>
        </p:txBody>
      </p:sp>
      <p:sp>
        <p:nvSpPr>
          <p:cNvPr id="14" name="Text 11"/>
          <p:cNvSpPr/>
          <p:nvPr/>
        </p:nvSpPr>
        <p:spPr>
          <a:xfrm>
            <a:off x="5461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picks the next action</a:t>
            </a:r>
            <a:endParaRPr lang="en-US" sz="1200" dirty="0"/>
          </a:p>
        </p:txBody>
      </p:sp>
      <p:pic>
        <p:nvPicPr>
          <p:cNvPr id="15" name="Image 1" descr="arrow-right"/>
          <p:cNvPicPr>
            <a:picLocks noChangeAspect="1"/>
          </p:cNvPicPr>
          <p:nvPr/>
        </p:nvPicPr>
        <p:blipFill>
          <a:blip r:embed="rId3"/>
          <a:srcRect/>
          <a:stretch/>
        </p:blipFill>
        <p:spPr>
          <a:xfrm>
            <a:off x="6934200" y="2424361"/>
            <a:ext cx="228600" cy="152400"/>
          </a:xfrm>
          <a:prstGeom prst="rect">
            <a:avLst/>
          </a:prstGeom>
        </p:spPr>
      </p:pic>
      <p:sp>
        <p:nvSpPr>
          <p:cNvPr id="16" name="Shape 12"/>
          <p:cNvSpPr/>
          <p:nvPr/>
        </p:nvSpPr>
        <p:spPr>
          <a:xfrm>
            <a:off x="7239000" y="2032000"/>
            <a:ext cx="1524000" cy="937171"/>
          </a:xfrm>
          <a:prstGeom prst="roundRect">
            <a:avLst>
              <a:gd name="adj" fmla="val 6776"/>
            </a:avLst>
          </a:prstGeom>
          <a:solidFill>
            <a:srgbClr val="FDFEFE"/>
          </a:solidFill>
          <a:ln/>
        </p:spPr>
        <p:txBody>
          <a:bodyPr/>
          <a:lstStyle/>
          <a:p>
            <a:endParaRPr lang="en-US"/>
          </a:p>
        </p:txBody>
      </p:sp>
      <p:sp>
        <p:nvSpPr>
          <p:cNvPr id="17" name="Text 13"/>
          <p:cNvSpPr/>
          <p:nvPr/>
        </p:nvSpPr>
        <p:spPr>
          <a:xfrm>
            <a:off x="736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Act</a:t>
            </a:r>
            <a:endParaRPr lang="en-US" sz="1400" dirty="0"/>
          </a:p>
        </p:txBody>
      </p:sp>
      <p:sp>
        <p:nvSpPr>
          <p:cNvPr id="18" name="Text 14"/>
          <p:cNvSpPr/>
          <p:nvPr/>
        </p:nvSpPr>
        <p:spPr>
          <a:xfrm>
            <a:off x="736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tap, type or swipe over adb</a:t>
            </a:r>
            <a:endParaRPr lang="en-US" sz="1200" dirty="0"/>
          </a:p>
        </p:txBody>
      </p:sp>
      <p:sp>
        <p:nvSpPr>
          <p:cNvPr id="19" name="Text 15"/>
          <p:cNvSpPr/>
          <p:nvPr/>
        </p:nvSpPr>
        <p:spPr>
          <a:xfrm>
            <a:off x="3429000" y="3032671"/>
            <a:ext cx="54940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repeats up to 50 steps, about 20 seconds each</a:t>
            </a:r>
            <a:endParaRPr lang="en-US" sz="1200" dirty="0"/>
          </a:p>
        </p:txBody>
      </p:sp>
      <p:sp>
        <p:nvSpPr>
          <p:cNvPr id="20" name="Shape 16"/>
          <p:cNvSpPr/>
          <p:nvPr/>
        </p:nvSpPr>
        <p:spPr>
          <a:xfrm>
            <a:off x="93503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21" name="Text 17"/>
          <p:cNvSpPr/>
          <p:nvPr/>
        </p:nvSpPr>
        <p:spPr>
          <a:xfrm>
            <a:off x="95313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Trajectory</a:t>
            </a:r>
            <a:endParaRPr lang="en-US" sz="1400" dirty="0"/>
          </a:p>
        </p:txBody>
      </p:sp>
      <p:sp>
        <p:nvSpPr>
          <p:cNvPr id="22" name="Text 18"/>
          <p:cNvSpPr/>
          <p:nvPr/>
        </p:nvSpPr>
        <p:spPr>
          <a:xfrm>
            <a:off x="9531350" y="2371080"/>
            <a:ext cx="17145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step's thought, action and outcome</a:t>
            </a:r>
            <a:endParaRPr lang="en-US" sz="1200" dirty="0"/>
          </a:p>
        </p:txBody>
      </p:sp>
      <p:pic>
        <p:nvPicPr>
          <p:cNvPr id="23" name="Image 2" descr="connector"/>
          <p:cNvPicPr>
            <a:picLocks noChangeAspect="1"/>
          </p:cNvPicPr>
          <p:nvPr/>
        </p:nvPicPr>
        <p:blipFill>
          <a:blip r:embed="rId4"/>
          <a:srcRect/>
          <a:stretch/>
        </p:blipFill>
        <p:spPr>
          <a:xfrm>
            <a:off x="2806700" y="2711450"/>
            <a:ext cx="533400" cy="101600"/>
          </a:xfrm>
          <a:prstGeom prst="rect">
            <a:avLst/>
          </a:prstGeom>
        </p:spPr>
      </p:pic>
      <p:pic>
        <p:nvPicPr>
          <p:cNvPr id="24" name="Image 3" descr="connector"/>
          <p:cNvPicPr>
            <a:picLocks noChangeAspect="1"/>
          </p:cNvPicPr>
          <p:nvPr/>
        </p:nvPicPr>
        <p:blipFill>
          <a:blip r:embed="rId4"/>
          <a:srcRect/>
          <a:stretch/>
        </p:blipFill>
        <p:spPr>
          <a:xfrm>
            <a:off x="8851900" y="2711450"/>
            <a:ext cx="533400" cy="101600"/>
          </a:xfrm>
          <a:prstGeom prst="rect">
            <a:avLst/>
          </a:prstGeom>
        </p:spPr>
      </p:pic>
      <p:sp>
        <p:nvSpPr>
          <p:cNvPr id="25" name="Shape 19"/>
          <p:cNvSpPr/>
          <p:nvPr/>
        </p:nvSpPr>
        <p:spPr>
          <a:xfrm>
            <a:off x="815975" y="3876675"/>
            <a:ext cx="10560050" cy="1309241"/>
          </a:xfrm>
          <a:prstGeom prst="roundRect">
            <a:avLst>
              <a:gd name="adj" fmla="val 7518"/>
            </a:avLst>
          </a:prstGeom>
          <a:solidFill>
            <a:srgbClr val="FDFEFE"/>
          </a:solidFill>
          <a:ln w="6350">
            <a:solidFill>
              <a:srgbClr val="D6E1E6"/>
            </a:solidFill>
            <a:prstDash val="solid"/>
          </a:ln>
        </p:spPr>
        <p:txBody>
          <a:bodyPr/>
          <a:lstStyle/>
          <a:p>
            <a:endParaRPr lang="en-US"/>
          </a:p>
        </p:txBody>
      </p:sp>
      <p:sp>
        <p:nvSpPr>
          <p:cNvPr id="26" name="Text 20"/>
          <p:cNvSpPr/>
          <p:nvPr/>
        </p:nvSpPr>
        <p:spPr>
          <a:xfrm>
            <a:off x="1022350" y="4057650"/>
            <a:ext cx="10451719"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built around mobilerun</a:t>
            </a:r>
            <a:endParaRPr lang="en-US" sz="1400" dirty="0"/>
          </a:p>
        </p:txBody>
      </p:sp>
      <p:sp>
        <p:nvSpPr>
          <p:cNvPr id="27" name="Text 21"/>
          <p:cNvSpPr/>
          <p:nvPr/>
        </p:nvSpPr>
        <p:spPr>
          <a:xfrm>
            <a:off x="102235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Goal assembly from the planner's test case</a:t>
            </a:r>
            <a:endParaRPr lang="en-US" sz="1200" dirty="0"/>
          </a:p>
        </p:txBody>
      </p:sp>
      <p:sp>
        <p:nvSpPr>
          <p:cNvPr id="28" name="Text 22"/>
          <p:cNvSpPr/>
          <p:nvPr/>
        </p:nvSpPr>
        <p:spPr>
          <a:xfrm>
            <a:off x="609600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screen streamed into the live app map</a:t>
            </a:r>
            <a:endParaRPr lang="en-US" sz="1200" dirty="0"/>
          </a:p>
        </p:txBody>
      </p:sp>
      <p:sp>
        <p:nvSpPr>
          <p:cNvPr id="29" name="Text 23"/>
          <p:cNvSpPr/>
          <p:nvPr/>
        </p:nvSpPr>
        <p:spPr>
          <a:xfrm>
            <a:off x="102235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On-device portal for reliable text input</a:t>
            </a:r>
            <a:endParaRPr lang="en-US" sz="1200" dirty="0"/>
          </a:p>
        </p:txBody>
      </p:sp>
      <p:sp>
        <p:nvSpPr>
          <p:cNvPr id="30" name="Text 24"/>
          <p:cNvSpPr/>
          <p:nvPr/>
        </p:nvSpPr>
        <p:spPr>
          <a:xfrm>
            <a:off x="609600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Login secrets reach the executor, never the planner</a:t>
            </a:r>
            <a:endParaRPr lang="en-US" sz="1200" dirty="0"/>
          </a:p>
        </p:txBody>
      </p:sp>
      <p:sp>
        <p:nvSpPr>
          <p:cNvPr id="31" name="Text 25"/>
          <p:cNvSpPr/>
          <p:nvPr/>
        </p:nvSpPr>
        <p:spPr>
          <a:xfrm>
            <a:off x="102235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Device reset and an app-only guard between tests</a:t>
            </a:r>
            <a:endParaRPr lang="en-US" sz="1200" dirty="0"/>
          </a:p>
        </p:txBody>
      </p:sp>
      <p:sp>
        <p:nvSpPr>
          <p:cNvPr id="32" name="Text 26"/>
          <p:cNvSpPr/>
          <p:nvPr/>
        </p:nvSpPr>
        <p:spPr>
          <a:xfrm>
            <a:off x="609600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Waits out network loss; campaigns resume intact</a:t>
            </a:r>
            <a:endParaRPr lang="en-US" sz="1200" dirty="0"/>
          </a:p>
        </p:txBody>
      </p:sp>
      <p:sp>
        <p:nvSpPr>
          <p:cNvPr id="33"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EXECUTOR · THE INPUT</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What the executor is actually given</a:t>
            </a:r>
            <a:endParaRPr lang="en-US" sz="3000" dirty="0"/>
          </a:p>
        </p:txBody>
      </p:sp>
      <p:sp>
        <p:nvSpPr>
          <p:cNvPr id="4" name="Text 2"/>
          <p:cNvSpPr txBox="1"/>
          <p:nvPr/>
        </p:nvSpPr>
        <p:spPr>
          <a:xfrm>
            <a:off x="813816" y="1645920"/>
            <a:ext cx="1088136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TC-002, contacts app. Assembled from the planner's test case and the target profile.</a:t>
            </a:r>
            <a:endParaRPr lang="en-US" sz="1200" dirty="0"/>
          </a:p>
        </p:txBody>
      </p:sp>
      <p:sp>
        <p:nvSpPr>
          <p:cNvPr id="5" name="Shape 3"/>
          <p:cNvSpPr/>
          <p:nvPr/>
        </p:nvSpPr>
        <p:spPr>
          <a:xfrm>
            <a:off x="813816" y="2057400"/>
            <a:ext cx="6903720" cy="3794760"/>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86000"/>
            <a:ext cx="6446520" cy="3383280"/>
          </a:xfrm>
          <a:prstGeom prst="rect">
            <a:avLst/>
          </a:prstGeom>
          <a:noFill/>
          <a:ln/>
        </p:spPr>
        <p:txBody>
          <a:bodyPr wrap="square" lIns="0" tIns="0" rIns="0" bIns="0" rtlCol="0" anchor="ctr"/>
          <a:lstStyle/>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Open the Contacts app on this device.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Navigate to the 'Search Results' screen if not already there.</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Preconditions: App is open. </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1: Navigate to 'Contacts List' screen.</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2: Tap 'FAB: Create Contact' to create a new contact.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3: Enter 'First name' as 'Alice'.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4: Tap 'Save' button.</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5: Navigate back to 'Contacts List'.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6: Tap the search input field to focus.</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7: Type 'Bob' into the search input.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8: Observe the search results area.</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Expected result: Search results should be empty. The app should</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show an empty state and not crash or show any error.</a:t>
            </a:r>
            <a:endParaRPr lang="en-US" sz="1050" dirty="0"/>
          </a:p>
        </p:txBody>
      </p:sp>
      <p:sp>
        <p:nvSpPr>
          <p:cNvPr id="16" name="Text 14"/>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txBox="1"/>
          <p:nvPr/>
        </p:nvSpPr>
        <p:spPr>
          <a:xfrm>
            <a:off x="11000792" y="6139543"/>
            <a:ext cx="429208" cy="334409"/>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EXECUTOR · THE TRACE</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Thought, action, outcome, every step</a:t>
            </a:r>
            <a:endParaRPr lang="en-US" sz="3000" dirty="0"/>
          </a:p>
        </p:txBody>
      </p:sp>
      <p:sp>
        <p:nvSpPr>
          <p:cNvPr id="5" name="Shape 3"/>
          <p:cNvSpPr/>
          <p:nvPr/>
        </p:nvSpPr>
        <p:spPr>
          <a:xfrm>
            <a:off x="813816" y="2150279"/>
            <a:ext cx="6903720" cy="2584068"/>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76669"/>
            <a:ext cx="6446520" cy="2256510"/>
          </a:xfrm>
          <a:prstGeom prst="rect">
            <a:avLst/>
          </a:prstGeom>
          <a:noFill/>
          <a:ln/>
        </p:spPr>
        <p:txBody>
          <a:bodyPr wrap="square" lIns="0" tIns="0" rIns="0" bIns="0" rtlCol="0" anchor="ctr"/>
          <a:lstStyle/>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1/30  "I'm on a contact detail page for 'john doe'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instead of the Contacts List."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click(index=21)  -&gt;  'Navigate up' | Button | (74, 226)</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2/30  "I can see the FAB 'Create contact' at index 76."</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click(index=76)  -&gt;  'Create contact' | FAB | (943, 2076)</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3/30  "'First name' EditText is at index 30."</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click(index=30)  -&gt;  focused, then typed 'Alice'</a:t>
            </a:r>
            <a:endParaRPr lang="en-US" sz="1050" dirty="0"/>
          </a:p>
        </p:txBody>
      </p:sp>
      <p:sp>
        <p:nvSpPr>
          <p:cNvPr id="7" name="Shape 5"/>
          <p:cNvSpPr/>
          <p:nvPr/>
        </p:nvSpPr>
        <p:spPr>
          <a:xfrm>
            <a:off x="813816" y="4871507"/>
            <a:ext cx="6903720" cy="731520"/>
          </a:xfrm>
          <a:prstGeom prst="rect">
            <a:avLst/>
          </a:prstGeom>
          <a:solidFill>
            <a:srgbClr val="FFFFFF"/>
          </a:solidFill>
          <a:ln w="12700">
            <a:solidFill>
              <a:srgbClr val="D5E0E5"/>
            </a:solidFill>
            <a:prstDash val="solid"/>
          </a:ln>
        </p:spPr>
        <p:txBody>
          <a:bodyPr/>
          <a:lstStyle/>
          <a:p>
            <a:endParaRPr lang="en-US"/>
          </a:p>
        </p:txBody>
      </p:sp>
      <p:sp>
        <p:nvSpPr>
          <p:cNvPr id="8" name="Text 6"/>
          <p:cNvSpPr txBox="1"/>
          <p:nvPr/>
        </p:nvSpPr>
        <p:spPr>
          <a:xfrm>
            <a:off x="1069848" y="4871507"/>
            <a:ext cx="6446520" cy="731520"/>
          </a:xfrm>
          <a:prstGeom prst="rect">
            <a:avLst/>
          </a:prstGeom>
          <a:noFill/>
          <a:ln/>
        </p:spPr>
        <p:txBody>
          <a:bodyPr wrap="square" lIns="0" tIns="0" rIns="0" bIns="0" rtlCol="0" anchor="ctr"/>
          <a:lstStyle/>
          <a:p>
            <a:pPr marL="0" indent="0">
              <a:buNone/>
            </a:pPr>
            <a:r>
              <a:rPr lang="en-US" sz="1400" dirty="0">
                <a:solidFill>
                  <a:srgbClr val="14303D"/>
                </a:solidFill>
                <a:latin typeface="IBM Plex Sans" pitchFamily="34" charset="0"/>
                <a:ea typeface="IBM Plex Sans" pitchFamily="34" charset="-122"/>
                <a:cs typeface="IBM Plex Sans" pitchFamily="34" charset="-120"/>
              </a:rPr>
              <a:t>Result: the search area is empty, no contacts matching "Bob". The app did not crash and no error occurred.</a:t>
            </a:r>
            <a:endParaRPr lang="en-US" sz="1400" dirty="0"/>
          </a:p>
        </p:txBody>
      </p:sp>
      <p:sp>
        <p:nvSpPr>
          <p:cNvPr id="20" name="Text 18"/>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txBox="1"/>
          <p:nvPr/>
        </p:nvSpPr>
        <p:spPr>
          <a:xfrm>
            <a:off x="11038114" y="6236208"/>
            <a:ext cx="391886"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4">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4454"/>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THE APP MAP</a:t>
            </a:r>
            <a:endParaRPr lang="en-US" sz="1196" dirty="0"/>
          </a:p>
        </p:txBody>
      </p:sp>
      <p:sp>
        <p:nvSpPr>
          <p:cNvPr id="3" name="Text 1"/>
          <p:cNvSpPr/>
          <p:nvPr/>
        </p:nvSpPr>
        <p:spPr>
          <a:xfrm>
            <a:off x="812800" y="793254"/>
            <a:ext cx="10883392" cy="436066"/>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Every run's path through the map</a:t>
            </a:r>
            <a:endParaRPr lang="en-US" sz="2972" dirty="0"/>
          </a:p>
        </p:txBody>
      </p:sp>
      <p:sp>
        <p:nvSpPr>
          <p:cNvPr id="4" name="Shape 2"/>
          <p:cNvSpPr/>
          <p:nvPr/>
        </p:nvSpPr>
        <p:spPr>
          <a:xfrm>
            <a:off x="812800" y="1313160"/>
            <a:ext cx="6350000" cy="4826000"/>
          </a:xfrm>
          <a:prstGeom prst="roundRect">
            <a:avLst>
              <a:gd name="adj" fmla="val 2105"/>
            </a:avLst>
          </a:prstGeom>
          <a:solidFill>
            <a:srgbClr val="FDFEFE"/>
          </a:solidFill>
          <a:ln/>
        </p:spPr>
        <p:txBody>
          <a:bodyPr/>
          <a:lstStyle/>
          <a:p>
            <a:endParaRPr lang="en-US"/>
          </a:p>
        </p:txBody>
      </p:sp>
      <p:pic>
        <p:nvPicPr>
          <p:cNvPr id="5" name="Image 0" descr="Dashboard panel Live App Model, 79 states and 797 transitions: a graph of screens with the path of test TC-088 highlighted in orange through Contact List, Option Menu Search, Organize, Import 88 contacts and Close sheet, and beside it the stored screenshot of Contact List number 12, 19 visits and 14 controls"/>
          <p:cNvPicPr>
            <a:picLocks noChangeAspect="1"/>
          </p:cNvPicPr>
          <p:nvPr/>
        </p:nvPicPr>
        <p:blipFill>
          <a:blip r:embed="rId3"/>
          <a:stretch>
            <a:fillRect/>
          </a:stretch>
        </p:blipFill>
        <p:spPr>
          <a:xfrm>
            <a:off x="937117" y="1319510"/>
            <a:ext cx="6101366" cy="4813300"/>
          </a:xfrm>
          <a:prstGeom prst="rect">
            <a:avLst/>
          </a:prstGeom>
        </p:spPr>
      </p:pic>
      <p:sp>
        <p:nvSpPr>
          <p:cNvPr id="6" name="Shape 3"/>
          <p:cNvSpPr/>
          <p:nvPr/>
        </p:nvSpPr>
        <p:spPr>
          <a:xfrm>
            <a:off x="815975" y="1316335"/>
            <a:ext cx="6343650" cy="4819650"/>
          </a:xfrm>
          <a:prstGeom prst="roundRect">
            <a:avLst>
              <a:gd name="adj" fmla="val 2042"/>
            </a:avLst>
          </a:prstGeom>
          <a:noFill/>
          <a:ln w="6350">
            <a:solidFill>
              <a:srgbClr val="D6E1E6"/>
            </a:solidFill>
            <a:prstDash val="solid"/>
          </a:ln>
        </p:spPr>
        <p:txBody>
          <a:bodyPr/>
          <a:lstStyle/>
          <a:p>
            <a:endParaRPr lang="en-US"/>
          </a:p>
        </p:txBody>
      </p:sp>
      <p:sp>
        <p:nvSpPr>
          <p:cNvPr id="7" name="Text 4"/>
          <p:cNvSpPr/>
          <p:nvPr/>
        </p:nvSpPr>
        <p:spPr>
          <a:xfrm>
            <a:off x="7416800" y="2496939"/>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79 screens · 797 transitions</a:t>
            </a:r>
            <a:endParaRPr lang="en-US" sz="1400" dirty="0"/>
          </a:p>
        </p:txBody>
      </p:sp>
      <p:sp>
        <p:nvSpPr>
          <p:cNvPr id="8" name="Text 5"/>
          <p:cNvSpPr/>
          <p:nvPr/>
        </p:nvSpPr>
        <p:spPr>
          <a:xfrm>
            <a:off x="7416800" y="2771229"/>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contacts app, mapped only from screens the agent actually reached.</a:t>
            </a:r>
            <a:endParaRPr lang="en-US" sz="1200" dirty="0"/>
          </a:p>
        </p:txBody>
      </p:sp>
      <p:sp>
        <p:nvSpPr>
          <p:cNvPr id="9" name="Text 6"/>
          <p:cNvSpPr/>
          <p:nvPr/>
        </p:nvSpPr>
        <p:spPr>
          <a:xfrm>
            <a:off x="7416800" y="3375670"/>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Pick a run, see its path</a:t>
            </a:r>
            <a:endParaRPr lang="en-US" sz="1400" dirty="0"/>
          </a:p>
        </p:txBody>
      </p:sp>
      <p:sp>
        <p:nvSpPr>
          <p:cNvPr id="10" name="Text 7"/>
          <p:cNvSpPr/>
          <p:nvPr/>
        </p:nvSpPr>
        <p:spPr>
          <a:xfrm>
            <a:off x="7416800" y="3649960"/>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orange, the screens TC-088 visited, in order, read from that run's log.</a:t>
            </a:r>
            <a:endParaRPr lang="en-US" sz="1200" dirty="0"/>
          </a:p>
        </p:txBody>
      </p:sp>
      <p:sp>
        <p:nvSpPr>
          <p:cNvPr id="11" name="Text 8"/>
          <p:cNvSpPr/>
          <p:nvPr/>
        </p:nvSpPr>
        <p:spPr>
          <a:xfrm>
            <a:off x="7416800" y="4254401"/>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Click a screen</a:t>
            </a:r>
            <a:endParaRPr lang="en-US" sz="1400" dirty="0"/>
          </a:p>
        </p:txBody>
      </p:sp>
      <p:sp>
        <p:nvSpPr>
          <p:cNvPr id="12" name="Text 9"/>
          <p:cNvSpPr/>
          <p:nvPr/>
        </p:nvSpPr>
        <p:spPr>
          <a:xfrm>
            <a:off x="7416800" y="452869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Its stored screenshot, how often it was visited, and its controls.</a:t>
            </a:r>
            <a:endParaRPr lang="en-US" sz="1200" dirty="0"/>
          </a:p>
        </p:txBody>
      </p:sp>
      <p:sp>
        <p:nvSpPr>
          <p:cNvPr id="13" name="Text 1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60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IN DETAIL</a:t>
            </a:r>
            <a:endParaRPr lang="en-US" sz="1196" dirty="0"/>
          </a:p>
        </p:txBody>
      </p:sp>
      <p:sp>
        <p:nvSpPr>
          <p:cNvPr id="3" name="Text 1"/>
          <p:cNvSpPr/>
          <p:nvPr/>
        </p:nvSpPr>
        <p:spPr>
          <a:xfrm>
            <a:off x="812800" y="1098203"/>
            <a:ext cx="10883392" cy="436364"/>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Is this a screen we have seen?</a:t>
            </a:r>
            <a:endParaRPr lang="en-US" sz="2972" dirty="0"/>
          </a:p>
        </p:txBody>
      </p:sp>
      <p:sp>
        <p:nvSpPr>
          <p:cNvPr id="4" name="Shape 2"/>
          <p:cNvSpPr/>
          <p:nvPr/>
        </p:nvSpPr>
        <p:spPr>
          <a:xfrm>
            <a:off x="812800" y="1712367"/>
            <a:ext cx="10566400" cy="3507184"/>
          </a:xfrm>
          <a:prstGeom prst="roundRect">
            <a:avLst>
              <a:gd name="adj" fmla="val 2897"/>
            </a:avLst>
          </a:prstGeom>
          <a:solidFill>
            <a:srgbClr val="FDFEFE"/>
          </a:solidFill>
          <a:ln/>
        </p:spPr>
        <p:txBody>
          <a:bodyPr/>
          <a:lstStyle/>
          <a:p>
            <a:endParaRPr lang="en-US"/>
          </a:p>
        </p:txBody>
      </p:sp>
      <p:sp>
        <p:nvSpPr>
          <p:cNvPr id="6" name="Shape 3"/>
          <p:cNvSpPr/>
          <p:nvPr/>
        </p:nvSpPr>
        <p:spPr>
          <a:xfrm>
            <a:off x="815975" y="1715542"/>
            <a:ext cx="10560050" cy="3500834"/>
          </a:xfrm>
          <a:prstGeom prst="roundRect">
            <a:avLst>
              <a:gd name="adj" fmla="val 2811"/>
            </a:avLst>
          </a:prstGeom>
          <a:noFill/>
          <a:ln w="6350">
            <a:solidFill>
              <a:srgbClr val="D6E1E6"/>
            </a:solidFill>
            <a:prstDash val="solid"/>
          </a:ln>
        </p:spPr>
        <p:txBody>
          <a:bodyPr/>
          <a:lstStyle/>
          <a:p>
            <a:endParaRPr lang="en-US"/>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pic>
        <p:nvPicPr>
          <p:cNvPr id="10" name="Picture 9" descr="state-identity.png"/>
          <p:cNvPicPr>
            <a:picLocks noChangeAspect="1"/>
          </p:cNvPicPr>
          <p:nvPr/>
        </p:nvPicPr>
        <p:blipFill>
          <a:blip r:embed="rId3"/>
          <a:stretch>
            <a:fillRect/>
          </a:stretch>
        </p:blipFill>
        <p:spPr>
          <a:xfrm>
            <a:off x="928050" y="1718717"/>
            <a:ext cx="10335900" cy="34944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964692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WEB EXECUTOR · PLAYWRIGHT</a:t>
            </a:r>
            <a:endParaRPr lang="en-US" sz="1200" dirty="0"/>
          </a:p>
        </p:txBody>
      </p:sp>
      <p:sp>
        <p:nvSpPr>
          <p:cNvPr id="3" name="Text 1"/>
          <p:cNvSpPr txBox="1"/>
          <p:nvPr/>
        </p:nvSpPr>
        <p:spPr>
          <a:xfrm>
            <a:off x="813816" y="1106424"/>
            <a:ext cx="964692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The same planner, a browser instead of a device</a:t>
            </a:r>
            <a:endParaRPr lang="en-US" sz="3000" dirty="0"/>
          </a:p>
        </p:txBody>
      </p:sp>
      <p:sp>
        <p:nvSpPr>
          <p:cNvPr id="4" name="Text 2"/>
          <p:cNvSpPr txBox="1"/>
          <p:nvPr/>
        </p:nvSpPr>
        <p:spPr>
          <a:xfrm>
            <a:off x="813816" y="1645920"/>
            <a:ext cx="964692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A second executor behind the same contract. The planner does not know which one will run.</a:t>
            </a:r>
            <a:endParaRPr lang="en-US" sz="1200" dirty="0"/>
          </a:p>
        </p:txBody>
      </p:sp>
      <p:sp>
        <p:nvSpPr>
          <p:cNvPr id="5" name="Shape 3"/>
          <p:cNvSpPr/>
          <p:nvPr/>
        </p:nvSpPr>
        <p:spPr>
          <a:xfrm>
            <a:off x="81381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6" name="Text 4"/>
          <p:cNvSpPr txBox="1"/>
          <p:nvPr/>
        </p:nvSpPr>
        <p:spPr>
          <a:xfrm>
            <a:off x="1051560" y="2267712"/>
            <a:ext cx="2926080" cy="292608"/>
          </a:xfrm>
          <a:prstGeom prst="rect">
            <a:avLst/>
          </a:prstGeom>
          <a:noFill/>
          <a:ln/>
        </p:spPr>
        <p:txBody>
          <a:bodyPr wrap="square" lIns="0" tIns="0" rIns="0" bIns="0" rtlCol="0" anchor="ctr"/>
          <a:lstStyle/>
          <a:p>
            <a:pPr marL="0" indent="0">
              <a:buNone/>
            </a:pPr>
            <a:r>
              <a:rPr lang="en-US" sz="1350" b="1" dirty="0">
                <a:solidFill>
                  <a:srgbClr val="0B6A8F"/>
                </a:solidFill>
                <a:latin typeface="IBM Plex Sans" pitchFamily="34" charset="0"/>
                <a:ea typeface="IBM Plex Sans" pitchFamily="34" charset="-122"/>
                <a:cs typeface="IBM Plex Sans" pitchFamily="34" charset="-120"/>
              </a:rPr>
              <a:t>What it observes</a:t>
            </a:r>
            <a:endParaRPr lang="en-US" sz="1350" dirty="0"/>
          </a:p>
        </p:txBody>
      </p:sp>
      <p:sp>
        <p:nvSpPr>
          <p:cNvPr id="7" name="Text 5"/>
          <p:cNvSpPr txBox="1"/>
          <p:nvPr/>
        </p:nvSpPr>
        <p:spPr>
          <a:xfrm>
            <a:off x="108813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An accessibility style description of the DOM, not screenshots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role and name, the same vocabulary the Android executor uses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native HTML5 validation, including the browser's own message</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a password is described, never echoed</a:t>
            </a:r>
            <a:endParaRPr lang="en-US" sz="1100" dirty="0"/>
          </a:p>
        </p:txBody>
      </p:sp>
      <p:sp>
        <p:nvSpPr>
          <p:cNvPr id="8" name="Shape 6"/>
          <p:cNvSpPr/>
          <p:nvPr/>
        </p:nvSpPr>
        <p:spPr>
          <a:xfrm>
            <a:off x="437997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9" name="Text 7"/>
          <p:cNvSpPr txBox="1"/>
          <p:nvPr/>
        </p:nvSpPr>
        <p:spPr>
          <a:xfrm>
            <a:off x="4617720" y="2267712"/>
            <a:ext cx="2926080" cy="292608"/>
          </a:xfrm>
          <a:prstGeom prst="rect">
            <a:avLst/>
          </a:prstGeom>
          <a:noFill/>
          <a:ln/>
        </p:spPr>
        <p:txBody>
          <a:bodyPr wrap="square" lIns="0" tIns="0" rIns="0" bIns="0" rtlCol="0" anchor="ctr"/>
          <a:lstStyle/>
          <a:p>
            <a:pPr marL="0" indent="0">
              <a:buNone/>
            </a:pPr>
            <a:r>
              <a:rPr lang="en-US" sz="1350" b="1" dirty="0">
                <a:solidFill>
                  <a:srgbClr val="14303D"/>
                </a:solidFill>
                <a:latin typeface="IBM Plex Sans" pitchFamily="34" charset="0"/>
                <a:ea typeface="IBM Plex Sans" pitchFamily="34" charset="-122"/>
                <a:cs typeface="IBM Plex Sans" pitchFamily="34" charset="-120"/>
              </a:rPr>
              <a:t>What it can do</a:t>
            </a:r>
            <a:endParaRPr lang="en-US" sz="1350" dirty="0"/>
          </a:p>
        </p:txBody>
      </p:sp>
      <p:sp>
        <p:nvSpPr>
          <p:cNvPr id="10" name="Text 8"/>
          <p:cNvSpPr txBox="1"/>
          <p:nvPr/>
        </p:nvSpPr>
        <p:spPr>
          <a:xfrm>
            <a:off x="465429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click   fill   press   select</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goto   back   scroll   wait   finish</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nine actions, each checked against the target's guardrails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CAPTCHA escalates to a person when visible, fails cleanly when headless</a:t>
            </a:r>
            <a:endParaRPr lang="en-US" sz="1100" dirty="0"/>
          </a:p>
        </p:txBody>
      </p:sp>
      <p:sp>
        <p:nvSpPr>
          <p:cNvPr id="11" name="Shape 9"/>
          <p:cNvSpPr/>
          <p:nvPr/>
        </p:nvSpPr>
        <p:spPr>
          <a:xfrm>
            <a:off x="794613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12" name="Text 10"/>
          <p:cNvSpPr txBox="1"/>
          <p:nvPr/>
        </p:nvSpPr>
        <p:spPr>
          <a:xfrm>
            <a:off x="8183880" y="2267712"/>
            <a:ext cx="2926080" cy="292608"/>
          </a:xfrm>
          <a:prstGeom prst="rect">
            <a:avLst/>
          </a:prstGeom>
          <a:noFill/>
          <a:ln/>
        </p:spPr>
        <p:txBody>
          <a:bodyPr wrap="square" lIns="0" tIns="0" rIns="0" bIns="0" rtlCol="0" anchor="ctr"/>
          <a:lstStyle/>
          <a:p>
            <a:pPr marL="0" indent="0">
              <a:buNone/>
            </a:pPr>
            <a:r>
              <a:rPr lang="en-US" sz="1350" b="1" dirty="0">
                <a:solidFill>
                  <a:srgbClr val="A9502C"/>
                </a:solidFill>
                <a:latin typeface="IBM Plex Sans" pitchFamily="34" charset="0"/>
                <a:ea typeface="IBM Plex Sans" pitchFamily="34" charset="-122"/>
                <a:cs typeface="IBM Plex Sans" pitchFamily="34" charset="-120"/>
              </a:rPr>
              <a:t>How it knows something broke</a:t>
            </a:r>
            <a:endParaRPr lang="en-US" sz="1350" dirty="0"/>
          </a:p>
        </p:txBody>
      </p:sp>
      <p:sp>
        <p:nvSpPr>
          <p:cNvPr id="13" name="Text 11"/>
          <p:cNvSpPr txBox="1"/>
          <p:nvPr/>
        </p:nvSpPr>
        <p:spPr>
          <a:xfrm>
            <a:off x="822045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console errors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uncaught page errors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HTTP 4xx and 5xx responses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dialogs the page never showed</a:t>
            </a:r>
            <a:endParaRPr lang="en-US" sz="1100" dirty="0"/>
          </a:p>
        </p:txBody>
      </p:sp>
      <p:sp>
        <p:nvSpPr>
          <p:cNvPr id="14" name="Shape 12"/>
          <p:cNvSpPr/>
          <p:nvPr/>
        </p:nvSpPr>
        <p:spPr>
          <a:xfrm>
            <a:off x="813816" y="5440680"/>
            <a:ext cx="10570464" cy="731520"/>
          </a:xfrm>
          <a:prstGeom prst="rect">
            <a:avLst/>
          </a:prstGeom>
          <a:solidFill>
            <a:srgbClr val="14303D"/>
          </a:solidFill>
          <a:ln w="12700">
            <a:solidFill>
              <a:srgbClr val="14303D"/>
            </a:solidFill>
            <a:prstDash val="solid"/>
          </a:ln>
        </p:spPr>
        <p:txBody>
          <a:bodyPr/>
          <a:lstStyle/>
          <a:p>
            <a:endParaRPr lang="en-US"/>
          </a:p>
        </p:txBody>
      </p:sp>
      <p:sp>
        <p:nvSpPr>
          <p:cNvPr id="15" name="Text 13"/>
          <p:cNvSpPr txBox="1"/>
          <p:nvPr/>
        </p:nvSpPr>
        <p:spPr>
          <a:xfrm>
            <a:off x="1069848" y="5440680"/>
            <a:ext cx="10058400" cy="731520"/>
          </a:xfrm>
          <a:prstGeom prst="rect">
            <a:avLst/>
          </a:prstGeom>
          <a:noFill/>
          <a:ln/>
        </p:spPr>
        <p:txBody>
          <a:bodyPr wrap="square" lIns="0" tIns="0" rIns="0" bIns="0" rtlCol="0" anchor="ctr"/>
          <a:lstStyle/>
          <a:p>
            <a:pPr marL="0" indent="0">
              <a:buNone/>
            </a:pPr>
            <a:r>
              <a:rPr lang="en-US" sz="1250" dirty="0">
                <a:solidFill>
                  <a:srgbClr val="FDFEFE"/>
                </a:solidFill>
                <a:latin typeface="IBM Plex Sans" pitchFamily="34" charset="0"/>
                <a:ea typeface="IBM Plex Sans" pitchFamily="34" charset="-122"/>
                <a:cs typeface="IBM Plex Sans" pitchFamily="34" charset="-120"/>
              </a:rPr>
              <a:t>Those signals are collected independently of anything the agent claims, so a 5xx can override a claimed pass. On the live site this caught a real HTTP 500.</a:t>
            </a:r>
            <a:endParaRPr lang="en-US" sz="1250" dirty="0"/>
          </a:p>
        </p:txBody>
      </p:sp>
      <p:sp>
        <p:nvSpPr>
          <p:cNvPr id="16" name="Text 14"/>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txBox="1"/>
          <p:nvPr/>
        </p:nvSpPr>
        <p:spPr>
          <a:xfrm>
            <a:off x="11247120" y="6236208"/>
            <a:ext cx="182880"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pic>
        <p:nvPicPr>
          <p:cNvPr id="18" name="Picture 17" descr="chrome.png"/>
          <p:cNvPicPr>
            <a:picLocks noChangeAspect="1"/>
          </p:cNvPicPr>
          <p:nvPr/>
        </p:nvPicPr>
        <p:blipFill>
          <a:blip r:embed="rId2"/>
          <a:stretch>
            <a:fillRect/>
          </a:stretch>
        </p:blipFill>
        <p:spPr>
          <a:xfrm>
            <a:off x="10716768" y="731520"/>
            <a:ext cx="804672" cy="8046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WEB EXECUTOR · A REAL RUN</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Testing Bangla text on a live survey platform</a:t>
            </a:r>
            <a:endParaRPr lang="en-US" sz="3000" dirty="0"/>
          </a:p>
        </p:txBody>
      </p:sp>
      <p:sp>
        <p:nvSpPr>
          <p:cNvPr id="4" name="Text 2"/>
          <p:cNvSpPr txBox="1"/>
          <p:nvPr/>
        </p:nvSpPr>
        <p:spPr>
          <a:xfrm>
            <a:off x="813816" y="1645920"/>
            <a:ext cx="1088136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TC-001 on DataGhurhi. The same thought, action, outcome loop, over the DOM.</a:t>
            </a:r>
            <a:endParaRPr lang="en-US" sz="1200" dirty="0"/>
          </a:p>
        </p:txBody>
      </p:sp>
      <p:sp>
        <p:nvSpPr>
          <p:cNvPr id="5" name="Shape 3"/>
          <p:cNvSpPr/>
          <p:nvPr/>
        </p:nvSpPr>
        <p:spPr>
          <a:xfrm>
            <a:off x="813816" y="2057400"/>
            <a:ext cx="7178040" cy="3566160"/>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67712"/>
            <a:ext cx="6675120" cy="3154680"/>
          </a:xfrm>
          <a:prstGeom prst="rect">
            <a:avLst/>
          </a:prstGeom>
          <a:noFill/>
          <a:ln/>
        </p:spPr>
        <p:txBody>
          <a:bodyPr wrap="square" lIns="0" tIns="0" rIns="0" bIns="0" rtlCol="0" anchor="ctr"/>
          <a:lstStyle/>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[1/80] dataghurhi.cse.buet.ac.bd</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think: find a survey with a text question to test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Bangla Unicode input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{"action":"click","ref":"e9"}</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clicked [e9] button "Test Project for Survey"</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[4/80]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{"action":"scroll","direction":"down"}</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scrolled down          page: 56 controls</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[5/80]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{"action":"select","ref":"e20","value":"Text"}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selected 'Text' in the question type dropdown</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[7/80]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{"action":"fill","ref":"e19","text":"আপনার নাম লিখুন"}</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filled "Enter your question here"</a:t>
            </a:r>
            <a:endParaRPr lang="en-US" sz="1000" dirty="0"/>
          </a:p>
        </p:txBody>
      </p:sp>
      <p:sp>
        <p:nvSpPr>
          <p:cNvPr id="7" name="Shape 5"/>
          <p:cNvSpPr/>
          <p:nvPr/>
        </p:nvSpPr>
        <p:spPr>
          <a:xfrm>
            <a:off x="8275320" y="2057400"/>
            <a:ext cx="3108960" cy="1143000"/>
          </a:xfrm>
          <a:prstGeom prst="rect">
            <a:avLst/>
          </a:prstGeom>
          <a:solidFill>
            <a:srgbClr val="FFFFFF"/>
          </a:solidFill>
          <a:ln w="12700">
            <a:solidFill>
              <a:srgbClr val="D5E0E5"/>
            </a:solidFill>
            <a:prstDash val="solid"/>
          </a:ln>
        </p:spPr>
        <p:txBody>
          <a:bodyPr/>
          <a:lstStyle/>
          <a:p>
            <a:endParaRPr lang="en-US"/>
          </a:p>
        </p:txBody>
      </p:sp>
      <p:sp>
        <p:nvSpPr>
          <p:cNvPr id="8" name="Text 6"/>
          <p:cNvSpPr txBox="1"/>
          <p:nvPr/>
        </p:nvSpPr>
        <p:spPr>
          <a:xfrm>
            <a:off x="8485632" y="2203704"/>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Controls by reference, not pixels</a:t>
            </a:r>
            <a:endParaRPr lang="en-US" sz="1250" dirty="0"/>
          </a:p>
        </p:txBody>
      </p:sp>
      <p:sp>
        <p:nvSpPr>
          <p:cNvPr id="9" name="Shape 7"/>
          <p:cNvSpPr/>
          <p:nvPr/>
        </p:nvSpPr>
        <p:spPr>
          <a:xfrm>
            <a:off x="8275320" y="3319272"/>
            <a:ext cx="3108960" cy="1143000"/>
          </a:xfrm>
          <a:prstGeom prst="rect">
            <a:avLst/>
          </a:prstGeom>
          <a:solidFill>
            <a:srgbClr val="FFFFFF"/>
          </a:solidFill>
          <a:ln w="12700">
            <a:solidFill>
              <a:srgbClr val="D5E0E5"/>
            </a:solidFill>
            <a:prstDash val="solid"/>
          </a:ln>
        </p:spPr>
        <p:txBody>
          <a:bodyPr/>
          <a:lstStyle/>
          <a:p>
            <a:endParaRPr lang="en-US"/>
          </a:p>
        </p:txBody>
      </p:sp>
      <p:sp>
        <p:nvSpPr>
          <p:cNvPr id="10" name="Text 8"/>
          <p:cNvSpPr txBox="1"/>
          <p:nvPr/>
        </p:nvSpPr>
        <p:spPr>
          <a:xfrm>
            <a:off x="8485632" y="3465576"/>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Non Latin text end to end</a:t>
            </a:r>
            <a:endParaRPr lang="en-US" sz="1250" dirty="0"/>
          </a:p>
        </p:txBody>
      </p:sp>
      <p:sp>
        <p:nvSpPr>
          <p:cNvPr id="11" name="Shape 9"/>
          <p:cNvSpPr/>
          <p:nvPr/>
        </p:nvSpPr>
        <p:spPr>
          <a:xfrm>
            <a:off x="8275320" y="4581144"/>
            <a:ext cx="3108960" cy="1143000"/>
          </a:xfrm>
          <a:prstGeom prst="rect">
            <a:avLst/>
          </a:prstGeom>
          <a:solidFill>
            <a:srgbClr val="FFFFFF"/>
          </a:solidFill>
          <a:ln w="12700">
            <a:solidFill>
              <a:srgbClr val="D5E0E5"/>
            </a:solidFill>
            <a:prstDash val="solid"/>
          </a:ln>
        </p:spPr>
        <p:txBody>
          <a:bodyPr/>
          <a:lstStyle/>
          <a:p>
            <a:endParaRPr lang="en-US"/>
          </a:p>
        </p:txBody>
      </p:sp>
      <p:sp>
        <p:nvSpPr>
          <p:cNvPr id="12" name="Text 10"/>
          <p:cNvSpPr txBox="1"/>
          <p:nvPr/>
        </p:nvSpPr>
        <p:spPr>
          <a:xfrm>
            <a:off x="8485632" y="4727448"/>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Bounded like the device runs</a:t>
            </a:r>
            <a:endParaRPr lang="en-US" sz="1250" dirty="0"/>
          </a:p>
        </p:txBody>
      </p:sp>
      <p:sp>
        <p:nvSpPr>
          <p:cNvPr id="13" name="Text 11"/>
          <p:cNvSpPr txBox="1"/>
          <p:nvPr/>
        </p:nvSpPr>
        <p:spPr>
          <a:xfrm>
            <a:off x="8485632" y="2624328"/>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Each observed control gets a stable reference the model addresses by name.</a:t>
            </a:r>
            <a:endParaRPr lang="en-US" sz="1050" dirty="0"/>
          </a:p>
        </p:txBody>
      </p:sp>
      <p:sp>
        <p:nvSpPr>
          <p:cNvPr id="14" name="Text 12"/>
          <p:cNvSpPr txBox="1"/>
          <p:nvPr/>
        </p:nvSpPr>
        <p:spPr>
          <a:xfrm>
            <a:off x="8485632" y="3886200"/>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Bangla is typed, stored and read back, then checked character for character.</a:t>
            </a:r>
            <a:endParaRPr lang="en-US" sz="1050" dirty="0"/>
          </a:p>
        </p:txBody>
      </p:sp>
      <p:sp>
        <p:nvSpPr>
          <p:cNvPr id="15" name="Text 13"/>
          <p:cNvSpPr txBox="1"/>
          <p:nvPr/>
        </p:nvSpPr>
        <p:spPr>
          <a:xfrm>
            <a:off x="8485632" y="5148072"/>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Up to 80 steps, with guards that end a run repeating a dead action or wandering.</a:t>
            </a:r>
            <a:endParaRPr lang="en-US" sz="1050" dirty="0"/>
          </a:p>
        </p:txBody>
      </p:sp>
      <p:sp>
        <p:nvSpPr>
          <p:cNvPr id="16" name="Shape 14"/>
          <p:cNvSpPr/>
          <p:nvPr/>
        </p:nvSpPr>
        <p:spPr>
          <a:xfrm>
            <a:off x="8275320" y="5843016"/>
            <a:ext cx="3108960" cy="329184"/>
          </a:xfrm>
          <a:prstGeom prst="rect">
            <a:avLst/>
          </a:prstGeom>
          <a:solidFill>
            <a:srgbClr val="FFFFFF"/>
          </a:solidFill>
          <a:ln w="12700">
            <a:solidFill>
              <a:srgbClr val="D5E0E5"/>
            </a:solidFill>
            <a:prstDash val="solid"/>
          </a:ln>
        </p:spPr>
        <p:txBody>
          <a:bodyPr/>
          <a:lstStyle/>
          <a:p>
            <a:endParaRPr lang="en-US"/>
          </a:p>
        </p:txBody>
      </p:sp>
      <p:sp>
        <p:nvSpPr>
          <p:cNvPr id="17" name="Text 15"/>
          <p:cNvSpPr txBox="1"/>
          <p:nvPr/>
        </p:nvSpPr>
        <p:spPr>
          <a:xfrm>
            <a:off x="8275320" y="5843016"/>
            <a:ext cx="3108960" cy="329184"/>
          </a:xfrm>
          <a:prstGeom prst="rect">
            <a:avLst/>
          </a:prstGeom>
          <a:noFill/>
          <a:ln/>
        </p:spPr>
        <p:txBody>
          <a:bodyPr wrap="square" lIns="0" tIns="0" rIns="0" bIns="0" rtlCol="0" anchor="ctr"/>
          <a:lstStyle/>
          <a:p>
            <a:pPr marL="0" indent="0" algn="ctr">
              <a:buNone/>
            </a:pPr>
            <a:r>
              <a:rPr lang="en-US" sz="1100" b="1" dirty="0">
                <a:solidFill>
                  <a:srgbClr val="0B6A8F"/>
                </a:solidFill>
                <a:latin typeface="IBM Plex Sans" pitchFamily="34" charset="0"/>
                <a:ea typeface="IBM Plex Sans" pitchFamily="34" charset="-122"/>
                <a:cs typeface="IBM Plex Sans" pitchFamily="34" charset="-120"/>
              </a:rPr>
              <a:t>5 targets · 2 platforms · 1 planner</a:t>
            </a:r>
            <a:endParaRPr lang="en-US" sz="1100" dirty="0"/>
          </a:p>
        </p:txBody>
      </p:sp>
      <p:sp>
        <p:nvSpPr>
          <p:cNvPr id="18" name="Text 16"/>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7"/>
          <p:cNvSpPr txBox="1"/>
          <p:nvPr/>
        </p:nvSpPr>
        <p:spPr>
          <a:xfrm>
            <a:off x="11247120" y="6236208"/>
            <a:ext cx="182880"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1614</Words>
  <Application>Microsoft Office PowerPoint</Application>
  <PresentationFormat>Widescreen</PresentationFormat>
  <Paragraphs>147</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Courier New</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Jonayed Mohiuddin</cp:lastModifiedBy>
  <cp:revision>4</cp:revision>
  <dcterms:created xsi:type="dcterms:W3CDTF">2026-09-29T19:53:35Z</dcterms:created>
  <dcterms:modified xsi:type="dcterms:W3CDTF">2026-09-29T23:07:49Z</dcterms:modified>
</cp:coreProperties>
</file>