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75" r:id="rId21"/>
    <p:sldId id="276" r:id="rId22"/>
    <p:sldId id="277" r:id="rId23"/>
    <p:sldId id="278" r:id="rId24"/>
    <p:sldId id="279" r:id="rId25"/>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The executor, which we also call the player, is the one component we did not build, so we chose it carefully. We surveyed the mobile GUI-agent benchmarks and then tried several executors hands-on, among them MUI, GeLab and MobileAgent-V3, before selecting mobilerun, also known as Droidrun. [Add one line per alternative on why it was not chosen.] What decided it was what our design needs: it works from a goal in plain language rather than a script, drives a real device through the accessibility tree and screenshots, lets us plug in our own model provider, saves a step-by-step trajectory for the investigator, and streams every screen it sees, which is how we build the map of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The executor receives a goal, not a script: the planner's objective and screen hint, plus login and input details. It then loops: observe the screen through the accessibility tree and a screenshot, let the model decide the next action, and act, tapping, typing or swiping over adb. Up to 50 steps, about 20 seconds each. It returns a trajectory: every step's reasoning, action and result. The loop is mobilerun, but the harness around it is ours: building the goal from the test case, the on-device portal that makes typing reliable, resetting the app between tests and keeping the agent inside it, keeping login secrets out of the planner's prompt, streaming every screen into the live map, and surviving network loss mid-campaign.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Every screen the executor passes through is matched against the screens already seen, and this is how the agent builds its own map of an app with no documentation. The checks run cheapest first: an exact signature; then structural similarity, which tolerates counters and timestamps; then containment, for a screen captured before it finished drawing; and finally a perceptual hash of the screenshot, for screens whose accessibility tree says almost nothing. A match counts a visit; a miss creates a new screen and records how we got there. On the contacts app that is 79 distinct screens from over two thousand observations, and 797 transitions. The planner uses this map to ground its screen hints and find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skip if short on time. The full screen-identity cascade, left to right. Each check exists because the previous one failed on a real case, and the grey notes say which. Structural similarity handles counters and timestamps. Containment handles a screen captured before it finished drawing, which similarity scores as different. Skeleton containment handles form fields, where typing changes the labels: one wizard once produced nine separate states. And the perceptual hash is the last resort for screens built with Compose, games or web views, whose accessibility tree says almost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seconds. This is the result of the screen matching on the previous slide, as it appears on our dashboard. Every circle is one distinct screen of the contacts app, 79 in all, joined by 797 recorded transitions. Nothing here came from documentation; it is only what the agent reached. Every execution stores the ordered list of screens it passed through, so we can pick any run and see exactly where it went: in orange, the path of TC-088, which imported a vCard of duplicates and then searched: from the contact list through Organize, the import screen and the close sheet, and back. Clicking a screen shows the screenshot we stored for it, here Contact List number 12, visited 19 times, with 14 controls. The same map is what the planner draws on when it looks up a screen or a route to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0B6A8F"/>
                </a:solidFill>
                <a:latin typeface="IBM Plex Sans" pitchFamily="34" charset="0"/>
                <a:ea typeface="IBM Plex Sans" pitchFamily="34" charset="-122"/>
                <a:cs typeface="IBM Plex Sans" pitchFamily="34" charset="-120"/>
              </a:rPr>
              <a:t>EXECUTOR · THE PLAYER</a:t>
            </a:r>
            <a:endParaRPr lang="en-US" sz="1200" dirty="0"/>
          </a:p>
        </p:txBody>
      </p:sp>
      <p:sp>
        <p:nvSpPr>
          <p:cNvPr id="3" name="Text 1"/>
          <p:cNvSpPr/>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303D"/>
                </a:solidFill>
                <a:latin typeface="Source Serif 4" pitchFamily="34" charset="0"/>
                <a:ea typeface="Source Serif 4" pitchFamily="34" charset="-122"/>
                <a:cs typeface="Source Serif 4" pitchFamily="34" charset="-120"/>
              </a:rPr>
              <a:t>We chose the executor by trying several</a:t>
            </a:r>
            <a:endParaRPr lang="en-US" sz="3000" dirty="0"/>
          </a:p>
        </p:txBody>
      </p:sp>
      <p:sp>
        <p:nvSpPr>
          <p:cNvPr id="4" name="Shape 2"/>
          <p:cNvSpPr/>
          <p:nvPr/>
        </p:nvSpPr>
        <p:spPr>
          <a:xfrm>
            <a:off x="815975" y="1778595"/>
            <a:ext cx="4438650" cy="2471291"/>
          </a:xfrm>
          <a:prstGeom prst="roundRect">
            <a:avLst>
              <a:gd name="adj" fmla="val 3983"/>
            </a:avLst>
          </a:prstGeom>
          <a:solidFill>
            <a:srgbClr val="FDFEFE"/>
          </a:solidFill>
          <a:ln w="6350">
            <a:solidFill>
              <a:srgbClr val="D6E1E6"/>
            </a:solidFill>
            <a:prstDash val="solid"/>
          </a:ln>
        </p:spPr>
      </p:sp>
      <p:sp>
        <p:nvSpPr>
          <p:cNvPr id="5" name="Text 3"/>
          <p:cNvSpPr/>
          <p:nvPr/>
        </p:nvSpPr>
        <p:spPr>
          <a:xfrm>
            <a:off x="1022350" y="1984970"/>
            <a:ext cx="4146677"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4303D"/>
                </a:solidFill>
                <a:latin typeface="IBM Plex Sans" pitchFamily="34" charset="0"/>
                <a:ea typeface="IBM Plex Sans" pitchFamily="34" charset="-122"/>
                <a:cs typeface="IBM Plex Sans" pitchFamily="34" charset="-120"/>
              </a:rPr>
              <a:t>Surveyed benchmarks, then tried hands-on</a:t>
            </a:r>
            <a:endParaRPr lang="en-US" sz="1400" dirty="0"/>
          </a:p>
        </p:txBody>
      </p:sp>
      <p:sp>
        <p:nvSpPr>
          <p:cNvPr id="6" name="Shape 4"/>
          <p:cNvSpPr/>
          <p:nvPr/>
        </p:nvSpPr>
        <p:spPr>
          <a:xfrm>
            <a:off x="1022350" y="2747566"/>
            <a:ext cx="4025900" cy="0"/>
          </a:xfrm>
          <a:prstGeom prst="line">
            <a:avLst/>
          </a:prstGeom>
          <a:noFill/>
          <a:ln w="6350">
            <a:solidFill>
              <a:srgbClr val="D6E1E6"/>
            </a:solidFill>
            <a:prstDash val="solid"/>
          </a:ln>
        </p:spPr>
      </p:sp>
      <p:sp>
        <p:nvSpPr>
          <p:cNvPr id="7" name="Text 5"/>
          <p:cNvSpPr/>
          <p:nvPr/>
        </p:nvSpPr>
        <p:spPr>
          <a:xfrm>
            <a:off x="1022350" y="2406600"/>
            <a:ext cx="386854"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96A"/>
                </a:solidFill>
                <a:latin typeface="IBM Plex Sans" pitchFamily="34" charset="0"/>
                <a:ea typeface="IBM Plex Sans" pitchFamily="34" charset="-122"/>
                <a:cs typeface="IBM Plex Sans" pitchFamily="34" charset="-120"/>
              </a:rPr>
              <a:t>MUI</a:t>
            </a:r>
            <a:endParaRPr lang="en-US" sz="1400" dirty="0"/>
          </a:p>
        </p:txBody>
      </p:sp>
      <p:sp>
        <p:nvSpPr>
          <p:cNvPr id="8" name="Text 6"/>
          <p:cNvSpPr/>
          <p:nvPr/>
        </p:nvSpPr>
        <p:spPr>
          <a:xfrm>
            <a:off x="4376440" y="2424361"/>
            <a:ext cx="7226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5697A"/>
                </a:solidFill>
                <a:latin typeface="IBM Plex Sans" pitchFamily="34" charset="0"/>
                <a:ea typeface="IBM Plex Sans" pitchFamily="34" charset="-122"/>
                <a:cs typeface="IBM Plex Sans" pitchFamily="34" charset="-120"/>
              </a:rPr>
              <a:t>evaluated</a:t>
            </a:r>
            <a:endParaRPr lang="en-US" sz="1200" dirty="0"/>
          </a:p>
        </p:txBody>
      </p:sp>
      <p:sp>
        <p:nvSpPr>
          <p:cNvPr id="9" name="Shape 7"/>
          <p:cNvSpPr/>
          <p:nvPr/>
        </p:nvSpPr>
        <p:spPr>
          <a:xfrm>
            <a:off x="1022350" y="3180606"/>
            <a:ext cx="4025900" cy="0"/>
          </a:xfrm>
          <a:prstGeom prst="line">
            <a:avLst/>
          </a:prstGeom>
          <a:noFill/>
          <a:ln w="6350">
            <a:solidFill>
              <a:srgbClr val="D6E1E6"/>
            </a:solidFill>
            <a:prstDash val="solid"/>
          </a:ln>
        </p:spPr>
      </p:sp>
      <p:sp>
        <p:nvSpPr>
          <p:cNvPr id="10" name="Text 8"/>
          <p:cNvSpPr/>
          <p:nvPr/>
        </p:nvSpPr>
        <p:spPr>
          <a:xfrm>
            <a:off x="1022350" y="2839641"/>
            <a:ext cx="558998"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96A"/>
                </a:solidFill>
                <a:latin typeface="IBM Plex Sans" pitchFamily="34" charset="0"/>
                <a:ea typeface="IBM Plex Sans" pitchFamily="34" charset="-122"/>
                <a:cs typeface="IBM Plex Sans" pitchFamily="34" charset="-120"/>
              </a:rPr>
              <a:t>GeLab</a:t>
            </a:r>
            <a:endParaRPr lang="en-US" sz="1400" dirty="0"/>
          </a:p>
        </p:txBody>
      </p:sp>
      <p:sp>
        <p:nvSpPr>
          <p:cNvPr id="11" name="Text 9"/>
          <p:cNvSpPr/>
          <p:nvPr/>
        </p:nvSpPr>
        <p:spPr>
          <a:xfrm>
            <a:off x="4376440" y="2857401"/>
            <a:ext cx="7226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5697A"/>
                </a:solidFill>
                <a:latin typeface="IBM Plex Sans" pitchFamily="34" charset="0"/>
                <a:ea typeface="IBM Plex Sans" pitchFamily="34" charset="-122"/>
                <a:cs typeface="IBM Plex Sans" pitchFamily="34" charset="-120"/>
              </a:rPr>
              <a:t>evaluated</a:t>
            </a:r>
            <a:endParaRPr lang="en-US" sz="1200" dirty="0"/>
          </a:p>
        </p:txBody>
      </p:sp>
      <p:sp>
        <p:nvSpPr>
          <p:cNvPr id="12" name="Shape 10"/>
          <p:cNvSpPr/>
          <p:nvPr/>
        </p:nvSpPr>
        <p:spPr>
          <a:xfrm>
            <a:off x="1022350" y="3613646"/>
            <a:ext cx="4025900" cy="0"/>
          </a:xfrm>
          <a:prstGeom prst="line">
            <a:avLst/>
          </a:prstGeom>
          <a:noFill/>
          <a:ln w="6350">
            <a:solidFill>
              <a:srgbClr val="D6E1E6"/>
            </a:solidFill>
            <a:prstDash val="solid"/>
          </a:ln>
        </p:spPr>
      </p:sp>
      <p:sp>
        <p:nvSpPr>
          <p:cNvPr id="13" name="Text 11"/>
          <p:cNvSpPr/>
          <p:nvPr/>
        </p:nvSpPr>
        <p:spPr>
          <a:xfrm>
            <a:off x="1022350" y="3272681"/>
            <a:ext cx="1333996"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96A"/>
                </a:solidFill>
                <a:latin typeface="IBM Plex Sans" pitchFamily="34" charset="0"/>
                <a:ea typeface="IBM Plex Sans" pitchFamily="34" charset="-122"/>
                <a:cs typeface="IBM Plex Sans" pitchFamily="34" charset="-120"/>
              </a:rPr>
              <a:t>MobileAgent-V3</a:t>
            </a:r>
            <a:endParaRPr lang="en-US" sz="1400" dirty="0"/>
          </a:p>
        </p:txBody>
      </p:sp>
      <p:sp>
        <p:nvSpPr>
          <p:cNvPr id="14" name="Text 12"/>
          <p:cNvSpPr/>
          <p:nvPr/>
        </p:nvSpPr>
        <p:spPr>
          <a:xfrm>
            <a:off x="4376440" y="3290441"/>
            <a:ext cx="7226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5697A"/>
                </a:solidFill>
                <a:latin typeface="IBM Plex Sans" pitchFamily="34" charset="0"/>
                <a:ea typeface="IBM Plex Sans" pitchFamily="34" charset="-122"/>
                <a:cs typeface="IBM Plex Sans" pitchFamily="34" charset="-120"/>
              </a:rPr>
              <a:t>evaluated</a:t>
            </a:r>
            <a:endParaRPr lang="en-US" sz="1200" dirty="0"/>
          </a:p>
        </p:txBody>
      </p:sp>
      <p:sp>
        <p:nvSpPr>
          <p:cNvPr id="15" name="Text 13"/>
          <p:cNvSpPr/>
          <p:nvPr/>
        </p:nvSpPr>
        <p:spPr>
          <a:xfrm>
            <a:off x="1022350" y="3705721"/>
            <a:ext cx="1783819"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303D"/>
                </a:solidFill>
                <a:latin typeface="IBM Plex Sans" pitchFamily="34" charset="0"/>
                <a:ea typeface="IBM Plex Sans" pitchFamily="34" charset="-122"/>
                <a:cs typeface="IBM Plex Sans" pitchFamily="34" charset="-120"/>
              </a:rPr>
              <a:t>mobilerun (Droidrun)</a:t>
            </a:r>
            <a:endParaRPr lang="en-US" sz="1400" dirty="0"/>
          </a:p>
        </p:txBody>
      </p:sp>
      <p:pic>
        <p:nvPicPr>
          <p:cNvPr id="16" name="Image 0" descr="CheckCircle">    </p:cNvPr>
          <p:cNvPicPr>
            <a:picLocks noChangeAspect="1"/>
          </p:cNvPicPr>
          <p:nvPr/>
        </p:nvPicPr>
        <p:blipFill>
          <a:blip r:embed="rId1"/>
          <a:srcRect l="0" r="0" t="0" b="0"/>
          <a:stretch/>
        </p:blipFill>
        <p:spPr>
          <a:xfrm>
            <a:off x="4192339" y="3728541"/>
            <a:ext cx="203200" cy="203200"/>
          </a:xfrm>
          <a:prstGeom prst="rect">
            <a:avLst/>
          </a:prstGeom>
        </p:spPr>
      </p:pic>
      <p:sp>
        <p:nvSpPr>
          <p:cNvPr id="17" name="Text 14"/>
          <p:cNvSpPr/>
          <p:nvPr/>
        </p:nvSpPr>
        <p:spPr>
          <a:xfrm>
            <a:off x="4446339" y="3723481"/>
            <a:ext cx="652711"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B6A8F"/>
                </a:solidFill>
                <a:latin typeface="IBM Plex Sans" pitchFamily="34" charset="0"/>
                <a:ea typeface="IBM Plex Sans" pitchFamily="34" charset="-122"/>
                <a:cs typeface="IBM Plex Sans" pitchFamily="34" charset="-120"/>
              </a:rPr>
              <a:t>selected</a:t>
            </a:r>
            <a:endParaRPr lang="en-US" sz="1200" dirty="0"/>
          </a:p>
        </p:txBody>
      </p:sp>
      <p:sp>
        <p:nvSpPr>
          <p:cNvPr id="18" name="Shape 15"/>
          <p:cNvSpPr/>
          <p:nvPr/>
        </p:nvSpPr>
        <p:spPr>
          <a:xfrm>
            <a:off x="5464175" y="1778595"/>
            <a:ext cx="5911850" cy="2471291"/>
          </a:xfrm>
          <a:prstGeom prst="roundRect">
            <a:avLst>
              <a:gd name="adj" fmla="val 3983"/>
            </a:avLst>
          </a:prstGeom>
          <a:solidFill>
            <a:srgbClr val="FDFEFE"/>
          </a:solidFill>
          <a:ln w="6350">
            <a:solidFill>
              <a:srgbClr val="D6E1E6"/>
            </a:solidFill>
            <a:prstDash val="solid"/>
          </a:ln>
        </p:spPr>
      </p:sp>
      <p:sp>
        <p:nvSpPr>
          <p:cNvPr id="19" name="Text 16"/>
          <p:cNvSpPr/>
          <p:nvPr/>
        </p:nvSpPr>
        <p:spPr>
          <a:xfrm>
            <a:off x="5670550" y="1984970"/>
            <a:ext cx="5664073"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4303D"/>
                </a:solidFill>
                <a:latin typeface="IBM Plex Sans" pitchFamily="34" charset="0"/>
                <a:ea typeface="IBM Plex Sans" pitchFamily="34" charset="-122"/>
                <a:cs typeface="IBM Plex Sans" pitchFamily="34" charset="-120"/>
              </a:rPr>
              <a:t>What we needed from it</a:t>
            </a:r>
            <a:endParaRPr lang="en-US" sz="1400" dirty="0"/>
          </a:p>
        </p:txBody>
      </p:sp>
      <p:sp>
        <p:nvSpPr>
          <p:cNvPr id="20" name="Text 17"/>
          <p:cNvSpPr/>
          <p:nvPr/>
        </p:nvSpPr>
        <p:spPr>
          <a:xfrm>
            <a:off x="5670550" y="2317700"/>
            <a:ext cx="5664073" cy="1130201"/>
          </a:xfrm>
          <a:prstGeom prst="rect">
            <a:avLst/>
          </a:prstGeom>
          <a:noFill/>
          <a:ln/>
        </p:spPr>
        <p:txBody>
          <a:bodyPr wrap="square" lIns="0" tIns="0" rIns="0" bIns="0" rtlCol="0" anchor="t">
            <a:normAutofit/>
          </a:bodyPr>
          <a:lstStyle/>
          <a:p>
            <a:pPr algn="l" marL="182880" indent="-155194">
              <a:lnSpc>
                <a:spcPts val="1740"/>
              </a:lnSpc>
              <a:buSzPct val="100000"/>
              <a:buChar char="•"/>
            </a:pPr>
            <a:r>
              <a:rPr lang="en-US" sz="1200" dirty="0">
                <a:solidFill>
                  <a:srgbClr val="46596A"/>
                </a:solidFill>
                <a:latin typeface="IBM Plex Sans" pitchFamily="34" charset="0"/>
                <a:ea typeface="IBM Plex Sans" pitchFamily="34" charset="-122"/>
                <a:cs typeface="IBM Plex Sans" pitchFamily="34" charset="-120"/>
              </a:rPr>
              <a:t>Runs from a goal in plain language, not a script</a:t>
            </a:r>
            <a:endParaRPr lang="en-US" sz="1200" dirty="0"/>
          </a:p>
          <a:p>
            <a:pPr algn="l" marL="182880" indent="-155194">
              <a:lnSpc>
                <a:spcPts val="1740"/>
              </a:lnSpc>
              <a:buSzPct val="100000"/>
              <a:buChar char="•"/>
            </a:pPr>
            <a:r>
              <a:rPr lang="en-US" sz="1200" dirty="0">
                <a:solidFill>
                  <a:srgbClr val="46596A"/>
                </a:solidFill>
                <a:latin typeface="IBM Plex Sans" pitchFamily="34" charset="0"/>
                <a:ea typeface="IBM Plex Sans" pitchFamily="34" charset="-122"/>
                <a:cs typeface="IBM Plex Sans" pitchFamily="34" charset="-120"/>
              </a:rPr>
              <a:t>Drives a real Android device through its accessibility tree and screenshots</a:t>
            </a:r>
            <a:endParaRPr lang="en-US" sz="1200" dirty="0"/>
          </a:p>
          <a:p>
            <a:pPr algn="l" marL="182880" indent="-155194">
              <a:lnSpc>
                <a:spcPts val="1740"/>
              </a:lnSpc>
              <a:buSzPct val="100000"/>
              <a:buChar char="•"/>
            </a:pPr>
            <a:r>
              <a:rPr lang="en-US" sz="1200" dirty="0">
                <a:solidFill>
                  <a:srgbClr val="46596A"/>
                </a:solidFill>
                <a:latin typeface="IBM Plex Sans" pitchFamily="34" charset="0"/>
                <a:ea typeface="IBM Plex Sans" pitchFamily="34" charset="-122"/>
                <a:cs typeface="IBM Plex Sans" pitchFamily="34" charset="-120"/>
              </a:rPr>
              <a:t>Accepts our own model provider (OpenRouter)</a:t>
            </a:r>
            <a:endParaRPr lang="en-US" sz="1200" dirty="0"/>
          </a:p>
          <a:p>
            <a:pPr algn="l" marL="182880" indent="-155194">
              <a:lnSpc>
                <a:spcPts val="1740"/>
              </a:lnSpc>
              <a:buSzPct val="100000"/>
              <a:buChar char="•"/>
            </a:pPr>
            <a:r>
              <a:rPr lang="en-US" sz="1200" dirty="0">
                <a:solidFill>
                  <a:srgbClr val="46596A"/>
                </a:solidFill>
                <a:latin typeface="IBM Plex Sans" pitchFamily="34" charset="0"/>
                <a:ea typeface="IBM Plex Sans" pitchFamily="34" charset="-122"/>
                <a:cs typeface="IBM Plex Sans" pitchFamily="34" charset="-120"/>
              </a:rPr>
              <a:t>Saves a step-by-step trajectory we can analyse</a:t>
            </a:r>
            <a:endParaRPr lang="en-US" sz="1200" dirty="0"/>
          </a:p>
          <a:p>
            <a:pPr algn="l" marL="182880" indent="-155194">
              <a:lnSpc>
                <a:spcPts val="1740"/>
              </a:lnSpc>
              <a:buSzPct val="100000"/>
              <a:buChar char="•"/>
            </a:pPr>
            <a:r>
              <a:rPr lang="en-US" sz="1200" dirty="0">
                <a:solidFill>
                  <a:srgbClr val="46596A"/>
                </a:solidFill>
                <a:latin typeface="IBM Plex Sans" pitchFamily="34" charset="0"/>
                <a:ea typeface="IBM Plex Sans" pitchFamily="34" charset="-122"/>
                <a:cs typeface="IBM Plex Sans" pitchFamily="34" charset="-120"/>
              </a:rPr>
              <a:t>Streams every screen it sees, so we can map the app</a:t>
            </a:r>
            <a:endParaRPr lang="en-US" sz="1200" dirty="0"/>
          </a:p>
        </p:txBody>
      </p:sp>
      <p:sp>
        <p:nvSpPr>
          <p:cNvPr id="21" name="Text 18"/>
          <p:cNvSpPr/>
          <p:nvPr/>
        </p:nvSpPr>
        <p:spPr>
          <a:xfrm>
            <a:off x="812800" y="4430861"/>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5697A"/>
                </a:solidFill>
                <a:latin typeface="IBM Plex Sans" pitchFamily="34" charset="0"/>
                <a:ea typeface="IBM Plex Sans" pitchFamily="34" charset="-122"/>
                <a:cs typeface="IBM Plex Sans" pitchFamily="34" charset="-120"/>
              </a:rPr>
              <a:t>mobilerun is open source and third-party. Everything around it, on the next slides, is ours.</a:t>
            </a:r>
            <a:endParaRPr lang="en-US" sz="1200" dirty="0"/>
          </a:p>
        </p:txBody>
      </p:sp>
      <p:sp>
        <p:nvSpPr>
          <p:cNvPr id="22" name="Text 19"/>
          <p:cNvSpPr/>
          <p:nvPr/>
        </p:nvSpPr>
        <p:spPr>
          <a:xfrm>
            <a:off x="812800" y="6238280"/>
            <a:ext cx="34599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5697A"/>
                </a:solidFill>
                <a:latin typeface="IBM Plex Sans" pitchFamily="34" charset="0"/>
                <a:ea typeface="IBM Plex Sans" pitchFamily="34" charset="-122"/>
                <a:cs typeface="IBM Plex Sans" pitchFamily="34" charset="-120"/>
              </a:rPr>
              <a:t>Exploratory Testing Automation · CSE 450 · BUET</a:t>
            </a:r>
            <a:endParaRPr lang="en-US" sz="1200" dirty="0"/>
          </a:p>
        </p:txBody>
      </p:sp>
      <p:sp>
        <p:nvSpPr>
          <p:cNvPr id="23" name="Text 20"/>
          <p:cNvSpPr/>
          <p:nvPr/>
        </p:nvSpPr>
        <p:spPr>
          <a:xfrm>
            <a:off x="11196290" y="6238280"/>
            <a:ext cx="2337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5697A"/>
                </a:solidFill>
                <a:latin typeface="IBM Plex Sans" pitchFamily="34" charset="0"/>
                <a:ea typeface="IBM Plex Sans" pitchFamily="34" charset="-122"/>
                <a:cs typeface="IBM Plex Sans"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0B6A8F"/>
                </a:solidFill>
                <a:latin typeface="IBM Plex Sans" pitchFamily="34" charset="0"/>
                <a:ea typeface="IBM Plex Sans" pitchFamily="34" charset="-122"/>
                <a:cs typeface="IBM Plex Sans" pitchFamily="34" charset="-120"/>
              </a:rPr>
              <a:t>EXECUTOR · ONE RUN</a:t>
            </a:r>
            <a:endParaRPr lang="en-US" sz="1200" dirty="0"/>
          </a:p>
        </p:txBody>
      </p:sp>
      <p:sp>
        <p:nvSpPr>
          <p:cNvPr id="3" name="Text 1"/>
          <p:cNvSpPr/>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303D"/>
                </a:solidFill>
                <a:latin typeface="Source Serif 4" pitchFamily="34" charset="0"/>
                <a:ea typeface="Source Serif 4" pitchFamily="34" charset="-122"/>
                <a:cs typeface="Source Serif 4" pitchFamily="34" charset="-120"/>
              </a:rPr>
              <a:t>How a test is executed on the device</a:t>
            </a:r>
            <a:endParaRPr lang="en-US" sz="3000" dirty="0"/>
          </a:p>
        </p:txBody>
      </p:sp>
      <p:sp>
        <p:nvSpPr>
          <p:cNvPr id="4" name="Shape 2"/>
          <p:cNvSpPr/>
          <p:nvPr/>
        </p:nvSpPr>
        <p:spPr>
          <a:xfrm>
            <a:off x="815975" y="1908175"/>
            <a:ext cx="2025650" cy="1708150"/>
          </a:xfrm>
          <a:prstGeom prst="roundRect">
            <a:avLst>
              <a:gd name="adj" fmla="val 5762"/>
            </a:avLst>
          </a:prstGeom>
          <a:solidFill>
            <a:srgbClr val="FDFEFE"/>
          </a:solidFill>
          <a:ln w="6350">
            <a:solidFill>
              <a:srgbClr val="D6E1E6"/>
            </a:solidFill>
            <a:prstDash val="solid"/>
          </a:ln>
        </p:spPr>
      </p:sp>
      <p:sp>
        <p:nvSpPr>
          <p:cNvPr id="5" name="Text 3"/>
          <p:cNvSpPr/>
          <p:nvPr/>
        </p:nvSpPr>
        <p:spPr>
          <a:xfrm>
            <a:off x="996950" y="2089150"/>
            <a:ext cx="1714500"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4303D"/>
                </a:solidFill>
                <a:latin typeface="IBM Plex Sans" pitchFamily="34" charset="0"/>
                <a:ea typeface="IBM Plex Sans" pitchFamily="34" charset="-122"/>
                <a:cs typeface="IBM Plex Sans" pitchFamily="34" charset="-120"/>
              </a:rPr>
              <a:t>Goal</a:t>
            </a:r>
            <a:endParaRPr lang="en-US" sz="1400" dirty="0"/>
          </a:p>
        </p:txBody>
      </p:sp>
      <p:sp>
        <p:nvSpPr>
          <p:cNvPr id="6" name="Text 4"/>
          <p:cNvSpPr/>
          <p:nvPr/>
        </p:nvSpPr>
        <p:spPr>
          <a:xfrm>
            <a:off x="996950" y="2371080"/>
            <a:ext cx="1714500"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96A"/>
                </a:solidFill>
                <a:latin typeface="IBM Plex Sans" pitchFamily="34" charset="0"/>
                <a:ea typeface="IBM Plex Sans" pitchFamily="34" charset="-122"/>
                <a:cs typeface="IBM Plex Sans" pitchFamily="34" charset="-120"/>
              </a:rPr>
              <a:t>objective, screen hint, and login and input details</a:t>
            </a:r>
            <a:endParaRPr lang="en-US" sz="1200" dirty="0"/>
          </a:p>
        </p:txBody>
      </p:sp>
      <p:sp>
        <p:nvSpPr>
          <p:cNvPr id="7" name="Shape 5"/>
          <p:cNvSpPr/>
          <p:nvPr/>
        </p:nvSpPr>
        <p:spPr>
          <a:xfrm>
            <a:off x="3308350" y="1911350"/>
            <a:ext cx="5575300" cy="1701800"/>
          </a:xfrm>
          <a:prstGeom prst="roundRect">
            <a:avLst>
              <a:gd name="adj" fmla="val 5597"/>
            </a:avLst>
          </a:prstGeom>
          <a:solidFill>
            <a:srgbClr val="EDF2F4"/>
          </a:solidFill>
          <a:ln w="12700">
            <a:solidFill>
              <a:srgbClr val="0F7EA8"/>
            </a:solidFill>
            <a:prstDash val="dash"/>
          </a:ln>
        </p:spPr>
      </p:sp>
      <p:sp>
        <p:nvSpPr>
          <p:cNvPr id="8" name="Shape 6"/>
          <p:cNvSpPr/>
          <p:nvPr/>
        </p:nvSpPr>
        <p:spPr>
          <a:xfrm>
            <a:off x="3429000" y="2032000"/>
            <a:ext cx="1524000" cy="937171"/>
          </a:xfrm>
          <a:prstGeom prst="roundRect">
            <a:avLst>
              <a:gd name="adj" fmla="val 6776"/>
            </a:avLst>
          </a:prstGeom>
          <a:solidFill>
            <a:srgbClr val="FDFEFE"/>
          </a:solidFill>
          <a:ln/>
        </p:spPr>
      </p:sp>
      <p:sp>
        <p:nvSpPr>
          <p:cNvPr id="9" name="Text 7"/>
          <p:cNvSpPr/>
          <p:nvPr/>
        </p:nvSpPr>
        <p:spPr>
          <a:xfrm>
            <a:off x="3556000" y="2159000"/>
            <a:ext cx="1320800"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4303D"/>
                </a:solidFill>
                <a:latin typeface="IBM Plex Sans" pitchFamily="34" charset="0"/>
                <a:ea typeface="IBM Plex Sans" pitchFamily="34" charset="-122"/>
                <a:cs typeface="IBM Plex Sans" pitchFamily="34" charset="-120"/>
              </a:rPr>
              <a:t>Observe</a:t>
            </a:r>
            <a:endParaRPr lang="en-US" sz="1400" dirty="0"/>
          </a:p>
        </p:txBody>
      </p:sp>
      <p:sp>
        <p:nvSpPr>
          <p:cNvPr id="10" name="Text 8"/>
          <p:cNvSpPr/>
          <p:nvPr/>
        </p:nvSpPr>
        <p:spPr>
          <a:xfrm>
            <a:off x="3556000" y="2415530"/>
            <a:ext cx="132080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96A"/>
                </a:solidFill>
                <a:latin typeface="IBM Plex Sans" pitchFamily="34" charset="0"/>
                <a:ea typeface="IBM Plex Sans" pitchFamily="34" charset="-122"/>
                <a:cs typeface="IBM Plex Sans" pitchFamily="34" charset="-120"/>
              </a:rPr>
              <a:t>accessibility tree and screenshot</a:t>
            </a:r>
            <a:endParaRPr lang="en-US" sz="1200" dirty="0"/>
          </a:p>
        </p:txBody>
      </p:sp>
      <p:pic>
        <p:nvPicPr>
          <p:cNvPr id="11" name="Image 0" descr="arrow-right">    </p:cNvPr>
          <p:cNvPicPr>
            <a:picLocks noChangeAspect="1"/>
          </p:cNvPicPr>
          <p:nvPr/>
        </p:nvPicPr>
        <p:blipFill>
          <a:blip r:embed="rId1"/>
          <a:srcRect l="0" r="0" t="0" b="0"/>
          <a:stretch/>
        </p:blipFill>
        <p:spPr>
          <a:xfrm>
            <a:off x="5029200" y="2424361"/>
            <a:ext cx="228600" cy="152400"/>
          </a:xfrm>
          <a:prstGeom prst="rect">
            <a:avLst/>
          </a:prstGeom>
        </p:spPr>
      </p:pic>
      <p:sp>
        <p:nvSpPr>
          <p:cNvPr id="12" name="Shape 9"/>
          <p:cNvSpPr/>
          <p:nvPr/>
        </p:nvSpPr>
        <p:spPr>
          <a:xfrm>
            <a:off x="5334000" y="2032000"/>
            <a:ext cx="1524000" cy="937171"/>
          </a:xfrm>
          <a:prstGeom prst="roundRect">
            <a:avLst>
              <a:gd name="adj" fmla="val 6776"/>
            </a:avLst>
          </a:prstGeom>
          <a:solidFill>
            <a:srgbClr val="FDFEFE"/>
          </a:solidFill>
          <a:ln/>
        </p:spPr>
      </p:sp>
      <p:sp>
        <p:nvSpPr>
          <p:cNvPr id="13" name="Text 10"/>
          <p:cNvSpPr/>
          <p:nvPr/>
        </p:nvSpPr>
        <p:spPr>
          <a:xfrm>
            <a:off x="5461000" y="2159000"/>
            <a:ext cx="1320800"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4303D"/>
                </a:solidFill>
                <a:latin typeface="IBM Plex Sans" pitchFamily="34" charset="0"/>
                <a:ea typeface="IBM Plex Sans" pitchFamily="34" charset="-122"/>
                <a:cs typeface="IBM Plex Sans" pitchFamily="34" charset="-120"/>
              </a:rPr>
              <a:t>Decide</a:t>
            </a:r>
            <a:endParaRPr lang="en-US" sz="1400" dirty="0"/>
          </a:p>
        </p:txBody>
      </p:sp>
      <p:sp>
        <p:nvSpPr>
          <p:cNvPr id="14" name="Text 11"/>
          <p:cNvSpPr/>
          <p:nvPr/>
        </p:nvSpPr>
        <p:spPr>
          <a:xfrm>
            <a:off x="5461000" y="2415530"/>
            <a:ext cx="132080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96A"/>
                </a:solidFill>
                <a:latin typeface="IBM Plex Sans" pitchFamily="34" charset="0"/>
                <a:ea typeface="IBM Plex Sans" pitchFamily="34" charset="-122"/>
                <a:cs typeface="IBM Plex Sans" pitchFamily="34" charset="-120"/>
              </a:rPr>
              <a:t>the model picks the next action</a:t>
            </a:r>
            <a:endParaRPr lang="en-US" sz="1200" dirty="0"/>
          </a:p>
        </p:txBody>
      </p:sp>
      <p:pic>
        <p:nvPicPr>
          <p:cNvPr id="15" name="Image 1" descr="arrow-right">    </p:cNvPr>
          <p:cNvPicPr>
            <a:picLocks noChangeAspect="1"/>
          </p:cNvPicPr>
          <p:nvPr/>
        </p:nvPicPr>
        <p:blipFill>
          <a:blip r:embed="rId2"/>
          <a:srcRect l="0" r="0" t="0" b="0"/>
          <a:stretch/>
        </p:blipFill>
        <p:spPr>
          <a:xfrm>
            <a:off x="6934200" y="2424361"/>
            <a:ext cx="228600" cy="152400"/>
          </a:xfrm>
          <a:prstGeom prst="rect">
            <a:avLst/>
          </a:prstGeom>
        </p:spPr>
      </p:pic>
      <p:sp>
        <p:nvSpPr>
          <p:cNvPr id="16" name="Shape 12"/>
          <p:cNvSpPr/>
          <p:nvPr/>
        </p:nvSpPr>
        <p:spPr>
          <a:xfrm>
            <a:off x="7239000" y="2032000"/>
            <a:ext cx="1524000" cy="937171"/>
          </a:xfrm>
          <a:prstGeom prst="roundRect">
            <a:avLst>
              <a:gd name="adj" fmla="val 6776"/>
            </a:avLst>
          </a:prstGeom>
          <a:solidFill>
            <a:srgbClr val="FDFEFE"/>
          </a:solidFill>
          <a:ln/>
        </p:spPr>
      </p:sp>
      <p:sp>
        <p:nvSpPr>
          <p:cNvPr id="17" name="Text 13"/>
          <p:cNvSpPr/>
          <p:nvPr/>
        </p:nvSpPr>
        <p:spPr>
          <a:xfrm>
            <a:off x="7366000" y="2159000"/>
            <a:ext cx="1320800"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4303D"/>
                </a:solidFill>
                <a:latin typeface="IBM Plex Sans" pitchFamily="34" charset="0"/>
                <a:ea typeface="IBM Plex Sans" pitchFamily="34" charset="-122"/>
                <a:cs typeface="IBM Plex Sans" pitchFamily="34" charset="-120"/>
              </a:rPr>
              <a:t>Act</a:t>
            </a:r>
            <a:endParaRPr lang="en-US" sz="1400" dirty="0"/>
          </a:p>
        </p:txBody>
      </p:sp>
      <p:sp>
        <p:nvSpPr>
          <p:cNvPr id="18" name="Text 14"/>
          <p:cNvSpPr/>
          <p:nvPr/>
        </p:nvSpPr>
        <p:spPr>
          <a:xfrm>
            <a:off x="7366000" y="2415530"/>
            <a:ext cx="132080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96A"/>
                </a:solidFill>
                <a:latin typeface="IBM Plex Sans" pitchFamily="34" charset="0"/>
                <a:ea typeface="IBM Plex Sans" pitchFamily="34" charset="-122"/>
                <a:cs typeface="IBM Plex Sans" pitchFamily="34" charset="-120"/>
              </a:rPr>
              <a:t>tap, type or swipe over adb</a:t>
            </a:r>
            <a:endParaRPr lang="en-US" sz="1200" dirty="0"/>
          </a:p>
        </p:txBody>
      </p:sp>
      <p:sp>
        <p:nvSpPr>
          <p:cNvPr id="19" name="Text 15"/>
          <p:cNvSpPr/>
          <p:nvPr/>
        </p:nvSpPr>
        <p:spPr>
          <a:xfrm>
            <a:off x="3429000" y="3032671"/>
            <a:ext cx="549402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B6A8F"/>
                </a:solidFill>
                <a:latin typeface="IBM Plex Sans" pitchFamily="34" charset="0"/>
                <a:ea typeface="IBM Plex Sans" pitchFamily="34" charset="-122"/>
                <a:cs typeface="IBM Plex Sans" pitchFamily="34" charset="-120"/>
              </a:rPr>
              <a:t>repeats up to 50 steps, about 20 seconds each</a:t>
            </a:r>
            <a:endParaRPr lang="en-US" sz="1200" dirty="0"/>
          </a:p>
        </p:txBody>
      </p:sp>
      <p:sp>
        <p:nvSpPr>
          <p:cNvPr id="20" name="Shape 16"/>
          <p:cNvSpPr/>
          <p:nvPr/>
        </p:nvSpPr>
        <p:spPr>
          <a:xfrm>
            <a:off x="9350375" y="1908175"/>
            <a:ext cx="2025650" cy="1708150"/>
          </a:xfrm>
          <a:prstGeom prst="roundRect">
            <a:avLst>
              <a:gd name="adj" fmla="val 5762"/>
            </a:avLst>
          </a:prstGeom>
          <a:solidFill>
            <a:srgbClr val="FDFEFE"/>
          </a:solidFill>
          <a:ln w="6350">
            <a:solidFill>
              <a:srgbClr val="D6E1E6"/>
            </a:solidFill>
            <a:prstDash val="solid"/>
          </a:ln>
        </p:spPr>
      </p:sp>
      <p:sp>
        <p:nvSpPr>
          <p:cNvPr id="21" name="Text 17"/>
          <p:cNvSpPr/>
          <p:nvPr/>
        </p:nvSpPr>
        <p:spPr>
          <a:xfrm>
            <a:off x="9531350" y="2089150"/>
            <a:ext cx="1714500"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4303D"/>
                </a:solidFill>
                <a:latin typeface="IBM Plex Sans" pitchFamily="34" charset="0"/>
                <a:ea typeface="IBM Plex Sans" pitchFamily="34" charset="-122"/>
                <a:cs typeface="IBM Plex Sans" pitchFamily="34" charset="-120"/>
              </a:rPr>
              <a:t>Trajectory</a:t>
            </a:r>
            <a:endParaRPr lang="en-US" sz="1400" dirty="0"/>
          </a:p>
        </p:txBody>
      </p:sp>
      <p:sp>
        <p:nvSpPr>
          <p:cNvPr id="22" name="Text 18"/>
          <p:cNvSpPr/>
          <p:nvPr/>
        </p:nvSpPr>
        <p:spPr>
          <a:xfrm>
            <a:off x="9531350" y="2371080"/>
            <a:ext cx="171450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96A"/>
                </a:solidFill>
                <a:latin typeface="IBM Plex Sans" pitchFamily="34" charset="0"/>
                <a:ea typeface="IBM Plex Sans" pitchFamily="34" charset="-122"/>
                <a:cs typeface="IBM Plex Sans" pitchFamily="34" charset="-120"/>
              </a:rPr>
              <a:t>each step's thought, action and outcome</a:t>
            </a:r>
            <a:endParaRPr lang="en-US" sz="1200" dirty="0"/>
          </a:p>
        </p:txBody>
      </p:sp>
      <p:pic>
        <p:nvPicPr>
          <p:cNvPr id="23" name="Image 2" descr="connector">    </p:cNvPr>
          <p:cNvPicPr>
            <a:picLocks noChangeAspect="1"/>
          </p:cNvPicPr>
          <p:nvPr/>
        </p:nvPicPr>
        <p:blipFill>
          <a:blip r:embed="rId3"/>
          <a:srcRect l="0" r="0" t="0" b="0"/>
          <a:stretch/>
        </p:blipFill>
        <p:spPr>
          <a:xfrm>
            <a:off x="2806700" y="2711450"/>
            <a:ext cx="533400" cy="101600"/>
          </a:xfrm>
          <a:prstGeom prst="rect">
            <a:avLst/>
          </a:prstGeom>
        </p:spPr>
      </p:pic>
      <p:pic>
        <p:nvPicPr>
          <p:cNvPr id="24" name="Image 3" descr="connector">    </p:cNvPr>
          <p:cNvPicPr>
            <a:picLocks noChangeAspect="1"/>
          </p:cNvPicPr>
          <p:nvPr/>
        </p:nvPicPr>
        <p:blipFill>
          <a:blip r:embed="rId4"/>
          <a:srcRect l="0" r="0" t="0" b="0"/>
          <a:stretch/>
        </p:blipFill>
        <p:spPr>
          <a:xfrm>
            <a:off x="8851900" y="2711450"/>
            <a:ext cx="533400" cy="101600"/>
          </a:xfrm>
          <a:prstGeom prst="rect">
            <a:avLst/>
          </a:prstGeom>
        </p:spPr>
      </p:pic>
      <p:sp>
        <p:nvSpPr>
          <p:cNvPr id="25" name="Shape 19"/>
          <p:cNvSpPr/>
          <p:nvPr/>
        </p:nvSpPr>
        <p:spPr>
          <a:xfrm>
            <a:off x="815975" y="3876675"/>
            <a:ext cx="10560050" cy="1309241"/>
          </a:xfrm>
          <a:prstGeom prst="roundRect">
            <a:avLst>
              <a:gd name="adj" fmla="val 7518"/>
            </a:avLst>
          </a:prstGeom>
          <a:solidFill>
            <a:srgbClr val="FDFEFE"/>
          </a:solidFill>
          <a:ln w="6350">
            <a:solidFill>
              <a:srgbClr val="D6E1E6"/>
            </a:solidFill>
            <a:prstDash val="solid"/>
          </a:ln>
        </p:spPr>
      </p:sp>
      <p:sp>
        <p:nvSpPr>
          <p:cNvPr id="26" name="Text 20"/>
          <p:cNvSpPr/>
          <p:nvPr/>
        </p:nvSpPr>
        <p:spPr>
          <a:xfrm>
            <a:off x="1022350" y="4057650"/>
            <a:ext cx="10451719"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4303D"/>
                </a:solidFill>
                <a:latin typeface="IBM Plex Sans" pitchFamily="34" charset="0"/>
                <a:ea typeface="IBM Plex Sans" pitchFamily="34" charset="-122"/>
                <a:cs typeface="IBM Plex Sans" pitchFamily="34" charset="-120"/>
              </a:rPr>
              <a:t>What we built around mobilerun</a:t>
            </a:r>
            <a:endParaRPr lang="en-US" sz="1400" dirty="0"/>
          </a:p>
        </p:txBody>
      </p:sp>
      <p:sp>
        <p:nvSpPr>
          <p:cNvPr id="27" name="Text 21"/>
          <p:cNvSpPr/>
          <p:nvPr/>
        </p:nvSpPr>
        <p:spPr>
          <a:xfrm>
            <a:off x="1022350" y="4364980"/>
            <a:ext cx="52258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96A"/>
                </a:solidFill>
                <a:latin typeface="IBM Plex Sans" pitchFamily="34" charset="0"/>
                <a:ea typeface="IBM Plex Sans" pitchFamily="34" charset="-122"/>
                <a:cs typeface="IBM Plex Sans" pitchFamily="34" charset="-120"/>
              </a:rPr>
              <a:t>Goal assembly from the planner's test case</a:t>
            </a:r>
            <a:endParaRPr lang="en-US" sz="1200" dirty="0"/>
          </a:p>
        </p:txBody>
      </p:sp>
      <p:sp>
        <p:nvSpPr>
          <p:cNvPr id="28" name="Text 22"/>
          <p:cNvSpPr/>
          <p:nvPr/>
        </p:nvSpPr>
        <p:spPr>
          <a:xfrm>
            <a:off x="6096000" y="4364980"/>
            <a:ext cx="52258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96A"/>
                </a:solidFill>
                <a:latin typeface="IBM Plex Sans" pitchFamily="34" charset="0"/>
                <a:ea typeface="IBM Plex Sans" pitchFamily="34" charset="-122"/>
                <a:cs typeface="IBM Plex Sans" pitchFamily="34" charset="-120"/>
              </a:rPr>
              <a:t>Every screen streamed into the live app map</a:t>
            </a:r>
            <a:endParaRPr lang="en-US" sz="1200" dirty="0"/>
          </a:p>
        </p:txBody>
      </p:sp>
      <p:sp>
        <p:nvSpPr>
          <p:cNvPr id="29" name="Text 23"/>
          <p:cNvSpPr/>
          <p:nvPr/>
        </p:nvSpPr>
        <p:spPr>
          <a:xfrm>
            <a:off x="1022350" y="4578300"/>
            <a:ext cx="52258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96A"/>
                </a:solidFill>
                <a:latin typeface="IBM Plex Sans" pitchFamily="34" charset="0"/>
                <a:ea typeface="IBM Plex Sans" pitchFamily="34" charset="-122"/>
                <a:cs typeface="IBM Plex Sans" pitchFamily="34" charset="-120"/>
              </a:rPr>
              <a:t>On-device portal for reliable text input</a:t>
            </a:r>
            <a:endParaRPr lang="en-US" sz="1200" dirty="0"/>
          </a:p>
        </p:txBody>
      </p:sp>
      <p:sp>
        <p:nvSpPr>
          <p:cNvPr id="30" name="Text 24"/>
          <p:cNvSpPr/>
          <p:nvPr/>
        </p:nvSpPr>
        <p:spPr>
          <a:xfrm>
            <a:off x="6096000" y="4578300"/>
            <a:ext cx="52258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96A"/>
                </a:solidFill>
                <a:latin typeface="IBM Plex Sans" pitchFamily="34" charset="0"/>
                <a:ea typeface="IBM Plex Sans" pitchFamily="34" charset="-122"/>
                <a:cs typeface="IBM Plex Sans" pitchFamily="34" charset="-120"/>
              </a:rPr>
              <a:t>Login secrets reach the executor, never the planner</a:t>
            </a:r>
            <a:endParaRPr lang="en-US" sz="1200" dirty="0"/>
          </a:p>
        </p:txBody>
      </p:sp>
      <p:sp>
        <p:nvSpPr>
          <p:cNvPr id="31" name="Text 25"/>
          <p:cNvSpPr/>
          <p:nvPr/>
        </p:nvSpPr>
        <p:spPr>
          <a:xfrm>
            <a:off x="1022350" y="4791621"/>
            <a:ext cx="52258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96A"/>
                </a:solidFill>
                <a:latin typeface="IBM Plex Sans" pitchFamily="34" charset="0"/>
                <a:ea typeface="IBM Plex Sans" pitchFamily="34" charset="-122"/>
                <a:cs typeface="IBM Plex Sans" pitchFamily="34" charset="-120"/>
              </a:rPr>
              <a:t>Device reset and an app-only guard between tests</a:t>
            </a:r>
            <a:endParaRPr lang="en-US" sz="1200" dirty="0"/>
          </a:p>
        </p:txBody>
      </p:sp>
      <p:sp>
        <p:nvSpPr>
          <p:cNvPr id="32" name="Text 26"/>
          <p:cNvSpPr/>
          <p:nvPr/>
        </p:nvSpPr>
        <p:spPr>
          <a:xfrm>
            <a:off x="6096000" y="4791621"/>
            <a:ext cx="52258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96A"/>
                </a:solidFill>
                <a:latin typeface="IBM Plex Sans" pitchFamily="34" charset="0"/>
                <a:ea typeface="IBM Plex Sans" pitchFamily="34" charset="-122"/>
                <a:cs typeface="IBM Plex Sans" pitchFamily="34" charset="-120"/>
              </a:rPr>
              <a:t>Waits out network loss; campaigns resume intact</a:t>
            </a:r>
            <a:endParaRPr lang="en-US" sz="1200" dirty="0"/>
          </a:p>
        </p:txBody>
      </p:sp>
      <p:sp>
        <p:nvSpPr>
          <p:cNvPr id="33" name="Text 27"/>
          <p:cNvSpPr/>
          <p:nvPr/>
        </p:nvSpPr>
        <p:spPr>
          <a:xfrm>
            <a:off x="812800" y="6238280"/>
            <a:ext cx="34599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5697A"/>
                </a:solidFill>
                <a:latin typeface="IBM Plex Sans" pitchFamily="34" charset="0"/>
                <a:ea typeface="IBM Plex Sans" pitchFamily="34" charset="-122"/>
                <a:cs typeface="IBM Plex Sans" pitchFamily="34" charset="-120"/>
              </a:rPr>
              <a:t>Exploratory Testing Automation · CSE 450 · BUET</a:t>
            </a:r>
            <a:endParaRPr lang="en-US" sz="1200" dirty="0"/>
          </a:p>
        </p:txBody>
      </p:sp>
      <p:sp>
        <p:nvSpPr>
          <p:cNvPr id="34" name="Text 28"/>
          <p:cNvSpPr/>
          <p:nvPr/>
        </p:nvSpPr>
        <p:spPr>
          <a:xfrm>
            <a:off x="11196290" y="6238280"/>
            <a:ext cx="2337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5697A"/>
                </a:solidFill>
                <a:latin typeface="IBM Plex Sans" pitchFamily="34" charset="0"/>
                <a:ea typeface="IBM Plex Sans" pitchFamily="34" charset="-122"/>
                <a:cs typeface="IBM Plex Sans"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0B6A8F"/>
                </a:solidFill>
                <a:latin typeface="IBM Plex Sans" pitchFamily="34" charset="0"/>
                <a:ea typeface="IBM Plex Sans" pitchFamily="34" charset="-122"/>
                <a:cs typeface="IBM Plex Sans" pitchFamily="34" charset="-120"/>
              </a:rPr>
              <a:t>EXECUTOR · MAPPING THE APP</a:t>
            </a:r>
            <a:endParaRPr lang="en-US" sz="1200" dirty="0"/>
          </a:p>
        </p:txBody>
      </p:sp>
      <p:sp>
        <p:nvSpPr>
          <p:cNvPr id="3" name="Text 1"/>
          <p:cNvSpPr/>
          <p:nvPr/>
        </p:nvSpPr>
        <p:spPr>
          <a:xfrm>
            <a:off x="812800" y="1102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303D"/>
                </a:solidFill>
                <a:latin typeface="Source Serif 4" pitchFamily="34" charset="0"/>
                <a:ea typeface="Source Serif 4" pitchFamily="34" charset="-122"/>
                <a:cs typeface="Source Serif 4" pitchFamily="34" charset="-120"/>
              </a:rPr>
              <a:t>Mapping the app while the tests run</a:t>
            </a:r>
            <a:endParaRPr lang="en-US" sz="3000" dirty="0"/>
          </a:p>
        </p:txBody>
      </p:sp>
      <p:sp>
        <p:nvSpPr>
          <p:cNvPr id="4" name="Text 2"/>
          <p:cNvSpPr/>
          <p:nvPr/>
        </p:nvSpPr>
        <p:spPr>
          <a:xfrm>
            <a:off x="812800" y="1775420"/>
            <a:ext cx="68021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5697A"/>
                </a:solidFill>
                <a:latin typeface="IBM Plex Sans" pitchFamily="34" charset="0"/>
                <a:ea typeface="IBM Plex Sans" pitchFamily="34" charset="-122"/>
                <a:cs typeface="IBM Plex Sans" pitchFamily="34" charset="-120"/>
              </a:rPr>
              <a:t>Is this a screen we have seen? Checked in order, cheapest first:</a:t>
            </a:r>
            <a:endParaRPr lang="en-US" sz="1200" dirty="0"/>
          </a:p>
        </p:txBody>
      </p:sp>
      <p:sp>
        <p:nvSpPr>
          <p:cNvPr id="5" name="Shape 3"/>
          <p:cNvSpPr/>
          <p:nvPr/>
        </p:nvSpPr>
        <p:spPr>
          <a:xfrm>
            <a:off x="815975" y="2068116"/>
            <a:ext cx="6597650" cy="697161"/>
          </a:xfrm>
          <a:prstGeom prst="roundRect">
            <a:avLst>
              <a:gd name="adj" fmla="val 12296"/>
            </a:avLst>
          </a:prstGeom>
          <a:solidFill>
            <a:srgbClr val="FDFEFE"/>
          </a:solidFill>
          <a:ln w="6350">
            <a:solidFill>
              <a:srgbClr val="D6E1E6"/>
            </a:solidFill>
            <a:prstDash val="solid"/>
          </a:ln>
        </p:spPr>
      </p:sp>
      <p:sp>
        <p:nvSpPr>
          <p:cNvPr id="6" name="Shape 4"/>
          <p:cNvSpPr/>
          <p:nvPr/>
        </p:nvSpPr>
        <p:spPr>
          <a:xfrm>
            <a:off x="971550" y="2284611"/>
            <a:ext cx="294680" cy="264120"/>
          </a:xfrm>
          <a:prstGeom prst="roundRect">
            <a:avLst>
              <a:gd name="adj" fmla="val 50000"/>
            </a:avLst>
          </a:prstGeom>
          <a:solidFill>
            <a:srgbClr val="0F7EA8"/>
          </a:solidFill>
          <a:ln/>
        </p:spPr>
      </p:sp>
      <p:sp>
        <p:nvSpPr>
          <p:cNvPr id="7" name="Text 5"/>
          <p:cNvSpPr/>
          <p:nvPr/>
        </p:nvSpPr>
        <p:spPr>
          <a:xfrm>
            <a:off x="1073150" y="2310011"/>
            <a:ext cx="14228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6F8F7"/>
                </a:solidFill>
                <a:latin typeface="IBM Plex Sans" pitchFamily="34" charset="0"/>
                <a:ea typeface="IBM Plex Sans" pitchFamily="34" charset="-122"/>
                <a:cs typeface="IBM Plex Sans" pitchFamily="34" charset="-120"/>
              </a:rPr>
              <a:t>1</a:t>
            </a:r>
            <a:endParaRPr lang="en-US" sz="1200" dirty="0"/>
          </a:p>
        </p:txBody>
      </p:sp>
      <p:sp>
        <p:nvSpPr>
          <p:cNvPr id="8" name="Text 6"/>
          <p:cNvSpPr/>
          <p:nvPr/>
        </p:nvSpPr>
        <p:spPr>
          <a:xfrm>
            <a:off x="1393230" y="2185591"/>
            <a:ext cx="6040765"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303D"/>
                </a:solidFill>
                <a:latin typeface="IBM Plex Sans" pitchFamily="34" charset="0"/>
                <a:ea typeface="IBM Plex Sans" pitchFamily="34" charset="-122"/>
                <a:cs typeface="IBM Plex Sans" pitchFamily="34" charset="-120"/>
              </a:rPr>
              <a:t>Exact signature</a:t>
            </a:r>
            <a:endParaRPr lang="en-US" sz="1400" dirty="0"/>
          </a:p>
        </p:txBody>
      </p:sp>
      <p:sp>
        <p:nvSpPr>
          <p:cNvPr id="9" name="Text 7"/>
          <p:cNvSpPr/>
          <p:nvPr/>
        </p:nvSpPr>
        <p:spPr>
          <a:xfrm>
            <a:off x="1393230" y="2434481"/>
            <a:ext cx="604076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96A"/>
                </a:solidFill>
                <a:latin typeface="IBM Plex Sans" pitchFamily="34" charset="0"/>
                <a:ea typeface="IBM Plex Sans" pitchFamily="34" charset="-122"/>
                <a:cs typeface="IBM Plex Sans" pitchFamily="34" charset="-120"/>
              </a:rPr>
              <a:t>same package, activity, controls and dialog</a:t>
            </a:r>
            <a:endParaRPr lang="en-US" sz="1200" dirty="0"/>
          </a:p>
        </p:txBody>
      </p:sp>
      <p:sp>
        <p:nvSpPr>
          <p:cNvPr id="10" name="Shape 8"/>
          <p:cNvSpPr/>
          <p:nvPr/>
        </p:nvSpPr>
        <p:spPr>
          <a:xfrm>
            <a:off x="815975" y="2847826"/>
            <a:ext cx="6597650" cy="697161"/>
          </a:xfrm>
          <a:prstGeom prst="roundRect">
            <a:avLst>
              <a:gd name="adj" fmla="val 12296"/>
            </a:avLst>
          </a:prstGeom>
          <a:solidFill>
            <a:srgbClr val="FDFEFE"/>
          </a:solidFill>
          <a:ln w="6350">
            <a:solidFill>
              <a:srgbClr val="D6E1E6"/>
            </a:solidFill>
            <a:prstDash val="solid"/>
          </a:ln>
        </p:spPr>
      </p:sp>
      <p:sp>
        <p:nvSpPr>
          <p:cNvPr id="11" name="Shape 9"/>
          <p:cNvSpPr/>
          <p:nvPr/>
        </p:nvSpPr>
        <p:spPr>
          <a:xfrm>
            <a:off x="971550" y="3064321"/>
            <a:ext cx="294680" cy="264120"/>
          </a:xfrm>
          <a:prstGeom prst="roundRect">
            <a:avLst>
              <a:gd name="adj" fmla="val 50000"/>
            </a:avLst>
          </a:prstGeom>
          <a:solidFill>
            <a:srgbClr val="0F7EA8"/>
          </a:solidFill>
          <a:ln/>
        </p:spPr>
      </p:sp>
      <p:sp>
        <p:nvSpPr>
          <p:cNvPr id="12" name="Text 10"/>
          <p:cNvSpPr/>
          <p:nvPr/>
        </p:nvSpPr>
        <p:spPr>
          <a:xfrm>
            <a:off x="1073150" y="3089721"/>
            <a:ext cx="14228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6F8F7"/>
                </a:solidFill>
                <a:latin typeface="IBM Plex Sans" pitchFamily="34" charset="0"/>
                <a:ea typeface="IBM Plex Sans" pitchFamily="34" charset="-122"/>
                <a:cs typeface="IBM Plex Sans" pitchFamily="34" charset="-120"/>
              </a:rPr>
              <a:t>2</a:t>
            </a:r>
            <a:endParaRPr lang="en-US" sz="1200" dirty="0"/>
          </a:p>
        </p:txBody>
      </p:sp>
      <p:sp>
        <p:nvSpPr>
          <p:cNvPr id="13" name="Text 11"/>
          <p:cNvSpPr/>
          <p:nvPr/>
        </p:nvSpPr>
        <p:spPr>
          <a:xfrm>
            <a:off x="1393230" y="2965301"/>
            <a:ext cx="6040765"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303D"/>
                </a:solidFill>
                <a:latin typeface="IBM Plex Sans" pitchFamily="34" charset="0"/>
                <a:ea typeface="IBM Plex Sans" pitchFamily="34" charset="-122"/>
                <a:cs typeface="IBM Plex Sans" pitchFamily="34" charset="-120"/>
              </a:rPr>
              <a:t>Structural similarity of at least 0.90</a:t>
            </a:r>
            <a:endParaRPr lang="en-US" sz="1400" dirty="0"/>
          </a:p>
        </p:txBody>
      </p:sp>
      <p:sp>
        <p:nvSpPr>
          <p:cNvPr id="14" name="Text 12"/>
          <p:cNvSpPr/>
          <p:nvPr/>
        </p:nvSpPr>
        <p:spPr>
          <a:xfrm>
            <a:off x="1393230" y="3214191"/>
            <a:ext cx="604076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96A"/>
                </a:solidFill>
                <a:latin typeface="IBM Plex Sans" pitchFamily="34" charset="0"/>
                <a:ea typeface="IBM Plex Sans" pitchFamily="34" charset="-122"/>
                <a:cs typeface="IBM Plex Sans" pitchFamily="34" charset="-120"/>
              </a:rPr>
              <a:t>tolerates counters, timestamps and changing list data</a:t>
            </a:r>
            <a:endParaRPr lang="en-US" sz="1200" dirty="0"/>
          </a:p>
        </p:txBody>
      </p:sp>
      <p:sp>
        <p:nvSpPr>
          <p:cNvPr id="15" name="Shape 13"/>
          <p:cNvSpPr/>
          <p:nvPr/>
        </p:nvSpPr>
        <p:spPr>
          <a:xfrm>
            <a:off x="815975" y="3627537"/>
            <a:ext cx="6597650" cy="697161"/>
          </a:xfrm>
          <a:prstGeom prst="roundRect">
            <a:avLst>
              <a:gd name="adj" fmla="val 12296"/>
            </a:avLst>
          </a:prstGeom>
          <a:solidFill>
            <a:srgbClr val="FDFEFE"/>
          </a:solidFill>
          <a:ln w="6350">
            <a:solidFill>
              <a:srgbClr val="D6E1E6"/>
            </a:solidFill>
            <a:prstDash val="solid"/>
          </a:ln>
        </p:spPr>
      </p:sp>
      <p:sp>
        <p:nvSpPr>
          <p:cNvPr id="16" name="Shape 14"/>
          <p:cNvSpPr/>
          <p:nvPr/>
        </p:nvSpPr>
        <p:spPr>
          <a:xfrm>
            <a:off x="971550" y="3844032"/>
            <a:ext cx="294680" cy="264120"/>
          </a:xfrm>
          <a:prstGeom prst="roundRect">
            <a:avLst>
              <a:gd name="adj" fmla="val 50000"/>
            </a:avLst>
          </a:prstGeom>
          <a:solidFill>
            <a:srgbClr val="0F7EA8"/>
          </a:solidFill>
          <a:ln/>
        </p:spPr>
      </p:sp>
      <p:sp>
        <p:nvSpPr>
          <p:cNvPr id="17" name="Text 15"/>
          <p:cNvSpPr/>
          <p:nvPr/>
        </p:nvSpPr>
        <p:spPr>
          <a:xfrm>
            <a:off x="1073150" y="3869432"/>
            <a:ext cx="14228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6F8F7"/>
                </a:solidFill>
                <a:latin typeface="IBM Plex Sans" pitchFamily="34" charset="0"/>
                <a:ea typeface="IBM Plex Sans" pitchFamily="34" charset="-122"/>
                <a:cs typeface="IBM Plex Sans" pitchFamily="34" charset="-120"/>
              </a:rPr>
              <a:t>3</a:t>
            </a:r>
            <a:endParaRPr lang="en-US" sz="1200" dirty="0"/>
          </a:p>
        </p:txBody>
      </p:sp>
      <p:sp>
        <p:nvSpPr>
          <p:cNvPr id="18" name="Text 16"/>
          <p:cNvSpPr/>
          <p:nvPr/>
        </p:nvSpPr>
        <p:spPr>
          <a:xfrm>
            <a:off x="1393230" y="3745012"/>
            <a:ext cx="6040765"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303D"/>
                </a:solidFill>
                <a:latin typeface="IBM Plex Sans" pitchFamily="34" charset="0"/>
                <a:ea typeface="IBM Plex Sans" pitchFamily="34" charset="-122"/>
                <a:cs typeface="IBM Plex Sans" pitchFamily="34" charset="-120"/>
              </a:rPr>
              <a:t>Containment of at least 0.95</a:t>
            </a:r>
            <a:endParaRPr lang="en-US" sz="1400" dirty="0"/>
          </a:p>
        </p:txBody>
      </p:sp>
      <p:sp>
        <p:nvSpPr>
          <p:cNvPr id="19" name="Text 17"/>
          <p:cNvSpPr/>
          <p:nvPr/>
        </p:nvSpPr>
        <p:spPr>
          <a:xfrm>
            <a:off x="1393230" y="3993902"/>
            <a:ext cx="604076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96A"/>
                </a:solidFill>
                <a:latin typeface="IBM Plex Sans" pitchFamily="34" charset="0"/>
                <a:ea typeface="IBM Plex Sans" pitchFamily="34" charset="-122"/>
                <a:cs typeface="IBM Plex Sans" pitchFamily="34" charset="-120"/>
              </a:rPr>
              <a:t>a screen captured before it finished drawing</a:t>
            </a:r>
            <a:endParaRPr lang="en-US" sz="1200" dirty="0"/>
          </a:p>
        </p:txBody>
      </p:sp>
      <p:sp>
        <p:nvSpPr>
          <p:cNvPr id="20" name="Shape 18"/>
          <p:cNvSpPr/>
          <p:nvPr/>
        </p:nvSpPr>
        <p:spPr>
          <a:xfrm>
            <a:off x="815975" y="4407247"/>
            <a:ext cx="6597650" cy="697161"/>
          </a:xfrm>
          <a:prstGeom prst="roundRect">
            <a:avLst>
              <a:gd name="adj" fmla="val 12296"/>
            </a:avLst>
          </a:prstGeom>
          <a:solidFill>
            <a:srgbClr val="FDFEFE"/>
          </a:solidFill>
          <a:ln w="6350">
            <a:solidFill>
              <a:srgbClr val="D6E1E6"/>
            </a:solidFill>
            <a:prstDash val="solid"/>
          </a:ln>
        </p:spPr>
      </p:sp>
      <p:sp>
        <p:nvSpPr>
          <p:cNvPr id="21" name="Shape 19"/>
          <p:cNvSpPr/>
          <p:nvPr/>
        </p:nvSpPr>
        <p:spPr>
          <a:xfrm>
            <a:off x="971550" y="4623743"/>
            <a:ext cx="294680" cy="264120"/>
          </a:xfrm>
          <a:prstGeom prst="roundRect">
            <a:avLst>
              <a:gd name="adj" fmla="val 50000"/>
            </a:avLst>
          </a:prstGeom>
          <a:solidFill>
            <a:srgbClr val="0F7EA8"/>
          </a:solidFill>
          <a:ln/>
        </p:spPr>
      </p:sp>
      <p:sp>
        <p:nvSpPr>
          <p:cNvPr id="22" name="Text 20"/>
          <p:cNvSpPr/>
          <p:nvPr/>
        </p:nvSpPr>
        <p:spPr>
          <a:xfrm>
            <a:off x="1073150" y="4649143"/>
            <a:ext cx="14228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6F8F7"/>
                </a:solidFill>
                <a:latin typeface="IBM Plex Sans" pitchFamily="34" charset="0"/>
                <a:ea typeface="IBM Plex Sans" pitchFamily="34" charset="-122"/>
                <a:cs typeface="IBM Plex Sans" pitchFamily="34" charset="-120"/>
              </a:rPr>
              <a:t>4</a:t>
            </a:r>
            <a:endParaRPr lang="en-US" sz="1200" dirty="0"/>
          </a:p>
        </p:txBody>
      </p:sp>
      <p:sp>
        <p:nvSpPr>
          <p:cNvPr id="23" name="Text 21"/>
          <p:cNvSpPr/>
          <p:nvPr/>
        </p:nvSpPr>
        <p:spPr>
          <a:xfrm>
            <a:off x="1393230" y="4524722"/>
            <a:ext cx="6040765"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4303D"/>
                </a:solidFill>
                <a:latin typeface="IBM Plex Sans" pitchFamily="34" charset="0"/>
                <a:ea typeface="IBM Plex Sans" pitchFamily="34" charset="-122"/>
                <a:cs typeface="IBM Plex Sans" pitchFamily="34" charset="-120"/>
              </a:rPr>
              <a:t>Perceptual image hash, distance of 6 or less</a:t>
            </a:r>
            <a:endParaRPr lang="en-US" sz="1400" dirty="0"/>
          </a:p>
        </p:txBody>
      </p:sp>
      <p:sp>
        <p:nvSpPr>
          <p:cNvPr id="24" name="Text 22"/>
          <p:cNvSpPr/>
          <p:nvPr/>
        </p:nvSpPr>
        <p:spPr>
          <a:xfrm>
            <a:off x="1393230" y="4773613"/>
            <a:ext cx="604076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96A"/>
                </a:solidFill>
                <a:latin typeface="IBM Plex Sans" pitchFamily="34" charset="0"/>
                <a:ea typeface="IBM Plex Sans" pitchFamily="34" charset="-122"/>
                <a:cs typeface="IBM Plex Sans" pitchFamily="34" charset="-120"/>
              </a:rPr>
              <a:t>the last resort when the accessibility tree is thin</a:t>
            </a:r>
            <a:endParaRPr lang="en-US" sz="1200" dirty="0"/>
          </a:p>
        </p:txBody>
      </p:sp>
      <p:sp>
        <p:nvSpPr>
          <p:cNvPr id="25" name="Text 23"/>
          <p:cNvSpPr/>
          <p:nvPr/>
        </p:nvSpPr>
        <p:spPr>
          <a:xfrm>
            <a:off x="812800" y="5183783"/>
            <a:ext cx="6802120"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6596A"/>
                </a:solidFill>
                <a:latin typeface="IBM Plex Sans" pitchFamily="34" charset="0"/>
                <a:ea typeface="IBM Plex Sans" pitchFamily="34" charset="-122"/>
                <a:cs typeface="IBM Plex Sans" pitchFamily="34" charset="-120"/>
              </a:rPr>
              <a:t>Match:</a:t>
            </a:r>
            <a:r>
              <a:rPr lang="en-US" sz="1200" dirty="0">
                <a:solidFill>
                  <a:srgbClr val="46596A"/>
                </a:solidFill>
                <a:latin typeface="IBM Plex Sans" pitchFamily="34" charset="0"/>
                <a:ea typeface="IBM Plex Sans" pitchFamily="34" charset="-122"/>
                <a:cs typeface="IBM Plex Sans" pitchFamily="34" charset="-120"/>
              </a:rPr>
              <a:t> a known screen, its visit counted. </a:t>
            </a:r>
            <a:r>
              <a:rPr lang="en-US" sz="1200" b="1" dirty="0">
                <a:solidFill>
                  <a:srgbClr val="46596A"/>
                </a:solidFill>
                <a:latin typeface="IBM Plex Sans" pitchFamily="34" charset="0"/>
                <a:ea typeface="IBM Plex Sans" pitchFamily="34" charset="-122"/>
                <a:cs typeface="IBM Plex Sans" pitchFamily="34" charset="-120"/>
              </a:rPr>
              <a:t>No match:</a:t>
            </a:r>
            <a:r>
              <a:rPr lang="en-US" sz="1200" dirty="0">
                <a:solidFill>
                  <a:srgbClr val="46596A"/>
                </a:solidFill>
                <a:latin typeface="IBM Plex Sans" pitchFamily="34" charset="0"/>
                <a:ea typeface="IBM Plex Sans" pitchFamily="34" charset="-122"/>
                <a:cs typeface="IBM Plex Sans" pitchFamily="34" charset="-120"/>
              </a:rPr>
              <a:t> a new screen, with its screenshot and the transition that led to it.</a:t>
            </a:r>
            <a:endParaRPr lang="en-US" sz="1200" dirty="0"/>
          </a:p>
        </p:txBody>
      </p:sp>
      <p:sp>
        <p:nvSpPr>
          <p:cNvPr id="26" name="Text 24"/>
          <p:cNvSpPr/>
          <p:nvPr/>
        </p:nvSpPr>
        <p:spPr>
          <a:xfrm>
            <a:off x="7721600" y="1775420"/>
            <a:ext cx="3767328" cy="772120"/>
          </a:xfrm>
          <a:prstGeom prst="rect">
            <a:avLst/>
          </a:prstGeom>
          <a:noFill/>
          <a:ln/>
        </p:spPr>
        <p:txBody>
          <a:bodyPr wrap="square" lIns="0" tIns="0" rIns="0" bIns="0" rtlCol="0" anchor="t">
            <a:normAutofit/>
          </a:bodyPr>
          <a:lstStyle/>
          <a:p>
            <a:pPr algn="l" indent="0" marL="0">
              <a:lnSpc>
                <a:spcPts val="5880"/>
              </a:lnSpc>
              <a:buNone/>
            </a:pPr>
            <a:r>
              <a:rPr lang="en-US" sz="5600" b="1" dirty="0">
                <a:solidFill>
                  <a:srgbClr val="0F7EA8"/>
                </a:solidFill>
                <a:latin typeface="Source Serif 4" pitchFamily="34" charset="0"/>
                <a:ea typeface="Source Serif 4" pitchFamily="34" charset="-122"/>
                <a:cs typeface="Source Serif 4" pitchFamily="34" charset="-120"/>
              </a:rPr>
              <a:t>79</a:t>
            </a:r>
            <a:endParaRPr lang="en-US" sz="5600" dirty="0"/>
          </a:p>
        </p:txBody>
      </p:sp>
      <p:sp>
        <p:nvSpPr>
          <p:cNvPr id="27" name="Text 25"/>
          <p:cNvSpPr/>
          <p:nvPr/>
        </p:nvSpPr>
        <p:spPr>
          <a:xfrm>
            <a:off x="7721600" y="2522141"/>
            <a:ext cx="376732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96A"/>
                </a:solidFill>
                <a:latin typeface="IBM Plex Sans" pitchFamily="34" charset="0"/>
                <a:ea typeface="IBM Plex Sans" pitchFamily="34" charset="-122"/>
                <a:cs typeface="IBM Plex Sans" pitchFamily="34" charset="-120"/>
              </a:rPr>
              <a:t>distinct screens</a:t>
            </a:r>
            <a:endParaRPr lang="en-US" sz="1200" dirty="0"/>
          </a:p>
        </p:txBody>
      </p:sp>
      <p:sp>
        <p:nvSpPr>
          <p:cNvPr id="28" name="Text 26"/>
          <p:cNvSpPr/>
          <p:nvPr/>
        </p:nvSpPr>
        <p:spPr>
          <a:xfrm>
            <a:off x="7721600" y="2887861"/>
            <a:ext cx="3767328" cy="772120"/>
          </a:xfrm>
          <a:prstGeom prst="rect">
            <a:avLst/>
          </a:prstGeom>
          <a:noFill/>
          <a:ln/>
        </p:spPr>
        <p:txBody>
          <a:bodyPr wrap="square" lIns="0" tIns="0" rIns="0" bIns="0" rtlCol="0" anchor="t">
            <a:normAutofit/>
          </a:bodyPr>
          <a:lstStyle/>
          <a:p>
            <a:pPr algn="l" indent="0" marL="0">
              <a:lnSpc>
                <a:spcPts val="5880"/>
              </a:lnSpc>
              <a:buNone/>
            </a:pPr>
            <a:r>
              <a:rPr lang="en-US" sz="5600" b="1" dirty="0">
                <a:solidFill>
                  <a:srgbClr val="14303D"/>
                </a:solidFill>
                <a:latin typeface="Source Serif 4" pitchFamily="34" charset="0"/>
                <a:ea typeface="Source Serif 4" pitchFamily="34" charset="-122"/>
                <a:cs typeface="Source Serif 4" pitchFamily="34" charset="-120"/>
              </a:rPr>
              <a:t>2,149</a:t>
            </a:r>
            <a:endParaRPr lang="en-US" sz="5600" dirty="0"/>
          </a:p>
        </p:txBody>
      </p:sp>
      <p:sp>
        <p:nvSpPr>
          <p:cNvPr id="29" name="Text 27"/>
          <p:cNvSpPr/>
          <p:nvPr/>
        </p:nvSpPr>
        <p:spPr>
          <a:xfrm>
            <a:off x="7721600" y="3634581"/>
            <a:ext cx="376732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96A"/>
                </a:solidFill>
                <a:latin typeface="IBM Plex Sans" pitchFamily="34" charset="0"/>
                <a:ea typeface="IBM Plex Sans" pitchFamily="34" charset="-122"/>
                <a:cs typeface="IBM Plex Sans" pitchFamily="34" charset="-120"/>
              </a:rPr>
              <a:t>screen observations</a:t>
            </a:r>
            <a:endParaRPr lang="en-US" sz="1200" dirty="0"/>
          </a:p>
        </p:txBody>
      </p:sp>
      <p:sp>
        <p:nvSpPr>
          <p:cNvPr id="30" name="Text 28"/>
          <p:cNvSpPr/>
          <p:nvPr/>
        </p:nvSpPr>
        <p:spPr>
          <a:xfrm>
            <a:off x="7721600" y="4000302"/>
            <a:ext cx="3767328" cy="772120"/>
          </a:xfrm>
          <a:prstGeom prst="rect">
            <a:avLst/>
          </a:prstGeom>
          <a:noFill/>
          <a:ln/>
        </p:spPr>
        <p:txBody>
          <a:bodyPr wrap="square" lIns="0" tIns="0" rIns="0" bIns="0" rtlCol="0" anchor="t">
            <a:normAutofit/>
          </a:bodyPr>
          <a:lstStyle/>
          <a:p>
            <a:pPr algn="l" indent="0" marL="0">
              <a:lnSpc>
                <a:spcPts val="5880"/>
              </a:lnSpc>
              <a:buNone/>
            </a:pPr>
            <a:r>
              <a:rPr lang="en-US" sz="5600" b="1" dirty="0">
                <a:solidFill>
                  <a:srgbClr val="14303D"/>
                </a:solidFill>
                <a:latin typeface="Source Serif 4" pitchFamily="34" charset="0"/>
                <a:ea typeface="Source Serif 4" pitchFamily="34" charset="-122"/>
                <a:cs typeface="Source Serif 4" pitchFamily="34" charset="-120"/>
              </a:rPr>
              <a:t>797</a:t>
            </a:r>
            <a:endParaRPr lang="en-US" sz="5600" dirty="0"/>
          </a:p>
        </p:txBody>
      </p:sp>
      <p:sp>
        <p:nvSpPr>
          <p:cNvPr id="31" name="Text 29"/>
          <p:cNvSpPr/>
          <p:nvPr/>
        </p:nvSpPr>
        <p:spPr>
          <a:xfrm>
            <a:off x="7721600" y="4747022"/>
            <a:ext cx="376732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96A"/>
                </a:solidFill>
                <a:latin typeface="IBM Plex Sans" pitchFamily="34" charset="0"/>
                <a:ea typeface="IBM Plex Sans" pitchFamily="34" charset="-122"/>
                <a:cs typeface="IBM Plex Sans" pitchFamily="34" charset="-120"/>
              </a:rPr>
              <a:t>transitions between screens · contacts app</a:t>
            </a:r>
            <a:endParaRPr lang="en-US" sz="1200" dirty="0"/>
          </a:p>
        </p:txBody>
      </p:sp>
      <p:sp>
        <p:nvSpPr>
          <p:cNvPr id="32" name="Text 30"/>
          <p:cNvSpPr/>
          <p:nvPr/>
        </p:nvSpPr>
        <p:spPr>
          <a:xfrm>
            <a:off x="812800" y="6238280"/>
            <a:ext cx="34599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5697A"/>
                </a:solidFill>
                <a:latin typeface="IBM Plex Sans" pitchFamily="34" charset="0"/>
                <a:ea typeface="IBM Plex Sans" pitchFamily="34" charset="-122"/>
                <a:cs typeface="IBM Plex Sans" pitchFamily="34" charset="-120"/>
              </a:rPr>
              <a:t>Exploratory Testing Automation · CSE 450 · BUET</a:t>
            </a:r>
            <a:endParaRPr lang="en-US" sz="1200" dirty="0"/>
          </a:p>
        </p:txBody>
      </p:sp>
      <p:sp>
        <p:nvSpPr>
          <p:cNvPr id="33" name="Text 31"/>
          <p:cNvSpPr/>
          <p:nvPr/>
        </p:nvSpPr>
        <p:spPr>
          <a:xfrm>
            <a:off x="11196290" y="6238280"/>
            <a:ext cx="2337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5697A"/>
                </a:solidFill>
                <a:latin typeface="IBM Plex Sans" pitchFamily="34" charset="0"/>
                <a:ea typeface="IBM Plex Sans" pitchFamily="34" charset="-122"/>
                <a:cs typeface="IBM Plex Sans" pitchFamily="34" charset="-120"/>
              </a:rPr>
              <a:t>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F2F4"/>
        </a:solidFill>
      </p:bgPr>
    </p:bg>
    <p:spTree>
      <p:nvGrpSpPr>
        <p:cNvPr id="1" name=""/>
        <p:cNvGrpSpPr/>
        <p:nvPr/>
      </p:nvGrpSpPr>
      <p:grpSpPr>
        <a:xfrm>
          <a:off x="0" y="0"/>
          <a:ext cx="0" cy="0"/>
          <a:chOff x="0" y="0"/>
          <a:chExt cx="0" cy="0"/>
        </a:xfrm>
      </p:grpSpPr>
      <p:sp>
        <p:nvSpPr>
          <p:cNvPr id="2" name="Text 0"/>
          <p:cNvSpPr/>
          <p:nvPr/>
        </p:nvSpPr>
        <p:spPr>
          <a:xfrm>
            <a:off x="812800" y="812800"/>
            <a:ext cx="10883392" cy="234603"/>
          </a:xfrm>
          <a:prstGeom prst="rect">
            <a:avLst/>
          </a:prstGeom>
          <a:noFill/>
          <a:ln/>
        </p:spPr>
        <p:txBody>
          <a:bodyPr wrap="square" lIns="0" tIns="0" rIns="0" bIns="0" rtlCol="0" anchor="t">
            <a:normAutofit/>
          </a:bodyPr>
          <a:lstStyle/>
          <a:p>
            <a:pPr algn="l" indent="0" marL="0">
              <a:lnSpc>
                <a:spcPts val="1675"/>
              </a:lnSpc>
              <a:buNone/>
            </a:pPr>
            <a:r>
              <a:rPr lang="en-US" sz="1196" b="1" spc="100" kern="0" dirty="0">
                <a:solidFill>
                  <a:srgbClr val="0B6A8F"/>
                </a:solidFill>
                <a:latin typeface="IBM Plex Sans" pitchFamily="34" charset="0"/>
                <a:ea typeface="IBM Plex Sans" pitchFamily="34" charset="-122"/>
                <a:cs typeface="IBM Plex Sans" pitchFamily="34" charset="-120"/>
              </a:rPr>
              <a:t>EXECUTOR · IN DETAIL</a:t>
            </a:r>
            <a:endParaRPr lang="en-US" sz="1196" dirty="0"/>
          </a:p>
        </p:txBody>
      </p:sp>
      <p:sp>
        <p:nvSpPr>
          <p:cNvPr id="3" name="Text 1"/>
          <p:cNvSpPr/>
          <p:nvPr/>
        </p:nvSpPr>
        <p:spPr>
          <a:xfrm>
            <a:off x="812800" y="1098203"/>
            <a:ext cx="10883392" cy="436364"/>
          </a:xfrm>
          <a:prstGeom prst="rect">
            <a:avLst/>
          </a:prstGeom>
          <a:noFill/>
          <a:ln/>
        </p:spPr>
        <p:txBody>
          <a:bodyPr wrap="square" lIns="0" tIns="0" rIns="0" bIns="0" rtlCol="0" anchor="t">
            <a:normAutofit/>
          </a:bodyPr>
          <a:lstStyle/>
          <a:p>
            <a:pPr algn="l" indent="0" marL="0">
              <a:lnSpc>
                <a:spcPts val="3269"/>
              </a:lnSpc>
              <a:buNone/>
            </a:pPr>
            <a:r>
              <a:rPr lang="en-US" sz="2972" b="1" dirty="0">
                <a:solidFill>
                  <a:srgbClr val="14303D"/>
                </a:solidFill>
                <a:latin typeface="Source Serif 4" pitchFamily="34" charset="0"/>
                <a:ea typeface="Source Serif 4" pitchFamily="34" charset="-122"/>
                <a:cs typeface="Source Serif 4" pitchFamily="34" charset="-120"/>
              </a:rPr>
              <a:t>Is this a screen we have seen?</a:t>
            </a:r>
            <a:endParaRPr lang="en-US" sz="2972" dirty="0"/>
          </a:p>
        </p:txBody>
      </p:sp>
      <p:sp>
        <p:nvSpPr>
          <p:cNvPr id="4" name="Shape 2"/>
          <p:cNvSpPr/>
          <p:nvPr/>
        </p:nvSpPr>
        <p:spPr>
          <a:xfrm>
            <a:off x="812800" y="1712367"/>
            <a:ext cx="10566400" cy="3507184"/>
          </a:xfrm>
          <a:prstGeom prst="roundRect">
            <a:avLst>
              <a:gd name="adj" fmla="val 2897"/>
            </a:avLst>
          </a:prstGeom>
          <a:solidFill>
            <a:srgbClr val="FDFEFE"/>
          </a:solidFill>
          <a:ln/>
        </p:spPr>
      </p:sp>
      <p:pic>
        <p:nvPicPr>
          <p:cNvPr id="5" name="Image 0" descr="Screen identity cascade, left to right: an observation is tested by exact signature, then structural Jaccard of at least 0.9, containment of at least 0.95, skeleton containment, and a perceptual hash within Hamming distance 6; any match is a known state, otherwise a new state is stored with its transition">    </p:cNvPr>
          <p:cNvPicPr>
            <a:picLocks noChangeAspect="1"/>
          </p:cNvPicPr>
          <p:nvPr/>
        </p:nvPicPr>
        <p:blipFill>
          <a:blip r:embed="rId1"/>
          <a:stretch>
            <a:fillRect/>
          </a:stretch>
        </p:blipFill>
        <p:spPr>
          <a:xfrm>
            <a:off x="928050" y="1718717"/>
            <a:ext cx="10335900" cy="3494484"/>
          </a:xfrm>
          <a:prstGeom prst="rect">
            <a:avLst/>
          </a:prstGeom>
        </p:spPr>
      </p:pic>
      <p:sp>
        <p:nvSpPr>
          <p:cNvPr id="6" name="Shape 3"/>
          <p:cNvSpPr/>
          <p:nvPr/>
        </p:nvSpPr>
        <p:spPr>
          <a:xfrm>
            <a:off x="815975" y="1715542"/>
            <a:ext cx="10560050" cy="3500834"/>
          </a:xfrm>
          <a:prstGeom prst="roundRect">
            <a:avLst>
              <a:gd name="adj" fmla="val 2811"/>
            </a:avLst>
          </a:prstGeom>
          <a:noFill/>
          <a:ln w="6350">
            <a:solidFill>
              <a:srgbClr val="D6E1E6"/>
            </a:solidFill>
            <a:prstDash val="solid"/>
          </a:ln>
        </p:spPr>
      </p:sp>
      <p:sp>
        <p:nvSpPr>
          <p:cNvPr id="7" name="Text 4"/>
          <p:cNvSpPr/>
          <p:nvPr/>
        </p:nvSpPr>
        <p:spPr>
          <a:xfrm>
            <a:off x="812800" y="5422751"/>
            <a:ext cx="10883392" cy="444649"/>
          </a:xfrm>
          <a:prstGeom prst="rect">
            <a:avLst/>
          </a:prstGeom>
          <a:noFill/>
          <a:ln/>
        </p:spPr>
        <p:txBody>
          <a:bodyPr wrap="square" lIns="0" tIns="0" rIns="0" bIns="0" rtlCol="0" anchor="t">
            <a:normAutofit/>
          </a:bodyPr>
          <a:lstStyle/>
          <a:p>
            <a:pPr algn="l" indent="0" marL="0">
              <a:lnSpc>
                <a:spcPts val="1659"/>
              </a:lnSpc>
              <a:buNone/>
            </a:pPr>
            <a:r>
              <a:rPr lang="en-US" sz="1185" dirty="0">
                <a:solidFill>
                  <a:srgbClr val="46596A"/>
                </a:solidFill>
                <a:latin typeface="IBM Plex Sans" pitchFamily="34" charset="0"/>
                <a:ea typeface="IBM Plex Sans" pitchFamily="34" charset="-122"/>
                <a:cs typeface="IBM Plex Sans" pitchFamily="34" charset="-120"/>
              </a:rPr>
              <a:t>Checked left to right, cheapest first. Any match counts a visit to a known screen; no match stores a new screen and the transition that led to it. The grey notes say why each check exists.</a:t>
            </a:r>
            <a:endParaRPr lang="en-US" sz="1185" dirty="0"/>
          </a:p>
        </p:txBody>
      </p:sp>
      <p:sp>
        <p:nvSpPr>
          <p:cNvPr id="8" name="Text 5"/>
          <p:cNvSpPr/>
          <p:nvPr/>
        </p:nvSpPr>
        <p:spPr>
          <a:xfrm>
            <a:off x="812800" y="6238280"/>
            <a:ext cx="34599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5697A"/>
                </a:solidFill>
                <a:latin typeface="IBM Plex Sans" pitchFamily="34" charset="0"/>
                <a:ea typeface="IBM Plex Sans" pitchFamily="34" charset="-122"/>
                <a:cs typeface="IBM Plex Sans" pitchFamily="34" charset="-120"/>
              </a:rPr>
              <a:t>Exploratory Testing Automation · CSE 450 · BUET</a:t>
            </a:r>
            <a:endParaRPr lang="en-US" sz="1200" dirty="0"/>
          </a:p>
        </p:txBody>
      </p:sp>
      <p:sp>
        <p:nvSpPr>
          <p:cNvPr id="9" name="Text 6"/>
          <p:cNvSpPr/>
          <p:nvPr/>
        </p:nvSpPr>
        <p:spPr>
          <a:xfrm>
            <a:off x="11196290" y="6238280"/>
            <a:ext cx="2337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5697A"/>
                </a:solidFill>
                <a:latin typeface="IBM Plex Sans" pitchFamily="34" charset="0"/>
                <a:ea typeface="IBM Plex Sans" pitchFamily="34" charset="-122"/>
                <a:cs typeface="IBM Plex Sans" pitchFamily="34" charset="-120"/>
              </a:rPr>
              <a:t>23</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F2F4"/>
        </a:solidFill>
      </p:bgPr>
    </p:bg>
    <p:spTree>
      <p:nvGrpSpPr>
        <p:cNvPr id="1" name=""/>
        <p:cNvGrpSpPr/>
        <p:nvPr/>
      </p:nvGrpSpPr>
      <p:grpSpPr>
        <a:xfrm>
          <a:off x="0" y="0"/>
          <a:ext cx="0" cy="0"/>
          <a:chOff x="0" y="0"/>
          <a:chExt cx="0" cy="0"/>
        </a:xfrm>
      </p:grpSpPr>
      <p:sp>
        <p:nvSpPr>
          <p:cNvPr id="2" name="Text 0"/>
          <p:cNvSpPr/>
          <p:nvPr/>
        </p:nvSpPr>
        <p:spPr>
          <a:xfrm>
            <a:off x="812800" y="508000"/>
            <a:ext cx="10883392" cy="234454"/>
          </a:xfrm>
          <a:prstGeom prst="rect">
            <a:avLst/>
          </a:prstGeom>
          <a:noFill/>
          <a:ln/>
        </p:spPr>
        <p:txBody>
          <a:bodyPr wrap="square" lIns="0" tIns="0" rIns="0" bIns="0" rtlCol="0" anchor="t">
            <a:normAutofit/>
          </a:bodyPr>
          <a:lstStyle/>
          <a:p>
            <a:pPr algn="l" indent="0" marL="0">
              <a:lnSpc>
                <a:spcPts val="1675"/>
              </a:lnSpc>
              <a:buNone/>
            </a:pPr>
            <a:r>
              <a:rPr lang="en-US" sz="1196" b="1" spc="100" kern="0" dirty="0">
                <a:solidFill>
                  <a:srgbClr val="0B6A8F"/>
                </a:solidFill>
                <a:latin typeface="IBM Plex Sans" pitchFamily="34" charset="0"/>
                <a:ea typeface="IBM Plex Sans" pitchFamily="34" charset="-122"/>
                <a:cs typeface="IBM Plex Sans" pitchFamily="34" charset="-120"/>
              </a:rPr>
              <a:t>EXECUTOR · THE APP MAP</a:t>
            </a:r>
            <a:endParaRPr lang="en-US" sz="1196" dirty="0"/>
          </a:p>
        </p:txBody>
      </p:sp>
      <p:sp>
        <p:nvSpPr>
          <p:cNvPr id="3" name="Text 1"/>
          <p:cNvSpPr/>
          <p:nvPr/>
        </p:nvSpPr>
        <p:spPr>
          <a:xfrm>
            <a:off x="812800" y="793254"/>
            <a:ext cx="10883392" cy="436066"/>
          </a:xfrm>
          <a:prstGeom prst="rect">
            <a:avLst/>
          </a:prstGeom>
          <a:noFill/>
          <a:ln/>
        </p:spPr>
        <p:txBody>
          <a:bodyPr wrap="square" lIns="0" tIns="0" rIns="0" bIns="0" rtlCol="0" anchor="t">
            <a:normAutofit/>
          </a:bodyPr>
          <a:lstStyle/>
          <a:p>
            <a:pPr algn="l" indent="0" marL="0">
              <a:lnSpc>
                <a:spcPts val="3269"/>
              </a:lnSpc>
              <a:buNone/>
            </a:pPr>
            <a:r>
              <a:rPr lang="en-US" sz="2972" b="1" dirty="0">
                <a:solidFill>
                  <a:srgbClr val="14303D"/>
                </a:solidFill>
                <a:latin typeface="Source Serif 4" pitchFamily="34" charset="0"/>
                <a:ea typeface="Source Serif 4" pitchFamily="34" charset="-122"/>
                <a:cs typeface="Source Serif 4" pitchFamily="34" charset="-120"/>
              </a:rPr>
              <a:t>Every run's path through the map</a:t>
            </a:r>
            <a:endParaRPr lang="en-US" sz="2972" dirty="0"/>
          </a:p>
        </p:txBody>
      </p:sp>
      <p:sp>
        <p:nvSpPr>
          <p:cNvPr id="4" name="Shape 2"/>
          <p:cNvSpPr/>
          <p:nvPr/>
        </p:nvSpPr>
        <p:spPr>
          <a:xfrm>
            <a:off x="812800" y="1313160"/>
            <a:ext cx="6350000" cy="4826000"/>
          </a:xfrm>
          <a:prstGeom prst="roundRect">
            <a:avLst>
              <a:gd name="adj" fmla="val 2105"/>
            </a:avLst>
          </a:prstGeom>
          <a:solidFill>
            <a:srgbClr val="FDFEFE"/>
          </a:solidFill>
          <a:ln/>
        </p:spPr>
      </p:sp>
      <p:pic>
        <p:nvPicPr>
          <p:cNvPr id="5" name="Image 0" descr="Dashboard panel Live App Model, 79 states and 797 transitions: a graph of screens with the path of test TC-088 highlighted in orange through Contact List, Option Menu Search, Organize, Import 88 contacts and Close sheet, and beside it the stored screenshot of Contact List number 12, 19 visits and 14 controls">    </p:cNvPr>
          <p:cNvPicPr>
            <a:picLocks noChangeAspect="1"/>
          </p:cNvPicPr>
          <p:nvPr/>
        </p:nvPicPr>
        <p:blipFill>
          <a:blip r:embed="rId1"/>
          <a:stretch>
            <a:fillRect/>
          </a:stretch>
        </p:blipFill>
        <p:spPr>
          <a:xfrm>
            <a:off x="937117" y="1319510"/>
            <a:ext cx="6101366" cy="4813300"/>
          </a:xfrm>
          <a:prstGeom prst="rect">
            <a:avLst/>
          </a:prstGeom>
        </p:spPr>
      </p:pic>
      <p:sp>
        <p:nvSpPr>
          <p:cNvPr id="6" name="Shape 3"/>
          <p:cNvSpPr/>
          <p:nvPr/>
        </p:nvSpPr>
        <p:spPr>
          <a:xfrm>
            <a:off x="815975" y="1316335"/>
            <a:ext cx="6343650" cy="4819650"/>
          </a:xfrm>
          <a:prstGeom prst="roundRect">
            <a:avLst>
              <a:gd name="adj" fmla="val 2042"/>
            </a:avLst>
          </a:prstGeom>
          <a:noFill/>
          <a:ln w="6350">
            <a:solidFill>
              <a:srgbClr val="D6E1E6"/>
            </a:solidFill>
            <a:prstDash val="solid"/>
          </a:ln>
        </p:spPr>
      </p:sp>
      <p:sp>
        <p:nvSpPr>
          <p:cNvPr id="7" name="Text 4"/>
          <p:cNvSpPr/>
          <p:nvPr/>
        </p:nvSpPr>
        <p:spPr>
          <a:xfrm>
            <a:off x="7416800" y="2496939"/>
            <a:ext cx="408127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B6A8F"/>
                </a:solidFill>
                <a:latin typeface="IBM Plex Sans" pitchFamily="34" charset="0"/>
                <a:ea typeface="IBM Plex Sans" pitchFamily="34" charset="-122"/>
                <a:cs typeface="IBM Plex Sans" pitchFamily="34" charset="-120"/>
              </a:rPr>
              <a:t>79 screens · 797 transitions</a:t>
            </a:r>
            <a:endParaRPr lang="en-US" sz="1400" dirty="0"/>
          </a:p>
        </p:txBody>
      </p:sp>
      <p:sp>
        <p:nvSpPr>
          <p:cNvPr id="8" name="Text 5"/>
          <p:cNvSpPr/>
          <p:nvPr/>
        </p:nvSpPr>
        <p:spPr>
          <a:xfrm>
            <a:off x="7416800" y="2771229"/>
            <a:ext cx="408127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96A"/>
                </a:solidFill>
                <a:latin typeface="IBM Plex Sans" pitchFamily="34" charset="0"/>
                <a:ea typeface="IBM Plex Sans" pitchFamily="34" charset="-122"/>
                <a:cs typeface="IBM Plex Sans" pitchFamily="34" charset="-120"/>
              </a:rPr>
              <a:t>The contacts app, mapped only from screens the agent actually reached.</a:t>
            </a:r>
            <a:endParaRPr lang="en-US" sz="1200" dirty="0"/>
          </a:p>
        </p:txBody>
      </p:sp>
      <p:sp>
        <p:nvSpPr>
          <p:cNvPr id="9" name="Text 6"/>
          <p:cNvSpPr/>
          <p:nvPr/>
        </p:nvSpPr>
        <p:spPr>
          <a:xfrm>
            <a:off x="7416800" y="3375670"/>
            <a:ext cx="408127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B6A8F"/>
                </a:solidFill>
                <a:latin typeface="IBM Plex Sans" pitchFamily="34" charset="0"/>
                <a:ea typeface="IBM Plex Sans" pitchFamily="34" charset="-122"/>
                <a:cs typeface="IBM Plex Sans" pitchFamily="34" charset="-120"/>
              </a:rPr>
              <a:t>Pick a run, see its path</a:t>
            </a:r>
            <a:endParaRPr lang="en-US" sz="1400" dirty="0"/>
          </a:p>
        </p:txBody>
      </p:sp>
      <p:sp>
        <p:nvSpPr>
          <p:cNvPr id="10" name="Text 7"/>
          <p:cNvSpPr/>
          <p:nvPr/>
        </p:nvSpPr>
        <p:spPr>
          <a:xfrm>
            <a:off x="7416800" y="3649960"/>
            <a:ext cx="408127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96A"/>
                </a:solidFill>
                <a:latin typeface="IBM Plex Sans" pitchFamily="34" charset="0"/>
                <a:ea typeface="IBM Plex Sans" pitchFamily="34" charset="-122"/>
                <a:cs typeface="IBM Plex Sans" pitchFamily="34" charset="-120"/>
              </a:rPr>
              <a:t>In orange, the screens TC-088 visited, in order, read from that run's log.</a:t>
            </a:r>
            <a:endParaRPr lang="en-US" sz="1200" dirty="0"/>
          </a:p>
        </p:txBody>
      </p:sp>
      <p:sp>
        <p:nvSpPr>
          <p:cNvPr id="11" name="Text 8"/>
          <p:cNvSpPr/>
          <p:nvPr/>
        </p:nvSpPr>
        <p:spPr>
          <a:xfrm>
            <a:off x="7416800" y="4254401"/>
            <a:ext cx="408127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B6A8F"/>
                </a:solidFill>
                <a:latin typeface="IBM Plex Sans" pitchFamily="34" charset="0"/>
                <a:ea typeface="IBM Plex Sans" pitchFamily="34" charset="-122"/>
                <a:cs typeface="IBM Plex Sans" pitchFamily="34" charset="-120"/>
              </a:rPr>
              <a:t>Click a screen</a:t>
            </a:r>
            <a:endParaRPr lang="en-US" sz="1400" dirty="0"/>
          </a:p>
        </p:txBody>
      </p:sp>
      <p:sp>
        <p:nvSpPr>
          <p:cNvPr id="12" name="Text 9"/>
          <p:cNvSpPr/>
          <p:nvPr/>
        </p:nvSpPr>
        <p:spPr>
          <a:xfrm>
            <a:off x="7416800" y="4528691"/>
            <a:ext cx="408127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96A"/>
                </a:solidFill>
                <a:latin typeface="IBM Plex Sans" pitchFamily="34" charset="0"/>
                <a:ea typeface="IBM Plex Sans" pitchFamily="34" charset="-122"/>
                <a:cs typeface="IBM Plex Sans" pitchFamily="34" charset="-120"/>
              </a:rPr>
              <a:t>Its stored screenshot, how often it was visited, and its controls.</a:t>
            </a:r>
            <a:endParaRPr lang="en-US" sz="1200" dirty="0"/>
          </a:p>
        </p:txBody>
      </p:sp>
      <p:sp>
        <p:nvSpPr>
          <p:cNvPr id="13" name="Text 10"/>
          <p:cNvSpPr/>
          <p:nvPr/>
        </p:nvSpPr>
        <p:spPr>
          <a:xfrm>
            <a:off x="812800" y="6238280"/>
            <a:ext cx="34599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5697A"/>
                </a:solidFill>
                <a:latin typeface="IBM Plex Sans" pitchFamily="34" charset="0"/>
                <a:ea typeface="IBM Plex Sans" pitchFamily="34" charset="-122"/>
                <a:cs typeface="IBM Plex Sans" pitchFamily="34" charset="-120"/>
              </a:rPr>
              <a:t>Exploratory Testing Automation · CSE 450 · BUET</a:t>
            </a:r>
            <a:endParaRPr lang="en-US" sz="1200" dirty="0"/>
          </a:p>
        </p:txBody>
      </p:sp>
      <p:sp>
        <p:nvSpPr>
          <p:cNvPr id="14" name="Text 11"/>
          <p:cNvSpPr/>
          <p:nvPr/>
        </p:nvSpPr>
        <p:spPr>
          <a:xfrm>
            <a:off x="11196290" y="6238280"/>
            <a:ext cx="2337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5697A"/>
                </a:solidFill>
                <a:latin typeface="IBM Plex Sans" pitchFamily="34" charset="0"/>
                <a:ea typeface="IBM Plex Sans" pitchFamily="34" charset="-122"/>
                <a:cs typeface="IBM Plex Sans" pitchFamily="34" charset="-120"/>
              </a:rPr>
              <a:t>24</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Exploratory Testing Automation</dc:title>
  <dc:subject>PptxGenJS Presentation</dc:subject>
  <dc:creator>PptxGenJS</dc:creator>
  <cp:lastModifiedBy>PptxGenJS</cp:lastModifiedBy>
  <cp:revision>1</cp:revision>
  <dcterms:created xsi:type="dcterms:W3CDTF">2026-09-29T19:53:35Z</dcterms:created>
  <dcterms:modified xsi:type="dcterms:W3CDTF">2026-09-29T19:53:35Z</dcterms:modified>
</cp:coreProperties>
</file>