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charts/chart1.xml" ContentType="application/vnd.openxmlformats-officedocument.drawingml.chart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Autonomy</c:v>
                </c:pt>
              </c:strCache>
            </c:strRef>
          </c:tx>
          <c:spPr>
            <a:solidFill>
              <a:srgbClr val="0B6A8F"/>
            </a:solidFill>
            <a:ln w="38100" cap="flat">
              <a:solidFill>
                <a:srgbClr val="0B6A8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B6A8F"/>
              </a:solidFill>
              <a:ln w="9525" cap="flat">
                <a:solidFill>
                  <a:srgbClr val="0B6A8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12 Aug</c:v>
                  </c:pt>
                  <c:pt idx="1">
                    <c:v>13 Aug</c:v>
                  </c:pt>
                  <c:pt idx="2">
                    <c:v>13 Aug pm</c:v>
                  </c:pt>
                  <c:pt idx="3">
                    <c:v>30 Aug</c:v>
                  </c:pt>
                  <c:pt idx="4">
                    <c:v>Sep market</c:v>
                  </c:pt>
                  <c:pt idx="5">
                    <c:v>Sep Contacts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18</c:v>
                </c:pt>
                <c:pt idx="1">
                  <c:v>96</c:v>
                </c:pt>
                <c:pt idx="2">
                  <c:v>100</c:v>
                </c:pt>
                <c:pt idx="3">
                  <c:v>68</c:v>
                </c:pt>
                <c:pt idx="4">
                  <c:v>69</c:v>
                </c:pt>
                <c:pt idx="5">
                  <c:v>80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Pass rate</c:v>
                </c:pt>
              </c:strCache>
            </c:strRef>
          </c:tx>
          <c:spPr>
            <a:solidFill>
              <a:srgbClr val="A9502C"/>
            </a:solidFill>
            <a:ln w="38100" cap="flat">
              <a:solidFill>
                <a:srgbClr val="A9502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A9502C"/>
              </a:solidFill>
              <a:ln w="9525" cap="flat">
                <a:solidFill>
                  <a:srgbClr val="A9502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12 Aug</c:v>
                  </c:pt>
                  <c:pt idx="1">
                    <c:v>13 Aug</c:v>
                  </c:pt>
                  <c:pt idx="2">
                    <c:v>13 Aug pm</c:v>
                  </c:pt>
                  <c:pt idx="3">
                    <c:v>30 Aug</c:v>
                  </c:pt>
                  <c:pt idx="4">
                    <c:v>Sep market</c:v>
                  </c:pt>
                  <c:pt idx="5">
                    <c:v>Sep Contacts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20</c:v>
                </c:pt>
                <c:pt idx="2">
                  <c:v>36</c:v>
                </c:pt>
                <c:pt idx="3">
                  <c:v>52</c:v>
                </c:pt>
                <c:pt idx="4">
                  <c:v>44</c:v>
                </c:pt>
                <c:pt idx="5">
                  <c:v>40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69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D5E0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69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55697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02368" y="420624"/>
            <a:ext cx="1883664" cy="384048"/>
          </a:xfrm>
          <a:prstGeom prst="roundRect">
            <a:avLst>
              <a:gd name="adj" fmla="val 50000"/>
            </a:avLst>
          </a:prstGeom>
          <a:solidFill>
            <a:srgbClr val="DCE8ED"/>
          </a:solidFill>
          <a:ln w="12700">
            <a:solidFill>
              <a:srgbClr val="DCE8E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802368" y="420624"/>
            <a:ext cx="1883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Niloy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9052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189 autonomous runs across five targets</a:t>
            </a:r>
            <a:endParaRPr lang="en-US" sz="30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11137392" cy="914400"/>
        </p:xfrm>
        <a:graphic>
          <a:graphicData uri="http://schemas.openxmlformats.org/drawingml/2006/table">
            <a:tbl>
              <a:tblPr/>
              <a:tblGrid>
                <a:gridCol w="3822192"/>
                <a:gridCol w="1371600"/>
                <a:gridCol w="1280160"/>
                <a:gridCol w="1280160"/>
                <a:gridCol w="1600200"/>
                <a:gridCol w="17830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fault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fault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3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4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DataGhurhi, survey platform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4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4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4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4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A95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4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Shobar Khamar, marketplace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4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Android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4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4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4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4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4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Contacts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4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Android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4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4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4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4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4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broken-workshop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4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4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4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4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4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4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AcademyBug, no specification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4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4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4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4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A95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120640"/>
            <a:ext cx="11137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on the two Android targets: 33 of 106 and 55 of 141 requirements, 97 and 60 UI states mapped.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052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two end rows are the whole argument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2011680"/>
            <a:ext cx="5440680" cy="301752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5E0E5"/>
            </a:solidFill>
            <a:prstDash val="solid"/>
          </a:ln>
          <a:effectLst>
            <a:outerShdw sx="100000" sy="100000" kx="0" ky="0" algn="bl" rotWithShape="0" blurRad="101600" dist="12700" dir="5400000">
              <a:srgbClr val="14303D">
                <a:alpha val="7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68680" y="22402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10" kern="0" dirty="0">
                <a:solidFill>
                  <a:srgbClr val="1E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specification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60604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1E6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7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88620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faults in 64 runs.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63640" y="2011680"/>
            <a:ext cx="5422392" cy="3017520"/>
          </a:xfrm>
          <a:prstGeom prst="roundRect">
            <a:avLst>
              <a:gd name="adj" fmla="val 1818"/>
            </a:avLst>
          </a:prstGeom>
          <a:solidFill>
            <a:srgbClr val="14303D"/>
          </a:solidFill>
          <a:ln w="12700">
            <a:solidFill>
              <a:srgbClr val="D5E0E5"/>
            </a:solidFill>
            <a:prstDash val="solid"/>
          </a:ln>
          <a:effectLst>
            <a:outerShdw sx="100000" sy="100000" kx="0" ky="0" algn="bl" rotWithShape="0" blurRad="101600" dist="12700" dir="5400000">
              <a:srgbClr val="14303D">
                <a:alpha val="7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583680" y="22402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10" kern="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one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260604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A95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72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388620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faults in 20 runs.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257800"/>
            <a:ext cx="11137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specification is not decoration. It is what lets the agent know where it is going.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052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campaign curve actually shows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783080"/>
          <a:ext cx="694944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863840" y="1956816"/>
            <a:ext cx="182880" cy="182880"/>
          </a:xfrm>
          <a:prstGeom prst="ellipse">
            <a:avLst/>
          </a:prstGeom>
          <a:solidFill>
            <a:srgbClr val="A9502C"/>
          </a:solidFill>
          <a:ln w="12700">
            <a:solidFill>
              <a:srgbClr val="A9502C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11312" y="187452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looked catastrophic.</a:t>
            </a:r>
            <a:endParaRPr lang="en-US" sz="1450" dirty="0"/>
          </a:p>
        </p:txBody>
      </p:sp>
      <p:sp>
        <p:nvSpPr>
          <p:cNvPr id="6" name="Text 3"/>
          <p:cNvSpPr txBox="1"/>
          <p:nvPr/>
        </p:nvSpPr>
        <p:spPr>
          <a:xfrm>
            <a:off x="8211312" y="2240280"/>
            <a:ext cx="3474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 of device steps were unparseable, so nothing could be attributed. The instrumentation worked and revealed that the evidence did not.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863840" y="3419856"/>
            <a:ext cx="182880" cy="182880"/>
          </a:xfrm>
          <a:prstGeom prst="ellipse">
            <a:avLst/>
          </a:prstGeom>
          <a:solidFill>
            <a:srgbClr val="1E6B45"/>
          </a:solidFill>
          <a:ln w="12700">
            <a:solidFill>
              <a:srgbClr val="1E6B4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11312" y="333756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fixes, one day.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8211312" y="3703320"/>
            <a:ext cx="3474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reassembly, containment matching, a precondition filter, a device reset. Two days later: 100% autonomy.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863840" y="4882896"/>
            <a:ext cx="182880" cy="182880"/>
          </a:xfrm>
          <a:prstGeom prst="ellipse">
            <a:avLst/>
          </a:prstGeom>
          <a:solidFill>
            <a:srgbClr val="0B6A8F"/>
          </a:solidFill>
          <a:ln w="12700">
            <a:solidFill>
              <a:srgbClr val="0B6A8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11312" y="48006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it met production.</a:t>
            </a:r>
            <a:endParaRPr lang="en-US" sz="1450" dirty="0"/>
          </a:p>
        </p:txBody>
      </p:sp>
      <p:sp>
        <p:nvSpPr>
          <p:cNvPr id="12" name="Text 9"/>
          <p:cNvSpPr txBox="1"/>
          <p:nvPr/>
        </p:nvSpPr>
        <p:spPr>
          <a:xfrm>
            <a:off x="8211312" y="5166360"/>
            <a:ext cx="3474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Autonomy fell to 67%. A tuned agent does not transfer for free.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430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192024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USD 0.008</a:t>
            </a:r>
            <a:endParaRPr lang="en-US" sz="68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3310128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C4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executed test, measured against the provider's billing record at 10.1 device steps per test.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223760" y="2148840"/>
            <a:ext cx="402336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D5E0E5"/>
            </a:solidFill>
            <a:prstDash val="solid"/>
          </a:ln>
          <a:effectLst>
            <a:outerShdw sx="100000" sy="100000" kx="0" ky="0" algn="bl" rotWithShape="0" blurRad="101600" dist="12700" dir="5400000">
              <a:srgbClr val="14303D">
                <a:alpha val="7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543800" y="2395728"/>
            <a:ext cx="3429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Comparable published work reports about USD 18 per application, and states that the cost prevented the authors from repeating their own runs.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5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052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cannot yet claim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965960"/>
            <a:ext cx="11137392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5E0E5"/>
            </a:solidFill>
            <a:prstDash val="solid"/>
          </a:ln>
          <a:effectLst>
            <a:outerShdw sx="100000" sy="100000" kx="0" ky="0" algn="bl" rotWithShape="0" blurRad="101600" dist="12700" dir="5400000">
              <a:srgbClr val="14303D">
                <a:alpha val="7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914400" y="21488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95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precision or recall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937760" y="21488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Establishing them honestly needs seeded defects. The partner supplied neither a defect export nor a seeded build.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3218688"/>
            <a:ext cx="11137392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5E0E5"/>
            </a:solidFill>
            <a:prstDash val="solid"/>
          </a:ln>
          <a:effectLst>
            <a:outerShdw sx="100000" sy="100000" kx="0" ky="0" algn="bl" rotWithShape="0" blurRad="101600" dist="12700" dir="5400000">
              <a:srgbClr val="14303D">
                <a:alpha val="7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14400" y="340156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95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models changed eight times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3401568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rates rose and so did model quality. This report does not separate those two causes.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4471416"/>
            <a:ext cx="11137392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5E0E5"/>
            </a:solidFill>
            <a:prstDash val="solid"/>
          </a:ln>
          <a:effectLst>
            <a:outerShdw sx="100000" sy="100000" kx="0" ky="0" algn="bl" rotWithShape="0" blurRad="101600" dist="12700" dir="5400000">
              <a:srgbClr val="14303D">
                <a:alpha val="7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914400" y="465429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95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is local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4654296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developer operated host. Not hardened for shared infrastructure.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5760720"/>
            <a:ext cx="11137392" cy="804672"/>
          </a:xfrm>
          <a:prstGeom prst="roundRect">
            <a:avLst>
              <a:gd name="adj" fmla="val 6818"/>
            </a:avLst>
          </a:prstGeom>
          <a:solidFill>
            <a:srgbClr val="14303D"/>
          </a:solidFill>
          <a:ln w="12700">
            <a:solidFill>
              <a:srgbClr val="D5E0E5"/>
            </a:solidFill>
            <a:prstDash val="solid"/>
          </a:ln>
          <a:effectLst>
            <a:outerShdw sx="100000" sy="100000" kx="0" ky="0" algn="bl" rotWithShape="0" blurRad="101600" dist="12700" dir="5400000">
              <a:srgbClr val="14303D">
                <a:alpha val="7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914400" y="5760720"/>
            <a:ext cx="10424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oracles that check the application's stored state, and judging after every step rather than only at the verdict.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430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214884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32004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4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are welcome.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675120" y="201168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104120" y="2011680"/>
            <a:ext cx="1581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Raihan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675120" y="254203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and Android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104120" y="2542032"/>
            <a:ext cx="1581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Mehemud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675120" y="3072384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agent and safety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104120" y="3072384"/>
            <a:ext cx="1581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Jonayed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675120" y="3602736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Verdicts and attribution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104120" y="3602736"/>
            <a:ext cx="1581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Tuhin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0" y="4133088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and cost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104120" y="4133088"/>
            <a:ext cx="1581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Niloy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Exploratory Testing Automation</dc:title>
  <dc:subject>PptxGenJS Presentation</dc:subject>
  <dc:creator>CSE 450 Capstone Team</dc:creator>
  <cp:lastModifiedBy>CSE 450 Capstone Team</cp:lastModifiedBy>
  <cp:revision>1</cp:revision>
  <dcterms:created xsi:type="dcterms:W3CDTF">2026-09-29T18:34:22Z</dcterms:created>
  <dcterms:modified xsi:type="dcterms:W3CDTF">2026-09-29T18:34:22Z</dcterms:modified>
</cp:coreProperties>
</file>