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charts/chart1.xml" ContentType="application/vnd.openxmlformats-officedocument.drawingml.chart+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70" r:id="rId16"/>
    <p:sldId id="271" r:id="rId17"/>
    <p:sldId id="272" r:id="rId18"/>
    <p:sldId id="273" r:id="rId19"/>
    <p:sldId id="274" r:id="rId20"/>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off: 'So how do we know that 500 is real and not the agent imagining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8F9"/>
        </a:solidFill>
      </p:bgPr>
    </p:bg>
    <p:spTree>
      <p:nvGrpSpPr>
        <p:cNvPr id="1" name=""/>
        <p:cNvGrpSpPr/>
        <p:nvPr/>
      </p:nvGrpSpPr>
      <p:grpSpPr>
        <a:xfrm>
          <a:off x="0" y="0"/>
          <a:ext cx="0" cy="0"/>
          <a:chOff x="0" y="0"/>
          <a:chExt cx="0" cy="0"/>
        </a:xfrm>
      </p:grpSpPr>
      <p:sp>
        <p:nvSpPr>
          <p:cNvPr id="2" name="Shape 0"/>
          <p:cNvSpPr/>
          <p:nvPr/>
        </p:nvSpPr>
        <p:spPr>
          <a:xfrm>
            <a:off x="9802368" y="420624"/>
            <a:ext cx="1883664" cy="384048"/>
          </a:xfrm>
          <a:prstGeom prst="roundRect">
            <a:avLst>
              <a:gd name="adj" fmla="val 50000"/>
            </a:avLst>
          </a:prstGeom>
          <a:solidFill>
            <a:srgbClr val="DCE8ED"/>
          </a:solidFill>
          <a:ln w="12700">
            <a:solidFill>
              <a:srgbClr val="DCE8ED"/>
            </a:solidFill>
            <a:prstDash val="solid"/>
          </a:ln>
        </p:spPr>
      </p:sp>
      <p:sp>
        <p:nvSpPr>
          <p:cNvPr id="3" name="Text 1"/>
          <p:cNvSpPr txBox="1"/>
          <p:nvPr/>
        </p:nvSpPr>
        <p:spPr>
          <a:xfrm>
            <a:off x="9802368" y="420624"/>
            <a:ext cx="1883664" cy="384048"/>
          </a:xfrm>
          <a:prstGeom prst="rect">
            <a:avLst/>
          </a:prstGeom>
          <a:noFill/>
          <a:ln/>
        </p:spPr>
        <p:txBody>
          <a:bodyPr wrap="square" lIns="0" tIns="0" rIns="0" bIns="0" rtlCol="0" anchor="ctr"/>
          <a:lstStyle/>
          <a:p>
            <a:pPr algn="ctr" indent="0" marL="0">
              <a:buNone/>
            </a:pPr>
            <a:r>
              <a:rPr lang="en-US" sz="1200" b="1" dirty="0">
                <a:solidFill>
                  <a:srgbClr val="0B6A8F"/>
                </a:solidFill>
                <a:latin typeface="Calibri" pitchFamily="34" charset="0"/>
                <a:ea typeface="Calibri" pitchFamily="34" charset="-122"/>
                <a:cs typeface="Calibri" pitchFamily="34" charset="-120"/>
              </a:rPr>
              <a:t>Jonayed</a:t>
            </a:r>
            <a:endParaRPr lang="en-US" sz="1200" dirty="0"/>
          </a:p>
        </p:txBody>
      </p:sp>
      <p:sp>
        <p:nvSpPr>
          <p:cNvPr id="4" name="Text 2"/>
          <p:cNvSpPr txBox="1"/>
          <p:nvPr/>
        </p:nvSpPr>
        <p:spPr>
          <a:xfrm>
            <a:off x="548640" y="457200"/>
            <a:ext cx="9052560" cy="658368"/>
          </a:xfrm>
          <a:prstGeom prst="rect">
            <a:avLst/>
          </a:prstGeom>
          <a:noFill/>
          <a:ln/>
        </p:spPr>
        <p:txBody>
          <a:bodyPr wrap="square" lIns="0" tIns="0" rIns="0" bIns="0" rtlCol="0" anchor="ctr"/>
          <a:lstStyle/>
          <a:p>
            <a:pPr indent="0" marL="0">
              <a:buNone/>
            </a:pPr>
            <a:r>
              <a:rPr lang="en-US" sz="3000" b="1" dirty="0">
                <a:solidFill>
                  <a:srgbClr val="14303D"/>
                </a:solidFill>
                <a:latin typeface="Cambria" pitchFamily="34" charset="0"/>
                <a:ea typeface="Cambria" pitchFamily="34" charset="-122"/>
                <a:cs typeface="Cambria" pitchFamily="34" charset="-120"/>
              </a:rPr>
              <a:t>An objective, never a tap sequence</a:t>
            </a:r>
            <a:endParaRPr lang="en-US" sz="3000" dirty="0"/>
          </a:p>
        </p:txBody>
      </p:sp>
      <p:sp>
        <p:nvSpPr>
          <p:cNvPr id="5" name="Shape 3"/>
          <p:cNvSpPr/>
          <p:nvPr/>
        </p:nvSpPr>
        <p:spPr>
          <a:xfrm>
            <a:off x="548640" y="1874520"/>
            <a:ext cx="5486400" cy="3291840"/>
          </a:xfrm>
          <a:prstGeom prst="roundRect">
            <a:avLst>
              <a:gd name="adj" fmla="val 1667"/>
            </a:avLst>
          </a:prstGeom>
          <a:solidFill>
            <a:srgbClr val="FFFFFF"/>
          </a:solidFill>
          <a:ln w="12700">
            <a:solidFill>
              <a:srgbClr val="D5E0E5"/>
            </a:solidFill>
            <a:prstDash val="solid"/>
          </a:ln>
          <a:effectLst>
            <a:outerShdw sx="100000" sy="100000" kx="0" ky="0" algn="bl" rotWithShape="0" blurRad="101600" dist="12700" dir="5400000">
              <a:srgbClr val="14303D">
                <a:alpha val="7000"/>
              </a:srgbClr>
            </a:outerShdw>
          </a:effectLst>
        </p:spPr>
      </p:sp>
      <p:sp>
        <p:nvSpPr>
          <p:cNvPr id="6" name="Text 4"/>
          <p:cNvSpPr txBox="1"/>
          <p:nvPr/>
        </p:nvSpPr>
        <p:spPr>
          <a:xfrm>
            <a:off x="868680" y="2103120"/>
            <a:ext cx="4572000" cy="274320"/>
          </a:xfrm>
          <a:prstGeom prst="rect">
            <a:avLst/>
          </a:prstGeom>
          <a:noFill/>
          <a:ln/>
        </p:spPr>
        <p:txBody>
          <a:bodyPr wrap="square" lIns="0" tIns="0" rIns="0" bIns="0" rtlCol="0" anchor="ctr"/>
          <a:lstStyle/>
          <a:p>
            <a:pPr indent="0" marL="0">
              <a:buNone/>
            </a:pPr>
            <a:r>
              <a:rPr lang="en-US" sz="1200" b="1" spc="120" kern="0" dirty="0">
                <a:solidFill>
                  <a:srgbClr val="0B6A8F"/>
                </a:solidFill>
                <a:latin typeface="Calibri" pitchFamily="34" charset="0"/>
                <a:ea typeface="Calibri" pitchFamily="34" charset="-122"/>
                <a:cs typeface="Calibri" pitchFamily="34" charset="-120"/>
              </a:rPr>
              <a:t>What the planner sends</a:t>
            </a:r>
            <a:endParaRPr lang="en-US" sz="1200" dirty="0"/>
          </a:p>
        </p:txBody>
      </p:sp>
      <p:sp>
        <p:nvSpPr>
          <p:cNvPr id="7" name="Text 5"/>
          <p:cNvSpPr txBox="1"/>
          <p:nvPr/>
        </p:nvSpPr>
        <p:spPr>
          <a:xfrm>
            <a:off x="868680" y="2487168"/>
            <a:ext cx="4846320" cy="914400"/>
          </a:xfrm>
          <a:prstGeom prst="rect">
            <a:avLst/>
          </a:prstGeom>
          <a:noFill/>
          <a:ln/>
        </p:spPr>
        <p:txBody>
          <a:bodyPr wrap="square" lIns="0" tIns="0" rIns="0" bIns="0" rtlCol="0" anchor="ctr"/>
          <a:lstStyle/>
          <a:p>
            <a:pPr indent="0" marL="0">
              <a:lnSpc>
                <a:spcPts val="2600"/>
              </a:lnSpc>
              <a:buNone/>
            </a:pPr>
            <a:r>
              <a:rPr lang="en-US" sz="1800" i="1" dirty="0">
                <a:solidFill>
                  <a:srgbClr val="14303D"/>
                </a:solidFill>
                <a:latin typeface="Cambria" pitchFamily="34" charset="0"/>
                <a:ea typeface="Cambria" pitchFamily="34" charset="-122"/>
                <a:cs typeface="Cambria" pitchFamily="34" charset="-120"/>
              </a:rPr>
              <a:t>A goal, the expected result, and preconditions. Nothing positional.</a:t>
            </a:r>
            <a:endParaRPr lang="en-US" sz="1800" dirty="0"/>
          </a:p>
        </p:txBody>
      </p:sp>
      <p:sp>
        <p:nvSpPr>
          <p:cNvPr id="8" name="Text 6"/>
          <p:cNvSpPr txBox="1"/>
          <p:nvPr/>
        </p:nvSpPr>
        <p:spPr>
          <a:xfrm>
            <a:off x="868680" y="3611880"/>
            <a:ext cx="4846320" cy="1280160"/>
          </a:xfrm>
          <a:prstGeom prst="rect">
            <a:avLst/>
          </a:prstGeom>
          <a:noFill/>
          <a:ln/>
        </p:spPr>
        <p:txBody>
          <a:bodyPr wrap="square" lIns="0" tIns="0" rIns="0" bIns="0" rtlCol="0" anchor="ctr"/>
          <a:lstStyle/>
          <a:p>
            <a:pPr indent="0" marL="0">
              <a:lnSpc>
                <a:spcPts val="1900"/>
              </a:lnSpc>
              <a:buNone/>
            </a:pPr>
            <a:r>
              <a:rPr lang="en-US" sz="1350" dirty="0">
                <a:solidFill>
                  <a:srgbClr val="55697A"/>
                </a:solidFill>
                <a:latin typeface="Calibri" pitchFamily="34" charset="0"/>
                <a:ea typeface="Calibri" pitchFamily="34" charset="-122"/>
                <a:cs typeface="Calibri" pitchFamily="34" charset="-120"/>
              </a:rPr>
              <a:t>The executor resolves every control at runtime against what is actually on the screen.</a:t>
            </a:r>
            <a:endParaRPr lang="en-US" sz="1350" dirty="0"/>
          </a:p>
        </p:txBody>
      </p:sp>
      <p:sp>
        <p:nvSpPr>
          <p:cNvPr id="9" name="Shape 7"/>
          <p:cNvSpPr/>
          <p:nvPr/>
        </p:nvSpPr>
        <p:spPr>
          <a:xfrm>
            <a:off x="6309360" y="1874520"/>
            <a:ext cx="5376672" cy="3291840"/>
          </a:xfrm>
          <a:prstGeom prst="roundRect">
            <a:avLst>
              <a:gd name="adj" fmla="val 1667"/>
            </a:avLst>
          </a:prstGeom>
          <a:solidFill>
            <a:srgbClr val="14303D"/>
          </a:solidFill>
          <a:ln w="12700">
            <a:solidFill>
              <a:srgbClr val="D5E0E5"/>
            </a:solidFill>
            <a:prstDash val="solid"/>
          </a:ln>
          <a:effectLst>
            <a:outerShdw sx="100000" sy="100000" kx="0" ky="0" algn="bl" rotWithShape="0" blurRad="101600" dist="12700" dir="5400000">
              <a:srgbClr val="14303D">
                <a:alpha val="7000"/>
              </a:srgbClr>
            </a:outerShdw>
          </a:effectLst>
        </p:spPr>
      </p:sp>
      <p:sp>
        <p:nvSpPr>
          <p:cNvPr id="10" name="Text 8"/>
          <p:cNvSpPr txBox="1"/>
          <p:nvPr/>
        </p:nvSpPr>
        <p:spPr>
          <a:xfrm>
            <a:off x="6629400" y="2103120"/>
            <a:ext cx="4572000" cy="274320"/>
          </a:xfrm>
          <a:prstGeom prst="rect">
            <a:avLst/>
          </a:prstGeom>
          <a:noFill/>
          <a:ln/>
        </p:spPr>
        <p:txBody>
          <a:bodyPr wrap="square" lIns="0" tIns="0" rIns="0" bIns="0" rtlCol="0" anchor="ctr"/>
          <a:lstStyle/>
          <a:p>
            <a:pPr indent="0" marL="0">
              <a:buNone/>
            </a:pPr>
            <a:r>
              <a:rPr lang="en-US" sz="1200" b="1" spc="120" kern="0" dirty="0">
                <a:solidFill>
                  <a:srgbClr val="7FB3C8"/>
                </a:solidFill>
                <a:latin typeface="Calibri" pitchFamily="34" charset="0"/>
                <a:ea typeface="Calibri" pitchFamily="34" charset="-122"/>
                <a:cs typeface="Calibri" pitchFamily="34" charset="-120"/>
              </a:rPr>
              <a:t>Why not a script</a:t>
            </a:r>
            <a:endParaRPr lang="en-US" sz="1200" dirty="0"/>
          </a:p>
        </p:txBody>
      </p:sp>
      <p:sp>
        <p:nvSpPr>
          <p:cNvPr id="11" name="Text 9"/>
          <p:cNvSpPr txBox="1"/>
          <p:nvPr/>
        </p:nvSpPr>
        <p:spPr>
          <a:xfrm>
            <a:off x="6629400" y="2487168"/>
            <a:ext cx="4754880" cy="731520"/>
          </a:xfrm>
          <a:prstGeom prst="rect">
            <a:avLst/>
          </a:prstGeom>
          <a:noFill/>
          <a:ln/>
        </p:spPr>
        <p:txBody>
          <a:bodyPr wrap="square" lIns="0" tIns="0" rIns="0" bIns="0" rtlCol="0" anchor="ctr"/>
          <a:lstStyle/>
          <a:p>
            <a:pPr indent="0" marL="0">
              <a:lnSpc>
                <a:spcPts val="2600"/>
              </a:lnSpc>
              <a:buNone/>
            </a:pPr>
            <a:r>
              <a:rPr lang="en-US" sz="1900" b="1" dirty="0">
                <a:solidFill>
                  <a:srgbClr val="FFFFFF"/>
                </a:solidFill>
                <a:latin typeface="Cambria" pitchFamily="34" charset="0"/>
                <a:ea typeface="Cambria" pitchFamily="34" charset="-122"/>
                <a:cs typeface="Cambria" pitchFamily="34" charset="-120"/>
              </a:rPr>
              <a:t>The planner cannot see the live screen.</a:t>
            </a:r>
            <a:endParaRPr lang="en-US" sz="1900" dirty="0"/>
          </a:p>
        </p:txBody>
      </p:sp>
      <p:sp>
        <p:nvSpPr>
          <p:cNvPr id="12" name="Text 10"/>
          <p:cNvSpPr txBox="1"/>
          <p:nvPr/>
        </p:nvSpPr>
        <p:spPr>
          <a:xfrm>
            <a:off x="6629400" y="3383280"/>
            <a:ext cx="4754880" cy="1463040"/>
          </a:xfrm>
          <a:prstGeom prst="rect">
            <a:avLst/>
          </a:prstGeom>
          <a:noFill/>
          <a:ln/>
        </p:spPr>
        <p:txBody>
          <a:bodyPr wrap="square" lIns="0" tIns="0" rIns="0" bIns="0" rtlCol="0" anchor="ctr"/>
          <a:lstStyle/>
          <a:p>
            <a:pPr indent="0" marL="0">
              <a:lnSpc>
                <a:spcPts val="2000"/>
              </a:lnSpc>
              <a:buNone/>
            </a:pPr>
            <a:r>
              <a:rPr lang="en-US" sz="1400" dirty="0">
                <a:solidFill>
                  <a:srgbClr val="C4D6DE"/>
                </a:solidFill>
                <a:latin typeface="Calibri" pitchFamily="34" charset="0"/>
                <a:ea typeface="Calibri" pitchFamily="34" charset="-122"/>
                <a:cs typeface="Calibri" pitchFamily="34" charset="-120"/>
              </a:rPr>
              <a:t>The executor can recover from a vague goal. It cannot recover from instructions that do not match the screen in front of it.</a:t>
            </a:r>
            <a:endParaRPr lang="en-US" sz="1400" dirty="0"/>
          </a:p>
        </p:txBody>
      </p:sp>
      <p:sp>
        <p:nvSpPr>
          <p:cNvPr id="13" name="Text 11"/>
          <p:cNvSpPr txBox="1"/>
          <p:nvPr/>
        </p:nvSpPr>
        <p:spPr>
          <a:xfrm>
            <a:off x="548640" y="5394960"/>
            <a:ext cx="11137392" cy="457200"/>
          </a:xfrm>
          <a:prstGeom prst="rect">
            <a:avLst/>
          </a:prstGeom>
          <a:noFill/>
          <a:ln/>
        </p:spPr>
        <p:txBody>
          <a:bodyPr wrap="square" lIns="0" tIns="0" rIns="0" bIns="0" rtlCol="0" anchor="ctr"/>
          <a:lstStyle/>
          <a:p>
            <a:pPr indent="0" marL="0">
              <a:buNone/>
            </a:pPr>
            <a:r>
              <a:rPr lang="en-US" sz="1400" b="1" dirty="0">
                <a:solidFill>
                  <a:srgbClr val="14303D"/>
                </a:solidFill>
                <a:latin typeface="Calibri" pitchFamily="34" charset="0"/>
                <a:ea typeface="Calibri" pitchFamily="34" charset="-122"/>
                <a:cs typeface="Calibri" pitchFamily="34" charset="-120"/>
              </a:rPr>
              <a:t>This is the contract both executors implement. One planner, two bodies.</a:t>
            </a:r>
            <a:endParaRPr lang="en-US" sz="1400" dirty="0"/>
          </a:p>
        </p:txBody>
      </p:sp>
      <p:sp>
        <p:nvSpPr>
          <p:cNvPr id="14" name="Text 12"/>
          <p:cNvSpPr txBox="1"/>
          <p:nvPr/>
        </p:nvSpPr>
        <p:spPr>
          <a:xfrm>
            <a:off x="11247120" y="6355080"/>
            <a:ext cx="457200" cy="274320"/>
          </a:xfrm>
          <a:prstGeom prst="rect">
            <a:avLst/>
          </a:prstGeom>
          <a:noFill/>
          <a:ln/>
        </p:spPr>
        <p:txBody>
          <a:bodyPr wrap="square" lIns="0" tIns="0" rIns="0" bIns="0" rtlCol="0" anchor="ctr"/>
          <a:lstStyle/>
          <a:p>
            <a:pPr algn="r" indent="0" marL="0">
              <a:buNone/>
            </a:pPr>
            <a:r>
              <a:rPr lang="en-US" sz="900" dirty="0">
                <a:solidFill>
                  <a:srgbClr val="55697A"/>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8F9"/>
        </a:solidFill>
      </p:bgPr>
    </p:bg>
    <p:spTree>
      <p:nvGrpSpPr>
        <p:cNvPr id="1" name=""/>
        <p:cNvGrpSpPr/>
        <p:nvPr/>
      </p:nvGrpSpPr>
      <p:grpSpPr>
        <a:xfrm>
          <a:off x="0" y="0"/>
          <a:ext cx="0" cy="0"/>
          <a:chOff x="0" y="0"/>
          <a:chExt cx="0" cy="0"/>
        </a:xfrm>
      </p:grpSpPr>
      <p:sp>
        <p:nvSpPr>
          <p:cNvPr id="2" name="Text 0"/>
          <p:cNvSpPr txBox="1"/>
          <p:nvPr/>
        </p:nvSpPr>
        <p:spPr>
          <a:xfrm>
            <a:off x="548640" y="457200"/>
            <a:ext cx="9052560" cy="658368"/>
          </a:xfrm>
          <a:prstGeom prst="rect">
            <a:avLst/>
          </a:prstGeom>
          <a:noFill/>
          <a:ln/>
        </p:spPr>
        <p:txBody>
          <a:bodyPr wrap="square" lIns="0" tIns="0" rIns="0" bIns="0" rtlCol="0" anchor="ctr"/>
          <a:lstStyle/>
          <a:p>
            <a:pPr indent="0" marL="0">
              <a:buNone/>
            </a:pPr>
            <a:r>
              <a:rPr lang="en-US" sz="3000" b="1" dirty="0">
                <a:solidFill>
                  <a:srgbClr val="14303D"/>
                </a:solidFill>
                <a:latin typeface="Cambria" pitchFamily="34" charset="0"/>
                <a:ea typeface="Cambria" pitchFamily="34" charset="-122"/>
                <a:cs typeface="Cambria" pitchFamily="34" charset="-120"/>
              </a:rPr>
              <a:t>The web agent: what it sees</a:t>
            </a:r>
            <a:endParaRPr lang="en-US" sz="3000" dirty="0"/>
          </a:p>
        </p:txBody>
      </p:sp>
      <p:sp>
        <p:nvSpPr>
          <p:cNvPr id="3" name="Text 1"/>
          <p:cNvSpPr txBox="1"/>
          <p:nvPr/>
        </p:nvSpPr>
        <p:spPr>
          <a:xfrm>
            <a:off x="548640" y="1133856"/>
            <a:ext cx="10424160" cy="347472"/>
          </a:xfrm>
          <a:prstGeom prst="rect">
            <a:avLst/>
          </a:prstGeom>
          <a:noFill/>
          <a:ln/>
        </p:spPr>
        <p:txBody>
          <a:bodyPr wrap="square" lIns="0" tIns="0" rIns="0" bIns="0" rtlCol="0" anchor="ctr"/>
          <a:lstStyle/>
          <a:p>
            <a:pPr indent="0" marL="0">
              <a:buNone/>
            </a:pPr>
            <a:r>
              <a:rPr lang="en-US" sz="1450" dirty="0">
                <a:solidFill>
                  <a:srgbClr val="55697A"/>
                </a:solidFill>
                <a:latin typeface="Calibri" pitchFamily="34" charset="0"/>
                <a:ea typeface="Calibri" pitchFamily="34" charset="-122"/>
                <a:cs typeface="Calibri" pitchFamily="34" charset="-120"/>
              </a:rPr>
              <a:t>Playwright, reading an accessibility style description of the DOM rather than screenshots.</a:t>
            </a:r>
            <a:endParaRPr lang="en-US" sz="1450" dirty="0"/>
          </a:p>
        </p:txBody>
      </p:sp>
      <p:sp>
        <p:nvSpPr>
          <p:cNvPr id="4" name="Shape 2"/>
          <p:cNvSpPr/>
          <p:nvPr/>
        </p:nvSpPr>
        <p:spPr>
          <a:xfrm>
            <a:off x="548640" y="1837944"/>
            <a:ext cx="11137392" cy="566928"/>
          </a:xfrm>
          <a:prstGeom prst="rect">
            <a:avLst/>
          </a:prstGeom>
          <a:solidFill>
            <a:srgbClr val="EDF3F5"/>
          </a:solidFill>
          <a:ln w="12700">
            <a:solidFill>
              <a:srgbClr val="EDF3F5"/>
            </a:solidFill>
            <a:prstDash val="solid"/>
          </a:ln>
        </p:spPr>
      </p:sp>
      <p:sp>
        <p:nvSpPr>
          <p:cNvPr id="5" name="Text 3"/>
          <p:cNvSpPr txBox="1"/>
          <p:nvPr/>
        </p:nvSpPr>
        <p:spPr>
          <a:xfrm>
            <a:off x="749808" y="1874520"/>
            <a:ext cx="3291840" cy="493776"/>
          </a:xfrm>
          <a:prstGeom prst="rect">
            <a:avLst/>
          </a:prstGeom>
          <a:noFill/>
          <a:ln/>
        </p:spPr>
        <p:txBody>
          <a:bodyPr wrap="square" lIns="0" tIns="0" rIns="0" bIns="0" rtlCol="0" anchor="ctr"/>
          <a:lstStyle/>
          <a:p>
            <a:pPr indent="0" marL="0">
              <a:buNone/>
            </a:pPr>
            <a:r>
              <a:rPr lang="en-US" sz="1350" b="1" dirty="0">
                <a:solidFill>
                  <a:srgbClr val="0B6A8F"/>
                </a:solidFill>
                <a:latin typeface="Consolas" pitchFamily="34" charset="0"/>
                <a:ea typeface="Consolas" pitchFamily="34" charset="-122"/>
                <a:cs typeface="Consolas" pitchFamily="34" charset="-120"/>
              </a:rPr>
              <a:t>role, name</a:t>
            </a:r>
            <a:endParaRPr lang="en-US" sz="1350" dirty="0"/>
          </a:p>
        </p:txBody>
      </p:sp>
      <p:sp>
        <p:nvSpPr>
          <p:cNvPr id="6" name="Text 4"/>
          <p:cNvSpPr txBox="1"/>
          <p:nvPr/>
        </p:nvSpPr>
        <p:spPr>
          <a:xfrm>
            <a:off x="4133088" y="1874520"/>
            <a:ext cx="7342632" cy="493776"/>
          </a:xfrm>
          <a:prstGeom prst="rect">
            <a:avLst/>
          </a:prstGeom>
          <a:noFill/>
          <a:ln/>
        </p:spPr>
        <p:txBody>
          <a:bodyPr wrap="square" lIns="0" tIns="0" rIns="0" bIns="0" rtlCol="0" anchor="ctr"/>
          <a:lstStyle/>
          <a:p>
            <a:pPr indent="0" marL="0">
              <a:buNone/>
            </a:pPr>
            <a:r>
              <a:rPr lang="en-US" sz="1350" dirty="0">
                <a:solidFill>
                  <a:srgbClr val="14303D"/>
                </a:solidFill>
                <a:latin typeface="Calibri" pitchFamily="34" charset="0"/>
                <a:ea typeface="Calibri" pitchFamily="34" charset="-122"/>
                <a:cs typeface="Calibri" pitchFamily="34" charset="-120"/>
              </a:rPr>
              <a:t>how every control is addressed, the same vocabulary as Android</a:t>
            </a:r>
            <a:endParaRPr lang="en-US" sz="1350" dirty="0"/>
          </a:p>
        </p:txBody>
      </p:sp>
      <p:sp>
        <p:nvSpPr>
          <p:cNvPr id="7" name="Text 5"/>
          <p:cNvSpPr txBox="1"/>
          <p:nvPr/>
        </p:nvSpPr>
        <p:spPr>
          <a:xfrm>
            <a:off x="749808" y="2441448"/>
            <a:ext cx="3291840" cy="493776"/>
          </a:xfrm>
          <a:prstGeom prst="rect">
            <a:avLst/>
          </a:prstGeom>
          <a:noFill/>
          <a:ln/>
        </p:spPr>
        <p:txBody>
          <a:bodyPr wrap="square" lIns="0" tIns="0" rIns="0" bIns="0" rtlCol="0" anchor="ctr"/>
          <a:lstStyle/>
          <a:p>
            <a:pPr indent="0" marL="0">
              <a:buNone/>
            </a:pPr>
            <a:r>
              <a:rPr lang="en-US" sz="1350" b="1" dirty="0">
                <a:solidFill>
                  <a:srgbClr val="0B6A8F"/>
                </a:solidFill>
                <a:latin typeface="Consolas" pitchFamily="34" charset="0"/>
                <a:ea typeface="Consolas" pitchFamily="34" charset="-122"/>
                <a:cs typeface="Consolas" pitchFamily="34" charset="-120"/>
              </a:rPr>
              <a:t>value, checked, options</a:t>
            </a:r>
            <a:endParaRPr lang="en-US" sz="1350" dirty="0"/>
          </a:p>
        </p:txBody>
      </p:sp>
      <p:sp>
        <p:nvSpPr>
          <p:cNvPr id="8" name="Text 6"/>
          <p:cNvSpPr txBox="1"/>
          <p:nvPr/>
        </p:nvSpPr>
        <p:spPr>
          <a:xfrm>
            <a:off x="4133088" y="2441448"/>
            <a:ext cx="7342632" cy="493776"/>
          </a:xfrm>
          <a:prstGeom prst="rect">
            <a:avLst/>
          </a:prstGeom>
          <a:noFill/>
          <a:ln/>
        </p:spPr>
        <p:txBody>
          <a:bodyPr wrap="square" lIns="0" tIns="0" rIns="0" bIns="0" rtlCol="0" anchor="ctr"/>
          <a:lstStyle/>
          <a:p>
            <a:pPr indent="0" marL="0">
              <a:buNone/>
            </a:pPr>
            <a:r>
              <a:rPr lang="en-US" sz="1350" dirty="0">
                <a:solidFill>
                  <a:srgbClr val="14303D"/>
                </a:solidFill>
                <a:latin typeface="Calibri" pitchFamily="34" charset="0"/>
                <a:ea typeface="Calibri" pitchFamily="34" charset="-122"/>
                <a:cs typeface="Calibri" pitchFamily="34" charset="-120"/>
              </a:rPr>
              <a:t>the current state of each field, so a change can be verified</a:t>
            </a:r>
            <a:endParaRPr lang="en-US" sz="1350" dirty="0"/>
          </a:p>
        </p:txBody>
      </p:sp>
      <p:sp>
        <p:nvSpPr>
          <p:cNvPr id="9" name="Shape 7"/>
          <p:cNvSpPr/>
          <p:nvPr/>
        </p:nvSpPr>
        <p:spPr>
          <a:xfrm>
            <a:off x="548640" y="2971800"/>
            <a:ext cx="11137392" cy="566928"/>
          </a:xfrm>
          <a:prstGeom prst="rect">
            <a:avLst/>
          </a:prstGeom>
          <a:solidFill>
            <a:srgbClr val="EDF3F5"/>
          </a:solidFill>
          <a:ln w="12700">
            <a:solidFill>
              <a:srgbClr val="EDF3F5"/>
            </a:solidFill>
            <a:prstDash val="solid"/>
          </a:ln>
        </p:spPr>
      </p:sp>
      <p:sp>
        <p:nvSpPr>
          <p:cNvPr id="10" name="Text 8"/>
          <p:cNvSpPr txBox="1"/>
          <p:nvPr/>
        </p:nvSpPr>
        <p:spPr>
          <a:xfrm>
            <a:off x="749808" y="3008376"/>
            <a:ext cx="3291840" cy="493776"/>
          </a:xfrm>
          <a:prstGeom prst="rect">
            <a:avLst/>
          </a:prstGeom>
          <a:noFill/>
          <a:ln/>
        </p:spPr>
        <p:txBody>
          <a:bodyPr wrap="square" lIns="0" tIns="0" rIns="0" bIns="0" rtlCol="0" anchor="ctr"/>
          <a:lstStyle/>
          <a:p>
            <a:pPr indent="0" marL="0">
              <a:buNone/>
            </a:pPr>
            <a:r>
              <a:rPr lang="en-US" sz="1350" b="1" dirty="0">
                <a:solidFill>
                  <a:srgbClr val="0B6A8F"/>
                </a:solidFill>
                <a:latin typeface="Consolas" pitchFamily="34" charset="0"/>
                <a:ea typeface="Consolas" pitchFamily="34" charset="-122"/>
                <a:cs typeface="Consolas" pitchFamily="34" charset="-120"/>
              </a:rPr>
              <a:t>required, invalid</a:t>
            </a:r>
            <a:endParaRPr lang="en-US" sz="1350" dirty="0"/>
          </a:p>
        </p:txBody>
      </p:sp>
      <p:sp>
        <p:nvSpPr>
          <p:cNvPr id="11" name="Text 9"/>
          <p:cNvSpPr txBox="1"/>
          <p:nvPr/>
        </p:nvSpPr>
        <p:spPr>
          <a:xfrm>
            <a:off x="4133088" y="3008376"/>
            <a:ext cx="7342632" cy="493776"/>
          </a:xfrm>
          <a:prstGeom prst="rect">
            <a:avLst/>
          </a:prstGeom>
          <a:noFill/>
          <a:ln/>
        </p:spPr>
        <p:txBody>
          <a:bodyPr wrap="square" lIns="0" tIns="0" rIns="0" bIns="0" rtlCol="0" anchor="ctr"/>
          <a:lstStyle/>
          <a:p>
            <a:pPr indent="0" marL="0">
              <a:buNone/>
            </a:pPr>
            <a:r>
              <a:rPr lang="en-US" sz="1350" dirty="0">
                <a:solidFill>
                  <a:srgbClr val="14303D"/>
                </a:solidFill>
                <a:latin typeface="Calibri" pitchFamily="34" charset="0"/>
                <a:ea typeface="Calibri" pitchFamily="34" charset="-122"/>
                <a:cs typeface="Calibri" pitchFamily="34" charset="-120"/>
              </a:rPr>
              <a:t>native HTML5 validation, including the browser's own message</a:t>
            </a:r>
            <a:endParaRPr lang="en-US" sz="1350" dirty="0"/>
          </a:p>
        </p:txBody>
      </p:sp>
      <p:sp>
        <p:nvSpPr>
          <p:cNvPr id="12" name="Text 10"/>
          <p:cNvSpPr txBox="1"/>
          <p:nvPr/>
        </p:nvSpPr>
        <p:spPr>
          <a:xfrm>
            <a:off x="749808" y="3575304"/>
            <a:ext cx="3291840" cy="493776"/>
          </a:xfrm>
          <a:prstGeom prst="rect">
            <a:avLst/>
          </a:prstGeom>
          <a:noFill/>
          <a:ln/>
        </p:spPr>
        <p:txBody>
          <a:bodyPr wrap="square" lIns="0" tIns="0" rIns="0" bIns="0" rtlCol="0" anchor="ctr"/>
          <a:lstStyle/>
          <a:p>
            <a:pPr indent="0" marL="0">
              <a:buNone/>
            </a:pPr>
            <a:r>
              <a:rPr lang="en-US" sz="1350" b="1" dirty="0">
                <a:solidFill>
                  <a:srgbClr val="0B6A8F"/>
                </a:solidFill>
                <a:latin typeface="Consolas" pitchFamily="34" charset="0"/>
                <a:ea typeface="Consolas" pitchFamily="34" charset="-122"/>
                <a:cs typeface="Consolas" pitchFamily="34" charset="-120"/>
              </a:rPr>
              <a:t>filled_chars</a:t>
            </a:r>
            <a:endParaRPr lang="en-US" sz="1350" dirty="0"/>
          </a:p>
        </p:txBody>
      </p:sp>
      <p:sp>
        <p:nvSpPr>
          <p:cNvPr id="13" name="Text 11"/>
          <p:cNvSpPr txBox="1"/>
          <p:nvPr/>
        </p:nvSpPr>
        <p:spPr>
          <a:xfrm>
            <a:off x="4133088" y="3575304"/>
            <a:ext cx="7342632" cy="493776"/>
          </a:xfrm>
          <a:prstGeom prst="rect">
            <a:avLst/>
          </a:prstGeom>
          <a:noFill/>
          <a:ln/>
        </p:spPr>
        <p:txBody>
          <a:bodyPr wrap="square" lIns="0" tIns="0" rIns="0" bIns="0" rtlCol="0" anchor="ctr"/>
          <a:lstStyle/>
          <a:p>
            <a:pPr indent="0" marL="0">
              <a:buNone/>
            </a:pPr>
            <a:r>
              <a:rPr lang="en-US" sz="1350" dirty="0">
                <a:solidFill>
                  <a:srgbClr val="14303D"/>
                </a:solidFill>
                <a:latin typeface="Calibri" pitchFamily="34" charset="0"/>
                <a:ea typeface="Calibri" pitchFamily="34" charset="-122"/>
                <a:cs typeface="Calibri" pitchFamily="34" charset="-120"/>
              </a:rPr>
              <a:t>a password is described, never echoed, not even as asterisks</a:t>
            </a:r>
            <a:endParaRPr lang="en-US" sz="1350" dirty="0"/>
          </a:p>
        </p:txBody>
      </p:sp>
      <p:sp>
        <p:nvSpPr>
          <p:cNvPr id="14" name="Shape 12"/>
          <p:cNvSpPr/>
          <p:nvPr/>
        </p:nvSpPr>
        <p:spPr>
          <a:xfrm>
            <a:off x="548640" y="4105656"/>
            <a:ext cx="11137392" cy="566928"/>
          </a:xfrm>
          <a:prstGeom prst="rect">
            <a:avLst/>
          </a:prstGeom>
          <a:solidFill>
            <a:srgbClr val="EDF3F5"/>
          </a:solidFill>
          <a:ln w="12700">
            <a:solidFill>
              <a:srgbClr val="EDF3F5"/>
            </a:solidFill>
            <a:prstDash val="solid"/>
          </a:ln>
        </p:spPr>
      </p:sp>
      <p:sp>
        <p:nvSpPr>
          <p:cNvPr id="15" name="Text 13"/>
          <p:cNvSpPr txBox="1"/>
          <p:nvPr/>
        </p:nvSpPr>
        <p:spPr>
          <a:xfrm>
            <a:off x="749808" y="4142232"/>
            <a:ext cx="3291840" cy="493776"/>
          </a:xfrm>
          <a:prstGeom prst="rect">
            <a:avLst/>
          </a:prstGeom>
          <a:noFill/>
          <a:ln/>
        </p:spPr>
        <p:txBody>
          <a:bodyPr wrap="square" lIns="0" tIns="0" rIns="0" bIns="0" rtlCol="0" anchor="ctr"/>
          <a:lstStyle/>
          <a:p>
            <a:pPr indent="0" marL="0">
              <a:buNone/>
            </a:pPr>
            <a:r>
              <a:rPr lang="en-US" sz="1350" b="1" dirty="0">
                <a:solidFill>
                  <a:srgbClr val="0B6A8F"/>
                </a:solidFill>
                <a:latin typeface="Consolas" pitchFamily="34" charset="0"/>
                <a:ea typeface="Consolas" pitchFamily="34" charset="-122"/>
                <a:cs typeface="Consolas" pitchFamily="34" charset="-120"/>
              </a:rPr>
              <a:t>headings, messages</a:t>
            </a:r>
            <a:endParaRPr lang="en-US" sz="1350" dirty="0"/>
          </a:p>
        </p:txBody>
      </p:sp>
      <p:sp>
        <p:nvSpPr>
          <p:cNvPr id="16" name="Text 14"/>
          <p:cNvSpPr txBox="1"/>
          <p:nvPr/>
        </p:nvSpPr>
        <p:spPr>
          <a:xfrm>
            <a:off x="4133088" y="4142232"/>
            <a:ext cx="7342632" cy="493776"/>
          </a:xfrm>
          <a:prstGeom prst="rect">
            <a:avLst/>
          </a:prstGeom>
          <a:noFill/>
          <a:ln/>
        </p:spPr>
        <p:txBody>
          <a:bodyPr wrap="square" lIns="0" tIns="0" rIns="0" bIns="0" rtlCol="0" anchor="ctr"/>
          <a:lstStyle/>
          <a:p>
            <a:pPr indent="0" marL="0">
              <a:buNone/>
            </a:pPr>
            <a:r>
              <a:rPr lang="en-US" sz="1350" dirty="0">
                <a:solidFill>
                  <a:srgbClr val="14303D"/>
                </a:solidFill>
                <a:latin typeface="Calibri" pitchFamily="34" charset="0"/>
                <a:ea typeface="Calibri" pitchFamily="34" charset="-122"/>
                <a:cs typeface="Calibri" pitchFamily="34" charset="-120"/>
              </a:rPr>
              <a:t>page structure and any alert or status region</a:t>
            </a:r>
            <a:endParaRPr lang="en-US" sz="1350" dirty="0"/>
          </a:p>
        </p:txBody>
      </p:sp>
      <p:sp>
        <p:nvSpPr>
          <p:cNvPr id="17" name="Text 15"/>
          <p:cNvSpPr txBox="1"/>
          <p:nvPr/>
        </p:nvSpPr>
        <p:spPr>
          <a:xfrm>
            <a:off x="749808" y="4709160"/>
            <a:ext cx="3291840" cy="493776"/>
          </a:xfrm>
          <a:prstGeom prst="rect">
            <a:avLst/>
          </a:prstGeom>
          <a:noFill/>
          <a:ln/>
        </p:spPr>
        <p:txBody>
          <a:bodyPr wrap="square" lIns="0" tIns="0" rIns="0" bIns="0" rtlCol="0" anchor="ctr"/>
          <a:lstStyle/>
          <a:p>
            <a:pPr indent="0" marL="0">
              <a:buNone/>
            </a:pPr>
            <a:r>
              <a:rPr lang="en-US" sz="1350" b="1" dirty="0">
                <a:solidFill>
                  <a:srgbClr val="0B6A8F"/>
                </a:solidFill>
                <a:latin typeface="Consolas" pitchFamily="34" charset="0"/>
                <a:ea typeface="Consolas" pitchFamily="34" charset="-122"/>
                <a:cs typeface="Consolas" pitchFamily="34" charset="-120"/>
              </a:rPr>
              <a:t>captcha, loading</a:t>
            </a:r>
            <a:endParaRPr lang="en-US" sz="1350" dirty="0"/>
          </a:p>
        </p:txBody>
      </p:sp>
      <p:sp>
        <p:nvSpPr>
          <p:cNvPr id="18" name="Text 16"/>
          <p:cNvSpPr txBox="1"/>
          <p:nvPr/>
        </p:nvSpPr>
        <p:spPr>
          <a:xfrm>
            <a:off x="4133088" y="4709160"/>
            <a:ext cx="7342632" cy="493776"/>
          </a:xfrm>
          <a:prstGeom prst="rect">
            <a:avLst/>
          </a:prstGeom>
          <a:noFill/>
          <a:ln/>
        </p:spPr>
        <p:txBody>
          <a:bodyPr wrap="square" lIns="0" tIns="0" rIns="0" bIns="0" rtlCol="0" anchor="ctr"/>
          <a:lstStyle/>
          <a:p>
            <a:pPr indent="0" marL="0">
              <a:buNone/>
            </a:pPr>
            <a:r>
              <a:rPr lang="en-US" sz="1350" dirty="0">
                <a:solidFill>
                  <a:srgbClr val="14303D"/>
                </a:solidFill>
                <a:latin typeface="Calibri" pitchFamily="34" charset="0"/>
                <a:ea typeface="Calibri" pitchFamily="34" charset="-122"/>
                <a:cs typeface="Calibri" pitchFamily="34" charset="-120"/>
              </a:rPr>
              <a:t>flags the agent must act on rather than fight</a:t>
            </a:r>
            <a:endParaRPr lang="en-US" sz="1350" dirty="0"/>
          </a:p>
        </p:txBody>
      </p:sp>
      <p:sp>
        <p:nvSpPr>
          <p:cNvPr id="19" name="Shape 17"/>
          <p:cNvSpPr/>
          <p:nvPr/>
        </p:nvSpPr>
        <p:spPr>
          <a:xfrm>
            <a:off x="548640" y="5440680"/>
            <a:ext cx="11137392" cy="868680"/>
          </a:xfrm>
          <a:prstGeom prst="roundRect">
            <a:avLst>
              <a:gd name="adj" fmla="val 6316"/>
            </a:avLst>
          </a:prstGeom>
          <a:solidFill>
            <a:srgbClr val="14303D"/>
          </a:solidFill>
          <a:ln w="12700">
            <a:solidFill>
              <a:srgbClr val="D5E0E5"/>
            </a:solidFill>
            <a:prstDash val="solid"/>
          </a:ln>
          <a:effectLst>
            <a:outerShdw sx="100000" sy="100000" kx="0" ky="0" algn="bl" rotWithShape="0" blurRad="101600" dist="12700" dir="5400000">
              <a:srgbClr val="14303D">
                <a:alpha val="7000"/>
              </a:srgbClr>
            </a:outerShdw>
          </a:effectLst>
        </p:spPr>
      </p:sp>
      <p:sp>
        <p:nvSpPr>
          <p:cNvPr id="20" name="Text 18"/>
          <p:cNvSpPr txBox="1"/>
          <p:nvPr/>
        </p:nvSpPr>
        <p:spPr>
          <a:xfrm>
            <a:off x="914400" y="5440680"/>
            <a:ext cx="10424160" cy="86868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Cheaper per step and more precise than the vision based approach most comparable systems use.</a:t>
            </a:r>
            <a:endParaRPr lang="en-US" sz="1450" dirty="0"/>
          </a:p>
        </p:txBody>
      </p:sp>
      <p:sp>
        <p:nvSpPr>
          <p:cNvPr id="21" name="Text 19"/>
          <p:cNvSpPr txBox="1"/>
          <p:nvPr/>
        </p:nvSpPr>
        <p:spPr>
          <a:xfrm>
            <a:off x="11247120" y="6355080"/>
            <a:ext cx="457200" cy="274320"/>
          </a:xfrm>
          <a:prstGeom prst="rect">
            <a:avLst/>
          </a:prstGeom>
          <a:noFill/>
          <a:ln/>
        </p:spPr>
        <p:txBody>
          <a:bodyPr wrap="square" lIns="0" tIns="0" rIns="0" bIns="0" rtlCol="0" anchor="ctr"/>
          <a:lstStyle/>
          <a:p>
            <a:pPr algn="r" indent="0" marL="0">
              <a:buNone/>
            </a:pPr>
            <a:r>
              <a:rPr lang="en-US" sz="900" dirty="0">
                <a:solidFill>
                  <a:srgbClr val="55697A"/>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8F9"/>
        </a:solidFill>
      </p:bgPr>
    </p:bg>
    <p:spTree>
      <p:nvGrpSpPr>
        <p:cNvPr id="1" name=""/>
        <p:cNvGrpSpPr/>
        <p:nvPr/>
      </p:nvGrpSpPr>
      <p:grpSpPr>
        <a:xfrm>
          <a:off x="0" y="0"/>
          <a:ext cx="0" cy="0"/>
          <a:chOff x="0" y="0"/>
          <a:chExt cx="0" cy="0"/>
        </a:xfrm>
      </p:grpSpPr>
      <p:sp>
        <p:nvSpPr>
          <p:cNvPr id="2" name="Text 0"/>
          <p:cNvSpPr txBox="1"/>
          <p:nvPr/>
        </p:nvSpPr>
        <p:spPr>
          <a:xfrm>
            <a:off x="548640" y="457200"/>
            <a:ext cx="9052560" cy="658368"/>
          </a:xfrm>
          <a:prstGeom prst="rect">
            <a:avLst/>
          </a:prstGeom>
          <a:noFill/>
          <a:ln/>
        </p:spPr>
        <p:txBody>
          <a:bodyPr wrap="square" lIns="0" tIns="0" rIns="0" bIns="0" rtlCol="0" anchor="ctr"/>
          <a:lstStyle/>
          <a:p>
            <a:pPr indent="0" marL="0">
              <a:buNone/>
            </a:pPr>
            <a:r>
              <a:rPr lang="en-US" sz="3000" b="1" dirty="0">
                <a:solidFill>
                  <a:srgbClr val="14303D"/>
                </a:solidFill>
                <a:latin typeface="Cambria" pitchFamily="34" charset="0"/>
                <a:ea typeface="Cambria" pitchFamily="34" charset="-122"/>
                <a:cs typeface="Cambria" pitchFamily="34" charset="-120"/>
              </a:rPr>
              <a:t>Nine actions, and two guards that stop a stalled run</a:t>
            </a:r>
            <a:endParaRPr lang="en-US" sz="3000" dirty="0"/>
          </a:p>
        </p:txBody>
      </p:sp>
      <p:sp>
        <p:nvSpPr>
          <p:cNvPr id="3" name="Shape 1"/>
          <p:cNvSpPr/>
          <p:nvPr/>
        </p:nvSpPr>
        <p:spPr>
          <a:xfrm>
            <a:off x="548640" y="1874520"/>
            <a:ext cx="5486400" cy="2011680"/>
          </a:xfrm>
          <a:prstGeom prst="roundRect">
            <a:avLst>
              <a:gd name="adj" fmla="val 2727"/>
            </a:avLst>
          </a:prstGeom>
          <a:solidFill>
            <a:srgbClr val="14303D"/>
          </a:solidFill>
          <a:ln w="12700">
            <a:solidFill>
              <a:srgbClr val="D5E0E5"/>
            </a:solidFill>
            <a:prstDash val="solid"/>
          </a:ln>
          <a:effectLst>
            <a:outerShdw sx="100000" sy="100000" kx="0" ky="0" algn="bl" rotWithShape="0" blurRad="101600" dist="12700" dir="5400000">
              <a:srgbClr val="14303D">
                <a:alpha val="7000"/>
              </a:srgbClr>
            </a:outerShdw>
          </a:effectLst>
        </p:spPr>
      </p:sp>
      <p:sp>
        <p:nvSpPr>
          <p:cNvPr id="4" name="Text 2"/>
          <p:cNvSpPr txBox="1"/>
          <p:nvPr/>
        </p:nvSpPr>
        <p:spPr>
          <a:xfrm>
            <a:off x="914400" y="2148840"/>
            <a:ext cx="4846320" cy="1463040"/>
          </a:xfrm>
          <a:prstGeom prst="rect">
            <a:avLst/>
          </a:prstGeom>
          <a:noFill/>
          <a:ln/>
        </p:spPr>
        <p:txBody>
          <a:bodyPr wrap="square" lIns="0" tIns="0" rIns="0" bIns="0" rtlCol="0" anchor="ctr"/>
          <a:lstStyle/>
          <a:p>
            <a:pPr indent="0" marL="0">
              <a:lnSpc>
                <a:spcPts val="3200"/>
              </a:lnSpc>
              <a:buNone/>
            </a:pPr>
            <a:r>
              <a:rPr lang="en-US" sz="1700" dirty="0">
                <a:solidFill>
                  <a:srgbClr val="FFFFFF"/>
                </a:solidFill>
                <a:latin typeface="Consolas" pitchFamily="34" charset="0"/>
                <a:ea typeface="Consolas" pitchFamily="34" charset="-122"/>
                <a:cs typeface="Consolas" pitchFamily="34" charset="-120"/>
              </a:rPr>
              <a:t>click   fill   press   select</a:t>
            </a:r>
            <a:endParaRPr lang="en-US" sz="1700" dirty="0"/>
          </a:p>
          <a:p>
            <a:pPr indent="0" marL="0">
              <a:lnSpc>
                <a:spcPts val="3200"/>
              </a:lnSpc>
              <a:buNone/>
            </a:pPr>
            <a:r>
              <a:rPr lang="en-US" sz="1700" dirty="0">
                <a:solidFill>
                  <a:srgbClr val="FFFFFF"/>
                </a:solidFill>
                <a:latin typeface="Consolas" pitchFamily="34" charset="0"/>
                <a:ea typeface="Consolas" pitchFamily="34" charset="-122"/>
                <a:cs typeface="Consolas" pitchFamily="34" charset="-120"/>
              </a:rPr>
              <a:t>goto   back   scroll   wait   finish</a:t>
            </a:r>
            <a:endParaRPr lang="en-US" sz="1700" dirty="0"/>
          </a:p>
        </p:txBody>
      </p:sp>
      <p:sp>
        <p:nvSpPr>
          <p:cNvPr id="5" name="Shape 3"/>
          <p:cNvSpPr/>
          <p:nvPr/>
        </p:nvSpPr>
        <p:spPr>
          <a:xfrm>
            <a:off x="548640" y="4069080"/>
            <a:ext cx="5486400" cy="1051560"/>
          </a:xfrm>
          <a:prstGeom prst="roundRect">
            <a:avLst>
              <a:gd name="adj" fmla="val 5217"/>
            </a:avLst>
          </a:prstGeom>
          <a:solidFill>
            <a:srgbClr val="FFFFFF"/>
          </a:solidFill>
          <a:ln w="12700">
            <a:solidFill>
              <a:srgbClr val="D5E0E5"/>
            </a:solidFill>
            <a:prstDash val="solid"/>
          </a:ln>
          <a:effectLst>
            <a:outerShdw sx="100000" sy="100000" kx="0" ky="0" algn="bl" rotWithShape="0" blurRad="101600" dist="12700" dir="5400000">
              <a:srgbClr val="14303D">
                <a:alpha val="7000"/>
              </a:srgbClr>
            </a:outerShdw>
          </a:effectLst>
        </p:spPr>
      </p:sp>
      <p:sp>
        <p:nvSpPr>
          <p:cNvPr id="6" name="Text 4"/>
          <p:cNvSpPr txBox="1"/>
          <p:nvPr/>
        </p:nvSpPr>
        <p:spPr>
          <a:xfrm>
            <a:off x="868680" y="4197096"/>
            <a:ext cx="2743200" cy="292608"/>
          </a:xfrm>
          <a:prstGeom prst="rect">
            <a:avLst/>
          </a:prstGeom>
          <a:noFill/>
          <a:ln/>
        </p:spPr>
        <p:txBody>
          <a:bodyPr wrap="square" lIns="0" tIns="0" rIns="0" bIns="0" rtlCol="0" anchor="ctr"/>
          <a:lstStyle/>
          <a:p>
            <a:pPr indent="0" marL="0">
              <a:buNone/>
            </a:pPr>
            <a:r>
              <a:rPr lang="en-US" sz="1450" b="1" dirty="0">
                <a:solidFill>
                  <a:srgbClr val="A9502C"/>
                </a:solidFill>
                <a:latin typeface="Calibri" pitchFamily="34" charset="0"/>
                <a:ea typeface="Calibri" pitchFamily="34" charset="-122"/>
                <a:cs typeface="Calibri" pitchFamily="34" charset="-120"/>
              </a:rPr>
              <a:t>Repetition</a:t>
            </a:r>
            <a:endParaRPr lang="en-US" sz="1450" dirty="0"/>
          </a:p>
        </p:txBody>
      </p:sp>
      <p:sp>
        <p:nvSpPr>
          <p:cNvPr id="7" name="Text 5"/>
          <p:cNvSpPr txBox="1"/>
          <p:nvPr/>
        </p:nvSpPr>
        <p:spPr>
          <a:xfrm>
            <a:off x="3566160" y="4215384"/>
            <a:ext cx="2194560" cy="274320"/>
          </a:xfrm>
          <a:prstGeom prst="rect">
            <a:avLst/>
          </a:prstGeom>
          <a:noFill/>
          <a:ln/>
        </p:spPr>
        <p:txBody>
          <a:bodyPr wrap="square" lIns="0" tIns="0" rIns="0" bIns="0" rtlCol="0" anchor="ctr"/>
          <a:lstStyle/>
          <a:p>
            <a:pPr algn="r" indent="0" marL="0">
              <a:buNone/>
            </a:pPr>
            <a:r>
              <a:rPr lang="en-US" sz="1150" dirty="0">
                <a:solidFill>
                  <a:srgbClr val="0B6A8F"/>
                </a:solidFill>
                <a:latin typeface="Consolas" pitchFamily="34" charset="0"/>
                <a:ea typeface="Consolas" pitchFamily="34" charset="-122"/>
                <a:cs typeface="Consolas" pitchFamily="34" charset="-120"/>
              </a:rPr>
              <a:t>warn at 2, abort at 4</a:t>
            </a:r>
            <a:endParaRPr lang="en-US" sz="1150" dirty="0"/>
          </a:p>
        </p:txBody>
      </p:sp>
      <p:sp>
        <p:nvSpPr>
          <p:cNvPr id="8" name="Text 6"/>
          <p:cNvSpPr txBox="1"/>
          <p:nvPr/>
        </p:nvSpPr>
        <p:spPr>
          <a:xfrm>
            <a:off x="868680" y="4526280"/>
            <a:ext cx="4846320" cy="502920"/>
          </a:xfrm>
          <a:prstGeom prst="rect">
            <a:avLst/>
          </a:prstGeom>
          <a:noFill/>
          <a:ln/>
        </p:spPr>
        <p:txBody>
          <a:bodyPr wrap="square" lIns="0" tIns="0" rIns="0" bIns="0" rtlCol="0" anchor="ctr"/>
          <a:lstStyle/>
          <a:p>
            <a:pPr indent="0" marL="0">
              <a:lnSpc>
                <a:spcPts val="1500"/>
              </a:lnSpc>
              <a:buNone/>
            </a:pPr>
            <a:r>
              <a:rPr lang="en-US" sz="1200" dirty="0">
                <a:solidFill>
                  <a:srgbClr val="55697A"/>
                </a:solidFill>
                <a:latin typeface="Calibri" pitchFamily="34" charset="0"/>
                <a:ea typeface="Calibri" pitchFamily="34" charset="-122"/>
                <a:cs typeface="Calibri" pitchFamily="34" charset="-120"/>
              </a:rPr>
              <a:t>the same action, on the same page state, already proven to change nothing</a:t>
            </a:r>
            <a:endParaRPr lang="en-US" sz="1200" dirty="0"/>
          </a:p>
        </p:txBody>
      </p:sp>
      <p:sp>
        <p:nvSpPr>
          <p:cNvPr id="9" name="Shape 7"/>
          <p:cNvSpPr/>
          <p:nvPr/>
        </p:nvSpPr>
        <p:spPr>
          <a:xfrm>
            <a:off x="548640" y="5230368"/>
            <a:ext cx="5486400" cy="1051560"/>
          </a:xfrm>
          <a:prstGeom prst="roundRect">
            <a:avLst>
              <a:gd name="adj" fmla="val 5217"/>
            </a:avLst>
          </a:prstGeom>
          <a:solidFill>
            <a:srgbClr val="FFFFFF"/>
          </a:solidFill>
          <a:ln w="12700">
            <a:solidFill>
              <a:srgbClr val="D5E0E5"/>
            </a:solidFill>
            <a:prstDash val="solid"/>
          </a:ln>
          <a:effectLst>
            <a:outerShdw sx="100000" sy="100000" kx="0" ky="0" algn="bl" rotWithShape="0" blurRad="101600" dist="12700" dir="5400000">
              <a:srgbClr val="14303D">
                <a:alpha val="7000"/>
              </a:srgbClr>
            </a:outerShdw>
          </a:effectLst>
        </p:spPr>
      </p:sp>
      <p:sp>
        <p:nvSpPr>
          <p:cNvPr id="10" name="Text 8"/>
          <p:cNvSpPr txBox="1"/>
          <p:nvPr/>
        </p:nvSpPr>
        <p:spPr>
          <a:xfrm>
            <a:off x="868680" y="5358384"/>
            <a:ext cx="2743200" cy="292608"/>
          </a:xfrm>
          <a:prstGeom prst="rect">
            <a:avLst/>
          </a:prstGeom>
          <a:noFill/>
          <a:ln/>
        </p:spPr>
        <p:txBody>
          <a:bodyPr wrap="square" lIns="0" tIns="0" rIns="0" bIns="0" rtlCol="0" anchor="ctr"/>
          <a:lstStyle/>
          <a:p>
            <a:pPr indent="0" marL="0">
              <a:buNone/>
            </a:pPr>
            <a:r>
              <a:rPr lang="en-US" sz="1450" b="1" dirty="0">
                <a:solidFill>
                  <a:srgbClr val="A9502C"/>
                </a:solidFill>
                <a:latin typeface="Calibri" pitchFamily="34" charset="0"/>
                <a:ea typeface="Calibri" pitchFamily="34" charset="-122"/>
                <a:cs typeface="Calibri" pitchFamily="34" charset="-120"/>
              </a:rPr>
              <a:t>Wandering</a:t>
            </a:r>
            <a:endParaRPr lang="en-US" sz="1450" dirty="0"/>
          </a:p>
        </p:txBody>
      </p:sp>
      <p:sp>
        <p:nvSpPr>
          <p:cNvPr id="11" name="Text 9"/>
          <p:cNvSpPr txBox="1"/>
          <p:nvPr/>
        </p:nvSpPr>
        <p:spPr>
          <a:xfrm>
            <a:off x="3566160" y="5376672"/>
            <a:ext cx="2194560" cy="274320"/>
          </a:xfrm>
          <a:prstGeom prst="rect">
            <a:avLst/>
          </a:prstGeom>
          <a:noFill/>
          <a:ln/>
        </p:spPr>
        <p:txBody>
          <a:bodyPr wrap="square" lIns="0" tIns="0" rIns="0" bIns="0" rtlCol="0" anchor="ctr"/>
          <a:lstStyle/>
          <a:p>
            <a:pPr algn="r" indent="0" marL="0">
              <a:buNone/>
            </a:pPr>
            <a:r>
              <a:rPr lang="en-US" sz="1150" dirty="0">
                <a:solidFill>
                  <a:srgbClr val="0B6A8F"/>
                </a:solidFill>
                <a:latin typeface="Consolas" pitchFamily="34" charset="0"/>
                <a:ea typeface="Consolas" pitchFamily="34" charset="-122"/>
                <a:cs typeface="Consolas" pitchFamily="34" charset="-120"/>
              </a:rPr>
              <a:t>conclude at 2, abort at 6</a:t>
            </a:r>
            <a:endParaRPr lang="en-US" sz="1150" dirty="0"/>
          </a:p>
        </p:txBody>
      </p:sp>
      <p:sp>
        <p:nvSpPr>
          <p:cNvPr id="12" name="Text 10"/>
          <p:cNvSpPr txBox="1"/>
          <p:nvPr/>
        </p:nvSpPr>
        <p:spPr>
          <a:xfrm>
            <a:off x="868680" y="5687568"/>
            <a:ext cx="4846320" cy="502920"/>
          </a:xfrm>
          <a:prstGeom prst="rect">
            <a:avLst/>
          </a:prstGeom>
          <a:noFill/>
          <a:ln/>
        </p:spPr>
        <p:txBody>
          <a:bodyPr wrap="square" lIns="0" tIns="0" rIns="0" bIns="0" rtlCol="0" anchor="ctr"/>
          <a:lstStyle/>
          <a:p>
            <a:pPr indent="0" marL="0">
              <a:lnSpc>
                <a:spcPts val="1500"/>
              </a:lnSpc>
              <a:buNone/>
            </a:pPr>
            <a:r>
              <a:rPr lang="en-US" sz="1200" dirty="0">
                <a:solidFill>
                  <a:srgbClr val="55697A"/>
                </a:solidFill>
                <a:latin typeface="Calibri" pitchFamily="34" charset="0"/>
                <a:ea typeface="Calibri" pitchFamily="34" charset="-122"/>
                <a:cs typeface="Calibri" pitchFamily="34" charset="-120"/>
              </a:rPr>
              <a:t>a different action every time, and still nothing changes</a:t>
            </a:r>
            <a:endParaRPr lang="en-US" sz="1200" dirty="0"/>
          </a:p>
        </p:txBody>
      </p:sp>
      <p:sp>
        <p:nvSpPr>
          <p:cNvPr id="13" name="Shape 11"/>
          <p:cNvSpPr/>
          <p:nvPr/>
        </p:nvSpPr>
        <p:spPr>
          <a:xfrm>
            <a:off x="6309360" y="1874520"/>
            <a:ext cx="5376672" cy="4434840"/>
          </a:xfrm>
          <a:prstGeom prst="roundRect">
            <a:avLst>
              <a:gd name="adj" fmla="val 1237"/>
            </a:avLst>
          </a:prstGeom>
          <a:solidFill>
            <a:srgbClr val="FFFFFF"/>
          </a:solidFill>
          <a:ln w="12700">
            <a:solidFill>
              <a:srgbClr val="D5E0E5"/>
            </a:solidFill>
            <a:prstDash val="solid"/>
          </a:ln>
          <a:effectLst>
            <a:outerShdw sx="100000" sy="100000" kx="0" ky="0" algn="bl" rotWithShape="0" blurRad="101600" dist="12700" dir="5400000">
              <a:srgbClr val="14303D">
                <a:alpha val="7000"/>
              </a:srgbClr>
            </a:outerShdw>
          </a:effectLst>
        </p:spPr>
      </p:sp>
      <p:sp>
        <p:nvSpPr>
          <p:cNvPr id="14" name="Text 12"/>
          <p:cNvSpPr txBox="1"/>
          <p:nvPr/>
        </p:nvSpPr>
        <p:spPr>
          <a:xfrm>
            <a:off x="6629400" y="2103120"/>
            <a:ext cx="4663440" cy="320040"/>
          </a:xfrm>
          <a:prstGeom prst="rect">
            <a:avLst/>
          </a:prstGeom>
          <a:noFill/>
          <a:ln/>
        </p:spPr>
        <p:txBody>
          <a:bodyPr wrap="square" lIns="0" tIns="0" rIns="0" bIns="0" rtlCol="0" anchor="ctr"/>
          <a:lstStyle/>
          <a:p>
            <a:pPr indent="0" marL="0">
              <a:buNone/>
            </a:pPr>
            <a:r>
              <a:rPr lang="en-US" sz="1200" b="1" spc="120" kern="0" dirty="0">
                <a:solidFill>
                  <a:srgbClr val="0B6A8F"/>
                </a:solidFill>
                <a:latin typeface="Calibri" pitchFamily="34" charset="0"/>
                <a:ea typeface="Calibri" pitchFamily="34" charset="-122"/>
                <a:cs typeface="Calibri" pitchFamily="34" charset="-120"/>
              </a:rPr>
              <a:t>Passive oracles</a:t>
            </a:r>
            <a:endParaRPr lang="en-US" sz="1200" dirty="0"/>
          </a:p>
        </p:txBody>
      </p:sp>
      <p:sp>
        <p:nvSpPr>
          <p:cNvPr id="15" name="Text 13"/>
          <p:cNvSpPr txBox="1"/>
          <p:nvPr/>
        </p:nvSpPr>
        <p:spPr>
          <a:xfrm>
            <a:off x="6629400" y="2487168"/>
            <a:ext cx="4754880" cy="640080"/>
          </a:xfrm>
          <a:prstGeom prst="rect">
            <a:avLst/>
          </a:prstGeom>
          <a:noFill/>
          <a:ln/>
        </p:spPr>
        <p:txBody>
          <a:bodyPr wrap="square" lIns="0" tIns="0" rIns="0" bIns="0" rtlCol="0" anchor="ctr"/>
          <a:lstStyle/>
          <a:p>
            <a:pPr indent="0" marL="0">
              <a:lnSpc>
                <a:spcPts val="1800"/>
              </a:lnSpc>
              <a:buNone/>
            </a:pPr>
            <a:r>
              <a:rPr lang="en-US" sz="1350" dirty="0">
                <a:solidFill>
                  <a:srgbClr val="14303D"/>
                </a:solidFill>
                <a:latin typeface="Calibri" pitchFamily="34" charset="0"/>
                <a:ea typeface="Calibri" pitchFamily="34" charset="-122"/>
                <a:cs typeface="Calibri" pitchFamily="34" charset="-120"/>
              </a:rPr>
              <a:t>Defect signals collected independently of anything the agent claims:</a:t>
            </a:r>
            <a:endParaRPr lang="en-US" sz="1350" dirty="0"/>
          </a:p>
        </p:txBody>
      </p:sp>
      <p:sp>
        <p:nvSpPr>
          <p:cNvPr id="16" name="Text 14"/>
          <p:cNvSpPr txBox="1"/>
          <p:nvPr/>
        </p:nvSpPr>
        <p:spPr>
          <a:xfrm>
            <a:off x="6720840" y="3200400"/>
            <a:ext cx="4572000" cy="1737360"/>
          </a:xfrm>
          <a:prstGeom prst="rect">
            <a:avLst/>
          </a:prstGeom>
          <a:noFill/>
          <a:ln/>
        </p:spPr>
        <p:txBody>
          <a:bodyPr wrap="square" lIns="0" tIns="0" rIns="0" bIns="0" rtlCol="0" anchor="ctr"/>
          <a:lstStyle/>
          <a:p>
            <a:pPr marL="342900" indent="-342900">
              <a:spcAft>
                <a:spcPts val="700"/>
              </a:spcAft>
              <a:buSzPct val="100000"/>
              <a:buChar char="•"/>
            </a:pPr>
            <a:r>
              <a:rPr lang="en-US" sz="1250" dirty="0">
                <a:solidFill>
                  <a:srgbClr val="14303D"/>
                </a:solidFill>
                <a:latin typeface="Consolas" pitchFamily="34" charset="0"/>
                <a:ea typeface="Consolas" pitchFamily="34" charset="-122"/>
                <a:cs typeface="Consolas" pitchFamily="34" charset="-120"/>
              </a:rPr>
              <a:t>console_errors</a:t>
            </a:r>
            <a:endParaRPr lang="en-US" sz="1250" dirty="0"/>
          </a:p>
          <a:p>
            <a:pPr marL="342900" indent="-342900">
              <a:spcAft>
                <a:spcPts val="700"/>
              </a:spcAft>
              <a:buSzPct val="100000"/>
              <a:buChar char="•"/>
            </a:pPr>
            <a:r>
              <a:rPr lang="en-US" sz="1250" dirty="0">
                <a:solidFill>
                  <a:srgbClr val="14303D"/>
                </a:solidFill>
                <a:latin typeface="Consolas" pitchFamily="34" charset="0"/>
                <a:ea typeface="Consolas" pitchFamily="34" charset="-122"/>
                <a:cs typeface="Consolas" pitchFamily="34" charset="-120"/>
              </a:rPr>
              <a:t>page_errors, the uncaught exceptions</a:t>
            </a:r>
            <a:endParaRPr lang="en-US" sz="1250" dirty="0"/>
          </a:p>
          <a:p>
            <a:pPr marL="342900" indent="-342900">
              <a:spcAft>
                <a:spcPts val="700"/>
              </a:spcAft>
              <a:buSzPct val="100000"/>
              <a:buChar char="•"/>
            </a:pPr>
            <a:r>
              <a:rPr lang="en-US" sz="1250" dirty="0">
                <a:solidFill>
                  <a:srgbClr val="14303D"/>
                </a:solidFill>
                <a:latin typeface="Consolas" pitchFamily="34" charset="0"/>
                <a:ea typeface="Consolas" pitchFamily="34" charset="-122"/>
                <a:cs typeface="Consolas" pitchFamily="34" charset="-120"/>
              </a:rPr>
              <a:t>http_5xx, the application broke</a:t>
            </a:r>
            <a:endParaRPr lang="en-US" sz="1250" dirty="0"/>
          </a:p>
          <a:p>
            <a:pPr marL="342900" indent="-342900">
              <a:spcAft>
                <a:spcPts val="700"/>
              </a:spcAft>
              <a:buSzPct val="100000"/>
              <a:buChar char="•"/>
            </a:pPr>
            <a:r>
              <a:rPr lang="en-US" sz="1250" dirty="0">
                <a:solidFill>
                  <a:srgbClr val="14303D"/>
                </a:solidFill>
                <a:latin typeface="Consolas" pitchFamily="34" charset="0"/>
                <a:ea typeface="Consolas" pitchFamily="34" charset="-122"/>
                <a:cs typeface="Consolas" pitchFamily="34" charset="-120"/>
              </a:rPr>
              <a:t>http_4xx, often expected</a:t>
            </a:r>
            <a:endParaRPr lang="en-US" sz="1250" dirty="0"/>
          </a:p>
          <a:p>
            <a:pPr marL="342900" indent="-342900">
              <a:spcAft>
                <a:spcPts val="700"/>
              </a:spcAft>
              <a:buSzPct val="100000"/>
              <a:buChar char="•"/>
            </a:pPr>
            <a:r>
              <a:rPr lang="en-US" sz="1250" dirty="0">
                <a:solidFill>
                  <a:srgbClr val="14303D"/>
                </a:solidFill>
                <a:latin typeface="Consolas" pitchFamily="34" charset="0"/>
                <a:ea typeface="Consolas" pitchFamily="34" charset="-122"/>
                <a:cs typeface="Consolas" pitchFamily="34" charset="-120"/>
              </a:rPr>
              <a:t>network_errors</a:t>
            </a:r>
            <a:endParaRPr lang="en-US" sz="1250" dirty="0"/>
          </a:p>
        </p:txBody>
      </p:sp>
      <p:sp>
        <p:nvSpPr>
          <p:cNvPr id="17" name="Text 15"/>
          <p:cNvSpPr txBox="1"/>
          <p:nvPr/>
        </p:nvSpPr>
        <p:spPr>
          <a:xfrm>
            <a:off x="6629400" y="4983480"/>
            <a:ext cx="4754880" cy="1143000"/>
          </a:xfrm>
          <a:prstGeom prst="rect">
            <a:avLst/>
          </a:prstGeom>
          <a:noFill/>
          <a:ln/>
        </p:spPr>
        <p:txBody>
          <a:bodyPr wrap="square" lIns="0" tIns="0" rIns="0" bIns="0" rtlCol="0" anchor="ctr"/>
          <a:lstStyle/>
          <a:p>
            <a:pPr indent="0" marL="0">
              <a:lnSpc>
                <a:spcPts val="1700"/>
              </a:lnSpc>
              <a:buNone/>
            </a:pPr>
            <a:r>
              <a:rPr lang="en-US" sz="1300" b="1" dirty="0">
                <a:solidFill>
                  <a:srgbClr val="A9502C"/>
                </a:solidFill>
                <a:latin typeface="Calibri" pitchFamily="34" charset="0"/>
                <a:ea typeface="Calibri" pitchFamily="34" charset="-122"/>
                <a:cs typeface="Calibri" pitchFamily="34" charset="-120"/>
              </a:rPr>
              <a:t>A 5xx can override a claimed pass. On the live site this caught a real HTTP 500 the agent had nearly filed as a interface error.</a:t>
            </a:r>
            <a:endParaRPr lang="en-US" sz="1300" dirty="0"/>
          </a:p>
        </p:txBody>
      </p:sp>
      <p:sp>
        <p:nvSpPr>
          <p:cNvPr id="18" name="Text 16"/>
          <p:cNvSpPr txBox="1"/>
          <p:nvPr/>
        </p:nvSpPr>
        <p:spPr>
          <a:xfrm>
            <a:off x="11247120" y="6355080"/>
            <a:ext cx="457200" cy="274320"/>
          </a:xfrm>
          <a:prstGeom prst="rect">
            <a:avLst/>
          </a:prstGeom>
          <a:noFill/>
          <a:ln/>
        </p:spPr>
        <p:txBody>
          <a:bodyPr wrap="square" lIns="0" tIns="0" rIns="0" bIns="0" rtlCol="0" anchor="ctr"/>
          <a:lstStyle/>
          <a:p>
            <a:pPr algn="r" indent="0" marL="0">
              <a:buNone/>
            </a:pPr>
            <a:r>
              <a:rPr lang="en-US" sz="900" dirty="0">
                <a:solidFill>
                  <a:srgbClr val="55697A"/>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8F9"/>
        </a:solidFill>
      </p:bgPr>
    </p:bg>
    <p:spTree>
      <p:nvGrpSpPr>
        <p:cNvPr id="1" name=""/>
        <p:cNvGrpSpPr/>
        <p:nvPr/>
      </p:nvGrpSpPr>
      <p:grpSpPr>
        <a:xfrm>
          <a:off x="0" y="0"/>
          <a:ext cx="0" cy="0"/>
          <a:chOff x="0" y="0"/>
          <a:chExt cx="0" cy="0"/>
        </a:xfrm>
      </p:grpSpPr>
      <p:sp>
        <p:nvSpPr>
          <p:cNvPr id="2" name="Text 0"/>
          <p:cNvSpPr txBox="1"/>
          <p:nvPr/>
        </p:nvSpPr>
        <p:spPr>
          <a:xfrm>
            <a:off x="548640" y="457200"/>
            <a:ext cx="9052560" cy="658368"/>
          </a:xfrm>
          <a:prstGeom prst="rect">
            <a:avLst/>
          </a:prstGeom>
          <a:noFill/>
          <a:ln/>
        </p:spPr>
        <p:txBody>
          <a:bodyPr wrap="square" lIns="0" tIns="0" rIns="0" bIns="0" rtlCol="0" anchor="ctr"/>
          <a:lstStyle/>
          <a:p>
            <a:pPr indent="0" marL="0">
              <a:buNone/>
            </a:pPr>
            <a:r>
              <a:rPr lang="en-US" sz="3000" b="1" dirty="0">
                <a:solidFill>
                  <a:srgbClr val="14303D"/>
                </a:solidFill>
                <a:latin typeface="Cambria" pitchFamily="34" charset="0"/>
                <a:ea typeface="Cambria" pitchFamily="34" charset="-122"/>
                <a:cs typeface="Cambria" pitchFamily="34" charset="-120"/>
              </a:rPr>
              <a:t>Running against live systems safely</a:t>
            </a:r>
            <a:endParaRPr lang="en-US" sz="3000" dirty="0"/>
          </a:p>
        </p:txBody>
      </p:sp>
      <p:sp>
        <p:nvSpPr>
          <p:cNvPr id="3" name="Shape 1"/>
          <p:cNvSpPr/>
          <p:nvPr/>
        </p:nvSpPr>
        <p:spPr>
          <a:xfrm>
            <a:off x="548640" y="1874520"/>
            <a:ext cx="5486400" cy="2286000"/>
          </a:xfrm>
          <a:prstGeom prst="roundRect">
            <a:avLst>
              <a:gd name="adj" fmla="val 2400"/>
            </a:avLst>
          </a:prstGeom>
          <a:solidFill>
            <a:srgbClr val="FFFFFF"/>
          </a:solidFill>
          <a:ln w="12700">
            <a:solidFill>
              <a:srgbClr val="D5E0E5"/>
            </a:solidFill>
            <a:prstDash val="solid"/>
          </a:ln>
          <a:effectLst>
            <a:outerShdw sx="100000" sy="100000" kx="0" ky="0" algn="bl" rotWithShape="0" blurRad="101600" dist="12700" dir="5400000">
              <a:srgbClr val="14303D">
                <a:alpha val="7000"/>
              </a:srgbClr>
            </a:outerShdw>
          </a:effectLst>
        </p:spPr>
      </p:sp>
      <p:sp>
        <p:nvSpPr>
          <p:cNvPr id="4" name="Text 2"/>
          <p:cNvSpPr txBox="1"/>
          <p:nvPr/>
        </p:nvSpPr>
        <p:spPr>
          <a:xfrm>
            <a:off x="868680" y="2103120"/>
            <a:ext cx="4754880" cy="320040"/>
          </a:xfrm>
          <a:prstGeom prst="rect">
            <a:avLst/>
          </a:prstGeom>
          <a:noFill/>
          <a:ln/>
        </p:spPr>
        <p:txBody>
          <a:bodyPr wrap="square" lIns="0" tIns="0" rIns="0" bIns="0" rtlCol="0" anchor="ctr"/>
          <a:lstStyle/>
          <a:p>
            <a:pPr indent="0" marL="0">
              <a:buNone/>
            </a:pPr>
            <a:r>
              <a:rPr lang="en-US" sz="1300" b="1" dirty="0">
                <a:solidFill>
                  <a:srgbClr val="A9502C"/>
                </a:solidFill>
                <a:latin typeface="Calibri" pitchFamily="34" charset="0"/>
                <a:ea typeface="Calibri" pitchFamily="34" charset="-122"/>
                <a:cs typeface="Calibri" pitchFamily="34" charset="-120"/>
              </a:rPr>
              <a:t>Eight labels are refused outright</a:t>
            </a:r>
            <a:endParaRPr lang="en-US" sz="1300" dirty="0"/>
          </a:p>
        </p:txBody>
      </p:sp>
      <p:sp>
        <p:nvSpPr>
          <p:cNvPr id="5" name="Text 3"/>
          <p:cNvSpPr txBox="1"/>
          <p:nvPr/>
        </p:nvSpPr>
        <p:spPr>
          <a:xfrm>
            <a:off x="868680" y="2514600"/>
            <a:ext cx="4846320" cy="1005840"/>
          </a:xfrm>
          <a:prstGeom prst="rect">
            <a:avLst/>
          </a:prstGeom>
          <a:noFill/>
          <a:ln/>
        </p:spPr>
        <p:txBody>
          <a:bodyPr wrap="square" lIns="0" tIns="0" rIns="0" bIns="0" rtlCol="0" anchor="ctr"/>
          <a:lstStyle/>
          <a:p>
            <a:pPr indent="0" marL="0">
              <a:lnSpc>
                <a:spcPts val="2000"/>
              </a:lnSpc>
              <a:buNone/>
            </a:pPr>
            <a:r>
              <a:rPr lang="en-US" sz="1250" dirty="0">
                <a:solidFill>
                  <a:srgbClr val="14303D"/>
                </a:solidFill>
                <a:latin typeface="Consolas" pitchFamily="34" charset="0"/>
                <a:ea typeface="Consolas" pitchFamily="34" charset="-122"/>
                <a:cs typeface="Consolas" pitchFamily="34" charset="-120"/>
              </a:rPr>
              <a:t>delete account · close account · deactivate account</a:t>
            </a:r>
            <a:endParaRPr lang="en-US" sz="1250" dirty="0"/>
          </a:p>
          <a:p>
            <a:pPr indent="0" marL="0">
              <a:lnSpc>
                <a:spcPts val="2000"/>
              </a:lnSpc>
              <a:buNone/>
            </a:pPr>
            <a:r>
              <a:rPr lang="en-US" sz="1250" dirty="0">
                <a:solidFill>
                  <a:srgbClr val="14303D"/>
                </a:solidFill>
                <a:latin typeface="Consolas" pitchFamily="34" charset="0"/>
                <a:ea typeface="Consolas" pitchFamily="34" charset="-122"/>
                <a:cs typeface="Consolas" pitchFamily="34" charset="-120"/>
              </a:rPr>
              <a:t>log out · logout · sign out · signout</a:t>
            </a:r>
            <a:endParaRPr lang="en-US" sz="1250" dirty="0"/>
          </a:p>
        </p:txBody>
      </p:sp>
      <p:sp>
        <p:nvSpPr>
          <p:cNvPr id="6" name="Text 4"/>
          <p:cNvSpPr txBox="1"/>
          <p:nvPr/>
        </p:nvSpPr>
        <p:spPr>
          <a:xfrm>
            <a:off x="868680" y="3566160"/>
            <a:ext cx="4846320" cy="502920"/>
          </a:xfrm>
          <a:prstGeom prst="rect">
            <a:avLst/>
          </a:prstGeom>
          <a:noFill/>
          <a:ln/>
        </p:spPr>
        <p:txBody>
          <a:bodyPr wrap="square" lIns="0" tIns="0" rIns="0" bIns="0" rtlCol="0" anchor="ctr"/>
          <a:lstStyle/>
          <a:p>
            <a:pPr indent="0" marL="0">
              <a:buNone/>
            </a:pPr>
            <a:r>
              <a:rPr lang="en-US" sz="1250" dirty="0">
                <a:solidFill>
                  <a:srgbClr val="55697A"/>
                </a:solidFill>
                <a:latin typeface="Calibri" pitchFamily="34" charset="0"/>
                <a:ea typeface="Calibri" pitchFamily="34" charset="-122"/>
                <a:cs typeface="Calibri" pitchFamily="34" charset="-120"/>
              </a:rPr>
              <a:t>Blocked at the configuration layer, before the action is attempted, and per target.</a:t>
            </a:r>
            <a:endParaRPr lang="en-US" sz="1250" dirty="0"/>
          </a:p>
        </p:txBody>
      </p:sp>
      <p:sp>
        <p:nvSpPr>
          <p:cNvPr id="7" name="Shape 5"/>
          <p:cNvSpPr/>
          <p:nvPr/>
        </p:nvSpPr>
        <p:spPr>
          <a:xfrm>
            <a:off x="6309360" y="1874520"/>
            <a:ext cx="5376672" cy="2286000"/>
          </a:xfrm>
          <a:prstGeom prst="roundRect">
            <a:avLst>
              <a:gd name="adj" fmla="val 2400"/>
            </a:avLst>
          </a:prstGeom>
          <a:solidFill>
            <a:srgbClr val="14303D"/>
          </a:solidFill>
          <a:ln w="12700">
            <a:solidFill>
              <a:srgbClr val="D5E0E5"/>
            </a:solidFill>
            <a:prstDash val="solid"/>
          </a:ln>
          <a:effectLst>
            <a:outerShdw sx="100000" sy="100000" kx="0" ky="0" algn="bl" rotWithShape="0" blurRad="101600" dist="12700" dir="5400000">
              <a:srgbClr val="14303D">
                <a:alpha val="7000"/>
              </a:srgbClr>
            </a:outerShdw>
          </a:effectLst>
        </p:spPr>
      </p:sp>
      <p:sp>
        <p:nvSpPr>
          <p:cNvPr id="8" name="Text 6"/>
          <p:cNvSpPr txBox="1"/>
          <p:nvPr/>
        </p:nvSpPr>
        <p:spPr>
          <a:xfrm>
            <a:off x="6629400" y="2103120"/>
            <a:ext cx="4754880" cy="320040"/>
          </a:xfrm>
          <a:prstGeom prst="rect">
            <a:avLst/>
          </a:prstGeom>
          <a:noFill/>
          <a:ln/>
        </p:spPr>
        <p:txBody>
          <a:bodyPr wrap="square" lIns="0" tIns="0" rIns="0" bIns="0" rtlCol="0" anchor="ctr"/>
          <a:lstStyle/>
          <a:p>
            <a:pPr indent="0" marL="0">
              <a:buNone/>
            </a:pPr>
            <a:r>
              <a:rPr lang="en-US" sz="1300" b="1" dirty="0">
                <a:solidFill>
                  <a:srgbClr val="7FB3C8"/>
                </a:solidFill>
                <a:latin typeface="Calibri" pitchFamily="34" charset="0"/>
                <a:ea typeface="Calibri" pitchFamily="34" charset="-122"/>
                <a:cs typeface="Calibri" pitchFamily="34" charset="-120"/>
              </a:rPr>
              <a:t>CAPTCHA</a:t>
            </a:r>
            <a:endParaRPr lang="en-US" sz="1300" dirty="0"/>
          </a:p>
        </p:txBody>
      </p:sp>
      <p:sp>
        <p:nvSpPr>
          <p:cNvPr id="9" name="Text 7"/>
          <p:cNvSpPr txBox="1"/>
          <p:nvPr/>
        </p:nvSpPr>
        <p:spPr>
          <a:xfrm>
            <a:off x="6629400" y="2487168"/>
            <a:ext cx="4754880" cy="1554480"/>
          </a:xfrm>
          <a:prstGeom prst="rect">
            <a:avLst/>
          </a:prstGeom>
          <a:noFill/>
          <a:ln/>
        </p:spPr>
        <p:txBody>
          <a:bodyPr wrap="square" lIns="0" tIns="0" rIns="0" bIns="0" rtlCol="0" anchor="ctr"/>
          <a:lstStyle/>
          <a:p>
            <a:pPr indent="0" marL="0">
              <a:lnSpc>
                <a:spcPts val="1800"/>
              </a:lnSpc>
              <a:buNone/>
            </a:pPr>
            <a:r>
              <a:rPr lang="en-US" sz="1350" dirty="0">
                <a:solidFill>
                  <a:srgbClr val="FFFFFF"/>
                </a:solidFill>
                <a:latin typeface="Calibri" pitchFamily="34" charset="0"/>
                <a:ea typeface="Calibri" pitchFamily="34" charset="-122"/>
                <a:cs typeface="Calibri" pitchFamily="34" charset="-120"/>
              </a:rPr>
              <a:t>Visible run: it pauses, asks a person, and sounds a tone every 20 seconds for up to 3 minutes, then resumes where it stopped.</a:t>
            </a:r>
            <a:endParaRPr lang="en-US" sz="1350" dirty="0"/>
          </a:p>
          <a:p>
            <a:pPr indent="0" marL="0">
              <a:lnSpc>
                <a:spcPts val="1800"/>
              </a:lnSpc>
              <a:buNone/>
            </a:pPr>
            <a:endParaRPr lang="en-US" sz="1350" dirty="0"/>
          </a:p>
          <a:p>
            <a:pPr indent="0" marL="0">
              <a:lnSpc>
                <a:spcPts val="1800"/>
              </a:lnSpc>
              <a:buNone/>
            </a:pPr>
            <a:r>
              <a:rPr lang="en-US" sz="1350" dirty="0">
                <a:solidFill>
                  <a:srgbClr val="FFFFFF"/>
                </a:solidFill>
                <a:latin typeface="Calibri" pitchFamily="34" charset="0"/>
                <a:ea typeface="Calibri" pitchFamily="34" charset="-122"/>
                <a:cs typeface="Calibri" pitchFamily="34" charset="-120"/>
              </a:rPr>
              <a:t>Headless run: it fails the test cleanly and says why.</a:t>
            </a:r>
            <a:endParaRPr lang="en-US" sz="1350" dirty="0"/>
          </a:p>
        </p:txBody>
      </p:sp>
      <p:sp>
        <p:nvSpPr>
          <p:cNvPr id="10" name="Shape 8"/>
          <p:cNvSpPr/>
          <p:nvPr/>
        </p:nvSpPr>
        <p:spPr>
          <a:xfrm>
            <a:off x="548640" y="4389120"/>
            <a:ext cx="11137392" cy="1737360"/>
          </a:xfrm>
          <a:prstGeom prst="roundRect">
            <a:avLst>
              <a:gd name="adj" fmla="val 3158"/>
            </a:avLst>
          </a:prstGeom>
          <a:solidFill>
            <a:srgbClr val="FFFFFF"/>
          </a:solidFill>
          <a:ln w="12700">
            <a:solidFill>
              <a:srgbClr val="D5E0E5"/>
            </a:solidFill>
            <a:prstDash val="solid"/>
          </a:ln>
          <a:effectLst>
            <a:outerShdw sx="100000" sy="100000" kx="0" ky="0" algn="bl" rotWithShape="0" blurRad="101600" dist="12700" dir="5400000">
              <a:srgbClr val="14303D">
                <a:alpha val="7000"/>
              </a:srgbClr>
            </a:outerShdw>
          </a:effectLst>
        </p:spPr>
      </p:sp>
      <p:sp>
        <p:nvSpPr>
          <p:cNvPr id="11" name="Text 9"/>
          <p:cNvSpPr txBox="1"/>
          <p:nvPr/>
        </p:nvSpPr>
        <p:spPr>
          <a:xfrm>
            <a:off x="914400" y="4572000"/>
            <a:ext cx="10424160" cy="365760"/>
          </a:xfrm>
          <a:prstGeom prst="rect">
            <a:avLst/>
          </a:prstGeom>
          <a:noFill/>
          <a:ln/>
        </p:spPr>
        <p:txBody>
          <a:bodyPr wrap="square" lIns="0" tIns="0" rIns="0" bIns="0" rtlCol="0" anchor="ctr"/>
          <a:lstStyle/>
          <a:p>
            <a:pPr indent="0" marL="0">
              <a:buNone/>
            </a:pPr>
            <a:r>
              <a:rPr lang="en-US" sz="1500" b="1" dirty="0">
                <a:solidFill>
                  <a:srgbClr val="14303D"/>
                </a:solidFill>
                <a:latin typeface="Calibri" pitchFamily="34" charset="0"/>
                <a:ea typeface="Calibri" pitchFamily="34" charset="-122"/>
                <a:cs typeface="Calibri" pitchFamily="34" charset="-120"/>
              </a:rPr>
              <a:t>A run lock, because two campaigns at once corrupted both</a:t>
            </a:r>
            <a:endParaRPr lang="en-US" sz="1500" dirty="0"/>
          </a:p>
        </p:txBody>
      </p:sp>
      <p:sp>
        <p:nvSpPr>
          <p:cNvPr id="12" name="Text 10"/>
          <p:cNvSpPr txBox="1"/>
          <p:nvPr/>
        </p:nvSpPr>
        <p:spPr>
          <a:xfrm>
            <a:off x="914400" y="4983480"/>
            <a:ext cx="10424160" cy="914400"/>
          </a:xfrm>
          <a:prstGeom prst="rect">
            <a:avLst/>
          </a:prstGeom>
          <a:noFill/>
          <a:ln/>
        </p:spPr>
        <p:txBody>
          <a:bodyPr wrap="square" lIns="0" tIns="0" rIns="0" bIns="0" rtlCol="0" anchor="ctr"/>
          <a:lstStyle/>
          <a:p>
            <a:pPr indent="0" marL="0">
              <a:lnSpc>
                <a:spcPts val="1800"/>
              </a:lnSpc>
              <a:buNone/>
            </a:pPr>
            <a:r>
              <a:rPr lang="en-US" sz="1350" dirty="0">
                <a:solidFill>
                  <a:srgbClr val="55697A"/>
                </a:solidFill>
                <a:latin typeface="Calibri" pitchFamily="34" charset="0"/>
                <a:ea typeface="Calibri" pitchFamily="34" charset="-122"/>
                <a:cs typeface="Calibri" pitchFamily="34" charset="-120"/>
              </a:rPr>
              <a:t>The agent also learns the target's real API routes as it observes traffic, so it stops inventing plausible looking endpoints that do not exist. That single failure once cost an entire test.</a:t>
            </a:r>
            <a:endParaRPr lang="en-US" sz="1350" dirty="0"/>
          </a:p>
        </p:txBody>
      </p:sp>
      <p:sp>
        <p:nvSpPr>
          <p:cNvPr id="13" name="Text 11"/>
          <p:cNvSpPr txBox="1"/>
          <p:nvPr/>
        </p:nvSpPr>
        <p:spPr>
          <a:xfrm>
            <a:off x="11247120" y="6355080"/>
            <a:ext cx="457200" cy="274320"/>
          </a:xfrm>
          <a:prstGeom prst="rect">
            <a:avLst/>
          </a:prstGeom>
          <a:noFill/>
          <a:ln/>
        </p:spPr>
        <p:txBody>
          <a:bodyPr wrap="square" lIns="0" tIns="0" rIns="0" bIns="0" rtlCol="0" anchor="ctr"/>
          <a:lstStyle/>
          <a:p>
            <a:pPr algn="r" indent="0" marL="0">
              <a:buNone/>
            </a:pPr>
            <a:r>
              <a:rPr lang="en-US" sz="900" dirty="0">
                <a:solidFill>
                  <a:srgbClr val="55697A"/>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8F9"/>
        </a:solidFill>
      </p:bgPr>
    </p:bg>
    <p:spTree>
      <p:nvGrpSpPr>
        <p:cNvPr id="1" name=""/>
        <p:cNvGrpSpPr/>
        <p:nvPr/>
      </p:nvGrpSpPr>
      <p:grpSpPr>
        <a:xfrm>
          <a:off x="0" y="0"/>
          <a:ext cx="0" cy="0"/>
          <a:chOff x="0" y="0"/>
          <a:chExt cx="0" cy="0"/>
        </a:xfrm>
      </p:grpSpPr>
      <p:sp>
        <p:nvSpPr>
          <p:cNvPr id="2" name="Text 0"/>
          <p:cNvSpPr txBox="1"/>
          <p:nvPr/>
        </p:nvSpPr>
        <p:spPr>
          <a:xfrm>
            <a:off x="548640" y="457200"/>
            <a:ext cx="9052560" cy="658368"/>
          </a:xfrm>
          <a:prstGeom prst="rect">
            <a:avLst/>
          </a:prstGeom>
          <a:noFill/>
          <a:ln/>
        </p:spPr>
        <p:txBody>
          <a:bodyPr wrap="square" lIns="0" tIns="0" rIns="0" bIns="0" rtlCol="0" anchor="ctr"/>
          <a:lstStyle/>
          <a:p>
            <a:pPr indent="0" marL="0">
              <a:buNone/>
            </a:pPr>
            <a:r>
              <a:rPr lang="en-US" sz="3000" b="1" dirty="0">
                <a:solidFill>
                  <a:srgbClr val="14303D"/>
                </a:solidFill>
                <a:latin typeface="Cambria" pitchFamily="34" charset="0"/>
                <a:ea typeface="Cambria" pitchFamily="34" charset="-122"/>
                <a:cs typeface="Cambria" pitchFamily="34" charset="-120"/>
              </a:rPr>
              <a:t>Adding an application is a data change</a:t>
            </a:r>
            <a:endParaRPr lang="en-US" sz="3000" dirty="0"/>
          </a:p>
        </p:txBody>
      </p:sp>
      <p:sp>
        <p:nvSpPr>
          <p:cNvPr id="3" name="Shape 1"/>
          <p:cNvSpPr/>
          <p:nvPr/>
        </p:nvSpPr>
        <p:spPr>
          <a:xfrm>
            <a:off x="548640" y="1929384"/>
            <a:ext cx="6675120" cy="621792"/>
          </a:xfrm>
          <a:prstGeom prst="rect">
            <a:avLst/>
          </a:prstGeom>
          <a:solidFill>
            <a:srgbClr val="EDF3F5"/>
          </a:solidFill>
          <a:ln w="12700">
            <a:solidFill>
              <a:srgbClr val="EDF3F5"/>
            </a:solidFill>
            <a:prstDash val="solid"/>
          </a:ln>
        </p:spPr>
      </p:sp>
      <p:sp>
        <p:nvSpPr>
          <p:cNvPr id="4" name="Text 2"/>
          <p:cNvSpPr txBox="1"/>
          <p:nvPr/>
        </p:nvSpPr>
        <p:spPr>
          <a:xfrm>
            <a:off x="749808" y="1965960"/>
            <a:ext cx="2103120" cy="548640"/>
          </a:xfrm>
          <a:prstGeom prst="rect">
            <a:avLst/>
          </a:prstGeom>
          <a:noFill/>
          <a:ln/>
        </p:spPr>
        <p:txBody>
          <a:bodyPr wrap="square" lIns="0" tIns="0" rIns="0" bIns="0" rtlCol="0" anchor="ctr"/>
          <a:lstStyle/>
          <a:p>
            <a:pPr indent="0" marL="0">
              <a:buNone/>
            </a:pPr>
            <a:r>
              <a:rPr lang="en-US" sz="1350" b="1" dirty="0">
                <a:solidFill>
                  <a:srgbClr val="0B6A8F"/>
                </a:solidFill>
                <a:latin typeface="Consolas" pitchFamily="34" charset="0"/>
                <a:ea typeface="Consolas" pitchFamily="34" charset="-122"/>
                <a:cs typeface="Consolas" pitchFamily="34" charset="-120"/>
              </a:rPr>
              <a:t>kind</a:t>
            </a:r>
            <a:endParaRPr lang="en-US" sz="1350" dirty="0"/>
          </a:p>
        </p:txBody>
      </p:sp>
      <p:sp>
        <p:nvSpPr>
          <p:cNvPr id="5" name="Text 3"/>
          <p:cNvSpPr txBox="1"/>
          <p:nvPr/>
        </p:nvSpPr>
        <p:spPr>
          <a:xfrm>
            <a:off x="2944368" y="1965960"/>
            <a:ext cx="4069080" cy="548640"/>
          </a:xfrm>
          <a:prstGeom prst="rect">
            <a:avLst/>
          </a:prstGeom>
          <a:noFill/>
          <a:ln/>
        </p:spPr>
        <p:txBody>
          <a:bodyPr wrap="square" lIns="0" tIns="0" rIns="0" bIns="0" rtlCol="0" anchor="ctr"/>
          <a:lstStyle/>
          <a:p>
            <a:pPr indent="0" marL="0">
              <a:buNone/>
            </a:pPr>
            <a:r>
              <a:rPr lang="en-US" sz="1350" dirty="0">
                <a:solidFill>
                  <a:srgbClr val="14303D"/>
                </a:solidFill>
                <a:latin typeface="Calibri" pitchFamily="34" charset="0"/>
                <a:ea typeface="Calibri" pitchFamily="34" charset="-122"/>
                <a:cs typeface="Calibri" pitchFamily="34" charset="-120"/>
              </a:rPr>
              <a:t>android or web</a:t>
            </a:r>
            <a:endParaRPr lang="en-US" sz="1350" dirty="0"/>
          </a:p>
        </p:txBody>
      </p:sp>
      <p:sp>
        <p:nvSpPr>
          <p:cNvPr id="6" name="Text 4"/>
          <p:cNvSpPr txBox="1"/>
          <p:nvPr/>
        </p:nvSpPr>
        <p:spPr>
          <a:xfrm>
            <a:off x="749808" y="2587752"/>
            <a:ext cx="2103120" cy="548640"/>
          </a:xfrm>
          <a:prstGeom prst="rect">
            <a:avLst/>
          </a:prstGeom>
          <a:noFill/>
          <a:ln/>
        </p:spPr>
        <p:txBody>
          <a:bodyPr wrap="square" lIns="0" tIns="0" rIns="0" bIns="0" rtlCol="0" anchor="ctr"/>
          <a:lstStyle/>
          <a:p>
            <a:pPr indent="0" marL="0">
              <a:buNone/>
            </a:pPr>
            <a:r>
              <a:rPr lang="en-US" sz="1350" b="1" dirty="0">
                <a:solidFill>
                  <a:srgbClr val="0B6A8F"/>
                </a:solidFill>
                <a:latin typeface="Consolas" pitchFamily="34" charset="0"/>
                <a:ea typeface="Consolas" pitchFamily="34" charset="-122"/>
                <a:cs typeface="Consolas" pitchFamily="34" charset="-120"/>
              </a:rPr>
              <a:t>knowledge</a:t>
            </a:r>
            <a:endParaRPr lang="en-US" sz="1350" dirty="0"/>
          </a:p>
        </p:txBody>
      </p:sp>
      <p:sp>
        <p:nvSpPr>
          <p:cNvPr id="7" name="Text 5"/>
          <p:cNvSpPr txBox="1"/>
          <p:nvPr/>
        </p:nvSpPr>
        <p:spPr>
          <a:xfrm>
            <a:off x="2944368" y="2587752"/>
            <a:ext cx="4069080" cy="548640"/>
          </a:xfrm>
          <a:prstGeom prst="rect">
            <a:avLst/>
          </a:prstGeom>
          <a:noFill/>
          <a:ln/>
        </p:spPr>
        <p:txBody>
          <a:bodyPr wrap="square" lIns="0" tIns="0" rIns="0" bIns="0" rtlCol="0" anchor="ctr"/>
          <a:lstStyle/>
          <a:p>
            <a:pPr indent="0" marL="0">
              <a:buNone/>
            </a:pPr>
            <a:r>
              <a:rPr lang="en-US" sz="1350" dirty="0">
                <a:solidFill>
                  <a:srgbClr val="14303D"/>
                </a:solidFill>
                <a:latin typeface="Calibri" pitchFamily="34" charset="0"/>
                <a:ea typeface="Calibri" pitchFamily="34" charset="-122"/>
                <a:cs typeface="Calibri" pitchFamily="34" charset="-120"/>
              </a:rPr>
              <a:t>specification, API notes, defect history</a:t>
            </a:r>
            <a:endParaRPr lang="en-US" sz="1350" dirty="0"/>
          </a:p>
        </p:txBody>
      </p:sp>
      <p:sp>
        <p:nvSpPr>
          <p:cNvPr id="8" name="Shape 6"/>
          <p:cNvSpPr/>
          <p:nvPr/>
        </p:nvSpPr>
        <p:spPr>
          <a:xfrm>
            <a:off x="548640" y="3172968"/>
            <a:ext cx="6675120" cy="621792"/>
          </a:xfrm>
          <a:prstGeom prst="rect">
            <a:avLst/>
          </a:prstGeom>
          <a:solidFill>
            <a:srgbClr val="EDF3F5"/>
          </a:solidFill>
          <a:ln w="12700">
            <a:solidFill>
              <a:srgbClr val="EDF3F5"/>
            </a:solidFill>
            <a:prstDash val="solid"/>
          </a:ln>
        </p:spPr>
      </p:sp>
      <p:sp>
        <p:nvSpPr>
          <p:cNvPr id="9" name="Text 7"/>
          <p:cNvSpPr txBox="1"/>
          <p:nvPr/>
        </p:nvSpPr>
        <p:spPr>
          <a:xfrm>
            <a:off x="749808" y="3209544"/>
            <a:ext cx="2103120" cy="548640"/>
          </a:xfrm>
          <a:prstGeom prst="rect">
            <a:avLst/>
          </a:prstGeom>
          <a:noFill/>
          <a:ln/>
        </p:spPr>
        <p:txBody>
          <a:bodyPr wrap="square" lIns="0" tIns="0" rIns="0" bIns="0" rtlCol="0" anchor="ctr"/>
          <a:lstStyle/>
          <a:p>
            <a:pPr indent="0" marL="0">
              <a:buNone/>
            </a:pPr>
            <a:r>
              <a:rPr lang="en-US" sz="1350" b="1" dirty="0">
                <a:solidFill>
                  <a:srgbClr val="0B6A8F"/>
                </a:solidFill>
                <a:latin typeface="Consolas" pitchFamily="34" charset="0"/>
                <a:ea typeface="Consolas" pitchFamily="34" charset="-122"/>
                <a:cs typeface="Consolas" pitchFamily="34" charset="-120"/>
              </a:rPr>
              <a:t>guardrails</a:t>
            </a:r>
            <a:endParaRPr lang="en-US" sz="1350" dirty="0"/>
          </a:p>
        </p:txBody>
      </p:sp>
      <p:sp>
        <p:nvSpPr>
          <p:cNvPr id="10" name="Text 8"/>
          <p:cNvSpPr txBox="1"/>
          <p:nvPr/>
        </p:nvSpPr>
        <p:spPr>
          <a:xfrm>
            <a:off x="2944368" y="3209544"/>
            <a:ext cx="4069080" cy="548640"/>
          </a:xfrm>
          <a:prstGeom prst="rect">
            <a:avLst/>
          </a:prstGeom>
          <a:noFill/>
          <a:ln/>
        </p:spPr>
        <p:txBody>
          <a:bodyPr wrap="square" lIns="0" tIns="0" rIns="0" bIns="0" rtlCol="0" anchor="ctr"/>
          <a:lstStyle/>
          <a:p>
            <a:pPr indent="0" marL="0">
              <a:buNone/>
            </a:pPr>
            <a:r>
              <a:rPr lang="en-US" sz="1350" dirty="0">
                <a:solidFill>
                  <a:srgbClr val="14303D"/>
                </a:solidFill>
                <a:latin typeface="Calibri" pitchFamily="34" charset="0"/>
                <a:ea typeface="Calibri" pitchFamily="34" charset="-122"/>
                <a:cs typeface="Calibri" pitchFamily="34" charset="-120"/>
              </a:rPr>
              <a:t>the controls this target must never activate</a:t>
            </a:r>
            <a:endParaRPr lang="en-US" sz="1350" dirty="0"/>
          </a:p>
        </p:txBody>
      </p:sp>
      <p:sp>
        <p:nvSpPr>
          <p:cNvPr id="11" name="Text 9"/>
          <p:cNvSpPr txBox="1"/>
          <p:nvPr/>
        </p:nvSpPr>
        <p:spPr>
          <a:xfrm>
            <a:off x="749808" y="3831336"/>
            <a:ext cx="2103120" cy="548640"/>
          </a:xfrm>
          <a:prstGeom prst="rect">
            <a:avLst/>
          </a:prstGeom>
          <a:noFill/>
          <a:ln/>
        </p:spPr>
        <p:txBody>
          <a:bodyPr wrap="square" lIns="0" tIns="0" rIns="0" bIns="0" rtlCol="0" anchor="ctr"/>
          <a:lstStyle/>
          <a:p>
            <a:pPr indent="0" marL="0">
              <a:buNone/>
            </a:pPr>
            <a:r>
              <a:rPr lang="en-US" sz="1350" b="1" dirty="0">
                <a:solidFill>
                  <a:srgbClr val="0B6A8F"/>
                </a:solidFill>
                <a:latin typeface="Consolas" pitchFamily="34" charset="0"/>
                <a:ea typeface="Consolas" pitchFamily="34" charset="-122"/>
                <a:cs typeface="Consolas" pitchFamily="34" charset="-120"/>
              </a:rPr>
              <a:t>run budget</a:t>
            </a:r>
            <a:endParaRPr lang="en-US" sz="1350" dirty="0"/>
          </a:p>
        </p:txBody>
      </p:sp>
      <p:sp>
        <p:nvSpPr>
          <p:cNvPr id="12" name="Text 10"/>
          <p:cNvSpPr txBox="1"/>
          <p:nvPr/>
        </p:nvSpPr>
        <p:spPr>
          <a:xfrm>
            <a:off x="2944368" y="3831336"/>
            <a:ext cx="4069080" cy="548640"/>
          </a:xfrm>
          <a:prstGeom prst="rect">
            <a:avLst/>
          </a:prstGeom>
          <a:noFill/>
          <a:ln/>
        </p:spPr>
        <p:txBody>
          <a:bodyPr wrap="square" lIns="0" tIns="0" rIns="0" bIns="0" rtlCol="0" anchor="ctr"/>
          <a:lstStyle/>
          <a:p>
            <a:pPr indent="0" marL="0">
              <a:buNone/>
            </a:pPr>
            <a:r>
              <a:rPr lang="en-US" sz="1350" dirty="0">
                <a:solidFill>
                  <a:srgbClr val="14303D"/>
                </a:solidFill>
                <a:latin typeface="Calibri" pitchFamily="34" charset="0"/>
                <a:ea typeface="Calibri" pitchFamily="34" charset="-122"/>
                <a:cs typeface="Calibri" pitchFamily="34" charset="-120"/>
              </a:rPr>
              <a:t>steps per test, wall clock, rounds</a:t>
            </a:r>
            <a:endParaRPr lang="en-US" sz="1350" dirty="0"/>
          </a:p>
        </p:txBody>
      </p:sp>
      <p:sp>
        <p:nvSpPr>
          <p:cNvPr id="13" name="Shape 11"/>
          <p:cNvSpPr/>
          <p:nvPr/>
        </p:nvSpPr>
        <p:spPr>
          <a:xfrm>
            <a:off x="548640" y="4416552"/>
            <a:ext cx="6675120" cy="621792"/>
          </a:xfrm>
          <a:prstGeom prst="rect">
            <a:avLst/>
          </a:prstGeom>
          <a:solidFill>
            <a:srgbClr val="EDF3F5"/>
          </a:solidFill>
          <a:ln w="12700">
            <a:solidFill>
              <a:srgbClr val="EDF3F5"/>
            </a:solidFill>
            <a:prstDash val="solid"/>
          </a:ln>
        </p:spPr>
      </p:sp>
      <p:sp>
        <p:nvSpPr>
          <p:cNvPr id="14" name="Text 12"/>
          <p:cNvSpPr txBox="1"/>
          <p:nvPr/>
        </p:nvSpPr>
        <p:spPr>
          <a:xfrm>
            <a:off x="749808" y="4453128"/>
            <a:ext cx="2103120" cy="548640"/>
          </a:xfrm>
          <a:prstGeom prst="rect">
            <a:avLst/>
          </a:prstGeom>
          <a:noFill/>
          <a:ln/>
        </p:spPr>
        <p:txBody>
          <a:bodyPr wrap="square" lIns="0" tIns="0" rIns="0" bIns="0" rtlCol="0" anchor="ctr"/>
          <a:lstStyle/>
          <a:p>
            <a:pPr indent="0" marL="0">
              <a:buNone/>
            </a:pPr>
            <a:r>
              <a:rPr lang="en-US" sz="1350" b="1" dirty="0">
                <a:solidFill>
                  <a:srgbClr val="0B6A8F"/>
                </a:solidFill>
                <a:latin typeface="Consolas" pitchFamily="34" charset="0"/>
                <a:ea typeface="Consolas" pitchFamily="34" charset="-122"/>
                <a:cs typeface="Consolas" pitchFamily="34" charset="-120"/>
              </a:rPr>
              <a:t>login</a:t>
            </a:r>
            <a:endParaRPr lang="en-US" sz="1350" dirty="0"/>
          </a:p>
        </p:txBody>
      </p:sp>
      <p:sp>
        <p:nvSpPr>
          <p:cNvPr id="15" name="Text 13"/>
          <p:cNvSpPr txBox="1"/>
          <p:nvPr/>
        </p:nvSpPr>
        <p:spPr>
          <a:xfrm>
            <a:off x="2944368" y="4453128"/>
            <a:ext cx="4069080" cy="548640"/>
          </a:xfrm>
          <a:prstGeom prst="rect">
            <a:avLst/>
          </a:prstGeom>
          <a:noFill/>
          <a:ln/>
        </p:spPr>
        <p:txBody>
          <a:bodyPr wrap="square" lIns="0" tIns="0" rIns="0" bIns="0" rtlCol="0" anchor="ctr"/>
          <a:lstStyle/>
          <a:p>
            <a:pPr indent="0" marL="0">
              <a:buNone/>
            </a:pPr>
            <a:r>
              <a:rPr lang="en-US" sz="1350" dirty="0">
                <a:solidFill>
                  <a:srgbClr val="14303D"/>
                </a:solidFill>
                <a:latin typeface="Calibri" pitchFamily="34" charset="0"/>
                <a:ea typeface="Calibri" pitchFamily="34" charset="-122"/>
                <a:cs typeface="Calibri" pitchFamily="34" charset="-120"/>
              </a:rPr>
              <a:t>a disposable test account, never shown to the planner</a:t>
            </a:r>
            <a:endParaRPr lang="en-US" sz="1350" dirty="0"/>
          </a:p>
        </p:txBody>
      </p:sp>
      <p:sp>
        <p:nvSpPr>
          <p:cNvPr id="16" name="Shape 14"/>
          <p:cNvSpPr/>
          <p:nvPr/>
        </p:nvSpPr>
        <p:spPr>
          <a:xfrm>
            <a:off x="7498080" y="1920240"/>
            <a:ext cx="4187952" cy="3291840"/>
          </a:xfrm>
          <a:prstGeom prst="roundRect">
            <a:avLst>
              <a:gd name="adj" fmla="val 1667"/>
            </a:avLst>
          </a:prstGeom>
          <a:solidFill>
            <a:srgbClr val="14303D"/>
          </a:solidFill>
          <a:ln w="12700">
            <a:solidFill>
              <a:srgbClr val="D5E0E5"/>
            </a:solidFill>
            <a:prstDash val="solid"/>
          </a:ln>
          <a:effectLst>
            <a:outerShdw sx="100000" sy="100000" kx="0" ky="0" algn="bl" rotWithShape="0" blurRad="101600" dist="12700" dir="5400000">
              <a:srgbClr val="14303D">
                <a:alpha val="7000"/>
              </a:srgbClr>
            </a:outerShdw>
          </a:effectLst>
        </p:spPr>
      </p:sp>
      <p:sp>
        <p:nvSpPr>
          <p:cNvPr id="17" name="Text 15"/>
          <p:cNvSpPr txBox="1"/>
          <p:nvPr/>
        </p:nvSpPr>
        <p:spPr>
          <a:xfrm>
            <a:off x="7863840" y="2286000"/>
            <a:ext cx="1005840" cy="109728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5</a:t>
            </a:r>
            <a:endParaRPr lang="en-US" sz="6000" dirty="0"/>
          </a:p>
        </p:txBody>
      </p:sp>
      <p:sp>
        <p:nvSpPr>
          <p:cNvPr id="18" name="Text 16"/>
          <p:cNvSpPr txBox="1"/>
          <p:nvPr/>
        </p:nvSpPr>
        <p:spPr>
          <a:xfrm>
            <a:off x="8778240" y="2852928"/>
            <a:ext cx="2377440" cy="457200"/>
          </a:xfrm>
          <a:prstGeom prst="rect">
            <a:avLst/>
          </a:prstGeom>
          <a:noFill/>
          <a:ln/>
        </p:spPr>
        <p:txBody>
          <a:bodyPr wrap="square" lIns="0" tIns="0" rIns="0" bIns="0" rtlCol="0" anchor="ctr"/>
          <a:lstStyle/>
          <a:p>
            <a:pPr indent="0" marL="0">
              <a:buNone/>
            </a:pPr>
            <a:r>
              <a:rPr lang="en-US" sz="1700" dirty="0">
                <a:solidFill>
                  <a:srgbClr val="7FB3C8"/>
                </a:solidFill>
                <a:latin typeface="Calibri" pitchFamily="34" charset="0"/>
                <a:ea typeface="Calibri" pitchFamily="34" charset="-122"/>
                <a:cs typeface="Calibri" pitchFamily="34" charset="-120"/>
              </a:rPr>
              <a:t>targets</a:t>
            </a:r>
            <a:endParaRPr lang="en-US" sz="1700" dirty="0"/>
          </a:p>
        </p:txBody>
      </p:sp>
      <p:sp>
        <p:nvSpPr>
          <p:cNvPr id="19" name="Text 17"/>
          <p:cNvSpPr txBox="1"/>
          <p:nvPr/>
        </p:nvSpPr>
        <p:spPr>
          <a:xfrm>
            <a:off x="7863840" y="3611880"/>
            <a:ext cx="3520440" cy="1371600"/>
          </a:xfrm>
          <a:prstGeom prst="rect">
            <a:avLst/>
          </a:prstGeom>
          <a:noFill/>
          <a:ln/>
        </p:spPr>
        <p:txBody>
          <a:bodyPr wrap="square" lIns="0" tIns="0" rIns="0" bIns="0" rtlCol="0" anchor="ctr"/>
          <a:lstStyle/>
          <a:p>
            <a:pPr indent="0" marL="0">
              <a:lnSpc>
                <a:spcPts val="1900"/>
              </a:lnSpc>
              <a:buNone/>
            </a:pPr>
            <a:r>
              <a:rPr lang="en-US" sz="1400" dirty="0">
                <a:solidFill>
                  <a:srgbClr val="C4D6DE"/>
                </a:solidFill>
                <a:latin typeface="Calibri" pitchFamily="34" charset="0"/>
                <a:ea typeface="Calibri" pitchFamily="34" charset="-122"/>
                <a:cs typeface="Calibri" pitchFamily="34" charset="-120"/>
              </a:rPr>
              <a:t>Two Android applications and three websites, on one planner, one graph and one report format.</a:t>
            </a:r>
            <a:endParaRPr lang="en-US" sz="1400" dirty="0"/>
          </a:p>
        </p:txBody>
      </p:sp>
      <p:sp>
        <p:nvSpPr>
          <p:cNvPr id="20" name="Text 18"/>
          <p:cNvSpPr txBox="1"/>
          <p:nvPr/>
        </p:nvSpPr>
        <p:spPr>
          <a:xfrm>
            <a:off x="548640" y="5349240"/>
            <a:ext cx="6675120" cy="822960"/>
          </a:xfrm>
          <a:prstGeom prst="rect">
            <a:avLst/>
          </a:prstGeom>
          <a:noFill/>
          <a:ln/>
        </p:spPr>
        <p:txBody>
          <a:bodyPr wrap="square" lIns="0" tIns="0" rIns="0" bIns="0" rtlCol="0" anchor="ctr"/>
          <a:lstStyle/>
          <a:p>
            <a:pPr indent="0" marL="0">
              <a:lnSpc>
                <a:spcPts val="1700"/>
              </a:lnSpc>
              <a:buNone/>
            </a:pPr>
            <a:r>
              <a:rPr lang="en-US" sz="1300" dirty="0">
                <a:solidFill>
                  <a:srgbClr val="55697A"/>
                </a:solidFill>
                <a:latin typeface="Calibri" pitchFamily="34" charset="0"/>
                <a:ea typeface="Calibri" pitchFamily="34" charset="-122"/>
                <a:cs typeface="Calibri" pitchFamily="34" charset="-120"/>
              </a:rPr>
              <a:t>The dashboard can list, validate, save, ingest and run a profile, so a new target never touches the source tree.</a:t>
            </a:r>
            <a:endParaRPr lang="en-US" sz="1300" dirty="0"/>
          </a:p>
        </p:txBody>
      </p:sp>
      <p:sp>
        <p:nvSpPr>
          <p:cNvPr id="21" name="Text 19"/>
          <p:cNvSpPr txBox="1"/>
          <p:nvPr/>
        </p:nvSpPr>
        <p:spPr>
          <a:xfrm>
            <a:off x="11247120" y="6355080"/>
            <a:ext cx="457200" cy="274320"/>
          </a:xfrm>
          <a:prstGeom prst="rect">
            <a:avLst/>
          </a:prstGeom>
          <a:noFill/>
          <a:ln/>
        </p:spPr>
        <p:txBody>
          <a:bodyPr wrap="square" lIns="0" tIns="0" rIns="0" bIns="0" rtlCol="0" anchor="ctr"/>
          <a:lstStyle/>
          <a:p>
            <a:pPr algn="r" indent="0" marL="0">
              <a:buNone/>
            </a:pPr>
            <a:r>
              <a:rPr lang="en-US" sz="900" dirty="0">
                <a:solidFill>
                  <a:srgbClr val="55697A"/>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Exploratory Testing Automation</dc:title>
  <dc:subject>PptxGenJS Presentation</dc:subject>
  <dc:creator>CSE 450 Capstone Team</dc:creator>
  <cp:lastModifiedBy>CSE 450 Capstone Team</cp:lastModifiedBy>
  <cp:revision>1</cp:revision>
  <dcterms:created xsi:type="dcterms:W3CDTF">2026-09-29T18:34:22Z</dcterms:created>
  <dcterms:modified xsi:type="dcterms:W3CDTF">2026-09-29T18:34:22Z</dcterms:modified>
</cp:coreProperties>
</file>