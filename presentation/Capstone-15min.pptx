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Autonomy</c:v>
                </c:pt>
              </c:strCache>
            </c:strRef>
          </c:tx>
          <c:spPr>
            <a:ln w="38100" cap="flat">
              <a:solidFill>
                <a:srgbClr val="0B6A8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6A8F"/>
              </a:solidFill>
              <a:ln w="9525" cap="flat">
                <a:solidFill>
                  <a:srgbClr val="0B6A8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12 Aug</c:v>
                </c:pt>
                <c:pt idx="1">
                  <c:v>13 Aug</c:v>
                </c:pt>
                <c:pt idx="2">
                  <c:v>13 Aug pm</c:v>
                </c:pt>
                <c:pt idx="3">
                  <c:v>30 Aug</c:v>
                </c:pt>
                <c:pt idx="4">
                  <c:v>Sep — market</c:v>
                </c:pt>
                <c:pt idx="5">
                  <c:v>Sep — Contacts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96</c:v>
                </c:pt>
                <c:pt idx="2">
                  <c:v>100</c:v>
                </c:pt>
                <c:pt idx="3">
                  <c:v>68</c:v>
                </c:pt>
                <c:pt idx="4">
                  <c:v>69</c:v>
                </c:pt>
                <c:pt idx="5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C4-452B-A7A1-4757E0A5E53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 rate</c:v>
                </c:pt>
              </c:strCache>
            </c:strRef>
          </c:tx>
          <c:spPr>
            <a:ln w="38100" cap="flat">
              <a:solidFill>
                <a:srgbClr val="A9502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9502C"/>
              </a:solidFill>
              <a:ln w="9525" cap="flat">
                <a:solidFill>
                  <a:srgbClr val="A9502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12 Aug</c:v>
                </c:pt>
                <c:pt idx="1">
                  <c:v>13 Aug</c:v>
                </c:pt>
                <c:pt idx="2">
                  <c:v>13 Aug pm</c:v>
                </c:pt>
                <c:pt idx="3">
                  <c:v>30 Aug</c:v>
                </c:pt>
                <c:pt idx="4">
                  <c:v>Sep — market</c:v>
                </c:pt>
                <c:pt idx="5">
                  <c:v>Sep — Contacts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20</c:v>
                </c:pt>
                <c:pt idx="2">
                  <c:v>36</c:v>
                </c:pt>
                <c:pt idx="3">
                  <c:v>52</c:v>
                </c:pt>
                <c:pt idx="4">
                  <c:v>44</c:v>
                </c:pt>
                <c:pt idx="5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C4-452B-A7A1-4757E0A5E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9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5E0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9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569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754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minutes total, five speakers, three minutes each. Raihan opens.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The gap is the oracle: knowing what correct looks like. That is what a specification gives us and what nobody else ingests.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diagram. Point at the three purple roles and the green graph in the middle. That is the whole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off: 'So the first question is — what does it decide to test?' Then Mehemud.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grouping IS the architecture in miniature: should / does / already known — therefore where the gap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16 per cent is the number to land. Say it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off: 'But notice the planner never writes the steps — only the goal.' Then Jonayed.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up Mehemud's handoff line directly. This slide is the seam between the two planner halves.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off: 'So how do we know that 500 is a real bug and not the agent imagining one?' Then Tuhin.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short on time, this is the slide to compress to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claim seen three times across three evaluations is worth more than one asserted once — that is what the count buys.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100-versus-67 story is the one that lands. It justifies the entire taxonomy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the question you WILL be asked. Deliver it as the close, then hand to Niloy.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two end rows. Zero agent faults with a spec; 16 of 20 without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hide the 0 per cent. Explaining it is the strongest thing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limits plainly and without apology. Examiners reward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ownership agreed in advance so nobody talks over anyone.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450 CAPSTONE PROJECT  ·  DEPARTMENT OF CSE, BUET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Testing Automation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9572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agent that decides what to test, runs it on a real Android device or in a browser, and learns from every run.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947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78224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Raihan Rashid · 2105046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Mehemud Azad · 2105014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Jonayed Mohiuddin Shanto · 2105060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Khalid Hasan Tuhin · 2105002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Niloy Kumar Mondal · 2105044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257800" y="37947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4078224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A. B. M. Alim Al Islam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Department of CSE, BUET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37947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4078224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R&amp;D Institute Bangladesh</a:t>
            </a:r>
            <a:endParaRPr lang="en-US" sz="1150" dirty="0"/>
          </a:p>
        </p:txBody>
      </p:sp>
      <p:pic>
        <p:nvPicPr>
          <p:cNvPr id="11" name="Image 0" descr="D:\Projects\Exploratory-Testing-Planner-Agent\Report\BUET_CSE_Capstone_Project_Template\figures\bu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858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exploratory testing resists automation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existing approaches. Each gives up something the other two need.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21024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029968"/>
            <a:ext cx="182880" cy="182880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69848" y="195681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exploratory testing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957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real defects, because a person knows what correct looks like.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scale. The knowledge leaves with the tester.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1783080"/>
            <a:ext cx="3621024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53712" y="2029968"/>
            <a:ext cx="182880" cy="182880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846320" y="195681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automation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3957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Repeatable, fast, and cheap to run again.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31546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checks what its author already thought of. It confirms; it does not discover.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55864" y="1783080"/>
            <a:ext cx="3621024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30184" y="2029968"/>
            <a:ext cx="182880" cy="182880"/>
          </a:xfrm>
          <a:prstGeom prst="ellipse">
            <a:avLst/>
          </a:prstGeom>
          <a:solidFill>
            <a:srgbClr val="A9502C"/>
          </a:solidFill>
          <a:ln w="12700">
            <a:solidFill>
              <a:srgbClr val="A95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622792" y="195681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/ Monkey testing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30184" y="23957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at scale with no setup at all.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330184" y="31546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idea what correct looks like. Reports a crash, never a wrong result.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645152"/>
            <a:ext cx="11183112" cy="1024128"/>
          </a:xfrm>
          <a:prstGeom prst="roundRect">
            <a:avLst>
              <a:gd name="adj" fmla="val 5357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68680" y="4791456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 automated tool can tell you an application crashed. It cannot tell you it quietly charged the wrong account.”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Automation  ·  CSE 450  ·  BUET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104120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0104120" y="38404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Raihan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agents, one shared memory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41605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— decides what to test next and writes the test case.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— drives the real application, Android or browser.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— decides what the run actually proved.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never call each other. The knowledge graph is the only channel.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call is stateless and rebuilt from the graph, so “learning” is something you can inspect: the graph either grew or it did not.</a:t>
            </a:r>
            <a:endParaRPr lang="en-US" sz="1350" dirty="0"/>
          </a:p>
        </p:txBody>
      </p:sp>
      <p:pic>
        <p:nvPicPr>
          <p:cNvPr id="5" name="Image 0" descr="D:\Projects\Exploratory-Testing-Planner-Agent\Report\BUET_CSE_Capstone_Project_Template\figures\01-system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6812280" cy="3602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92040" y="5321808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Amber: an input · Green: knowledge · Blue: a service · Purple: an agent role · Red: a model call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Automation  ·  CSE 450  ·  BUET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104120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0104120" y="38404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Raihan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MODEL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graphs in one store, and the gap between them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project's central idea and where it differs from every system we reviewed.</a:t>
            </a:r>
            <a:endParaRPr lang="en-US" sz="1400" dirty="0"/>
          </a:p>
        </p:txBody>
      </p:sp>
      <p:pic>
        <p:nvPicPr>
          <p:cNvPr id="5" name="Image 0" descr="D:\Projects\Exploratory-Testing-Planner-Agent\Report\BUET_CSE_Capstone_Project_Template\figures\03-knowledge-graph-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783080"/>
            <a:ext cx="6309360" cy="3712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965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 — from documents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25856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validation rules, source chunks. What the application should do.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566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A95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POSTERIORI — from observation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385876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states, transitions, navigation paths, execution logs. What it actually does.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692640" y="1965960"/>
            <a:ext cx="2011680" cy="2377440"/>
          </a:xfrm>
          <a:prstGeom prst="roundRect">
            <a:avLst>
              <a:gd name="adj" fmla="val 2727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9921240" y="219456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and findings span both.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is steered by the gap between them.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Automation  ·  CSE 450  ·  BUET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0104120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10104120" y="38404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Raihan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knows before it writes a test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reads the graph through nine tools, grouped by the question each answers.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74520"/>
            <a:ext cx="6858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exist — requirements not yet tested, validation rules.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application actually has — screens observed, navigation paths.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already known — findings, open questions, coverage.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whose source is empty is never registered, so an absent source cannot mislead the model with a blank answer.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Bounded: 12 turns, and from turn 6 the model is told to propose — left free it investigates forever.</a:t>
            </a:r>
            <a:endParaRPr lang="en-US" sz="1350" dirty="0"/>
          </a:p>
        </p:txBody>
      </p:sp>
      <p:pic>
        <p:nvPicPr>
          <p:cNvPr id="6" name="Image 0" descr="D:\Projects\Exploratory-Testing-Planner-Agent\Report\BUET_CSE_Capstone_Project_Template\figures\14-the-nine-tools-as-an-investi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737360"/>
            <a:ext cx="3063240" cy="40142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Automation  ·  CSE 450  ·  BUET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104120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0104120" y="38404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Mehemud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reaches a device unvalidated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8064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" y="2029968"/>
            <a:ext cx="365760" cy="365760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58952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29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must exist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1284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screen is checked against screens actually observed.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779776"/>
            <a:ext cx="58064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8952" y="3026664"/>
            <a:ext cx="365760" cy="365760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58952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926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IDs must exist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20954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identifiers are rejected, not silently stored.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776472"/>
            <a:ext cx="58064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58952" y="4023360"/>
            <a:ext cx="365760" cy="365760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58952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9227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duplicate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2062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check against tests already executed.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773168"/>
            <a:ext cx="58064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365760" cy="365760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58952" y="5020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9194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Preconditions must be creatable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20293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that depends on a state nobody can reach.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20840" y="1783080"/>
            <a:ext cx="4965192" cy="2212848"/>
          </a:xfrm>
          <a:prstGeom prst="roundRect">
            <a:avLst>
              <a:gd name="adj" fmla="val 2479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040880" y="197510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23113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A95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46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03580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proposals named a screen that really existed, under the first planner design.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20840" y="4169664"/>
            <a:ext cx="496519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040880" y="437083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redesign: one rejection across eight test cases, corrected on the next turn.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513892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rejections and the best effort is accepted with a recorded degradation — a planning round never returns nothing.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Automation  ·  CSE 450  ·  BUET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104120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10104120" y="38404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Mehemud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EXECUTOR — ANDROID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Driving a real handset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82880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physical device over ADB, through the Android accessibility service.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are addressed by role, name and content description — never by pixel coordinates.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it reaches is posted back to the graph as a UI state, so the map grows while the tests run.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Bounded: at most 50 device actions per test, roughly 20 seconds per step.</a:t>
            </a:r>
            <a:endParaRPr lang="en-US" sz="1350" dirty="0"/>
          </a:p>
        </p:txBody>
      </p:sp>
      <p:pic>
        <p:nvPicPr>
          <p:cNvPr id="5" name="Image 0" descr="D:\Projects\Exploratory-Testing-Planner-Agent\Report\BUET_CSE_Capstone_Project_Template\figures\17-state-identity-is-this-a-screen-we-have-s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00200"/>
            <a:ext cx="214884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828800"/>
            <a:ext cx="3364992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59536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SCREEN WE HAVE SEEN?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2395728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tests, cheapest first: exact signature, structural Jaccard, containment, skeleton containment, perceptual hash.</a:t>
            </a:r>
            <a:endParaRPr lang="en-US" sz="1150" dirty="0"/>
          </a:p>
          <a:p>
            <a:pPr marL="0" indent="0">
              <a:lnSpc>
                <a:spcPts val="1450"/>
              </a:lnSpc>
              <a:buNone/>
            </a:pPr>
            <a:endParaRPr lang="en-US" sz="11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too eagerly and the map collapses; split too eagerly and it is destroyed. One wizard produced nine states before this cascade existed.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Automation  ·  CSE 450  ·  BUET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0104120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104120" y="38404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Mehemud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→ EXECUTOR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objective, never a tap sequence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cannot see the live screen. So it states the goal and the executor decides the steps.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1762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PLANNER SENDS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“Verify that a survey cannot be submitted while a required question is unanswered, and that the error names the question.”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preconditions, the expected result, and the area under test — all in plain language.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422392" cy="3200400"/>
          </a:xfrm>
          <a:prstGeom prst="roundRect">
            <a:avLst>
              <a:gd name="adj" fmla="val 1714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583680" y="21762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SCRIPT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514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wrong tap-script is worse than a vague goal.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090672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executor can recover from an imprecise objective. It cannot recover from instructions that do not match the screen in front of it.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planner is never allowed to guess coordinates it has not seen.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5349240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sit at the configuration layer: log out, delete account, change password and payment controls are refused before the action is attempted.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Automation  ·  CSE 450  ·  BUET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104120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104120" y="38404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Jonayed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EXECUTOR — WEB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planner, a different body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8288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Playwright, reading an accessibility-style snapshot of the DOM rather than screenshots — cheaper per step and more precise than the vision-based approach most comparable systems use.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actions: click, fill, press, select, navigate, back, scroll, wait, finish.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In-loop guards end a stalled run: repetition of an action already proven inert, and wandering — a different action each time with nothing changing.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223760" y="1783080"/>
            <a:ext cx="4462272" cy="3977640"/>
          </a:xfrm>
          <a:prstGeom prst="roundRect">
            <a:avLst>
              <a:gd name="adj" fmla="val 1379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543800" y="1993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ORACLES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43800" y="23042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 that does not depend on what the agent claims: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2907792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errors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uncaught page errors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4xx and 5xx responses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dialogs the page never shows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543800" y="440740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live site under test these caught a genuine HTTP 500 that the agent itself had nearly filed as a UI error.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8920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CAPTCHA handling and a run lock are enforced here too — a CAPTCHA escalates to a human when visible, and fails the test cleanly when headless.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Automation  ·  CSE 450  ·  BUET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104120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104120" y="38404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Jonayed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an application is a data change, not a code change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validated JSON profile selects the target, its platform, and everything that depends on them.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574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20574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 /  web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243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6243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specification, API notes, defect history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1912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319125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agent must never activate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7581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37581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per test, wall clock, rounds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3251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43251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disposable test account, never shown to the planner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50292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can list, validate, save, ingest and run a profile, so a new target never touches the source tree.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0" y="1920240"/>
            <a:ext cx="4370832" cy="3566160"/>
          </a:xfrm>
          <a:prstGeom prst="roundRect">
            <a:avLst>
              <a:gd name="adj" fmla="val 1538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635240" y="2121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AGAINST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237744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200" dirty="0"/>
          </a:p>
        </p:txBody>
      </p:sp>
      <p:sp>
        <p:nvSpPr>
          <p:cNvPr id="19" name="Text 17"/>
          <p:cNvSpPr txBox="1"/>
          <p:nvPr/>
        </p:nvSpPr>
        <p:spPr>
          <a:xfrm>
            <a:off x="8577072" y="28163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34290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Android applications — a production marketplace and Google Contacts — and three websites, including a live survey platform.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planner. One graph. One report format.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Automation  ·  CSE 450  ·  BUET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104120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0104120" y="38404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Jonayed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INVESTIGATOR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run into knowledge that outlives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whole trajectory against what the test intended — not just the final screen.</a:t>
            </a:r>
            <a:endParaRPr lang="en-US" sz="1400" dirty="0"/>
          </a:p>
        </p:txBody>
      </p:sp>
      <p:pic>
        <p:nvPicPr>
          <p:cNvPr id="5" name="Image 0" descr="D:\Projects\Exploratory-Testing-Planner-Agent\Report\BUET_CSE_Capstone_Project_Template\figures\06-investigator-trajectory-to-knowle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800"/>
            <a:ext cx="11183112" cy="22128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4251960"/>
            <a:ext cx="3621024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4434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and deduplicated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754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repeated observation increments an existing finding's count instead of creating a near-duplicate.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79392" y="4251960"/>
            <a:ext cx="3621024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553712" y="4434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separated from findings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53712" y="4754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run still contributes knowledge. The two are stored independently.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55864" y="4251960"/>
            <a:ext cx="3621024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330184" y="4434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or nothing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330184" y="4754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verdict the observations do not support is recorded as unverified, not resolved either way.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Automation  ·  CSE 450  ·  BUET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0104120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10104120" y="38404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Tuhin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ATTRIBUTION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failure is the application's fault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Conflating these three inflates the reported defect count — the most expensive error this system can make.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621024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20848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10" dirty="0">
                <a:solidFill>
                  <a:srgbClr val="A95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FAULT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957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application is wrong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16352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failure · crash · unresponsive · HTTP error · page error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114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only one that becomes a defect report.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9392" y="1874520"/>
            <a:ext cx="3621024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53712" y="20848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1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FAULT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3957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could not drive 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816352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not found · timeout · navigation failure · livelock · stale element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55864" y="1874520"/>
            <a:ext cx="3621024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330184" y="20848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1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FAULT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30184" y="23957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something blocked the test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30184" y="2816352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 not met · permission denied · CAPTCHA · guardrail · step limit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983480"/>
            <a:ext cx="11183112" cy="841248"/>
          </a:xfrm>
          <a:prstGeom prst="roundRect">
            <a:avLst>
              <a:gd name="adj" fmla="val 6522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68680" y="5102352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once as three frozen sets and imported everywhere. An earlier version defined them twice, the copies drifted, and autonomy was reported as 100% when it was 67%.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Automation  ·  CSE 450  ·  BUET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104120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0104120" y="38404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Tuhin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QUESTION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know the defects are real?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53212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LITERATURE SHOWS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9572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comparable published agent reported 158 defects against a human team's 80 — at roughly 52–66% accuracy, where the humans were at 100%.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 five of its reports were false. An agent that reports everything is not useful; it moves the work rather than removing it.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et al., FSE 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330952" cy="3931920"/>
          </a:xfrm>
          <a:prstGeom prst="roundRect">
            <a:avLst>
              <a:gd name="adj" fmla="val 1395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675120" y="2057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OURS DID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395728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flagged what looked like a serious access-control hole on the live site — one user reading another's private project.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6118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checked. The endpoint was gated by the site's own privacy setting and behaving exactly as designed.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663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we did not report it.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51937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is what makes that restraint possible.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Automation  ·  CSE 450  ·  BUET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104120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0104120" y="38404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Tuhin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 autonomous test runs across five targets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435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platforms, two Android applications and three websites, all executed end to end.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11183112" cy="2304288"/>
        </p:xfrm>
        <a:graphic>
          <a:graphicData uri="http://schemas.openxmlformats.org/drawingml/2006/table">
            <a:tbl>
              <a:tblPr/>
              <a:tblGrid>
                <a:gridCol w="3867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DataGhurhi — survey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Shobar Khamar — marketplace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Contacts 4.86.23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broken-workshop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AcademyBug — no specification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663440"/>
            <a:ext cx="5532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486460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DataGhurhi: 64 runs, zero agent faults. The web executor is mature.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55080" y="4663440"/>
            <a:ext cx="5330952" cy="1143000"/>
          </a:xfrm>
          <a:prstGeom prst="roundRect">
            <a:avLst>
              <a:gd name="adj" fmla="val 4800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675120" y="486460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AcademyBug: no specification ingested — and 16 of 20 runs failed on our side. That contrast is the thesis.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Automation  ·  CSE 450  ·  BUET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104120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104120" y="38404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Niloy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campaign curve actually shows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783080"/>
          <a:ext cx="66751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04748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cent, across six instrumented campaigns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498080" y="1856232"/>
            <a:ext cx="146304" cy="146304"/>
          </a:xfrm>
          <a:prstGeom prst="ellipse">
            <a:avLst/>
          </a:prstGeom>
          <a:solidFill>
            <a:srgbClr val="A9502C"/>
          </a:solidFill>
          <a:ln w="12700">
            <a:solidFill>
              <a:srgbClr val="A95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772400" y="17830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pass looked catastrophic — it was not.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11226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of device steps were unparseable, so almost nothing could be attributed. The instrumentation worked and revealed that the evidence did not.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98080" y="3273552"/>
            <a:ext cx="146304" cy="146304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772400" y="32004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unglamorous fixes, one day.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352958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reassembly, containment matching, a precondition filter, a device reset. Two days later: 100% autonomy, zero silent fallbacks.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98080" y="4690872"/>
            <a:ext cx="146304" cy="146304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772400" y="46177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met production, and fell to 67%.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494690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tuned agent does not transfer for free. That is the most honest result we have.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Automation  ·  CSE 450  ·  BUET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0104120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10104120" y="38404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Niloy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HONEST LIMITS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costs, and what we cannot yet claim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029200" cy="1828800"/>
          </a:xfrm>
          <a:prstGeom prst="roundRect">
            <a:avLst>
              <a:gd name="adj" fmla="val 3000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02996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0.008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executed test, measured against the provider's billing record at 10.1 device steps per test.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794760"/>
            <a:ext cx="50292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blurRad="101600" dist="12700" dir="5400000" algn="bl" rotWithShape="0">
              <a:srgbClr val="14303D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4023360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published work reports about USD 18 per application for a two-hour campaign, and states that the cost prevented the authors from repeating their own runs.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A95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CANNOT CLAIM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2240280"/>
            <a:ext cx="56967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precision or recall. Establishing them honestly needs seeded defects, and the partner supplied neither a defect export nor a seeded build.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configuration changed eight times over the project, so improvement cannot be attributed to the system alone.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is local and developer-operated; it is not hardened for shared infrastructure.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4892040"/>
            <a:ext cx="5696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State-based oracles that check the application's stored data, not the agent's narrative.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after every step rather than only at the verdict.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 Automation  ·  CSE 450  ·  BUET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104120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0104120" y="38404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Niloy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3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71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53796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TAKES WHICH QUESTION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537960" y="2011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novelty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Raihan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2487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Planner, prompts, models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241280" y="2487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Mehemud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9626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platforms, safety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241280" y="2962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Jonayed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4381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Verdicts, attribution, false positives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34381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Tuhin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913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cost, evaluation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0" y="39136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Niloy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394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github.com/raihanrsdV1/Exploratory-Testing-Planner-Agent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2476</Words>
  <Application>Microsoft Office PowerPoint</Application>
  <PresentationFormat>Widescreen</PresentationFormat>
  <Paragraphs>316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Testing Automation</dc:title>
  <dc:subject>PptxGenJS Presentation</dc:subject>
  <dc:creator>CSE 450 Capstone Team</dc:creator>
  <cp:lastModifiedBy>Jonayed Mohiuddin</cp:lastModifiedBy>
  <cp:revision>2</cp:revision>
  <dcterms:created xsi:type="dcterms:W3CDTF">2026-09-29T17:54:05Z</dcterms:created>
  <dcterms:modified xsi:type="dcterms:W3CDTF">2026-09-29T18:27:24Z</dcterms:modified>
</cp:coreProperties>
</file>