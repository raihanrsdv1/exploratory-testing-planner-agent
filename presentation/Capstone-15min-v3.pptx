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rts/chart1.xml" ContentType="application/vnd.openxmlformats-officedocument.drawingml.chart+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6" d="100"/>
          <a:sy n="96" d="100"/>
        </p:scale>
        <p:origin x="149"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Autonomy</c:v>
                </c:pt>
              </c:strCache>
            </c:strRef>
          </c:tx>
          <c:spPr>
            <a:ln w="38100" cap="flat">
              <a:solidFill>
                <a:srgbClr val="0B6A8F"/>
              </a:solidFill>
              <a:prstDash val="solid"/>
              <a:round/>
            </a:ln>
            <a:effectLst/>
          </c:spPr>
          <c:marker>
            <c:symbol val="circle"/>
            <c:size val="6"/>
            <c:spPr>
              <a:solidFill>
                <a:srgbClr val="0B6A8F"/>
              </a:solidFill>
              <a:ln w="9525" cap="flat">
                <a:solidFill>
                  <a:srgbClr val="0B6A8F"/>
                </a:solidFill>
                <a:prstDash val="solid"/>
                <a:round/>
              </a:ln>
              <a:effectLst/>
            </c:spPr>
          </c:marker>
          <c:cat>
            <c:strRef>
              <c:f>Sheet1!$A$2:$A$7</c:f>
              <c:strCache>
                <c:ptCount val="6"/>
                <c:pt idx="0">
                  <c:v>12 Aug</c:v>
                </c:pt>
                <c:pt idx="1">
                  <c:v>13 Aug</c:v>
                </c:pt>
                <c:pt idx="2">
                  <c:v>13 Aug pm</c:v>
                </c:pt>
                <c:pt idx="3">
                  <c:v>30 Aug</c:v>
                </c:pt>
                <c:pt idx="4">
                  <c:v>Sep market</c:v>
                </c:pt>
                <c:pt idx="5">
                  <c:v>Sep Contacts</c:v>
                </c:pt>
              </c:strCache>
            </c:strRef>
          </c:cat>
          <c:val>
            <c:numRef>
              <c:f>Sheet1!$B$2:$B$7</c:f>
              <c:numCache>
                <c:formatCode>General</c:formatCode>
                <c:ptCount val="6"/>
                <c:pt idx="0">
                  <c:v>18</c:v>
                </c:pt>
                <c:pt idx="1">
                  <c:v>96</c:v>
                </c:pt>
                <c:pt idx="2">
                  <c:v>100</c:v>
                </c:pt>
                <c:pt idx="3">
                  <c:v>68</c:v>
                </c:pt>
                <c:pt idx="4">
                  <c:v>69</c:v>
                </c:pt>
                <c:pt idx="5">
                  <c:v>80</c:v>
                </c:pt>
              </c:numCache>
            </c:numRef>
          </c:val>
          <c:smooth val="0"/>
          <c:extLst>
            <c:ext xmlns:c16="http://schemas.microsoft.com/office/drawing/2014/chart" uri="{C3380CC4-5D6E-409C-BE32-E72D297353CC}">
              <c16:uniqueId val="{00000000-5B30-4AEE-AAE5-9F9330BD2FD6}"/>
            </c:ext>
          </c:extLst>
        </c:ser>
        <c:ser>
          <c:idx val="1"/>
          <c:order val="1"/>
          <c:tx>
            <c:strRef>
              <c:f>Sheet1!$C$1</c:f>
              <c:strCache>
                <c:ptCount val="1"/>
                <c:pt idx="0">
                  <c:v>Pass rate</c:v>
                </c:pt>
              </c:strCache>
            </c:strRef>
          </c:tx>
          <c:spPr>
            <a:ln w="38100" cap="flat">
              <a:solidFill>
                <a:srgbClr val="A9502C"/>
              </a:solidFill>
              <a:prstDash val="solid"/>
              <a:round/>
            </a:ln>
            <a:effectLst/>
          </c:spPr>
          <c:marker>
            <c:symbol val="circle"/>
            <c:size val="6"/>
            <c:spPr>
              <a:solidFill>
                <a:srgbClr val="A9502C"/>
              </a:solidFill>
              <a:ln w="9525" cap="flat">
                <a:solidFill>
                  <a:srgbClr val="A9502C"/>
                </a:solidFill>
                <a:prstDash val="solid"/>
                <a:round/>
              </a:ln>
              <a:effectLst/>
            </c:spPr>
          </c:marker>
          <c:cat>
            <c:strRef>
              <c:f>Sheet1!$A$2:$A$7</c:f>
              <c:strCache>
                <c:ptCount val="6"/>
                <c:pt idx="0">
                  <c:v>12 Aug</c:v>
                </c:pt>
                <c:pt idx="1">
                  <c:v>13 Aug</c:v>
                </c:pt>
                <c:pt idx="2">
                  <c:v>13 Aug pm</c:v>
                </c:pt>
                <c:pt idx="3">
                  <c:v>30 Aug</c:v>
                </c:pt>
                <c:pt idx="4">
                  <c:v>Sep market</c:v>
                </c:pt>
                <c:pt idx="5">
                  <c:v>Sep Contacts</c:v>
                </c:pt>
              </c:strCache>
            </c:strRef>
          </c:cat>
          <c:val>
            <c:numRef>
              <c:f>Sheet1!$C$2:$C$7</c:f>
              <c:numCache>
                <c:formatCode>General</c:formatCode>
                <c:ptCount val="6"/>
                <c:pt idx="0">
                  <c:v>0</c:v>
                </c:pt>
                <c:pt idx="1">
                  <c:v>20</c:v>
                </c:pt>
                <c:pt idx="2">
                  <c:v>36</c:v>
                </c:pt>
                <c:pt idx="3">
                  <c:v>52</c:v>
                </c:pt>
                <c:pt idx="4">
                  <c:v>44</c:v>
                </c:pt>
                <c:pt idx="5">
                  <c:v>40</c:v>
                </c:pt>
              </c:numCache>
            </c:numRef>
          </c:val>
          <c:smooth val="0"/>
          <c:extLst>
            <c:ext xmlns:c16="http://schemas.microsoft.com/office/drawing/2014/chart" uri="{C3380CC4-5D6E-409C-BE32-E72D297353CC}">
              <c16:uniqueId val="{00000001-5B30-4AEE-AAE5-9F9330BD2FD6}"/>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5697A"/>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12700" cap="flat">
              <a:solidFill>
                <a:srgbClr val="D5E0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5697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5697A"/>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6307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 slide. Skip the middle two rows if running short.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off: 'But notice the planner never writes the steps, only the goal.'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off: 'So how do we know that 500 is real and not the agent imagining it?'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03D"/>
        </a:solidFill>
        <a:effectLst/>
      </p:bgPr>
    </p:bg>
    <p:spTree>
      <p:nvGrpSpPr>
        <p:cNvPr id="1" name=""/>
        <p:cNvGrpSpPr/>
        <p:nvPr/>
      </p:nvGrpSpPr>
      <p:grpSpPr>
        <a:xfrm>
          <a:off x="0" y="0"/>
          <a:ext cx="0" cy="0"/>
          <a:chOff x="0" y="0"/>
          <a:chExt cx="0" cy="0"/>
        </a:xfrm>
      </p:grpSpPr>
      <p:sp>
        <p:nvSpPr>
          <p:cNvPr id="2" name="Text 0"/>
          <p:cNvSpPr txBox="1"/>
          <p:nvPr/>
        </p:nvSpPr>
        <p:spPr>
          <a:xfrm>
            <a:off x="731520" y="822960"/>
            <a:ext cx="10058400" cy="274320"/>
          </a:xfrm>
          <a:prstGeom prst="rect">
            <a:avLst/>
          </a:prstGeom>
          <a:noFill/>
          <a:ln/>
        </p:spPr>
        <p:txBody>
          <a:bodyPr wrap="square" lIns="0" tIns="0" rIns="0" bIns="0" rtlCol="0" anchor="ctr"/>
          <a:lstStyle/>
          <a:p>
            <a:pPr marL="0" indent="0">
              <a:buNone/>
            </a:pPr>
            <a:r>
              <a:rPr lang="en-US" sz="1100" b="1" kern="0" spc="180" dirty="0">
                <a:solidFill>
                  <a:srgbClr val="7FB3C8"/>
                </a:solidFill>
                <a:latin typeface="Calibri" pitchFamily="34" charset="0"/>
                <a:ea typeface="Calibri" pitchFamily="34" charset="-122"/>
                <a:cs typeface="Calibri" pitchFamily="34" charset="-120"/>
              </a:rPr>
              <a:t>CSE 450 CAPSTONE PROJECT  ·  DEPARTMENT OF CSE, BUET</a:t>
            </a:r>
            <a:endParaRPr lang="en-US" sz="1100" dirty="0"/>
          </a:p>
        </p:txBody>
      </p:sp>
      <p:sp>
        <p:nvSpPr>
          <p:cNvPr id="3" name="Text 1"/>
          <p:cNvSpPr txBox="1"/>
          <p:nvPr/>
        </p:nvSpPr>
        <p:spPr>
          <a:xfrm>
            <a:off x="731520" y="1554480"/>
            <a:ext cx="10515600" cy="91440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Exploratory Testing Automation</a:t>
            </a:r>
            <a:endParaRPr lang="en-US" sz="4600" dirty="0"/>
          </a:p>
        </p:txBody>
      </p:sp>
      <p:sp>
        <p:nvSpPr>
          <p:cNvPr id="4" name="Text 2"/>
          <p:cNvSpPr txBox="1"/>
          <p:nvPr/>
        </p:nvSpPr>
        <p:spPr>
          <a:xfrm>
            <a:off x="731520" y="2542032"/>
            <a:ext cx="9144000" cy="457200"/>
          </a:xfrm>
          <a:prstGeom prst="rect">
            <a:avLst/>
          </a:prstGeom>
          <a:noFill/>
          <a:ln/>
        </p:spPr>
        <p:txBody>
          <a:bodyPr wrap="square" lIns="0" tIns="0" rIns="0" bIns="0" rtlCol="0" anchor="ctr"/>
          <a:lstStyle/>
          <a:p>
            <a:pPr marL="0" indent="0">
              <a:buNone/>
            </a:pPr>
            <a:r>
              <a:rPr lang="en-US" sz="1600" dirty="0">
                <a:solidFill>
                  <a:srgbClr val="C4D6DE"/>
                </a:solidFill>
                <a:latin typeface="Calibri" pitchFamily="34" charset="0"/>
                <a:ea typeface="Calibri" pitchFamily="34" charset="-122"/>
                <a:cs typeface="Calibri" pitchFamily="34" charset="-120"/>
              </a:rPr>
              <a:t>An autonomous agent that decides what to test, runs it, and learns from every run.</a:t>
            </a:r>
            <a:endParaRPr lang="en-US" sz="1600" dirty="0"/>
          </a:p>
        </p:txBody>
      </p:sp>
      <p:sp>
        <p:nvSpPr>
          <p:cNvPr id="5" name="Text 3"/>
          <p:cNvSpPr txBox="1"/>
          <p:nvPr/>
        </p:nvSpPr>
        <p:spPr>
          <a:xfrm>
            <a:off x="731520" y="3931920"/>
            <a:ext cx="4206240" cy="237744"/>
          </a:xfrm>
          <a:prstGeom prst="rect">
            <a:avLst/>
          </a:prstGeom>
          <a:noFill/>
          <a:ln/>
        </p:spPr>
        <p:txBody>
          <a:bodyPr wrap="square" lIns="0" tIns="0" rIns="0" bIns="0" rtlCol="0" anchor="ctr"/>
          <a:lstStyle/>
          <a:p>
            <a:pPr marL="0" indent="0">
              <a:buNone/>
            </a:pPr>
            <a:r>
              <a:rPr lang="en-US" sz="950" b="1" kern="0" spc="140" dirty="0">
                <a:solidFill>
                  <a:srgbClr val="0B6A8F"/>
                </a:solidFill>
                <a:latin typeface="Calibri" pitchFamily="34" charset="0"/>
                <a:ea typeface="Calibri" pitchFamily="34" charset="-122"/>
                <a:cs typeface="Calibri" pitchFamily="34" charset="-120"/>
              </a:rPr>
              <a:t>TEAM</a:t>
            </a:r>
            <a:endParaRPr lang="en-US" sz="950" dirty="0"/>
          </a:p>
        </p:txBody>
      </p:sp>
      <p:sp>
        <p:nvSpPr>
          <p:cNvPr id="6" name="Text 4"/>
          <p:cNvSpPr txBox="1"/>
          <p:nvPr/>
        </p:nvSpPr>
        <p:spPr>
          <a:xfrm>
            <a:off x="731520" y="4224528"/>
            <a:ext cx="4206240" cy="1554480"/>
          </a:xfrm>
          <a:prstGeom prst="rect">
            <a:avLst/>
          </a:prstGeom>
          <a:noFill/>
          <a:ln/>
        </p:spPr>
        <p:txBody>
          <a:bodyPr wrap="square" lIns="0" tIns="0" rIns="0" bIns="0" rtlCol="0" anchor="ctr"/>
          <a:lstStyle/>
          <a:p>
            <a:pPr marL="0" indent="0">
              <a:lnSpc>
                <a:spcPts val="1600"/>
              </a:lnSpc>
              <a:buNone/>
            </a:pPr>
            <a:r>
              <a:rPr lang="en-US" sz="1150" dirty="0">
                <a:solidFill>
                  <a:srgbClr val="DCE8ED"/>
                </a:solidFill>
                <a:latin typeface="Calibri" pitchFamily="34" charset="0"/>
                <a:ea typeface="Calibri" pitchFamily="34" charset="-122"/>
                <a:cs typeface="Calibri" pitchFamily="34" charset="-120"/>
              </a:rPr>
              <a:t>Mohammad Raihan Rashid · 2105046</a:t>
            </a:r>
            <a:endParaRPr lang="en-US" sz="1150" dirty="0"/>
          </a:p>
          <a:p>
            <a:pPr marL="0" indent="0">
              <a:lnSpc>
                <a:spcPts val="1600"/>
              </a:lnSpc>
              <a:buNone/>
            </a:pPr>
            <a:r>
              <a:rPr lang="en-US" sz="1150" dirty="0">
                <a:solidFill>
                  <a:srgbClr val="DCE8ED"/>
                </a:solidFill>
                <a:latin typeface="Calibri" pitchFamily="34" charset="0"/>
                <a:ea typeface="Calibri" pitchFamily="34" charset="-122"/>
                <a:cs typeface="Calibri" pitchFamily="34" charset="-120"/>
              </a:rPr>
              <a:t>Mehemud Azad · 2105014</a:t>
            </a:r>
            <a:endParaRPr lang="en-US" sz="1150" dirty="0"/>
          </a:p>
          <a:p>
            <a:pPr marL="0" indent="0">
              <a:lnSpc>
                <a:spcPts val="1600"/>
              </a:lnSpc>
              <a:buNone/>
            </a:pPr>
            <a:r>
              <a:rPr lang="en-US" sz="1150" dirty="0">
                <a:solidFill>
                  <a:srgbClr val="DCE8ED"/>
                </a:solidFill>
                <a:latin typeface="Calibri" pitchFamily="34" charset="0"/>
                <a:ea typeface="Calibri" pitchFamily="34" charset="-122"/>
                <a:cs typeface="Calibri" pitchFamily="34" charset="-120"/>
              </a:rPr>
              <a:t>Jonayed Mohiuddin Shanto · 2105060</a:t>
            </a:r>
            <a:endParaRPr lang="en-US" sz="1150" dirty="0"/>
          </a:p>
          <a:p>
            <a:pPr marL="0" indent="0">
              <a:lnSpc>
                <a:spcPts val="1600"/>
              </a:lnSpc>
              <a:buNone/>
            </a:pPr>
            <a:r>
              <a:rPr lang="en-US" sz="1150" dirty="0">
                <a:solidFill>
                  <a:srgbClr val="DCE8ED"/>
                </a:solidFill>
                <a:latin typeface="Calibri" pitchFamily="34" charset="0"/>
                <a:ea typeface="Calibri" pitchFamily="34" charset="-122"/>
                <a:cs typeface="Calibri" pitchFamily="34" charset="-120"/>
              </a:rPr>
              <a:t>Khalid Hasan Tuhin · 2105002</a:t>
            </a:r>
            <a:endParaRPr lang="en-US" sz="1150" dirty="0"/>
          </a:p>
          <a:p>
            <a:pPr marL="0" indent="0">
              <a:lnSpc>
                <a:spcPts val="1600"/>
              </a:lnSpc>
              <a:buNone/>
            </a:pPr>
            <a:r>
              <a:rPr lang="en-US" sz="1150" dirty="0">
                <a:solidFill>
                  <a:srgbClr val="DCE8ED"/>
                </a:solidFill>
                <a:latin typeface="Calibri" pitchFamily="34" charset="0"/>
                <a:ea typeface="Calibri" pitchFamily="34" charset="-122"/>
                <a:cs typeface="Calibri" pitchFamily="34" charset="-120"/>
              </a:rPr>
              <a:t>Niloy Kumar Mondal · 2105044</a:t>
            </a:r>
            <a:endParaRPr lang="en-US" sz="1150" dirty="0"/>
          </a:p>
        </p:txBody>
      </p:sp>
      <p:sp>
        <p:nvSpPr>
          <p:cNvPr id="7" name="Text 5"/>
          <p:cNvSpPr txBox="1"/>
          <p:nvPr/>
        </p:nvSpPr>
        <p:spPr>
          <a:xfrm>
            <a:off x="5257800" y="3931920"/>
            <a:ext cx="3291840" cy="237744"/>
          </a:xfrm>
          <a:prstGeom prst="rect">
            <a:avLst/>
          </a:prstGeom>
          <a:noFill/>
          <a:ln/>
        </p:spPr>
        <p:txBody>
          <a:bodyPr wrap="square" lIns="0" tIns="0" rIns="0" bIns="0" rtlCol="0" anchor="ctr"/>
          <a:lstStyle/>
          <a:p>
            <a:pPr marL="0" indent="0">
              <a:buNone/>
            </a:pPr>
            <a:r>
              <a:rPr lang="en-US" sz="950" b="1" kern="0" spc="140" dirty="0">
                <a:solidFill>
                  <a:srgbClr val="0B6A8F"/>
                </a:solidFill>
                <a:latin typeface="Calibri" pitchFamily="34" charset="0"/>
                <a:ea typeface="Calibri" pitchFamily="34" charset="-122"/>
                <a:cs typeface="Calibri" pitchFamily="34" charset="-120"/>
              </a:rPr>
              <a:t>SUPERVISOR</a:t>
            </a:r>
            <a:endParaRPr lang="en-US" sz="950" dirty="0"/>
          </a:p>
        </p:txBody>
      </p:sp>
      <p:sp>
        <p:nvSpPr>
          <p:cNvPr id="8" name="Text 6"/>
          <p:cNvSpPr txBox="1"/>
          <p:nvPr/>
        </p:nvSpPr>
        <p:spPr>
          <a:xfrm>
            <a:off x="5257800" y="4224528"/>
            <a:ext cx="3291840" cy="1554480"/>
          </a:xfrm>
          <a:prstGeom prst="rect">
            <a:avLst/>
          </a:prstGeom>
          <a:noFill/>
          <a:ln/>
        </p:spPr>
        <p:txBody>
          <a:bodyPr wrap="square" lIns="0" tIns="0" rIns="0" bIns="0" rtlCol="0" anchor="ctr"/>
          <a:lstStyle/>
          <a:p>
            <a:pPr marL="0" indent="0">
              <a:lnSpc>
                <a:spcPts val="1600"/>
              </a:lnSpc>
              <a:buNone/>
            </a:pPr>
            <a:r>
              <a:rPr lang="en-US" sz="1150" dirty="0">
                <a:solidFill>
                  <a:srgbClr val="DCE8ED"/>
                </a:solidFill>
                <a:latin typeface="Calibri" pitchFamily="34" charset="0"/>
                <a:ea typeface="Calibri" pitchFamily="34" charset="-122"/>
                <a:cs typeface="Calibri" pitchFamily="34" charset="-120"/>
              </a:rPr>
              <a:t>Dr. A. B. M. Alim Al Islam</a:t>
            </a:r>
            <a:endParaRPr lang="en-US" sz="1150" dirty="0"/>
          </a:p>
          <a:p>
            <a:pPr marL="0" indent="0">
              <a:lnSpc>
                <a:spcPts val="1600"/>
              </a:lnSpc>
              <a:buNone/>
            </a:pPr>
            <a:r>
              <a:rPr lang="en-US" sz="1150" dirty="0">
                <a:solidFill>
                  <a:srgbClr val="DCE8ED"/>
                </a:solidFill>
                <a:latin typeface="Calibri" pitchFamily="34" charset="0"/>
                <a:ea typeface="Calibri" pitchFamily="34" charset="-122"/>
                <a:cs typeface="Calibri" pitchFamily="34" charset="-120"/>
              </a:rPr>
              <a:t>Professor, Department of CSE, BUET</a:t>
            </a:r>
            <a:endParaRPr lang="en-US" sz="1150" dirty="0"/>
          </a:p>
        </p:txBody>
      </p:sp>
      <p:sp>
        <p:nvSpPr>
          <p:cNvPr id="9" name="Text 7"/>
          <p:cNvSpPr txBox="1"/>
          <p:nvPr/>
        </p:nvSpPr>
        <p:spPr>
          <a:xfrm>
            <a:off x="8869680" y="3931920"/>
            <a:ext cx="3291840" cy="237744"/>
          </a:xfrm>
          <a:prstGeom prst="rect">
            <a:avLst/>
          </a:prstGeom>
          <a:noFill/>
          <a:ln/>
        </p:spPr>
        <p:txBody>
          <a:bodyPr wrap="square" lIns="0" tIns="0" rIns="0" bIns="0" rtlCol="0" anchor="ctr"/>
          <a:lstStyle/>
          <a:p>
            <a:pPr marL="0" indent="0">
              <a:buNone/>
            </a:pPr>
            <a:r>
              <a:rPr lang="en-US" sz="950" b="1" kern="0" spc="140" dirty="0">
                <a:solidFill>
                  <a:srgbClr val="0B6A8F"/>
                </a:solidFill>
                <a:latin typeface="Calibri" pitchFamily="34" charset="0"/>
                <a:ea typeface="Calibri" pitchFamily="34" charset="-122"/>
                <a:cs typeface="Calibri" pitchFamily="34" charset="-120"/>
              </a:rPr>
              <a:t>INDUSTRY PARTNER</a:t>
            </a:r>
            <a:endParaRPr lang="en-US" sz="950" dirty="0"/>
          </a:p>
        </p:txBody>
      </p:sp>
      <p:sp>
        <p:nvSpPr>
          <p:cNvPr id="10" name="Text 8"/>
          <p:cNvSpPr txBox="1"/>
          <p:nvPr/>
        </p:nvSpPr>
        <p:spPr>
          <a:xfrm>
            <a:off x="8869680" y="4224528"/>
            <a:ext cx="3291840" cy="1554480"/>
          </a:xfrm>
          <a:prstGeom prst="rect">
            <a:avLst/>
          </a:prstGeom>
          <a:noFill/>
          <a:ln/>
        </p:spPr>
        <p:txBody>
          <a:bodyPr wrap="square" lIns="0" tIns="0" rIns="0" bIns="0" rtlCol="0" anchor="ctr"/>
          <a:lstStyle/>
          <a:p>
            <a:pPr marL="0" indent="0">
              <a:lnSpc>
                <a:spcPts val="1600"/>
              </a:lnSpc>
              <a:buNone/>
            </a:pPr>
            <a:r>
              <a:rPr lang="en-US" sz="1150" dirty="0">
                <a:solidFill>
                  <a:srgbClr val="DCE8ED"/>
                </a:solidFill>
                <a:latin typeface="Calibri" pitchFamily="34" charset="0"/>
                <a:ea typeface="Calibri" pitchFamily="34" charset="-122"/>
                <a:cs typeface="Calibri" pitchFamily="34" charset="-120"/>
              </a:rPr>
              <a:t>Samsung R&amp;D Institute Bangladesh</a:t>
            </a:r>
            <a:endParaRPr lang="en-US" sz="1150" dirty="0"/>
          </a:p>
        </p:txBody>
      </p:sp>
      <p:pic>
        <p:nvPicPr>
          <p:cNvPr id="11" name="Image 0" descr="D:\Projects\Exploratory-Testing-Planner-Agent\Report\BUET_CSE_Capstone_Project_Template\figures\buet_logo.png"/>
          <p:cNvPicPr>
            <a:picLocks noChangeAspect="1"/>
          </p:cNvPicPr>
          <p:nvPr/>
        </p:nvPicPr>
        <p:blipFill>
          <a:blip r:embed="rId3"/>
          <a:stretch>
            <a:fillRect/>
          </a:stretch>
        </p:blipFill>
        <p:spPr>
          <a:xfrm>
            <a:off x="11018520" y="731520"/>
            <a:ext cx="713232" cy="71323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9"/>
        </a:solidFill>
        <a:effectLst/>
      </p:bgPr>
    </p:bg>
    <p:spTree>
      <p:nvGrpSpPr>
        <p:cNvPr id="1" name=""/>
        <p:cNvGrpSpPr/>
        <p:nvPr/>
      </p:nvGrpSpPr>
      <p:grpSpPr>
        <a:xfrm>
          <a:off x="0" y="0"/>
          <a:ext cx="0" cy="0"/>
          <a:chOff x="0" y="0"/>
          <a:chExt cx="0" cy="0"/>
        </a:xfrm>
      </p:grpSpPr>
      <p:sp>
        <p:nvSpPr>
          <p:cNvPr id="2" name="Shape 0"/>
          <p:cNvSpPr/>
          <p:nvPr/>
        </p:nvSpPr>
        <p:spPr>
          <a:xfrm>
            <a:off x="9802368" y="420624"/>
            <a:ext cx="1883664" cy="384048"/>
          </a:xfrm>
          <a:prstGeom prst="roundRect">
            <a:avLst>
              <a:gd name="adj" fmla="val 50000"/>
            </a:avLst>
          </a:prstGeom>
          <a:solidFill>
            <a:srgbClr val="DCE8ED"/>
          </a:solidFill>
          <a:ln w="12700">
            <a:solidFill>
              <a:srgbClr val="DCE8ED"/>
            </a:solidFill>
            <a:prstDash val="solid"/>
          </a:ln>
        </p:spPr>
        <p:txBody>
          <a:bodyPr/>
          <a:lstStyle/>
          <a:p>
            <a:endParaRPr lang="en-US"/>
          </a:p>
        </p:txBody>
      </p:sp>
      <p:sp>
        <p:nvSpPr>
          <p:cNvPr id="3" name="Text 1"/>
          <p:cNvSpPr txBox="1"/>
          <p:nvPr/>
        </p:nvSpPr>
        <p:spPr>
          <a:xfrm>
            <a:off x="9802368" y="420624"/>
            <a:ext cx="1883664" cy="384048"/>
          </a:xfrm>
          <a:prstGeom prst="rect">
            <a:avLst/>
          </a:prstGeom>
          <a:noFill/>
          <a:ln/>
        </p:spPr>
        <p:txBody>
          <a:bodyPr wrap="square" lIns="0" tIns="0" rIns="0" bIns="0" rtlCol="0" anchor="ctr"/>
          <a:lstStyle/>
          <a:p>
            <a:pPr marL="0" indent="0" algn="ctr">
              <a:buNone/>
            </a:pPr>
            <a:r>
              <a:rPr lang="en-US" sz="1200" b="1" dirty="0">
                <a:solidFill>
                  <a:srgbClr val="0B6A8F"/>
                </a:solidFill>
                <a:latin typeface="Calibri" pitchFamily="34" charset="0"/>
                <a:ea typeface="Calibri" pitchFamily="34" charset="-122"/>
                <a:cs typeface="Calibri" pitchFamily="34" charset="-120"/>
              </a:rPr>
              <a:t>Raihan</a:t>
            </a:r>
            <a:endParaRPr lang="en-US" sz="1200" dirty="0"/>
          </a:p>
        </p:txBody>
      </p:sp>
      <p:sp>
        <p:nvSpPr>
          <p:cNvPr id="4" name="Text 2"/>
          <p:cNvSpPr txBox="1"/>
          <p:nvPr/>
        </p:nvSpPr>
        <p:spPr>
          <a:xfrm>
            <a:off x="548640" y="457200"/>
            <a:ext cx="9052560" cy="658368"/>
          </a:xfrm>
          <a:prstGeom prst="rect">
            <a:avLst/>
          </a:prstGeom>
          <a:noFill/>
          <a:ln/>
        </p:spPr>
        <p:txBody>
          <a:bodyPr wrap="square" lIns="0" tIns="0" rIns="0" bIns="0" rtlCol="0" anchor="ctr"/>
          <a:lstStyle/>
          <a:p>
            <a:pPr marL="0" indent="0">
              <a:buNone/>
            </a:pPr>
            <a:r>
              <a:rPr lang="en-US" sz="3000" b="1" dirty="0">
                <a:solidFill>
                  <a:srgbClr val="14303D"/>
                </a:solidFill>
                <a:latin typeface="Cambria" pitchFamily="34" charset="0"/>
                <a:ea typeface="Cambria" pitchFamily="34" charset="-122"/>
                <a:cs typeface="Cambria" pitchFamily="34" charset="-120"/>
              </a:rPr>
              <a:t>Three ways to test. Each gives up something.</a:t>
            </a:r>
            <a:endParaRPr lang="en-US" sz="3000" dirty="0"/>
          </a:p>
        </p:txBody>
      </p:sp>
      <p:sp>
        <p:nvSpPr>
          <p:cNvPr id="5" name="Shape 3"/>
          <p:cNvSpPr/>
          <p:nvPr/>
        </p:nvSpPr>
        <p:spPr>
          <a:xfrm>
            <a:off x="548640" y="2011680"/>
            <a:ext cx="3566160" cy="2651760"/>
          </a:xfrm>
          <a:prstGeom prst="roundRect">
            <a:avLst>
              <a:gd name="adj" fmla="val 2069"/>
            </a:avLst>
          </a:prstGeom>
          <a:solidFill>
            <a:srgbClr val="FFFFFF"/>
          </a:solidFill>
          <a:ln w="12700">
            <a:solidFill>
              <a:srgbClr val="D5E0E5"/>
            </a:solidFill>
            <a:prstDash val="solid"/>
          </a:ln>
          <a:effectLst>
            <a:outerShdw blurRad="101600" dist="12700" dir="5400000" algn="bl" rotWithShape="0">
              <a:srgbClr val="14303D">
                <a:alpha val="7000"/>
              </a:srgbClr>
            </a:outerShdw>
          </a:effectLst>
        </p:spPr>
        <p:txBody>
          <a:bodyPr/>
          <a:lstStyle/>
          <a:p>
            <a:endParaRPr lang="en-US"/>
          </a:p>
        </p:txBody>
      </p:sp>
      <p:sp>
        <p:nvSpPr>
          <p:cNvPr id="6" name="Shape 4"/>
          <p:cNvSpPr/>
          <p:nvPr/>
        </p:nvSpPr>
        <p:spPr>
          <a:xfrm>
            <a:off x="841248" y="2286000"/>
            <a:ext cx="201168" cy="201168"/>
          </a:xfrm>
          <a:prstGeom prst="ellipse">
            <a:avLst/>
          </a:prstGeom>
          <a:solidFill>
            <a:srgbClr val="1E6B45"/>
          </a:solidFill>
          <a:ln w="12700">
            <a:solidFill>
              <a:srgbClr val="1E6B45"/>
            </a:solidFill>
            <a:prstDash val="solid"/>
          </a:ln>
        </p:spPr>
        <p:txBody>
          <a:bodyPr/>
          <a:lstStyle/>
          <a:p>
            <a:endParaRPr lang="en-US"/>
          </a:p>
        </p:txBody>
      </p:sp>
      <p:sp>
        <p:nvSpPr>
          <p:cNvPr id="7" name="Text 5"/>
          <p:cNvSpPr txBox="1"/>
          <p:nvPr/>
        </p:nvSpPr>
        <p:spPr>
          <a:xfrm>
            <a:off x="1170432" y="2203704"/>
            <a:ext cx="2743200" cy="365760"/>
          </a:xfrm>
          <a:prstGeom prst="rect">
            <a:avLst/>
          </a:prstGeom>
          <a:noFill/>
          <a:ln/>
        </p:spPr>
        <p:txBody>
          <a:bodyPr wrap="square" lIns="0" tIns="0" rIns="0" bIns="0" rtlCol="0" anchor="ctr"/>
          <a:lstStyle/>
          <a:p>
            <a:pPr marL="0" indent="0">
              <a:buNone/>
            </a:pPr>
            <a:r>
              <a:rPr lang="en-US" sz="1600" b="1" dirty="0">
                <a:solidFill>
                  <a:srgbClr val="14303D"/>
                </a:solidFill>
                <a:latin typeface="Calibri" pitchFamily="34" charset="0"/>
                <a:ea typeface="Calibri" pitchFamily="34" charset="-122"/>
                <a:cs typeface="Calibri" pitchFamily="34" charset="-120"/>
              </a:rPr>
              <a:t>Manual exploratory</a:t>
            </a:r>
            <a:endParaRPr lang="en-US" sz="1600" dirty="0"/>
          </a:p>
        </p:txBody>
      </p:sp>
      <p:sp>
        <p:nvSpPr>
          <p:cNvPr id="8" name="Text 6"/>
          <p:cNvSpPr txBox="1"/>
          <p:nvPr/>
        </p:nvSpPr>
        <p:spPr>
          <a:xfrm>
            <a:off x="841248" y="2743200"/>
            <a:ext cx="3017520" cy="457200"/>
          </a:xfrm>
          <a:prstGeom prst="rect">
            <a:avLst/>
          </a:prstGeom>
          <a:noFill/>
          <a:ln/>
        </p:spPr>
        <p:txBody>
          <a:bodyPr wrap="square" lIns="0" tIns="0" rIns="0" bIns="0" rtlCol="0" anchor="ctr"/>
          <a:lstStyle/>
          <a:p>
            <a:pPr marL="0" indent="0">
              <a:buNone/>
            </a:pPr>
            <a:r>
              <a:rPr lang="en-US" sz="1400" dirty="0">
                <a:solidFill>
                  <a:srgbClr val="1E6B45"/>
                </a:solidFill>
                <a:latin typeface="Calibri" pitchFamily="34" charset="0"/>
                <a:ea typeface="Calibri" pitchFamily="34" charset="-122"/>
                <a:cs typeface="Calibri" pitchFamily="34" charset="-120"/>
              </a:rPr>
              <a:t>Finds real defects.</a:t>
            </a:r>
            <a:endParaRPr lang="en-US" sz="1400" dirty="0"/>
          </a:p>
        </p:txBody>
      </p:sp>
      <p:sp>
        <p:nvSpPr>
          <p:cNvPr id="9" name="Text 7"/>
          <p:cNvSpPr txBox="1"/>
          <p:nvPr/>
        </p:nvSpPr>
        <p:spPr>
          <a:xfrm>
            <a:off x="841248" y="3310128"/>
            <a:ext cx="3017520" cy="1097280"/>
          </a:xfrm>
          <a:prstGeom prst="rect">
            <a:avLst/>
          </a:prstGeom>
          <a:noFill/>
          <a:ln/>
        </p:spPr>
        <p:txBody>
          <a:bodyPr wrap="square" lIns="0" tIns="0" rIns="0" bIns="0" rtlCol="0" anchor="ctr"/>
          <a:lstStyle/>
          <a:p>
            <a:pPr marL="0" indent="0">
              <a:lnSpc>
                <a:spcPts val="1800"/>
              </a:lnSpc>
              <a:buNone/>
            </a:pPr>
            <a:r>
              <a:rPr lang="en-US" sz="1400" i="1" dirty="0">
                <a:solidFill>
                  <a:srgbClr val="14303D"/>
                </a:solidFill>
                <a:latin typeface="Calibri" pitchFamily="34" charset="0"/>
                <a:ea typeface="Calibri" pitchFamily="34" charset="-122"/>
                <a:cs typeface="Calibri" pitchFamily="34" charset="-120"/>
              </a:rPr>
              <a:t>Does not scale.</a:t>
            </a:r>
            <a:endParaRPr lang="en-US" sz="1400" dirty="0"/>
          </a:p>
        </p:txBody>
      </p:sp>
      <p:sp>
        <p:nvSpPr>
          <p:cNvPr id="10" name="Shape 8"/>
          <p:cNvSpPr/>
          <p:nvPr/>
        </p:nvSpPr>
        <p:spPr>
          <a:xfrm>
            <a:off x="4270248" y="2011680"/>
            <a:ext cx="3566160" cy="2651760"/>
          </a:xfrm>
          <a:prstGeom prst="roundRect">
            <a:avLst>
              <a:gd name="adj" fmla="val 2069"/>
            </a:avLst>
          </a:prstGeom>
          <a:solidFill>
            <a:srgbClr val="FFFFFF"/>
          </a:solidFill>
          <a:ln w="12700">
            <a:solidFill>
              <a:srgbClr val="D5E0E5"/>
            </a:solidFill>
            <a:prstDash val="solid"/>
          </a:ln>
          <a:effectLst>
            <a:outerShdw blurRad="101600" dist="12700" dir="5400000" algn="bl" rotWithShape="0">
              <a:srgbClr val="14303D">
                <a:alpha val="7000"/>
              </a:srgbClr>
            </a:outerShdw>
          </a:effectLst>
        </p:spPr>
        <p:txBody>
          <a:bodyPr/>
          <a:lstStyle/>
          <a:p>
            <a:endParaRPr lang="en-US"/>
          </a:p>
        </p:txBody>
      </p:sp>
      <p:sp>
        <p:nvSpPr>
          <p:cNvPr id="11" name="Shape 9"/>
          <p:cNvSpPr/>
          <p:nvPr/>
        </p:nvSpPr>
        <p:spPr>
          <a:xfrm>
            <a:off x="4562856" y="2286000"/>
            <a:ext cx="201168" cy="201168"/>
          </a:xfrm>
          <a:prstGeom prst="ellipse">
            <a:avLst/>
          </a:prstGeom>
          <a:solidFill>
            <a:srgbClr val="0B6A8F"/>
          </a:solidFill>
          <a:ln w="12700">
            <a:solidFill>
              <a:srgbClr val="0B6A8F"/>
            </a:solidFill>
            <a:prstDash val="solid"/>
          </a:ln>
        </p:spPr>
        <p:txBody>
          <a:bodyPr/>
          <a:lstStyle/>
          <a:p>
            <a:endParaRPr lang="en-US"/>
          </a:p>
        </p:txBody>
      </p:sp>
      <p:sp>
        <p:nvSpPr>
          <p:cNvPr id="12" name="Text 10"/>
          <p:cNvSpPr txBox="1"/>
          <p:nvPr/>
        </p:nvSpPr>
        <p:spPr>
          <a:xfrm>
            <a:off x="4892040" y="2203704"/>
            <a:ext cx="2743200" cy="365760"/>
          </a:xfrm>
          <a:prstGeom prst="rect">
            <a:avLst/>
          </a:prstGeom>
          <a:noFill/>
          <a:ln/>
        </p:spPr>
        <p:txBody>
          <a:bodyPr wrap="square" lIns="0" tIns="0" rIns="0" bIns="0" rtlCol="0" anchor="ctr"/>
          <a:lstStyle/>
          <a:p>
            <a:pPr marL="0" indent="0">
              <a:buNone/>
            </a:pPr>
            <a:r>
              <a:rPr lang="en-US" sz="1600" b="1" dirty="0">
                <a:solidFill>
                  <a:srgbClr val="14303D"/>
                </a:solidFill>
                <a:latin typeface="Calibri" pitchFamily="34" charset="0"/>
                <a:ea typeface="Calibri" pitchFamily="34" charset="-122"/>
                <a:cs typeface="Calibri" pitchFamily="34" charset="-120"/>
              </a:rPr>
              <a:t>Scripted automation</a:t>
            </a:r>
            <a:endParaRPr lang="en-US" sz="1600" dirty="0"/>
          </a:p>
        </p:txBody>
      </p:sp>
      <p:sp>
        <p:nvSpPr>
          <p:cNvPr id="13" name="Text 11"/>
          <p:cNvSpPr txBox="1"/>
          <p:nvPr/>
        </p:nvSpPr>
        <p:spPr>
          <a:xfrm>
            <a:off x="4562856" y="2743200"/>
            <a:ext cx="3017520" cy="457200"/>
          </a:xfrm>
          <a:prstGeom prst="rect">
            <a:avLst/>
          </a:prstGeom>
          <a:noFill/>
          <a:ln/>
        </p:spPr>
        <p:txBody>
          <a:bodyPr wrap="square" lIns="0" tIns="0" rIns="0" bIns="0" rtlCol="0" anchor="ctr"/>
          <a:lstStyle/>
          <a:p>
            <a:pPr marL="0" indent="0">
              <a:buNone/>
            </a:pPr>
            <a:r>
              <a:rPr lang="en-US" sz="1400" dirty="0">
                <a:solidFill>
                  <a:srgbClr val="1E6B45"/>
                </a:solidFill>
                <a:latin typeface="Calibri" pitchFamily="34" charset="0"/>
                <a:ea typeface="Calibri" pitchFamily="34" charset="-122"/>
                <a:cs typeface="Calibri" pitchFamily="34" charset="-120"/>
              </a:rPr>
              <a:t>Repeatable and cheap.</a:t>
            </a:r>
            <a:endParaRPr lang="en-US" sz="1400" dirty="0"/>
          </a:p>
        </p:txBody>
      </p:sp>
      <p:sp>
        <p:nvSpPr>
          <p:cNvPr id="14" name="Text 12"/>
          <p:cNvSpPr txBox="1"/>
          <p:nvPr/>
        </p:nvSpPr>
        <p:spPr>
          <a:xfrm>
            <a:off x="4562856" y="3310128"/>
            <a:ext cx="3017520" cy="1097280"/>
          </a:xfrm>
          <a:prstGeom prst="rect">
            <a:avLst/>
          </a:prstGeom>
          <a:noFill/>
          <a:ln/>
        </p:spPr>
        <p:txBody>
          <a:bodyPr wrap="square" lIns="0" tIns="0" rIns="0" bIns="0" rtlCol="0" anchor="ctr"/>
          <a:lstStyle/>
          <a:p>
            <a:pPr marL="0" indent="0">
              <a:lnSpc>
                <a:spcPts val="1800"/>
              </a:lnSpc>
              <a:buNone/>
            </a:pPr>
            <a:r>
              <a:rPr lang="en-US" sz="1400" i="1" dirty="0">
                <a:solidFill>
                  <a:srgbClr val="14303D"/>
                </a:solidFill>
                <a:latin typeface="Calibri" pitchFamily="34" charset="0"/>
                <a:ea typeface="Calibri" pitchFamily="34" charset="-122"/>
                <a:cs typeface="Calibri" pitchFamily="34" charset="-120"/>
              </a:rPr>
              <a:t>Only checks what its author thought of.</a:t>
            </a:r>
            <a:endParaRPr lang="en-US" sz="1400" dirty="0"/>
          </a:p>
        </p:txBody>
      </p:sp>
      <p:sp>
        <p:nvSpPr>
          <p:cNvPr id="15" name="Shape 13"/>
          <p:cNvSpPr/>
          <p:nvPr/>
        </p:nvSpPr>
        <p:spPr>
          <a:xfrm>
            <a:off x="7991856" y="2011680"/>
            <a:ext cx="3566160" cy="2651760"/>
          </a:xfrm>
          <a:prstGeom prst="roundRect">
            <a:avLst>
              <a:gd name="adj" fmla="val 2069"/>
            </a:avLst>
          </a:prstGeom>
          <a:solidFill>
            <a:srgbClr val="FFFFFF"/>
          </a:solidFill>
          <a:ln w="12700">
            <a:solidFill>
              <a:srgbClr val="D5E0E5"/>
            </a:solidFill>
            <a:prstDash val="solid"/>
          </a:ln>
          <a:effectLst>
            <a:outerShdw blurRad="101600" dist="12700" dir="5400000" algn="bl" rotWithShape="0">
              <a:srgbClr val="14303D">
                <a:alpha val="7000"/>
              </a:srgbClr>
            </a:outerShdw>
          </a:effectLst>
        </p:spPr>
        <p:txBody>
          <a:bodyPr/>
          <a:lstStyle/>
          <a:p>
            <a:endParaRPr lang="en-US"/>
          </a:p>
        </p:txBody>
      </p:sp>
      <p:sp>
        <p:nvSpPr>
          <p:cNvPr id="16" name="Shape 14"/>
          <p:cNvSpPr/>
          <p:nvPr/>
        </p:nvSpPr>
        <p:spPr>
          <a:xfrm>
            <a:off x="8284464" y="2286000"/>
            <a:ext cx="201168" cy="201168"/>
          </a:xfrm>
          <a:prstGeom prst="ellipse">
            <a:avLst/>
          </a:prstGeom>
          <a:solidFill>
            <a:srgbClr val="A9502C"/>
          </a:solidFill>
          <a:ln w="12700">
            <a:solidFill>
              <a:srgbClr val="A9502C"/>
            </a:solidFill>
            <a:prstDash val="solid"/>
          </a:ln>
        </p:spPr>
        <p:txBody>
          <a:bodyPr/>
          <a:lstStyle/>
          <a:p>
            <a:endParaRPr lang="en-US"/>
          </a:p>
        </p:txBody>
      </p:sp>
      <p:sp>
        <p:nvSpPr>
          <p:cNvPr id="17" name="Text 15"/>
          <p:cNvSpPr txBox="1"/>
          <p:nvPr/>
        </p:nvSpPr>
        <p:spPr>
          <a:xfrm>
            <a:off x="8613648" y="2203704"/>
            <a:ext cx="2743200" cy="365760"/>
          </a:xfrm>
          <a:prstGeom prst="rect">
            <a:avLst/>
          </a:prstGeom>
          <a:noFill/>
          <a:ln/>
        </p:spPr>
        <p:txBody>
          <a:bodyPr wrap="square" lIns="0" tIns="0" rIns="0" bIns="0" rtlCol="0" anchor="ctr"/>
          <a:lstStyle/>
          <a:p>
            <a:pPr marL="0" indent="0">
              <a:buNone/>
            </a:pPr>
            <a:r>
              <a:rPr lang="en-US" sz="1600" b="1" dirty="0">
                <a:solidFill>
                  <a:srgbClr val="14303D"/>
                </a:solidFill>
                <a:latin typeface="Calibri" pitchFamily="34" charset="0"/>
                <a:ea typeface="Calibri" pitchFamily="34" charset="-122"/>
                <a:cs typeface="Calibri" pitchFamily="34" charset="-120"/>
              </a:rPr>
              <a:t>Random / Monkey</a:t>
            </a:r>
            <a:endParaRPr lang="en-US" sz="1600" dirty="0"/>
          </a:p>
        </p:txBody>
      </p:sp>
      <p:sp>
        <p:nvSpPr>
          <p:cNvPr id="18" name="Text 16"/>
          <p:cNvSpPr txBox="1"/>
          <p:nvPr/>
        </p:nvSpPr>
        <p:spPr>
          <a:xfrm>
            <a:off x="8284464" y="2743200"/>
            <a:ext cx="3017520" cy="457200"/>
          </a:xfrm>
          <a:prstGeom prst="rect">
            <a:avLst/>
          </a:prstGeom>
          <a:noFill/>
          <a:ln/>
        </p:spPr>
        <p:txBody>
          <a:bodyPr wrap="square" lIns="0" tIns="0" rIns="0" bIns="0" rtlCol="0" anchor="ctr"/>
          <a:lstStyle/>
          <a:p>
            <a:pPr marL="0" indent="0">
              <a:buNone/>
            </a:pPr>
            <a:r>
              <a:rPr lang="en-US" sz="1400" dirty="0">
                <a:solidFill>
                  <a:srgbClr val="1E6B45"/>
                </a:solidFill>
                <a:latin typeface="Calibri" pitchFamily="34" charset="0"/>
                <a:ea typeface="Calibri" pitchFamily="34" charset="-122"/>
                <a:cs typeface="Calibri" pitchFamily="34" charset="-120"/>
              </a:rPr>
              <a:t>Explores at scale.</a:t>
            </a:r>
            <a:endParaRPr lang="en-US" sz="1400" dirty="0"/>
          </a:p>
        </p:txBody>
      </p:sp>
      <p:sp>
        <p:nvSpPr>
          <p:cNvPr id="19" name="Text 17"/>
          <p:cNvSpPr txBox="1"/>
          <p:nvPr/>
        </p:nvSpPr>
        <p:spPr>
          <a:xfrm>
            <a:off x="8284464" y="3310128"/>
            <a:ext cx="3017520" cy="1097280"/>
          </a:xfrm>
          <a:prstGeom prst="rect">
            <a:avLst/>
          </a:prstGeom>
          <a:noFill/>
          <a:ln/>
        </p:spPr>
        <p:txBody>
          <a:bodyPr wrap="square" lIns="0" tIns="0" rIns="0" bIns="0" rtlCol="0" anchor="ctr"/>
          <a:lstStyle/>
          <a:p>
            <a:pPr marL="0" indent="0">
              <a:lnSpc>
                <a:spcPts val="1800"/>
              </a:lnSpc>
              <a:buNone/>
            </a:pPr>
            <a:r>
              <a:rPr lang="en-US" sz="1400" i="1" dirty="0">
                <a:solidFill>
                  <a:srgbClr val="14303D"/>
                </a:solidFill>
                <a:latin typeface="Calibri" pitchFamily="34" charset="0"/>
                <a:ea typeface="Calibri" pitchFamily="34" charset="-122"/>
                <a:cs typeface="Calibri" pitchFamily="34" charset="-120"/>
              </a:rPr>
              <a:t>No idea what correct looks like.</a:t>
            </a:r>
            <a:endParaRPr lang="en-US" sz="1400" dirty="0"/>
          </a:p>
        </p:txBody>
      </p:sp>
      <p:sp>
        <p:nvSpPr>
          <p:cNvPr id="20" name="Text 18"/>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900" dirty="0">
                <a:solidFill>
                  <a:srgbClr val="55697A"/>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303D"/>
        </a:solidFill>
        <a:effectLst/>
      </p:bgPr>
    </p:bg>
    <p:spTree>
      <p:nvGrpSpPr>
        <p:cNvPr id="1" name=""/>
        <p:cNvGrpSpPr/>
        <p:nvPr/>
      </p:nvGrpSpPr>
      <p:grpSpPr>
        <a:xfrm>
          <a:off x="0" y="0"/>
          <a:ext cx="0" cy="0"/>
          <a:chOff x="0" y="0"/>
          <a:chExt cx="0" cy="0"/>
        </a:xfrm>
      </p:grpSpPr>
      <p:sp>
        <p:nvSpPr>
          <p:cNvPr id="2" name="Text 0"/>
          <p:cNvSpPr txBox="1"/>
          <p:nvPr/>
        </p:nvSpPr>
        <p:spPr>
          <a:xfrm>
            <a:off x="914400" y="1600200"/>
            <a:ext cx="10332720" cy="2377440"/>
          </a:xfrm>
          <a:prstGeom prst="rect">
            <a:avLst/>
          </a:prstGeom>
          <a:noFill/>
          <a:ln/>
        </p:spPr>
        <p:txBody>
          <a:bodyPr wrap="square" lIns="0" tIns="0" rIns="0" bIns="0" rtlCol="0" anchor="ctr"/>
          <a:lstStyle/>
          <a:p>
            <a:pPr marL="0" indent="0">
              <a:lnSpc>
                <a:spcPts val="4600"/>
              </a:lnSpc>
              <a:buNone/>
            </a:pPr>
            <a:r>
              <a:rPr lang="en-US" sz="3000" i="1" dirty="0">
                <a:solidFill>
                  <a:srgbClr val="FFFFFF"/>
                </a:solidFill>
                <a:latin typeface="Cambria" pitchFamily="34" charset="0"/>
                <a:ea typeface="Cambria" pitchFamily="34" charset="-122"/>
                <a:cs typeface="Cambria" pitchFamily="34" charset="-120"/>
              </a:rPr>
              <a:t>“A tool can tell you an application crashed.</a:t>
            </a:r>
            <a:endParaRPr lang="en-US" sz="3000" dirty="0"/>
          </a:p>
          <a:p>
            <a:pPr marL="0" indent="0">
              <a:lnSpc>
                <a:spcPts val="4600"/>
              </a:lnSpc>
              <a:buNone/>
            </a:pPr>
            <a:r>
              <a:rPr lang="en-US" sz="3000" i="1" dirty="0">
                <a:solidFill>
                  <a:srgbClr val="FFFFFF"/>
                </a:solidFill>
                <a:latin typeface="Cambria" pitchFamily="34" charset="0"/>
                <a:ea typeface="Cambria" pitchFamily="34" charset="-122"/>
                <a:cs typeface="Cambria" pitchFamily="34" charset="-120"/>
              </a:rPr>
              <a:t>It cannot tell you it quietly charged</a:t>
            </a:r>
            <a:endParaRPr lang="en-US" sz="3000" dirty="0"/>
          </a:p>
          <a:p>
            <a:pPr marL="0" indent="0">
              <a:lnSpc>
                <a:spcPts val="4600"/>
              </a:lnSpc>
              <a:buNone/>
            </a:pPr>
            <a:r>
              <a:rPr lang="en-US" sz="3000" i="1" dirty="0">
                <a:solidFill>
                  <a:srgbClr val="FFFFFF"/>
                </a:solidFill>
                <a:latin typeface="Cambria" pitchFamily="34" charset="0"/>
                <a:ea typeface="Cambria" pitchFamily="34" charset="-122"/>
                <a:cs typeface="Cambria" pitchFamily="34" charset="-120"/>
              </a:rPr>
              <a:t>the wrong account.”</a:t>
            </a:r>
            <a:endParaRPr lang="en-US" sz="3000" dirty="0"/>
          </a:p>
        </p:txBody>
      </p:sp>
      <p:sp>
        <p:nvSpPr>
          <p:cNvPr id="3" name="Text 1"/>
          <p:cNvSpPr txBox="1"/>
          <p:nvPr/>
        </p:nvSpPr>
        <p:spPr>
          <a:xfrm>
            <a:off x="914400" y="4343400"/>
            <a:ext cx="10332720" cy="411480"/>
          </a:xfrm>
          <a:prstGeom prst="rect">
            <a:avLst/>
          </a:prstGeom>
          <a:noFill/>
          <a:ln/>
        </p:spPr>
        <p:txBody>
          <a:bodyPr wrap="square" lIns="0" tIns="0" rIns="0" bIns="0" rtlCol="0" anchor="ctr"/>
          <a:lstStyle/>
          <a:p>
            <a:pPr marL="0" indent="0">
              <a:buNone/>
            </a:pPr>
            <a:r>
              <a:rPr lang="en-US" sz="1700" dirty="0">
                <a:solidFill>
                  <a:srgbClr val="7FB3C8"/>
                </a:solidFill>
                <a:latin typeface="Calibri" pitchFamily="34" charset="0"/>
                <a:ea typeface="Calibri" pitchFamily="34" charset="-122"/>
                <a:cs typeface="Calibri" pitchFamily="34" charset="-120"/>
              </a:rPr>
              <a:t>What is missing is an oracle: knowing what correct looks like.</a:t>
            </a:r>
            <a:endParaRPr lang="en-US" sz="1700" dirty="0"/>
          </a:p>
        </p:txBody>
      </p:sp>
      <p:sp>
        <p:nvSpPr>
          <p:cNvPr id="4" name="Text 2"/>
          <p:cNvSpPr txBox="1"/>
          <p:nvPr/>
        </p:nvSpPr>
        <p:spPr>
          <a:xfrm>
            <a:off x="914400" y="4846320"/>
            <a:ext cx="10332720" cy="41148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No system in our literature review ingests a specification. That is our position.</a:t>
            </a:r>
            <a:endParaRPr lang="en-US" sz="1700" dirty="0"/>
          </a:p>
        </p:txBody>
      </p:sp>
      <p:sp>
        <p:nvSpPr>
          <p:cNvPr id="5" name="Text 3"/>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900" dirty="0">
                <a:solidFill>
                  <a:srgbClr val="55697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9"/>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9052560" cy="658368"/>
          </a:xfrm>
          <a:prstGeom prst="rect">
            <a:avLst/>
          </a:prstGeom>
          <a:noFill/>
          <a:ln/>
        </p:spPr>
        <p:txBody>
          <a:bodyPr wrap="square" lIns="0" tIns="0" rIns="0" bIns="0" rtlCol="0" anchor="ctr"/>
          <a:lstStyle/>
          <a:p>
            <a:pPr marL="0" indent="0">
              <a:buNone/>
            </a:pPr>
            <a:r>
              <a:rPr lang="en-US" sz="3000" b="1" dirty="0">
                <a:solidFill>
                  <a:srgbClr val="14303D"/>
                </a:solidFill>
                <a:latin typeface="Cambria" pitchFamily="34" charset="0"/>
                <a:ea typeface="Cambria" pitchFamily="34" charset="-122"/>
                <a:cs typeface="Cambria" pitchFamily="34" charset="-120"/>
              </a:rPr>
              <a:t>Three agents, one shared memory</a:t>
            </a:r>
            <a:endParaRPr lang="en-US" sz="3000" dirty="0"/>
          </a:p>
        </p:txBody>
      </p:sp>
      <p:pic>
        <p:nvPicPr>
          <p:cNvPr id="3" name="Image 0" descr="D:\Projects\Exploratory-Testing-Planner-Agent\Report\BUET_CSE_Capstone_Project_Template\figures\01-system-architecture.png"/>
          <p:cNvPicPr>
            <a:picLocks noChangeAspect="1"/>
          </p:cNvPicPr>
          <p:nvPr/>
        </p:nvPicPr>
        <p:blipFill>
          <a:blip r:embed="rId3"/>
          <a:stretch>
            <a:fillRect/>
          </a:stretch>
        </p:blipFill>
        <p:spPr>
          <a:xfrm>
            <a:off x="1417320" y="1463040"/>
            <a:ext cx="9326880" cy="4937760"/>
          </a:xfrm>
          <a:prstGeom prst="rect">
            <a:avLst/>
          </a:prstGeom>
        </p:spPr>
      </p:pic>
      <p:sp>
        <p:nvSpPr>
          <p:cNvPr id="4" name="Text 1"/>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900" dirty="0">
                <a:solidFill>
                  <a:srgbClr val="55697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9"/>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9052560" cy="658368"/>
          </a:xfrm>
          <a:prstGeom prst="rect">
            <a:avLst/>
          </a:prstGeom>
          <a:noFill/>
          <a:ln/>
        </p:spPr>
        <p:txBody>
          <a:bodyPr wrap="square" lIns="0" tIns="0" rIns="0" bIns="0" rtlCol="0" anchor="ctr"/>
          <a:lstStyle/>
          <a:p>
            <a:pPr marL="0" indent="0">
              <a:buNone/>
            </a:pPr>
            <a:r>
              <a:rPr lang="en-US" sz="3000" b="1" dirty="0">
                <a:solidFill>
                  <a:srgbClr val="14303D"/>
                </a:solidFill>
                <a:latin typeface="Cambria" pitchFamily="34" charset="0"/>
                <a:ea typeface="Cambria" pitchFamily="34" charset="-122"/>
                <a:cs typeface="Cambria" pitchFamily="34" charset="-120"/>
              </a:rPr>
              <a:t>They never talk to each other</a:t>
            </a:r>
            <a:endParaRPr lang="en-US" sz="3000" dirty="0"/>
          </a:p>
        </p:txBody>
      </p:sp>
      <p:sp>
        <p:nvSpPr>
          <p:cNvPr id="3" name="Shape 1"/>
          <p:cNvSpPr/>
          <p:nvPr/>
        </p:nvSpPr>
        <p:spPr>
          <a:xfrm>
            <a:off x="548640" y="1828800"/>
            <a:ext cx="3566160" cy="1691640"/>
          </a:xfrm>
          <a:prstGeom prst="roundRect">
            <a:avLst>
              <a:gd name="adj" fmla="val 3243"/>
            </a:avLst>
          </a:prstGeom>
          <a:solidFill>
            <a:srgbClr val="FFFFFF"/>
          </a:solidFill>
          <a:ln w="12700">
            <a:solidFill>
              <a:srgbClr val="D5E0E5"/>
            </a:solidFill>
            <a:prstDash val="solid"/>
          </a:ln>
          <a:effectLst>
            <a:outerShdw blurRad="101600" dist="12700" dir="5400000" algn="bl" rotWithShape="0">
              <a:srgbClr val="14303D">
                <a:alpha val="7000"/>
              </a:srgbClr>
            </a:outerShdw>
          </a:effectLst>
        </p:spPr>
        <p:txBody>
          <a:bodyPr/>
          <a:lstStyle/>
          <a:p>
            <a:endParaRPr lang="en-US"/>
          </a:p>
        </p:txBody>
      </p:sp>
      <p:sp>
        <p:nvSpPr>
          <p:cNvPr id="4" name="Text 2"/>
          <p:cNvSpPr txBox="1"/>
          <p:nvPr/>
        </p:nvSpPr>
        <p:spPr>
          <a:xfrm>
            <a:off x="841248" y="2057400"/>
            <a:ext cx="3017520" cy="411480"/>
          </a:xfrm>
          <a:prstGeom prst="rect">
            <a:avLst/>
          </a:prstGeom>
          <a:noFill/>
          <a:ln/>
        </p:spPr>
        <p:txBody>
          <a:bodyPr wrap="square" lIns="0" tIns="0" rIns="0" bIns="0" rtlCol="0" anchor="ctr"/>
          <a:lstStyle/>
          <a:p>
            <a:pPr marL="0" indent="0">
              <a:buNone/>
            </a:pPr>
            <a:r>
              <a:rPr lang="en-US" sz="2100" b="1" dirty="0">
                <a:solidFill>
                  <a:srgbClr val="0B6A8F"/>
                </a:solidFill>
                <a:latin typeface="Cambria" pitchFamily="34" charset="0"/>
                <a:ea typeface="Cambria" pitchFamily="34" charset="-122"/>
                <a:cs typeface="Cambria" pitchFamily="34" charset="-120"/>
              </a:rPr>
              <a:t>Planner</a:t>
            </a:r>
            <a:endParaRPr lang="en-US" sz="2100" dirty="0"/>
          </a:p>
        </p:txBody>
      </p:sp>
      <p:sp>
        <p:nvSpPr>
          <p:cNvPr id="5" name="Text 3"/>
          <p:cNvSpPr txBox="1"/>
          <p:nvPr/>
        </p:nvSpPr>
        <p:spPr>
          <a:xfrm>
            <a:off x="841248" y="2542032"/>
            <a:ext cx="3017520" cy="731520"/>
          </a:xfrm>
          <a:prstGeom prst="rect">
            <a:avLst/>
          </a:prstGeom>
          <a:noFill/>
          <a:ln/>
        </p:spPr>
        <p:txBody>
          <a:bodyPr wrap="square" lIns="0" tIns="0" rIns="0" bIns="0" rtlCol="0" anchor="ctr"/>
          <a:lstStyle/>
          <a:p>
            <a:pPr marL="0" indent="0">
              <a:lnSpc>
                <a:spcPts val="1800"/>
              </a:lnSpc>
              <a:buNone/>
            </a:pPr>
            <a:r>
              <a:rPr lang="en-US" sz="1400" dirty="0">
                <a:solidFill>
                  <a:srgbClr val="14303D"/>
                </a:solidFill>
                <a:latin typeface="Calibri" pitchFamily="34" charset="0"/>
                <a:ea typeface="Calibri" pitchFamily="34" charset="-122"/>
                <a:cs typeface="Calibri" pitchFamily="34" charset="-120"/>
              </a:rPr>
              <a:t>decides what to test next</a:t>
            </a:r>
            <a:endParaRPr lang="en-US" sz="1400" dirty="0"/>
          </a:p>
        </p:txBody>
      </p:sp>
      <p:sp>
        <p:nvSpPr>
          <p:cNvPr id="6" name="Shape 4"/>
          <p:cNvSpPr/>
          <p:nvPr/>
        </p:nvSpPr>
        <p:spPr>
          <a:xfrm>
            <a:off x="4270248" y="1828800"/>
            <a:ext cx="3566160" cy="1691640"/>
          </a:xfrm>
          <a:prstGeom prst="roundRect">
            <a:avLst>
              <a:gd name="adj" fmla="val 3243"/>
            </a:avLst>
          </a:prstGeom>
          <a:solidFill>
            <a:srgbClr val="FFFFFF"/>
          </a:solidFill>
          <a:ln w="12700">
            <a:solidFill>
              <a:srgbClr val="D5E0E5"/>
            </a:solidFill>
            <a:prstDash val="solid"/>
          </a:ln>
          <a:effectLst>
            <a:outerShdw blurRad="101600" dist="12700" dir="5400000" algn="bl" rotWithShape="0">
              <a:srgbClr val="14303D">
                <a:alpha val="7000"/>
              </a:srgbClr>
            </a:outerShdw>
          </a:effectLst>
        </p:spPr>
        <p:txBody>
          <a:bodyPr/>
          <a:lstStyle/>
          <a:p>
            <a:endParaRPr lang="en-US"/>
          </a:p>
        </p:txBody>
      </p:sp>
      <p:sp>
        <p:nvSpPr>
          <p:cNvPr id="7" name="Text 5"/>
          <p:cNvSpPr txBox="1"/>
          <p:nvPr/>
        </p:nvSpPr>
        <p:spPr>
          <a:xfrm>
            <a:off x="4562856" y="2057400"/>
            <a:ext cx="3017520" cy="411480"/>
          </a:xfrm>
          <a:prstGeom prst="rect">
            <a:avLst/>
          </a:prstGeom>
          <a:noFill/>
          <a:ln/>
        </p:spPr>
        <p:txBody>
          <a:bodyPr wrap="square" lIns="0" tIns="0" rIns="0" bIns="0" rtlCol="0" anchor="ctr"/>
          <a:lstStyle/>
          <a:p>
            <a:pPr marL="0" indent="0">
              <a:buNone/>
            </a:pPr>
            <a:r>
              <a:rPr lang="en-US" sz="2100" b="1" dirty="0">
                <a:solidFill>
                  <a:srgbClr val="A9502C"/>
                </a:solidFill>
                <a:latin typeface="Cambria" pitchFamily="34" charset="0"/>
                <a:ea typeface="Cambria" pitchFamily="34" charset="-122"/>
                <a:cs typeface="Cambria" pitchFamily="34" charset="-120"/>
              </a:rPr>
              <a:t>Executor</a:t>
            </a:r>
            <a:endParaRPr lang="en-US" sz="2100" dirty="0"/>
          </a:p>
        </p:txBody>
      </p:sp>
      <p:sp>
        <p:nvSpPr>
          <p:cNvPr id="8" name="Text 6"/>
          <p:cNvSpPr txBox="1"/>
          <p:nvPr/>
        </p:nvSpPr>
        <p:spPr>
          <a:xfrm>
            <a:off x="4562856" y="2542032"/>
            <a:ext cx="3017520" cy="731520"/>
          </a:xfrm>
          <a:prstGeom prst="rect">
            <a:avLst/>
          </a:prstGeom>
          <a:noFill/>
          <a:ln/>
        </p:spPr>
        <p:txBody>
          <a:bodyPr wrap="square" lIns="0" tIns="0" rIns="0" bIns="0" rtlCol="0" anchor="ctr"/>
          <a:lstStyle/>
          <a:p>
            <a:pPr marL="0" indent="0">
              <a:lnSpc>
                <a:spcPts val="1800"/>
              </a:lnSpc>
              <a:buNone/>
            </a:pPr>
            <a:r>
              <a:rPr lang="en-US" sz="1400" dirty="0">
                <a:solidFill>
                  <a:srgbClr val="14303D"/>
                </a:solidFill>
                <a:latin typeface="Calibri" pitchFamily="34" charset="0"/>
                <a:ea typeface="Calibri" pitchFamily="34" charset="-122"/>
                <a:cs typeface="Calibri" pitchFamily="34" charset="-120"/>
              </a:rPr>
              <a:t>drives the real application</a:t>
            </a:r>
            <a:endParaRPr lang="en-US" sz="1400" dirty="0"/>
          </a:p>
        </p:txBody>
      </p:sp>
      <p:sp>
        <p:nvSpPr>
          <p:cNvPr id="9" name="Shape 7"/>
          <p:cNvSpPr/>
          <p:nvPr/>
        </p:nvSpPr>
        <p:spPr>
          <a:xfrm>
            <a:off x="7991856" y="1828800"/>
            <a:ext cx="3566160" cy="1691640"/>
          </a:xfrm>
          <a:prstGeom prst="roundRect">
            <a:avLst>
              <a:gd name="adj" fmla="val 3243"/>
            </a:avLst>
          </a:prstGeom>
          <a:solidFill>
            <a:srgbClr val="FFFFFF"/>
          </a:solidFill>
          <a:ln w="12700">
            <a:solidFill>
              <a:srgbClr val="D5E0E5"/>
            </a:solidFill>
            <a:prstDash val="solid"/>
          </a:ln>
          <a:effectLst>
            <a:outerShdw blurRad="101600" dist="12700" dir="5400000" algn="bl" rotWithShape="0">
              <a:srgbClr val="14303D">
                <a:alpha val="7000"/>
              </a:srgbClr>
            </a:outerShdw>
          </a:effectLst>
        </p:spPr>
        <p:txBody>
          <a:bodyPr/>
          <a:lstStyle/>
          <a:p>
            <a:endParaRPr lang="en-US"/>
          </a:p>
        </p:txBody>
      </p:sp>
      <p:sp>
        <p:nvSpPr>
          <p:cNvPr id="10" name="Text 8"/>
          <p:cNvSpPr txBox="1"/>
          <p:nvPr/>
        </p:nvSpPr>
        <p:spPr>
          <a:xfrm>
            <a:off x="8284464" y="2057400"/>
            <a:ext cx="3017520" cy="411480"/>
          </a:xfrm>
          <a:prstGeom prst="rect">
            <a:avLst/>
          </a:prstGeom>
          <a:noFill/>
          <a:ln/>
        </p:spPr>
        <p:txBody>
          <a:bodyPr wrap="square" lIns="0" tIns="0" rIns="0" bIns="0" rtlCol="0" anchor="ctr"/>
          <a:lstStyle/>
          <a:p>
            <a:pPr marL="0" indent="0">
              <a:buNone/>
            </a:pPr>
            <a:r>
              <a:rPr lang="en-US" sz="2100" b="1" dirty="0">
                <a:solidFill>
                  <a:srgbClr val="1E6B45"/>
                </a:solidFill>
                <a:latin typeface="Cambria" pitchFamily="34" charset="0"/>
                <a:ea typeface="Cambria" pitchFamily="34" charset="-122"/>
                <a:cs typeface="Cambria" pitchFamily="34" charset="-120"/>
              </a:rPr>
              <a:t>Investigator</a:t>
            </a:r>
            <a:endParaRPr lang="en-US" sz="2100" dirty="0"/>
          </a:p>
        </p:txBody>
      </p:sp>
      <p:sp>
        <p:nvSpPr>
          <p:cNvPr id="11" name="Text 9"/>
          <p:cNvSpPr txBox="1"/>
          <p:nvPr/>
        </p:nvSpPr>
        <p:spPr>
          <a:xfrm>
            <a:off x="8284464" y="2542032"/>
            <a:ext cx="3017520" cy="731520"/>
          </a:xfrm>
          <a:prstGeom prst="rect">
            <a:avLst/>
          </a:prstGeom>
          <a:noFill/>
          <a:ln/>
        </p:spPr>
        <p:txBody>
          <a:bodyPr wrap="square" lIns="0" tIns="0" rIns="0" bIns="0" rtlCol="0" anchor="ctr"/>
          <a:lstStyle/>
          <a:p>
            <a:pPr marL="0" indent="0">
              <a:lnSpc>
                <a:spcPts val="1800"/>
              </a:lnSpc>
              <a:buNone/>
            </a:pPr>
            <a:r>
              <a:rPr lang="en-US" sz="1400" dirty="0">
                <a:solidFill>
                  <a:srgbClr val="14303D"/>
                </a:solidFill>
                <a:latin typeface="Calibri" pitchFamily="34" charset="0"/>
                <a:ea typeface="Calibri" pitchFamily="34" charset="-122"/>
                <a:cs typeface="Calibri" pitchFamily="34" charset="-120"/>
              </a:rPr>
              <a:t>decides what the run proved</a:t>
            </a:r>
            <a:endParaRPr lang="en-US" sz="1400" dirty="0"/>
          </a:p>
        </p:txBody>
      </p:sp>
      <p:sp>
        <p:nvSpPr>
          <p:cNvPr id="12" name="Shape 10"/>
          <p:cNvSpPr/>
          <p:nvPr/>
        </p:nvSpPr>
        <p:spPr>
          <a:xfrm>
            <a:off x="548640" y="3886200"/>
            <a:ext cx="11137392" cy="1600200"/>
          </a:xfrm>
          <a:prstGeom prst="roundRect">
            <a:avLst>
              <a:gd name="adj" fmla="val 3429"/>
            </a:avLst>
          </a:prstGeom>
          <a:solidFill>
            <a:srgbClr val="14303D"/>
          </a:solidFill>
          <a:ln w="12700">
            <a:solidFill>
              <a:srgbClr val="D5E0E5"/>
            </a:solidFill>
            <a:prstDash val="solid"/>
          </a:ln>
          <a:effectLst>
            <a:outerShdw blurRad="101600" dist="12700" dir="5400000" algn="bl" rotWithShape="0">
              <a:srgbClr val="14303D">
                <a:alpha val="7000"/>
              </a:srgbClr>
            </a:outerShdw>
          </a:effectLst>
        </p:spPr>
        <p:txBody>
          <a:bodyPr/>
          <a:lstStyle/>
          <a:p>
            <a:endParaRPr lang="en-US"/>
          </a:p>
        </p:txBody>
      </p:sp>
      <p:sp>
        <p:nvSpPr>
          <p:cNvPr id="13" name="Text 11"/>
          <p:cNvSpPr txBox="1"/>
          <p:nvPr/>
        </p:nvSpPr>
        <p:spPr>
          <a:xfrm>
            <a:off x="914400" y="4096512"/>
            <a:ext cx="10424160" cy="411480"/>
          </a:xfrm>
          <a:prstGeom prst="rect">
            <a:avLst/>
          </a:prstGeom>
          <a:noFill/>
          <a:ln/>
        </p:spPr>
        <p:txBody>
          <a:bodyPr wrap="square" lIns="0" tIns="0" rIns="0" bIns="0" rtlCol="0" anchor="ctr"/>
          <a:lstStyle/>
          <a:p>
            <a:pPr marL="0" indent="0">
              <a:buNone/>
            </a:pPr>
            <a:r>
              <a:rPr lang="en-US" sz="2100" b="1" dirty="0">
                <a:solidFill>
                  <a:srgbClr val="FFFFFF"/>
                </a:solidFill>
                <a:latin typeface="Cambria" pitchFamily="34" charset="0"/>
                <a:ea typeface="Cambria" pitchFamily="34" charset="-122"/>
                <a:cs typeface="Cambria" pitchFamily="34" charset="-120"/>
              </a:rPr>
              <a:t>The knowledge graph is the only channel between them.</a:t>
            </a:r>
            <a:endParaRPr lang="en-US" sz="2100" dirty="0"/>
          </a:p>
        </p:txBody>
      </p:sp>
      <p:sp>
        <p:nvSpPr>
          <p:cNvPr id="14" name="Text 12"/>
          <p:cNvSpPr txBox="1"/>
          <p:nvPr/>
        </p:nvSpPr>
        <p:spPr>
          <a:xfrm>
            <a:off x="914400" y="4590288"/>
            <a:ext cx="10424160" cy="731520"/>
          </a:xfrm>
          <a:prstGeom prst="rect">
            <a:avLst/>
          </a:prstGeom>
          <a:noFill/>
          <a:ln/>
        </p:spPr>
        <p:txBody>
          <a:bodyPr wrap="square" lIns="0" tIns="0" rIns="0" bIns="0" rtlCol="0" anchor="ctr"/>
          <a:lstStyle/>
          <a:p>
            <a:pPr marL="0" indent="0">
              <a:lnSpc>
                <a:spcPts val="1900"/>
              </a:lnSpc>
              <a:buNone/>
            </a:pPr>
            <a:r>
              <a:rPr lang="en-US" sz="1450" dirty="0">
                <a:solidFill>
                  <a:srgbClr val="C4D6DE"/>
                </a:solidFill>
                <a:latin typeface="Calibri" pitchFamily="34" charset="0"/>
                <a:ea typeface="Calibri" pitchFamily="34" charset="-122"/>
                <a:cs typeface="Calibri" pitchFamily="34" charset="-120"/>
              </a:rPr>
              <a:t>Every model call is stateless and rebuilt from the graph, so “learning” is something you can inspect. The graph either grew or it did not.</a:t>
            </a:r>
            <a:endParaRPr lang="en-US" sz="1450" dirty="0"/>
          </a:p>
        </p:txBody>
      </p:sp>
      <p:sp>
        <p:nvSpPr>
          <p:cNvPr id="15" name="Text 13"/>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900" dirty="0">
                <a:solidFill>
                  <a:srgbClr val="55697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9"/>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9052560" cy="658368"/>
          </a:xfrm>
          <a:prstGeom prst="rect">
            <a:avLst/>
          </a:prstGeom>
          <a:noFill/>
          <a:ln/>
        </p:spPr>
        <p:txBody>
          <a:bodyPr wrap="square" lIns="0" tIns="0" rIns="0" bIns="0" rtlCol="0" anchor="ctr"/>
          <a:lstStyle/>
          <a:p>
            <a:pPr marL="0" indent="0">
              <a:buNone/>
            </a:pPr>
            <a:r>
              <a:rPr lang="en-US" sz="3000" b="1" dirty="0">
                <a:solidFill>
                  <a:srgbClr val="14303D"/>
                </a:solidFill>
                <a:latin typeface="Cambria" pitchFamily="34" charset="0"/>
                <a:ea typeface="Cambria" pitchFamily="34" charset="-122"/>
                <a:cs typeface="Cambria" pitchFamily="34" charset="-120"/>
              </a:rPr>
              <a:t>Two graphs in one store</a:t>
            </a:r>
            <a:endParaRPr lang="en-US" sz="3000" dirty="0"/>
          </a:p>
        </p:txBody>
      </p:sp>
      <p:pic>
        <p:nvPicPr>
          <p:cNvPr id="3" name="Image 0" descr="D:\Projects\Exploratory-Testing-Planner-Agent\Report\BUET_CSE_Capstone_Project_Template\figures\03-knowledge-graph-schema.png"/>
          <p:cNvPicPr>
            <a:picLocks noChangeAspect="1"/>
          </p:cNvPicPr>
          <p:nvPr/>
        </p:nvPicPr>
        <p:blipFill>
          <a:blip r:embed="rId3"/>
          <a:stretch>
            <a:fillRect/>
          </a:stretch>
        </p:blipFill>
        <p:spPr>
          <a:xfrm>
            <a:off x="3566160" y="1554480"/>
            <a:ext cx="5943600" cy="3493008"/>
          </a:xfrm>
          <a:prstGeom prst="rect">
            <a:avLst/>
          </a:prstGeom>
        </p:spPr>
      </p:pic>
      <p:sp>
        <p:nvSpPr>
          <p:cNvPr id="4" name="Text 1"/>
          <p:cNvSpPr txBox="1"/>
          <p:nvPr/>
        </p:nvSpPr>
        <p:spPr>
          <a:xfrm>
            <a:off x="548640" y="1828800"/>
            <a:ext cx="2743200" cy="274320"/>
          </a:xfrm>
          <a:prstGeom prst="rect">
            <a:avLst/>
          </a:prstGeom>
          <a:noFill/>
          <a:ln/>
        </p:spPr>
        <p:txBody>
          <a:bodyPr wrap="square" lIns="0" tIns="0" rIns="0" bIns="0" rtlCol="0" anchor="ctr"/>
          <a:lstStyle/>
          <a:p>
            <a:pPr marL="0" indent="0">
              <a:buNone/>
            </a:pPr>
            <a:r>
              <a:rPr lang="en-US" sz="1100" b="1" kern="0" spc="130" dirty="0">
                <a:solidFill>
                  <a:srgbClr val="0B6A8F"/>
                </a:solidFill>
                <a:latin typeface="Calibri" pitchFamily="34" charset="0"/>
                <a:ea typeface="Calibri" pitchFamily="34" charset="-122"/>
                <a:cs typeface="Calibri" pitchFamily="34" charset="-120"/>
              </a:rPr>
              <a:t>A PRIORI</a:t>
            </a:r>
            <a:endParaRPr lang="en-US" sz="1100" dirty="0"/>
          </a:p>
        </p:txBody>
      </p:sp>
      <p:sp>
        <p:nvSpPr>
          <p:cNvPr id="5" name="Text 2"/>
          <p:cNvSpPr txBox="1"/>
          <p:nvPr/>
        </p:nvSpPr>
        <p:spPr>
          <a:xfrm>
            <a:off x="548640" y="2139696"/>
            <a:ext cx="2788920" cy="1005840"/>
          </a:xfrm>
          <a:prstGeom prst="rect">
            <a:avLst/>
          </a:prstGeom>
          <a:noFill/>
          <a:ln/>
        </p:spPr>
        <p:txBody>
          <a:bodyPr wrap="square" lIns="0" tIns="0" rIns="0" bIns="0" rtlCol="0" anchor="ctr"/>
          <a:lstStyle/>
          <a:p>
            <a:pPr marL="0" indent="0">
              <a:lnSpc>
                <a:spcPts val="1800"/>
              </a:lnSpc>
              <a:buNone/>
            </a:pPr>
            <a:r>
              <a:rPr lang="en-US" sz="1350" dirty="0">
                <a:solidFill>
                  <a:srgbClr val="14303D"/>
                </a:solidFill>
                <a:latin typeface="Calibri" pitchFamily="34" charset="0"/>
                <a:ea typeface="Calibri" pitchFamily="34" charset="-122"/>
                <a:cs typeface="Calibri" pitchFamily="34" charset="-120"/>
              </a:rPr>
              <a:t>Requirements, validation rules, source chunks.</a:t>
            </a:r>
            <a:endParaRPr lang="en-US" sz="1350" dirty="0"/>
          </a:p>
          <a:p>
            <a:pPr marL="0" indent="0">
              <a:lnSpc>
                <a:spcPts val="1800"/>
              </a:lnSpc>
              <a:buNone/>
            </a:pPr>
            <a:r>
              <a:rPr lang="en-US" sz="1350" dirty="0">
                <a:solidFill>
                  <a:srgbClr val="14303D"/>
                </a:solidFill>
                <a:latin typeface="Calibri" pitchFamily="34" charset="0"/>
                <a:ea typeface="Calibri" pitchFamily="34" charset="-122"/>
                <a:cs typeface="Calibri" pitchFamily="34" charset="-120"/>
              </a:rPr>
              <a:t>From documents.</a:t>
            </a:r>
            <a:endParaRPr lang="en-US" sz="1350" dirty="0"/>
          </a:p>
        </p:txBody>
      </p:sp>
      <p:sp>
        <p:nvSpPr>
          <p:cNvPr id="6" name="Text 3"/>
          <p:cNvSpPr txBox="1"/>
          <p:nvPr/>
        </p:nvSpPr>
        <p:spPr>
          <a:xfrm>
            <a:off x="548640" y="3383280"/>
            <a:ext cx="2743200" cy="274320"/>
          </a:xfrm>
          <a:prstGeom prst="rect">
            <a:avLst/>
          </a:prstGeom>
          <a:noFill/>
          <a:ln/>
        </p:spPr>
        <p:txBody>
          <a:bodyPr wrap="square" lIns="0" tIns="0" rIns="0" bIns="0" rtlCol="0" anchor="ctr"/>
          <a:lstStyle/>
          <a:p>
            <a:pPr marL="0" indent="0">
              <a:buNone/>
            </a:pPr>
            <a:r>
              <a:rPr lang="en-US" sz="1100" b="1" kern="0" spc="130" dirty="0">
                <a:solidFill>
                  <a:srgbClr val="A9502C"/>
                </a:solidFill>
                <a:latin typeface="Calibri" pitchFamily="34" charset="0"/>
                <a:ea typeface="Calibri" pitchFamily="34" charset="-122"/>
                <a:cs typeface="Calibri" pitchFamily="34" charset="-120"/>
              </a:rPr>
              <a:t>A POSTERIORI</a:t>
            </a:r>
            <a:endParaRPr lang="en-US" sz="1100" dirty="0"/>
          </a:p>
        </p:txBody>
      </p:sp>
      <p:sp>
        <p:nvSpPr>
          <p:cNvPr id="7" name="Text 4"/>
          <p:cNvSpPr txBox="1"/>
          <p:nvPr/>
        </p:nvSpPr>
        <p:spPr>
          <a:xfrm>
            <a:off x="548640" y="3694176"/>
            <a:ext cx="2788920" cy="1097280"/>
          </a:xfrm>
          <a:prstGeom prst="rect">
            <a:avLst/>
          </a:prstGeom>
          <a:noFill/>
          <a:ln/>
        </p:spPr>
        <p:txBody>
          <a:bodyPr wrap="square" lIns="0" tIns="0" rIns="0" bIns="0" rtlCol="0" anchor="ctr"/>
          <a:lstStyle/>
          <a:p>
            <a:pPr marL="0" indent="0">
              <a:lnSpc>
                <a:spcPts val="1800"/>
              </a:lnSpc>
              <a:buNone/>
            </a:pPr>
            <a:r>
              <a:rPr lang="en-US" sz="1350" dirty="0">
                <a:solidFill>
                  <a:srgbClr val="14303D"/>
                </a:solidFill>
                <a:latin typeface="Calibri" pitchFamily="34" charset="0"/>
                <a:ea typeface="Calibri" pitchFamily="34" charset="-122"/>
                <a:cs typeface="Calibri" pitchFamily="34" charset="-120"/>
              </a:rPr>
              <a:t>UI states, transitions, navigation paths, execution logs.</a:t>
            </a:r>
            <a:endParaRPr lang="en-US" sz="1350" dirty="0"/>
          </a:p>
          <a:p>
            <a:pPr marL="0" indent="0">
              <a:lnSpc>
                <a:spcPts val="1800"/>
              </a:lnSpc>
              <a:buNone/>
            </a:pPr>
            <a:r>
              <a:rPr lang="en-US" sz="1350" dirty="0">
                <a:solidFill>
                  <a:srgbClr val="14303D"/>
                </a:solidFill>
                <a:latin typeface="Calibri" pitchFamily="34" charset="0"/>
                <a:ea typeface="Calibri" pitchFamily="34" charset="-122"/>
                <a:cs typeface="Calibri" pitchFamily="34" charset="-120"/>
              </a:rPr>
              <a:t>From observation.</a:t>
            </a:r>
            <a:endParaRPr lang="en-US" sz="1350" dirty="0"/>
          </a:p>
        </p:txBody>
      </p:sp>
      <p:sp>
        <p:nvSpPr>
          <p:cNvPr id="8" name="Shape 5"/>
          <p:cNvSpPr/>
          <p:nvPr/>
        </p:nvSpPr>
        <p:spPr>
          <a:xfrm>
            <a:off x="548640" y="5257800"/>
            <a:ext cx="11137392" cy="841248"/>
          </a:xfrm>
          <a:prstGeom prst="roundRect">
            <a:avLst>
              <a:gd name="adj" fmla="val 6522"/>
            </a:avLst>
          </a:prstGeom>
          <a:solidFill>
            <a:srgbClr val="14303D"/>
          </a:solidFill>
          <a:ln w="12700">
            <a:solidFill>
              <a:srgbClr val="D5E0E5"/>
            </a:solidFill>
            <a:prstDash val="solid"/>
          </a:ln>
          <a:effectLst>
            <a:outerShdw blurRad="101600" dist="12700" dir="5400000" algn="bl" rotWithShape="0">
              <a:srgbClr val="14303D">
                <a:alpha val="7000"/>
              </a:srgbClr>
            </a:outerShdw>
          </a:effectLst>
        </p:spPr>
        <p:txBody>
          <a:bodyPr/>
          <a:lstStyle/>
          <a:p>
            <a:endParaRPr lang="en-US"/>
          </a:p>
        </p:txBody>
      </p:sp>
      <p:sp>
        <p:nvSpPr>
          <p:cNvPr id="9" name="Text 6"/>
          <p:cNvSpPr txBox="1"/>
          <p:nvPr/>
        </p:nvSpPr>
        <p:spPr>
          <a:xfrm>
            <a:off x="914400" y="5376672"/>
            <a:ext cx="10424160" cy="603504"/>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Test cases and findings span both. Exploration is steered by the gap between them.</a:t>
            </a:r>
            <a:endParaRPr lang="en-US" sz="1900" dirty="0"/>
          </a:p>
        </p:txBody>
      </p:sp>
      <p:sp>
        <p:nvSpPr>
          <p:cNvPr id="10" name="Text 7"/>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900" dirty="0">
                <a:solidFill>
                  <a:srgbClr val="55697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9"/>
        </a:solidFill>
        <a:effectLst/>
      </p:bgPr>
    </p:bg>
    <p:spTree>
      <p:nvGrpSpPr>
        <p:cNvPr id="1" name=""/>
        <p:cNvGrpSpPr/>
        <p:nvPr/>
      </p:nvGrpSpPr>
      <p:grpSpPr>
        <a:xfrm>
          <a:off x="0" y="0"/>
          <a:ext cx="0" cy="0"/>
          <a:chOff x="0" y="0"/>
          <a:chExt cx="0" cy="0"/>
        </a:xfrm>
      </p:grpSpPr>
      <p:sp>
        <p:nvSpPr>
          <p:cNvPr id="2" name="Shape 0"/>
          <p:cNvSpPr/>
          <p:nvPr/>
        </p:nvSpPr>
        <p:spPr>
          <a:xfrm>
            <a:off x="9802368" y="420624"/>
            <a:ext cx="1883664" cy="384048"/>
          </a:xfrm>
          <a:prstGeom prst="roundRect">
            <a:avLst>
              <a:gd name="adj" fmla="val 50000"/>
            </a:avLst>
          </a:prstGeom>
          <a:solidFill>
            <a:srgbClr val="DCE8ED"/>
          </a:solidFill>
          <a:ln w="12700">
            <a:solidFill>
              <a:srgbClr val="DCE8ED"/>
            </a:solidFill>
            <a:prstDash val="solid"/>
          </a:ln>
        </p:spPr>
        <p:txBody>
          <a:bodyPr/>
          <a:lstStyle/>
          <a:p>
            <a:endParaRPr lang="en-US"/>
          </a:p>
        </p:txBody>
      </p:sp>
      <p:sp>
        <p:nvSpPr>
          <p:cNvPr id="3" name="Text 1"/>
          <p:cNvSpPr txBox="1"/>
          <p:nvPr/>
        </p:nvSpPr>
        <p:spPr>
          <a:xfrm>
            <a:off x="9802368" y="420624"/>
            <a:ext cx="1883664" cy="384048"/>
          </a:xfrm>
          <a:prstGeom prst="rect">
            <a:avLst/>
          </a:prstGeom>
          <a:noFill/>
          <a:ln/>
        </p:spPr>
        <p:txBody>
          <a:bodyPr wrap="square" lIns="0" tIns="0" rIns="0" bIns="0" rtlCol="0" anchor="ctr"/>
          <a:lstStyle/>
          <a:p>
            <a:pPr marL="0" indent="0" algn="ctr">
              <a:buNone/>
            </a:pPr>
            <a:r>
              <a:rPr lang="en-US" sz="1200" b="1" dirty="0">
                <a:solidFill>
                  <a:srgbClr val="0B6A8F"/>
                </a:solidFill>
                <a:latin typeface="Calibri" pitchFamily="34" charset="0"/>
                <a:ea typeface="Calibri" pitchFamily="34" charset="-122"/>
                <a:cs typeface="Calibri" pitchFamily="34" charset="-120"/>
              </a:rPr>
              <a:t>Mehemud</a:t>
            </a:r>
            <a:endParaRPr lang="en-US" sz="1200" dirty="0"/>
          </a:p>
        </p:txBody>
      </p:sp>
      <p:sp>
        <p:nvSpPr>
          <p:cNvPr id="4" name="Text 2"/>
          <p:cNvSpPr txBox="1"/>
          <p:nvPr/>
        </p:nvSpPr>
        <p:spPr>
          <a:xfrm>
            <a:off x="548640" y="457200"/>
            <a:ext cx="9052560" cy="658368"/>
          </a:xfrm>
          <a:prstGeom prst="rect">
            <a:avLst/>
          </a:prstGeom>
          <a:noFill/>
          <a:ln/>
        </p:spPr>
        <p:txBody>
          <a:bodyPr wrap="square" lIns="0" tIns="0" rIns="0" bIns="0" rtlCol="0" anchor="ctr"/>
          <a:lstStyle/>
          <a:p>
            <a:pPr marL="0" indent="0">
              <a:buNone/>
            </a:pPr>
            <a:r>
              <a:rPr lang="en-US" sz="3000" b="1" dirty="0">
                <a:solidFill>
                  <a:srgbClr val="14303D"/>
                </a:solidFill>
                <a:latin typeface="Cambria" pitchFamily="34" charset="0"/>
                <a:ea typeface="Cambria" pitchFamily="34" charset="-122"/>
                <a:cs typeface="Cambria" pitchFamily="34" charset="-120"/>
              </a:rPr>
              <a:t>The planner: choose the single most valuable next test</a:t>
            </a:r>
            <a:endParaRPr lang="en-US" sz="3000" dirty="0"/>
          </a:p>
        </p:txBody>
      </p:sp>
      <p:sp>
        <p:nvSpPr>
          <p:cNvPr id="5" name="Text 3"/>
          <p:cNvSpPr txBox="1"/>
          <p:nvPr/>
        </p:nvSpPr>
        <p:spPr>
          <a:xfrm>
            <a:off x="548640" y="1133856"/>
            <a:ext cx="10424160" cy="347472"/>
          </a:xfrm>
          <a:prstGeom prst="rect">
            <a:avLst/>
          </a:prstGeom>
          <a:noFill/>
          <a:ln/>
        </p:spPr>
        <p:txBody>
          <a:bodyPr wrap="square" lIns="0" tIns="0" rIns="0" bIns="0" rtlCol="0" anchor="ctr"/>
          <a:lstStyle/>
          <a:p>
            <a:pPr marL="0" indent="0">
              <a:buNone/>
            </a:pPr>
            <a:r>
              <a:rPr lang="en-US" sz="1450" dirty="0">
                <a:solidFill>
                  <a:srgbClr val="55697A"/>
                </a:solidFill>
                <a:latin typeface="Calibri" pitchFamily="34" charset="0"/>
                <a:ea typeface="Calibri" pitchFamily="34" charset="-122"/>
                <a:cs typeface="Calibri" pitchFamily="34" charset="-120"/>
              </a:rPr>
              <a:t>It cannot see the screen. Everything it knows, it reads from the graph.</a:t>
            </a:r>
            <a:endParaRPr lang="en-US" sz="1450" dirty="0"/>
          </a:p>
        </p:txBody>
      </p:sp>
      <p:sp>
        <p:nvSpPr>
          <p:cNvPr id="6" name="Shape 4"/>
          <p:cNvSpPr/>
          <p:nvPr/>
        </p:nvSpPr>
        <p:spPr>
          <a:xfrm>
            <a:off x="548640" y="1920240"/>
            <a:ext cx="5486400" cy="2286000"/>
          </a:xfrm>
          <a:prstGeom prst="roundRect">
            <a:avLst>
              <a:gd name="adj" fmla="val 2400"/>
            </a:avLst>
          </a:prstGeom>
          <a:solidFill>
            <a:srgbClr val="FFFFFF"/>
          </a:solidFill>
          <a:ln w="12700">
            <a:solidFill>
              <a:srgbClr val="D5E0E5"/>
            </a:solidFill>
            <a:prstDash val="solid"/>
          </a:ln>
          <a:effectLst>
            <a:outerShdw blurRad="101600" dist="12700" dir="5400000" algn="bl" rotWithShape="0">
              <a:srgbClr val="14303D">
                <a:alpha val="7000"/>
              </a:srgbClr>
            </a:outerShdw>
          </a:effectLst>
        </p:spPr>
        <p:txBody>
          <a:bodyPr/>
          <a:lstStyle/>
          <a:p>
            <a:endParaRPr lang="en-US"/>
          </a:p>
        </p:txBody>
      </p:sp>
      <p:sp>
        <p:nvSpPr>
          <p:cNvPr id="7" name="Text 5"/>
          <p:cNvSpPr txBox="1"/>
          <p:nvPr/>
        </p:nvSpPr>
        <p:spPr>
          <a:xfrm>
            <a:off x="868680" y="2148840"/>
            <a:ext cx="4846320" cy="365760"/>
          </a:xfrm>
          <a:prstGeom prst="rect">
            <a:avLst/>
          </a:prstGeom>
          <a:noFill/>
          <a:ln/>
        </p:spPr>
        <p:txBody>
          <a:bodyPr wrap="square" lIns="0" tIns="0" rIns="0" bIns="0" rtlCol="0" anchor="ctr"/>
          <a:lstStyle/>
          <a:p>
            <a:pPr marL="0" indent="0">
              <a:buNone/>
            </a:pPr>
            <a:r>
              <a:rPr lang="en-US" sz="1700" b="1" dirty="0">
                <a:solidFill>
                  <a:srgbClr val="14303D"/>
                </a:solidFill>
                <a:latin typeface="Calibri" pitchFamily="34" charset="0"/>
                <a:ea typeface="Calibri" pitchFamily="34" charset="-122"/>
                <a:cs typeface="Calibri" pitchFamily="34" charset="-120"/>
              </a:rPr>
              <a:t>Pipeline mode</a:t>
            </a:r>
            <a:endParaRPr lang="en-US" sz="1700" dirty="0"/>
          </a:p>
        </p:txBody>
      </p:sp>
      <p:sp>
        <p:nvSpPr>
          <p:cNvPr id="8" name="Text 6"/>
          <p:cNvSpPr txBox="1"/>
          <p:nvPr/>
        </p:nvSpPr>
        <p:spPr>
          <a:xfrm>
            <a:off x="868680" y="2542032"/>
            <a:ext cx="4846320" cy="274320"/>
          </a:xfrm>
          <a:prstGeom prst="rect">
            <a:avLst/>
          </a:prstGeom>
          <a:noFill/>
          <a:ln/>
        </p:spPr>
        <p:txBody>
          <a:bodyPr wrap="square" lIns="0" tIns="0" rIns="0" bIns="0" rtlCol="0" anchor="ctr"/>
          <a:lstStyle/>
          <a:p>
            <a:pPr marL="0" indent="0">
              <a:buNone/>
            </a:pPr>
            <a:r>
              <a:rPr lang="en-US" sz="1150" b="1" dirty="0">
                <a:solidFill>
                  <a:srgbClr val="0B6A8F"/>
                </a:solidFill>
                <a:latin typeface="Calibri" pitchFamily="34" charset="0"/>
                <a:ea typeface="Calibri" pitchFamily="34" charset="-122"/>
                <a:cs typeface="Calibri" pitchFamily="34" charset="-120"/>
              </a:rPr>
              <a:t>shipped default</a:t>
            </a:r>
            <a:endParaRPr lang="en-US" sz="1150" dirty="0"/>
          </a:p>
        </p:txBody>
      </p:sp>
      <p:sp>
        <p:nvSpPr>
          <p:cNvPr id="9" name="Text 7"/>
          <p:cNvSpPr txBox="1"/>
          <p:nvPr/>
        </p:nvSpPr>
        <p:spPr>
          <a:xfrm>
            <a:off x="868680" y="2907792"/>
            <a:ext cx="4846320" cy="1097280"/>
          </a:xfrm>
          <a:prstGeom prst="rect">
            <a:avLst/>
          </a:prstGeom>
          <a:noFill/>
          <a:ln/>
        </p:spPr>
        <p:txBody>
          <a:bodyPr wrap="square" lIns="0" tIns="0" rIns="0" bIns="0" rtlCol="0" anchor="ctr"/>
          <a:lstStyle/>
          <a:p>
            <a:pPr marL="0" indent="0">
              <a:lnSpc>
                <a:spcPts val="1900"/>
              </a:lnSpc>
              <a:buNone/>
            </a:pPr>
            <a:r>
              <a:rPr lang="en-US" sz="1400" dirty="0">
                <a:solidFill>
                  <a:srgbClr val="14303D"/>
                </a:solidFill>
                <a:latin typeface="Calibri" pitchFamily="34" charset="0"/>
                <a:ea typeface="Calibri" pitchFamily="34" charset="-122"/>
                <a:cs typeface="Calibri" pitchFamily="34" charset="-120"/>
              </a:rPr>
              <a:t>A LangGraph state machine. Fixed retrieval rounds, then one generation call.</a:t>
            </a:r>
            <a:endParaRPr lang="en-US" sz="1400" dirty="0"/>
          </a:p>
        </p:txBody>
      </p:sp>
      <p:sp>
        <p:nvSpPr>
          <p:cNvPr id="10" name="Shape 8"/>
          <p:cNvSpPr/>
          <p:nvPr/>
        </p:nvSpPr>
        <p:spPr>
          <a:xfrm>
            <a:off x="6199632" y="1920240"/>
            <a:ext cx="5486400" cy="2286000"/>
          </a:xfrm>
          <a:prstGeom prst="roundRect">
            <a:avLst>
              <a:gd name="adj" fmla="val 2400"/>
            </a:avLst>
          </a:prstGeom>
          <a:solidFill>
            <a:srgbClr val="FFFFFF"/>
          </a:solidFill>
          <a:ln w="12700">
            <a:solidFill>
              <a:srgbClr val="D5E0E5"/>
            </a:solidFill>
            <a:prstDash val="solid"/>
          </a:ln>
          <a:effectLst>
            <a:outerShdw blurRad="101600" dist="12700" dir="5400000" algn="bl" rotWithShape="0">
              <a:srgbClr val="14303D">
                <a:alpha val="7000"/>
              </a:srgbClr>
            </a:outerShdw>
          </a:effectLst>
        </p:spPr>
        <p:txBody>
          <a:bodyPr/>
          <a:lstStyle/>
          <a:p>
            <a:endParaRPr lang="en-US"/>
          </a:p>
        </p:txBody>
      </p:sp>
      <p:sp>
        <p:nvSpPr>
          <p:cNvPr id="11" name="Text 9"/>
          <p:cNvSpPr txBox="1"/>
          <p:nvPr/>
        </p:nvSpPr>
        <p:spPr>
          <a:xfrm>
            <a:off x="6519672" y="2148840"/>
            <a:ext cx="4846320" cy="365760"/>
          </a:xfrm>
          <a:prstGeom prst="rect">
            <a:avLst/>
          </a:prstGeom>
          <a:noFill/>
          <a:ln/>
        </p:spPr>
        <p:txBody>
          <a:bodyPr wrap="square" lIns="0" tIns="0" rIns="0" bIns="0" rtlCol="0" anchor="ctr"/>
          <a:lstStyle/>
          <a:p>
            <a:pPr marL="0" indent="0">
              <a:buNone/>
            </a:pPr>
            <a:r>
              <a:rPr lang="en-US" sz="1700" b="1" dirty="0">
                <a:solidFill>
                  <a:srgbClr val="14303D"/>
                </a:solidFill>
                <a:latin typeface="Calibri" pitchFamily="34" charset="0"/>
                <a:ea typeface="Calibri" pitchFamily="34" charset="-122"/>
                <a:cs typeface="Calibri" pitchFamily="34" charset="-120"/>
              </a:rPr>
              <a:t>Tool-calling mode</a:t>
            </a:r>
            <a:endParaRPr lang="en-US" sz="1700" dirty="0"/>
          </a:p>
        </p:txBody>
      </p:sp>
      <p:sp>
        <p:nvSpPr>
          <p:cNvPr id="12" name="Text 10"/>
          <p:cNvSpPr txBox="1"/>
          <p:nvPr/>
        </p:nvSpPr>
        <p:spPr>
          <a:xfrm>
            <a:off x="6519672" y="2542032"/>
            <a:ext cx="4846320" cy="274320"/>
          </a:xfrm>
          <a:prstGeom prst="rect">
            <a:avLst/>
          </a:prstGeom>
          <a:noFill/>
          <a:ln/>
        </p:spPr>
        <p:txBody>
          <a:bodyPr wrap="square" lIns="0" tIns="0" rIns="0" bIns="0" rtlCol="0" anchor="ctr"/>
          <a:lstStyle/>
          <a:p>
            <a:pPr marL="0" indent="0">
              <a:buNone/>
            </a:pPr>
            <a:r>
              <a:rPr lang="en-US" sz="1150" b="1" dirty="0">
                <a:solidFill>
                  <a:srgbClr val="0B6A8F"/>
                </a:solidFill>
                <a:latin typeface="Calibri" pitchFamily="34" charset="0"/>
                <a:ea typeface="Calibri" pitchFamily="34" charset="-122"/>
                <a:cs typeface="Calibri" pitchFamily="34" charset="-120"/>
              </a:rPr>
              <a:t>selectable</a:t>
            </a:r>
            <a:endParaRPr lang="en-US" sz="1150" dirty="0"/>
          </a:p>
        </p:txBody>
      </p:sp>
      <p:sp>
        <p:nvSpPr>
          <p:cNvPr id="13" name="Text 11"/>
          <p:cNvSpPr txBox="1"/>
          <p:nvPr/>
        </p:nvSpPr>
        <p:spPr>
          <a:xfrm>
            <a:off x="6519672" y="2907792"/>
            <a:ext cx="4846320" cy="1097280"/>
          </a:xfrm>
          <a:prstGeom prst="rect">
            <a:avLst/>
          </a:prstGeom>
          <a:noFill/>
          <a:ln/>
        </p:spPr>
        <p:txBody>
          <a:bodyPr wrap="square" lIns="0" tIns="0" rIns="0" bIns="0" rtlCol="0" anchor="ctr"/>
          <a:lstStyle/>
          <a:p>
            <a:pPr marL="0" indent="0">
              <a:lnSpc>
                <a:spcPts val="1900"/>
              </a:lnSpc>
              <a:buNone/>
            </a:pPr>
            <a:r>
              <a:rPr lang="en-US" sz="1400" dirty="0">
                <a:solidFill>
                  <a:srgbClr val="14303D"/>
                </a:solidFill>
                <a:latin typeface="Calibri" pitchFamily="34" charset="0"/>
                <a:ea typeface="Calibri" pitchFamily="34" charset="-122"/>
                <a:cs typeface="Calibri" pitchFamily="34" charset="-120"/>
              </a:rPr>
              <a:t>The model calls graph tools itself and reads each answer before asking the next question.</a:t>
            </a:r>
            <a:endParaRPr lang="en-US" sz="1400" dirty="0"/>
          </a:p>
        </p:txBody>
      </p:sp>
      <p:sp>
        <p:nvSpPr>
          <p:cNvPr id="14" name="Shape 12"/>
          <p:cNvSpPr/>
          <p:nvPr/>
        </p:nvSpPr>
        <p:spPr>
          <a:xfrm>
            <a:off x="548640" y="4434840"/>
            <a:ext cx="11137392" cy="1371600"/>
          </a:xfrm>
          <a:prstGeom prst="roundRect">
            <a:avLst>
              <a:gd name="adj" fmla="val 4000"/>
            </a:avLst>
          </a:prstGeom>
          <a:solidFill>
            <a:srgbClr val="14303D"/>
          </a:solidFill>
          <a:ln w="12700">
            <a:solidFill>
              <a:srgbClr val="D5E0E5"/>
            </a:solidFill>
            <a:prstDash val="solid"/>
          </a:ln>
          <a:effectLst>
            <a:outerShdw blurRad="101600" dist="12700" dir="5400000" algn="bl" rotWithShape="0">
              <a:srgbClr val="14303D">
                <a:alpha val="7000"/>
              </a:srgbClr>
            </a:outerShdw>
          </a:effectLst>
        </p:spPr>
        <p:txBody>
          <a:bodyPr/>
          <a:lstStyle/>
          <a:p>
            <a:endParaRPr lang="en-US"/>
          </a:p>
        </p:txBody>
      </p:sp>
      <p:sp>
        <p:nvSpPr>
          <p:cNvPr id="15" name="Text 13"/>
          <p:cNvSpPr txBox="1"/>
          <p:nvPr/>
        </p:nvSpPr>
        <p:spPr>
          <a:xfrm>
            <a:off x="914400" y="4617720"/>
            <a:ext cx="10424160" cy="1005840"/>
          </a:xfrm>
          <a:prstGeom prst="rect">
            <a:avLst/>
          </a:prstGeom>
          <a:noFill/>
          <a:ln/>
        </p:spPr>
        <p:txBody>
          <a:bodyPr wrap="square" lIns="0" tIns="0" rIns="0" bIns="0" rtlCol="0" anchor="ctr"/>
          <a:lstStyle/>
          <a:p>
            <a:pPr marL="0" indent="0">
              <a:lnSpc>
                <a:spcPts val="2000"/>
              </a:lnSpc>
              <a:buNone/>
            </a:pPr>
            <a:r>
              <a:rPr lang="en-US" sz="1450" dirty="0">
                <a:solidFill>
                  <a:srgbClr val="FFFFFF"/>
                </a:solidFill>
                <a:latin typeface="Calibri" pitchFamily="34" charset="0"/>
                <a:ea typeface="Calibri" pitchFamily="34" charset="-122"/>
                <a:cs typeface="Calibri" pitchFamily="34" charset="-120"/>
              </a:rPr>
              <a:t>Both are shipped. One setting switches them, and both produce the same output contract, so a campaign can be run on each and compared without touching the executor.</a:t>
            </a:r>
            <a:endParaRPr lang="en-US" sz="1450" dirty="0"/>
          </a:p>
        </p:txBody>
      </p:sp>
      <p:sp>
        <p:nvSpPr>
          <p:cNvPr id="16" name="Text 14"/>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900" dirty="0">
                <a:solidFill>
                  <a:srgbClr val="55697A"/>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9"/>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9052560" cy="658368"/>
          </a:xfrm>
          <a:prstGeom prst="rect">
            <a:avLst/>
          </a:prstGeom>
          <a:noFill/>
          <a:ln/>
        </p:spPr>
        <p:txBody>
          <a:bodyPr wrap="square" lIns="0" tIns="0" rIns="0" bIns="0" rtlCol="0" anchor="ctr"/>
          <a:lstStyle/>
          <a:p>
            <a:pPr marL="0" indent="0">
              <a:buNone/>
            </a:pPr>
            <a:r>
              <a:rPr lang="en-US" sz="3000" b="1" dirty="0">
                <a:solidFill>
                  <a:srgbClr val="14303D"/>
                </a:solidFill>
                <a:latin typeface="Cambria" pitchFamily="34" charset="0"/>
                <a:ea typeface="Cambria" pitchFamily="34" charset="-122"/>
                <a:cs typeface="Cambria" pitchFamily="34" charset="-120"/>
              </a:rPr>
              <a:t>What the planner is allowed to ask the graph</a:t>
            </a:r>
            <a:endParaRPr lang="en-US" sz="3000" dirty="0"/>
          </a:p>
        </p:txBody>
      </p:sp>
      <p:sp>
        <p:nvSpPr>
          <p:cNvPr id="3" name="Text 1"/>
          <p:cNvSpPr txBox="1"/>
          <p:nvPr/>
        </p:nvSpPr>
        <p:spPr>
          <a:xfrm>
            <a:off x="548640" y="1133856"/>
            <a:ext cx="10424160" cy="347472"/>
          </a:xfrm>
          <a:prstGeom prst="rect">
            <a:avLst/>
          </a:prstGeom>
          <a:noFill/>
          <a:ln/>
        </p:spPr>
        <p:txBody>
          <a:bodyPr wrap="square" lIns="0" tIns="0" rIns="0" bIns="0" rtlCol="0" anchor="ctr"/>
          <a:lstStyle/>
          <a:p>
            <a:pPr marL="0" indent="0">
              <a:buNone/>
            </a:pPr>
            <a:r>
              <a:rPr lang="en-US" sz="1450" dirty="0">
                <a:solidFill>
                  <a:srgbClr val="55697A"/>
                </a:solidFill>
                <a:latin typeface="Calibri" pitchFamily="34" charset="0"/>
                <a:ea typeface="Calibri" pitchFamily="34" charset="-122"/>
                <a:cs typeface="Calibri" pitchFamily="34" charset="-120"/>
              </a:rPr>
              <a:t>Seven tools, each answering one question. A tool whose source is empty is never registered.</a:t>
            </a:r>
            <a:endParaRPr lang="en-US" sz="1450" dirty="0"/>
          </a:p>
        </p:txBody>
      </p:sp>
      <p:sp>
        <p:nvSpPr>
          <p:cNvPr id="4" name="Shape 2"/>
          <p:cNvSpPr/>
          <p:nvPr/>
        </p:nvSpPr>
        <p:spPr>
          <a:xfrm>
            <a:off x="548640" y="1883664"/>
            <a:ext cx="11137392" cy="566928"/>
          </a:xfrm>
          <a:prstGeom prst="rect">
            <a:avLst/>
          </a:prstGeom>
          <a:solidFill>
            <a:srgbClr val="EDF3F5"/>
          </a:solidFill>
          <a:ln w="12700">
            <a:solidFill>
              <a:srgbClr val="EDF3F5"/>
            </a:solidFill>
            <a:prstDash val="solid"/>
          </a:ln>
        </p:spPr>
        <p:txBody>
          <a:bodyPr/>
          <a:lstStyle/>
          <a:p>
            <a:endParaRPr lang="en-US"/>
          </a:p>
        </p:txBody>
      </p:sp>
      <p:sp>
        <p:nvSpPr>
          <p:cNvPr id="5" name="Text 3"/>
          <p:cNvSpPr txBox="1"/>
          <p:nvPr/>
        </p:nvSpPr>
        <p:spPr>
          <a:xfrm>
            <a:off x="749808" y="1920240"/>
            <a:ext cx="3657600" cy="493776"/>
          </a:xfrm>
          <a:prstGeom prst="rect">
            <a:avLst/>
          </a:prstGeom>
          <a:noFill/>
          <a:ln/>
        </p:spPr>
        <p:txBody>
          <a:bodyPr wrap="square" lIns="0" tIns="0" rIns="0" bIns="0" rtlCol="0" anchor="ctr"/>
          <a:lstStyle/>
          <a:p>
            <a:pPr marL="0" indent="0">
              <a:buNone/>
            </a:pPr>
            <a:r>
              <a:rPr lang="en-US" sz="1350" b="1" dirty="0">
                <a:solidFill>
                  <a:srgbClr val="0B6A8F"/>
                </a:solidFill>
                <a:latin typeface="Consolas" pitchFamily="34" charset="0"/>
                <a:ea typeface="Consolas" pitchFamily="34" charset="-122"/>
                <a:cs typeface="Consolas" pitchFamily="34" charset="-120"/>
              </a:rPr>
              <a:t>search_requirements</a:t>
            </a:r>
            <a:endParaRPr lang="en-US" sz="1350" dirty="0"/>
          </a:p>
        </p:txBody>
      </p:sp>
      <p:sp>
        <p:nvSpPr>
          <p:cNvPr id="6" name="Text 4"/>
          <p:cNvSpPr txBox="1"/>
          <p:nvPr/>
        </p:nvSpPr>
        <p:spPr>
          <a:xfrm>
            <a:off x="4498848" y="1920240"/>
            <a:ext cx="6976872" cy="493776"/>
          </a:xfrm>
          <a:prstGeom prst="rect">
            <a:avLst/>
          </a:prstGeom>
          <a:noFill/>
          <a:ln/>
        </p:spPr>
        <p:txBody>
          <a:bodyPr wrap="square" lIns="0" tIns="0" rIns="0" bIns="0" rtlCol="0" anchor="ctr"/>
          <a:lstStyle/>
          <a:p>
            <a:pPr marL="0" indent="0">
              <a:buNone/>
            </a:pPr>
            <a:r>
              <a:rPr lang="en-US" sz="1350" dirty="0">
                <a:solidFill>
                  <a:srgbClr val="14303D"/>
                </a:solidFill>
                <a:latin typeface="Calibri" pitchFamily="34" charset="0"/>
                <a:ea typeface="Calibri" pitchFamily="34" charset="-122"/>
                <a:cs typeface="Calibri" pitchFamily="34" charset="-120"/>
              </a:rPr>
              <a:t>semantic and keyword search over the ingested specification</a:t>
            </a:r>
            <a:endParaRPr lang="en-US" sz="1350" dirty="0"/>
          </a:p>
        </p:txBody>
      </p:sp>
      <p:sp>
        <p:nvSpPr>
          <p:cNvPr id="7" name="Text 5"/>
          <p:cNvSpPr txBox="1"/>
          <p:nvPr/>
        </p:nvSpPr>
        <p:spPr>
          <a:xfrm>
            <a:off x="749808" y="2487168"/>
            <a:ext cx="3657600" cy="493776"/>
          </a:xfrm>
          <a:prstGeom prst="rect">
            <a:avLst/>
          </a:prstGeom>
          <a:noFill/>
          <a:ln/>
        </p:spPr>
        <p:txBody>
          <a:bodyPr wrap="square" lIns="0" tIns="0" rIns="0" bIns="0" rtlCol="0" anchor="ctr"/>
          <a:lstStyle/>
          <a:p>
            <a:pPr marL="0" indent="0">
              <a:buNone/>
            </a:pPr>
            <a:r>
              <a:rPr lang="en-US" sz="1350" b="1" dirty="0">
                <a:solidFill>
                  <a:srgbClr val="0B6A8F"/>
                </a:solidFill>
                <a:latin typeface="Consolas" pitchFamily="34" charset="0"/>
                <a:ea typeface="Consolas" pitchFamily="34" charset="-122"/>
                <a:cs typeface="Consolas" pitchFamily="34" charset="-120"/>
              </a:rPr>
              <a:t>list_untested_requirements</a:t>
            </a:r>
            <a:endParaRPr lang="en-US" sz="1350" dirty="0"/>
          </a:p>
        </p:txBody>
      </p:sp>
      <p:sp>
        <p:nvSpPr>
          <p:cNvPr id="8" name="Text 6"/>
          <p:cNvSpPr txBox="1"/>
          <p:nvPr/>
        </p:nvSpPr>
        <p:spPr>
          <a:xfrm>
            <a:off x="4498848" y="2487168"/>
            <a:ext cx="6976872" cy="493776"/>
          </a:xfrm>
          <a:prstGeom prst="rect">
            <a:avLst/>
          </a:prstGeom>
          <a:noFill/>
          <a:ln/>
        </p:spPr>
        <p:txBody>
          <a:bodyPr wrap="square" lIns="0" tIns="0" rIns="0" bIns="0" rtlCol="0" anchor="ctr"/>
          <a:lstStyle/>
          <a:p>
            <a:pPr marL="0" indent="0">
              <a:buNone/>
            </a:pPr>
            <a:r>
              <a:rPr lang="en-US" sz="1350" dirty="0">
                <a:solidFill>
                  <a:srgbClr val="14303D"/>
                </a:solidFill>
                <a:latin typeface="Calibri" pitchFamily="34" charset="0"/>
                <a:ea typeface="Calibri" pitchFamily="34" charset="-122"/>
                <a:cs typeface="Calibri" pitchFamily="34" charset="-120"/>
              </a:rPr>
              <a:t>the coverage frontier: what no executed test covers yet</a:t>
            </a:r>
            <a:endParaRPr lang="en-US" sz="1350" dirty="0"/>
          </a:p>
        </p:txBody>
      </p:sp>
      <p:sp>
        <p:nvSpPr>
          <p:cNvPr id="9" name="Shape 7"/>
          <p:cNvSpPr/>
          <p:nvPr/>
        </p:nvSpPr>
        <p:spPr>
          <a:xfrm>
            <a:off x="548640" y="3017520"/>
            <a:ext cx="11137392" cy="566928"/>
          </a:xfrm>
          <a:prstGeom prst="rect">
            <a:avLst/>
          </a:prstGeom>
          <a:solidFill>
            <a:srgbClr val="EDF3F5"/>
          </a:solidFill>
          <a:ln w="12700">
            <a:solidFill>
              <a:srgbClr val="EDF3F5"/>
            </a:solidFill>
            <a:prstDash val="solid"/>
          </a:ln>
        </p:spPr>
        <p:txBody>
          <a:bodyPr/>
          <a:lstStyle/>
          <a:p>
            <a:endParaRPr lang="en-US"/>
          </a:p>
        </p:txBody>
      </p:sp>
      <p:sp>
        <p:nvSpPr>
          <p:cNvPr id="10" name="Text 8"/>
          <p:cNvSpPr txBox="1"/>
          <p:nvPr/>
        </p:nvSpPr>
        <p:spPr>
          <a:xfrm>
            <a:off x="749808" y="3054096"/>
            <a:ext cx="3657600" cy="493776"/>
          </a:xfrm>
          <a:prstGeom prst="rect">
            <a:avLst/>
          </a:prstGeom>
          <a:noFill/>
          <a:ln/>
        </p:spPr>
        <p:txBody>
          <a:bodyPr wrap="square" lIns="0" tIns="0" rIns="0" bIns="0" rtlCol="0" anchor="ctr"/>
          <a:lstStyle/>
          <a:p>
            <a:pPr marL="0" indent="0">
              <a:buNone/>
            </a:pPr>
            <a:r>
              <a:rPr lang="en-US" sz="1350" b="1" dirty="0">
                <a:solidFill>
                  <a:srgbClr val="0B6A8F"/>
                </a:solidFill>
                <a:latin typeface="Consolas" pitchFamily="34" charset="0"/>
                <a:ea typeface="Consolas" pitchFamily="34" charset="-122"/>
                <a:cs typeface="Consolas" pitchFamily="34" charset="-120"/>
              </a:rPr>
              <a:t>get_screen</a:t>
            </a:r>
            <a:endParaRPr lang="en-US" sz="1350" dirty="0"/>
          </a:p>
        </p:txBody>
      </p:sp>
      <p:sp>
        <p:nvSpPr>
          <p:cNvPr id="11" name="Text 9"/>
          <p:cNvSpPr txBox="1"/>
          <p:nvPr/>
        </p:nvSpPr>
        <p:spPr>
          <a:xfrm>
            <a:off x="4498848" y="3054096"/>
            <a:ext cx="6976872" cy="493776"/>
          </a:xfrm>
          <a:prstGeom prst="rect">
            <a:avLst/>
          </a:prstGeom>
          <a:noFill/>
          <a:ln/>
        </p:spPr>
        <p:txBody>
          <a:bodyPr wrap="square" lIns="0" tIns="0" rIns="0" bIns="0" rtlCol="0" anchor="ctr"/>
          <a:lstStyle/>
          <a:p>
            <a:pPr marL="0" indent="0">
              <a:buNone/>
            </a:pPr>
            <a:r>
              <a:rPr lang="en-US" sz="1350" dirty="0">
                <a:solidFill>
                  <a:srgbClr val="14303D"/>
                </a:solidFill>
                <a:latin typeface="Calibri" pitchFamily="34" charset="0"/>
                <a:ea typeface="Calibri" pitchFamily="34" charset="-122"/>
                <a:cs typeface="Calibri" pitchFamily="34" charset="-120"/>
              </a:rPr>
              <a:t>the real controls observed on one screen of the running app</a:t>
            </a:r>
            <a:endParaRPr lang="en-US" sz="1350" dirty="0"/>
          </a:p>
        </p:txBody>
      </p:sp>
      <p:sp>
        <p:nvSpPr>
          <p:cNvPr id="12" name="Text 10"/>
          <p:cNvSpPr txBox="1"/>
          <p:nvPr/>
        </p:nvSpPr>
        <p:spPr>
          <a:xfrm>
            <a:off x="749808" y="3621024"/>
            <a:ext cx="3657600" cy="493776"/>
          </a:xfrm>
          <a:prstGeom prst="rect">
            <a:avLst/>
          </a:prstGeom>
          <a:noFill/>
          <a:ln/>
        </p:spPr>
        <p:txBody>
          <a:bodyPr wrap="square" lIns="0" tIns="0" rIns="0" bIns="0" rtlCol="0" anchor="ctr"/>
          <a:lstStyle/>
          <a:p>
            <a:pPr marL="0" indent="0">
              <a:buNone/>
            </a:pPr>
            <a:r>
              <a:rPr lang="en-US" sz="1350" b="1" dirty="0">
                <a:solidFill>
                  <a:srgbClr val="0B6A8F"/>
                </a:solidFill>
                <a:latin typeface="Consolas" pitchFamily="34" charset="0"/>
                <a:ea typeface="Consolas" pitchFamily="34" charset="-122"/>
                <a:cs typeface="Consolas" pitchFamily="34" charset="-120"/>
              </a:rPr>
              <a:t>list_screens</a:t>
            </a:r>
            <a:endParaRPr lang="en-US" sz="1350" dirty="0"/>
          </a:p>
        </p:txBody>
      </p:sp>
      <p:sp>
        <p:nvSpPr>
          <p:cNvPr id="13" name="Text 11"/>
          <p:cNvSpPr txBox="1"/>
          <p:nvPr/>
        </p:nvSpPr>
        <p:spPr>
          <a:xfrm>
            <a:off x="4498848" y="3621024"/>
            <a:ext cx="6976872" cy="493776"/>
          </a:xfrm>
          <a:prstGeom prst="rect">
            <a:avLst/>
          </a:prstGeom>
          <a:noFill/>
          <a:ln/>
        </p:spPr>
        <p:txBody>
          <a:bodyPr wrap="square" lIns="0" tIns="0" rIns="0" bIns="0" rtlCol="0" anchor="ctr"/>
          <a:lstStyle/>
          <a:p>
            <a:pPr marL="0" indent="0">
              <a:buNone/>
            </a:pPr>
            <a:r>
              <a:rPr lang="en-US" sz="1350" dirty="0">
                <a:solidFill>
                  <a:srgbClr val="14303D"/>
                </a:solidFill>
                <a:latin typeface="Calibri" pitchFamily="34" charset="0"/>
                <a:ea typeface="Calibri" pitchFamily="34" charset="-122"/>
                <a:cs typeface="Calibri" pitchFamily="34" charset="-120"/>
              </a:rPr>
              <a:t>every screen the agent has actually seen, with visit counts</a:t>
            </a:r>
            <a:endParaRPr lang="en-US" sz="1350" dirty="0"/>
          </a:p>
        </p:txBody>
      </p:sp>
      <p:sp>
        <p:nvSpPr>
          <p:cNvPr id="14" name="Shape 12"/>
          <p:cNvSpPr/>
          <p:nvPr/>
        </p:nvSpPr>
        <p:spPr>
          <a:xfrm>
            <a:off x="548640" y="4151376"/>
            <a:ext cx="11137392" cy="566928"/>
          </a:xfrm>
          <a:prstGeom prst="rect">
            <a:avLst/>
          </a:prstGeom>
          <a:solidFill>
            <a:srgbClr val="EDF3F5"/>
          </a:solidFill>
          <a:ln w="12700">
            <a:solidFill>
              <a:srgbClr val="EDF3F5"/>
            </a:solidFill>
            <a:prstDash val="solid"/>
          </a:ln>
        </p:spPr>
        <p:txBody>
          <a:bodyPr/>
          <a:lstStyle/>
          <a:p>
            <a:endParaRPr lang="en-US"/>
          </a:p>
        </p:txBody>
      </p:sp>
      <p:sp>
        <p:nvSpPr>
          <p:cNvPr id="15" name="Text 13"/>
          <p:cNvSpPr txBox="1"/>
          <p:nvPr/>
        </p:nvSpPr>
        <p:spPr>
          <a:xfrm>
            <a:off x="749808" y="4187952"/>
            <a:ext cx="3657600" cy="493776"/>
          </a:xfrm>
          <a:prstGeom prst="rect">
            <a:avLst/>
          </a:prstGeom>
          <a:noFill/>
          <a:ln/>
        </p:spPr>
        <p:txBody>
          <a:bodyPr wrap="square" lIns="0" tIns="0" rIns="0" bIns="0" rtlCol="0" anchor="ctr"/>
          <a:lstStyle/>
          <a:p>
            <a:pPr marL="0" indent="0">
              <a:buNone/>
            </a:pPr>
            <a:r>
              <a:rPr lang="en-US" sz="1350" b="1" dirty="0">
                <a:solidFill>
                  <a:srgbClr val="0B6A8F"/>
                </a:solidFill>
                <a:latin typeface="Consolas" pitchFamily="34" charset="0"/>
                <a:ea typeface="Consolas" pitchFamily="34" charset="-122"/>
                <a:cs typeface="Consolas" pitchFamily="34" charset="-120"/>
              </a:rPr>
              <a:t>list_findings</a:t>
            </a:r>
            <a:endParaRPr lang="en-US" sz="1350" dirty="0"/>
          </a:p>
        </p:txBody>
      </p:sp>
      <p:sp>
        <p:nvSpPr>
          <p:cNvPr id="16" name="Text 14"/>
          <p:cNvSpPr txBox="1"/>
          <p:nvPr/>
        </p:nvSpPr>
        <p:spPr>
          <a:xfrm>
            <a:off x="4498848" y="4187952"/>
            <a:ext cx="6976872" cy="493776"/>
          </a:xfrm>
          <a:prstGeom prst="rect">
            <a:avLst/>
          </a:prstGeom>
          <a:noFill/>
          <a:ln/>
        </p:spPr>
        <p:txBody>
          <a:bodyPr wrap="square" lIns="0" tIns="0" rIns="0" bIns="0" rtlCol="0" anchor="ctr"/>
          <a:lstStyle/>
          <a:p>
            <a:pPr marL="0" indent="0">
              <a:buNone/>
            </a:pPr>
            <a:r>
              <a:rPr lang="en-US" sz="1350" dirty="0">
                <a:solidFill>
                  <a:srgbClr val="14303D"/>
                </a:solidFill>
                <a:latin typeface="Calibri" pitchFamily="34" charset="0"/>
                <a:ea typeface="Calibri" pitchFamily="34" charset="-122"/>
                <a:cs typeface="Calibri" pitchFamily="34" charset="-120"/>
              </a:rPr>
              <a:t>what previous runs already established about this app</a:t>
            </a:r>
            <a:endParaRPr lang="en-US" sz="1350" dirty="0"/>
          </a:p>
        </p:txBody>
      </p:sp>
      <p:sp>
        <p:nvSpPr>
          <p:cNvPr id="17" name="Text 15"/>
          <p:cNvSpPr txBox="1"/>
          <p:nvPr/>
        </p:nvSpPr>
        <p:spPr>
          <a:xfrm>
            <a:off x="749808" y="4754880"/>
            <a:ext cx="3657600" cy="493776"/>
          </a:xfrm>
          <a:prstGeom prst="rect">
            <a:avLst/>
          </a:prstGeom>
          <a:noFill/>
          <a:ln/>
        </p:spPr>
        <p:txBody>
          <a:bodyPr wrap="square" lIns="0" tIns="0" rIns="0" bIns="0" rtlCol="0" anchor="ctr"/>
          <a:lstStyle/>
          <a:p>
            <a:pPr marL="0" indent="0">
              <a:buNone/>
            </a:pPr>
            <a:r>
              <a:rPr lang="en-US" sz="1350" b="1" dirty="0">
                <a:solidFill>
                  <a:srgbClr val="0B6A8F"/>
                </a:solidFill>
                <a:latin typeface="Consolas" pitchFamily="34" charset="0"/>
                <a:ea typeface="Consolas" pitchFamily="34" charset="-122"/>
                <a:cs typeface="Consolas" pitchFamily="34" charset="-120"/>
              </a:rPr>
              <a:t>get_coverage</a:t>
            </a:r>
            <a:endParaRPr lang="en-US" sz="1350" dirty="0"/>
          </a:p>
        </p:txBody>
      </p:sp>
      <p:sp>
        <p:nvSpPr>
          <p:cNvPr id="18" name="Text 16"/>
          <p:cNvSpPr txBox="1"/>
          <p:nvPr/>
        </p:nvSpPr>
        <p:spPr>
          <a:xfrm>
            <a:off x="4498848" y="4754880"/>
            <a:ext cx="6976872" cy="493776"/>
          </a:xfrm>
          <a:prstGeom prst="rect">
            <a:avLst/>
          </a:prstGeom>
          <a:noFill/>
          <a:ln/>
        </p:spPr>
        <p:txBody>
          <a:bodyPr wrap="square" lIns="0" tIns="0" rIns="0" bIns="0" rtlCol="0" anchor="ctr"/>
          <a:lstStyle/>
          <a:p>
            <a:pPr marL="0" indent="0">
              <a:buNone/>
            </a:pPr>
            <a:r>
              <a:rPr lang="en-US" sz="1350" dirty="0">
                <a:solidFill>
                  <a:srgbClr val="14303D"/>
                </a:solidFill>
                <a:latin typeface="Calibri" pitchFamily="34" charset="0"/>
                <a:ea typeface="Calibri" pitchFamily="34" charset="-122"/>
                <a:cs typeface="Calibri" pitchFamily="34" charset="-120"/>
              </a:rPr>
              <a:t>tests run so far, and which areas repeatedly fail</a:t>
            </a:r>
            <a:endParaRPr lang="en-US" sz="1350" dirty="0"/>
          </a:p>
        </p:txBody>
      </p:sp>
      <p:sp>
        <p:nvSpPr>
          <p:cNvPr id="19" name="Shape 17"/>
          <p:cNvSpPr/>
          <p:nvPr/>
        </p:nvSpPr>
        <p:spPr>
          <a:xfrm>
            <a:off x="548640" y="5285232"/>
            <a:ext cx="11137392" cy="566928"/>
          </a:xfrm>
          <a:prstGeom prst="rect">
            <a:avLst/>
          </a:prstGeom>
          <a:solidFill>
            <a:srgbClr val="EDF3F5"/>
          </a:solidFill>
          <a:ln w="12700">
            <a:solidFill>
              <a:srgbClr val="EDF3F5"/>
            </a:solidFill>
            <a:prstDash val="solid"/>
          </a:ln>
        </p:spPr>
        <p:txBody>
          <a:bodyPr/>
          <a:lstStyle/>
          <a:p>
            <a:endParaRPr lang="en-US"/>
          </a:p>
        </p:txBody>
      </p:sp>
      <p:sp>
        <p:nvSpPr>
          <p:cNvPr id="20" name="Text 18"/>
          <p:cNvSpPr txBox="1"/>
          <p:nvPr/>
        </p:nvSpPr>
        <p:spPr>
          <a:xfrm>
            <a:off x="749808" y="5321808"/>
            <a:ext cx="3657600" cy="493776"/>
          </a:xfrm>
          <a:prstGeom prst="rect">
            <a:avLst/>
          </a:prstGeom>
          <a:noFill/>
          <a:ln/>
        </p:spPr>
        <p:txBody>
          <a:bodyPr wrap="square" lIns="0" tIns="0" rIns="0" bIns="0" rtlCol="0" anchor="ctr"/>
          <a:lstStyle/>
          <a:p>
            <a:pPr marL="0" indent="0">
              <a:buNone/>
            </a:pPr>
            <a:r>
              <a:rPr lang="en-US" sz="1350" b="1" dirty="0">
                <a:solidFill>
                  <a:srgbClr val="0B6A8F"/>
                </a:solidFill>
                <a:latin typeface="Consolas" pitchFamily="34" charset="0"/>
                <a:ea typeface="Consolas" pitchFamily="34" charset="-122"/>
                <a:cs typeface="Consolas" pitchFamily="34" charset="-120"/>
              </a:rPr>
              <a:t>get_nav_path</a:t>
            </a:r>
            <a:endParaRPr lang="en-US" sz="1350" dirty="0"/>
          </a:p>
        </p:txBody>
      </p:sp>
      <p:sp>
        <p:nvSpPr>
          <p:cNvPr id="21" name="Text 19"/>
          <p:cNvSpPr txBox="1"/>
          <p:nvPr/>
        </p:nvSpPr>
        <p:spPr>
          <a:xfrm>
            <a:off x="4498848" y="5321808"/>
            <a:ext cx="6976872" cy="493776"/>
          </a:xfrm>
          <a:prstGeom prst="rect">
            <a:avLst/>
          </a:prstGeom>
          <a:noFill/>
          <a:ln/>
        </p:spPr>
        <p:txBody>
          <a:bodyPr wrap="square" lIns="0" tIns="0" rIns="0" bIns="0" rtlCol="0" anchor="ctr"/>
          <a:lstStyle/>
          <a:p>
            <a:pPr marL="0" indent="0">
              <a:buNone/>
            </a:pPr>
            <a:r>
              <a:rPr lang="en-US" sz="1350" dirty="0">
                <a:solidFill>
                  <a:srgbClr val="14303D"/>
                </a:solidFill>
                <a:latin typeface="Calibri" pitchFamily="34" charset="0"/>
                <a:ea typeface="Calibri" pitchFamily="34" charset="-122"/>
                <a:cs typeface="Calibri" pitchFamily="34" charset="-120"/>
              </a:rPr>
              <a:t>a route to a screen the executor has already walked</a:t>
            </a:r>
            <a:endParaRPr lang="en-US" sz="1350" dirty="0"/>
          </a:p>
        </p:txBody>
      </p:sp>
      <p:sp>
        <p:nvSpPr>
          <p:cNvPr id="22" name="Text 20"/>
          <p:cNvSpPr txBox="1"/>
          <p:nvPr/>
        </p:nvSpPr>
        <p:spPr>
          <a:xfrm>
            <a:off x="548640" y="5989320"/>
            <a:ext cx="11137392" cy="411480"/>
          </a:xfrm>
          <a:prstGeom prst="rect">
            <a:avLst/>
          </a:prstGeom>
          <a:noFill/>
          <a:ln/>
        </p:spPr>
        <p:txBody>
          <a:bodyPr wrap="square" lIns="0" tIns="0" rIns="0" bIns="0" rtlCol="0" anchor="ctr"/>
          <a:lstStyle/>
          <a:p>
            <a:pPr marL="0" indent="0">
              <a:buNone/>
            </a:pPr>
            <a:r>
              <a:rPr lang="en-US" sz="1300" i="1" dirty="0">
                <a:solidFill>
                  <a:srgbClr val="55697A"/>
                </a:solidFill>
                <a:latin typeface="Calibri" pitchFamily="34" charset="0"/>
                <a:ea typeface="Calibri" pitchFamily="34" charset="-122"/>
                <a:cs typeface="Calibri" pitchFamily="34" charset="-120"/>
              </a:rPr>
              <a:t>So a blank answer can never mislead the model into planning against something that is not there.</a:t>
            </a:r>
            <a:endParaRPr lang="en-US" sz="1300" dirty="0"/>
          </a:p>
        </p:txBody>
      </p:sp>
      <p:sp>
        <p:nvSpPr>
          <p:cNvPr id="23" name="Text 21"/>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900" dirty="0">
                <a:solidFill>
                  <a:srgbClr val="55697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9"/>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9052560" cy="658368"/>
          </a:xfrm>
          <a:prstGeom prst="rect">
            <a:avLst/>
          </a:prstGeom>
          <a:noFill/>
          <a:ln/>
        </p:spPr>
        <p:txBody>
          <a:bodyPr wrap="square" lIns="0" tIns="0" rIns="0" bIns="0" rtlCol="0" anchor="ctr"/>
          <a:lstStyle/>
          <a:p>
            <a:pPr marL="0" indent="0">
              <a:buNone/>
            </a:pPr>
            <a:r>
              <a:rPr lang="en-US" sz="3000" b="1" dirty="0">
                <a:solidFill>
                  <a:srgbClr val="14303D"/>
                </a:solidFill>
                <a:latin typeface="Cambria" pitchFamily="34" charset="0"/>
                <a:ea typeface="Cambria" pitchFamily="34" charset="-122"/>
                <a:cs typeface="Cambria" pitchFamily="34" charset="-120"/>
              </a:rPr>
              <a:t>One planning round, turn by turn</a:t>
            </a:r>
            <a:endParaRPr lang="en-US" sz="3000" dirty="0"/>
          </a:p>
        </p:txBody>
      </p:sp>
      <p:sp>
        <p:nvSpPr>
          <p:cNvPr id="3" name="Shape 1"/>
          <p:cNvSpPr/>
          <p:nvPr/>
        </p:nvSpPr>
        <p:spPr>
          <a:xfrm>
            <a:off x="548640" y="1874520"/>
            <a:ext cx="11137392" cy="960120"/>
          </a:xfrm>
          <a:prstGeom prst="roundRect">
            <a:avLst>
              <a:gd name="adj" fmla="val 5714"/>
            </a:avLst>
          </a:prstGeom>
          <a:solidFill>
            <a:srgbClr val="FFFFFF"/>
          </a:solidFill>
          <a:ln w="12700">
            <a:solidFill>
              <a:srgbClr val="D5E0E5"/>
            </a:solidFill>
            <a:prstDash val="solid"/>
          </a:ln>
          <a:effectLst>
            <a:outerShdw blurRad="101600" dist="12700" dir="5400000" algn="bl" rotWithShape="0">
              <a:srgbClr val="14303D">
                <a:alpha val="7000"/>
              </a:srgbClr>
            </a:outerShdw>
          </a:effectLst>
        </p:spPr>
        <p:txBody>
          <a:bodyPr/>
          <a:lstStyle/>
          <a:p>
            <a:endParaRPr lang="en-US"/>
          </a:p>
        </p:txBody>
      </p:sp>
      <p:sp>
        <p:nvSpPr>
          <p:cNvPr id="4" name="Shape 2"/>
          <p:cNvSpPr/>
          <p:nvPr/>
        </p:nvSpPr>
        <p:spPr>
          <a:xfrm>
            <a:off x="868680" y="2112264"/>
            <a:ext cx="1143000" cy="475488"/>
          </a:xfrm>
          <a:prstGeom prst="roundRect">
            <a:avLst>
              <a:gd name="adj" fmla="val 19231"/>
            </a:avLst>
          </a:prstGeom>
          <a:solidFill>
            <a:srgbClr val="0B6A8F"/>
          </a:solidFill>
          <a:ln w="12700">
            <a:solidFill>
              <a:srgbClr val="0B6A8F"/>
            </a:solidFill>
            <a:prstDash val="solid"/>
          </a:ln>
        </p:spPr>
        <p:txBody>
          <a:bodyPr/>
          <a:lstStyle/>
          <a:p>
            <a:endParaRPr lang="en-US"/>
          </a:p>
        </p:txBody>
      </p:sp>
      <p:sp>
        <p:nvSpPr>
          <p:cNvPr id="5" name="Text 3"/>
          <p:cNvSpPr txBox="1"/>
          <p:nvPr/>
        </p:nvSpPr>
        <p:spPr>
          <a:xfrm>
            <a:off x="868680" y="2112264"/>
            <a:ext cx="1143000"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 to 2</a:t>
            </a:r>
            <a:endParaRPr lang="en-US" sz="1300" dirty="0"/>
          </a:p>
        </p:txBody>
      </p:sp>
      <p:sp>
        <p:nvSpPr>
          <p:cNvPr id="6" name="Text 4"/>
          <p:cNvSpPr txBox="1"/>
          <p:nvPr/>
        </p:nvSpPr>
        <p:spPr>
          <a:xfrm>
            <a:off x="2240280" y="2048256"/>
            <a:ext cx="3108960" cy="329184"/>
          </a:xfrm>
          <a:prstGeom prst="rect">
            <a:avLst/>
          </a:prstGeom>
          <a:noFill/>
          <a:ln/>
        </p:spPr>
        <p:txBody>
          <a:bodyPr wrap="square" lIns="0" tIns="0" rIns="0" bIns="0" rtlCol="0" anchor="ctr"/>
          <a:lstStyle/>
          <a:p>
            <a:pPr marL="0" indent="0">
              <a:buNone/>
            </a:pPr>
            <a:r>
              <a:rPr lang="en-US" sz="1600" b="1" dirty="0">
                <a:solidFill>
                  <a:srgbClr val="14303D"/>
                </a:solidFill>
                <a:latin typeface="Calibri" pitchFamily="34" charset="0"/>
                <a:ea typeface="Calibri" pitchFamily="34" charset="-122"/>
                <a:cs typeface="Calibri" pitchFamily="34" charset="-120"/>
              </a:rPr>
              <a:t>Read the frontier</a:t>
            </a:r>
            <a:endParaRPr lang="en-US" sz="1600" dirty="0"/>
          </a:p>
        </p:txBody>
      </p:sp>
      <p:sp>
        <p:nvSpPr>
          <p:cNvPr id="7" name="Text 5"/>
          <p:cNvSpPr txBox="1"/>
          <p:nvPr/>
        </p:nvSpPr>
        <p:spPr>
          <a:xfrm>
            <a:off x="2240280" y="2395728"/>
            <a:ext cx="8595360" cy="329184"/>
          </a:xfrm>
          <a:prstGeom prst="rect">
            <a:avLst/>
          </a:prstGeom>
          <a:noFill/>
          <a:ln/>
        </p:spPr>
        <p:txBody>
          <a:bodyPr wrap="square" lIns="0" tIns="0" rIns="0" bIns="0" rtlCol="0" anchor="ctr"/>
          <a:lstStyle/>
          <a:p>
            <a:pPr marL="0" indent="0">
              <a:buNone/>
            </a:pPr>
            <a:r>
              <a:rPr lang="en-US" sz="1200" dirty="0">
                <a:solidFill>
                  <a:srgbClr val="55697A"/>
                </a:solidFill>
                <a:latin typeface="Consolas" pitchFamily="34" charset="0"/>
                <a:ea typeface="Consolas" pitchFamily="34" charset="-122"/>
                <a:cs typeface="Consolas" pitchFamily="34" charset="-120"/>
              </a:rPr>
              <a:t>search_requirements, list_untested_requirements</a:t>
            </a:r>
            <a:endParaRPr lang="en-US" sz="1200" dirty="0"/>
          </a:p>
        </p:txBody>
      </p:sp>
      <p:sp>
        <p:nvSpPr>
          <p:cNvPr id="8" name="Shape 6"/>
          <p:cNvSpPr/>
          <p:nvPr/>
        </p:nvSpPr>
        <p:spPr>
          <a:xfrm>
            <a:off x="548640" y="2944368"/>
            <a:ext cx="11137392" cy="960120"/>
          </a:xfrm>
          <a:prstGeom prst="roundRect">
            <a:avLst>
              <a:gd name="adj" fmla="val 5714"/>
            </a:avLst>
          </a:prstGeom>
          <a:solidFill>
            <a:srgbClr val="FFFFFF"/>
          </a:solidFill>
          <a:ln w="12700">
            <a:solidFill>
              <a:srgbClr val="D5E0E5"/>
            </a:solidFill>
            <a:prstDash val="solid"/>
          </a:ln>
          <a:effectLst>
            <a:outerShdw blurRad="101600" dist="12700" dir="5400000" algn="bl" rotWithShape="0">
              <a:srgbClr val="14303D">
                <a:alpha val="7000"/>
              </a:srgbClr>
            </a:outerShdw>
          </a:effectLst>
        </p:spPr>
        <p:txBody>
          <a:bodyPr/>
          <a:lstStyle/>
          <a:p>
            <a:endParaRPr lang="en-US"/>
          </a:p>
        </p:txBody>
      </p:sp>
      <p:sp>
        <p:nvSpPr>
          <p:cNvPr id="9" name="Shape 7"/>
          <p:cNvSpPr/>
          <p:nvPr/>
        </p:nvSpPr>
        <p:spPr>
          <a:xfrm>
            <a:off x="868680" y="3182112"/>
            <a:ext cx="1143000" cy="475488"/>
          </a:xfrm>
          <a:prstGeom prst="roundRect">
            <a:avLst>
              <a:gd name="adj" fmla="val 19231"/>
            </a:avLst>
          </a:prstGeom>
          <a:solidFill>
            <a:srgbClr val="0B6A8F"/>
          </a:solidFill>
          <a:ln w="12700">
            <a:solidFill>
              <a:srgbClr val="0B6A8F"/>
            </a:solidFill>
            <a:prstDash val="solid"/>
          </a:ln>
        </p:spPr>
        <p:txBody>
          <a:bodyPr/>
          <a:lstStyle/>
          <a:p>
            <a:endParaRPr lang="en-US"/>
          </a:p>
        </p:txBody>
      </p:sp>
      <p:sp>
        <p:nvSpPr>
          <p:cNvPr id="10" name="Text 8"/>
          <p:cNvSpPr txBox="1"/>
          <p:nvPr/>
        </p:nvSpPr>
        <p:spPr>
          <a:xfrm>
            <a:off x="868680" y="3182112"/>
            <a:ext cx="1143000"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 to 4</a:t>
            </a:r>
            <a:endParaRPr lang="en-US" sz="1300" dirty="0"/>
          </a:p>
        </p:txBody>
      </p:sp>
      <p:sp>
        <p:nvSpPr>
          <p:cNvPr id="11" name="Text 9"/>
          <p:cNvSpPr txBox="1"/>
          <p:nvPr/>
        </p:nvSpPr>
        <p:spPr>
          <a:xfrm>
            <a:off x="2240280" y="3118104"/>
            <a:ext cx="3108960" cy="329184"/>
          </a:xfrm>
          <a:prstGeom prst="rect">
            <a:avLst/>
          </a:prstGeom>
          <a:noFill/>
          <a:ln/>
        </p:spPr>
        <p:txBody>
          <a:bodyPr wrap="square" lIns="0" tIns="0" rIns="0" bIns="0" rtlCol="0" anchor="ctr"/>
          <a:lstStyle/>
          <a:p>
            <a:pPr marL="0" indent="0">
              <a:buNone/>
            </a:pPr>
            <a:r>
              <a:rPr lang="en-US" sz="1600" b="1" dirty="0">
                <a:solidFill>
                  <a:srgbClr val="14303D"/>
                </a:solidFill>
                <a:latin typeface="Calibri" pitchFamily="34" charset="0"/>
                <a:ea typeface="Calibri" pitchFamily="34" charset="-122"/>
                <a:cs typeface="Calibri" pitchFamily="34" charset="-120"/>
              </a:rPr>
              <a:t>Check it is real</a:t>
            </a:r>
            <a:endParaRPr lang="en-US" sz="1600" dirty="0"/>
          </a:p>
        </p:txBody>
      </p:sp>
      <p:sp>
        <p:nvSpPr>
          <p:cNvPr id="12" name="Text 10"/>
          <p:cNvSpPr txBox="1"/>
          <p:nvPr/>
        </p:nvSpPr>
        <p:spPr>
          <a:xfrm>
            <a:off x="2240280" y="3465576"/>
            <a:ext cx="8595360" cy="329184"/>
          </a:xfrm>
          <a:prstGeom prst="rect">
            <a:avLst/>
          </a:prstGeom>
          <a:noFill/>
          <a:ln/>
        </p:spPr>
        <p:txBody>
          <a:bodyPr wrap="square" lIns="0" tIns="0" rIns="0" bIns="0" rtlCol="0" anchor="ctr"/>
          <a:lstStyle/>
          <a:p>
            <a:pPr marL="0" indent="0">
              <a:buNone/>
            </a:pPr>
            <a:r>
              <a:rPr lang="en-US" sz="1200" dirty="0">
                <a:solidFill>
                  <a:srgbClr val="55697A"/>
                </a:solidFill>
                <a:latin typeface="Consolas" pitchFamily="34" charset="0"/>
                <a:ea typeface="Consolas" pitchFamily="34" charset="-122"/>
                <a:cs typeface="Consolas" pitchFamily="34" charset="-120"/>
              </a:rPr>
              <a:t>get_screen and list_screens, so the named screen exists</a:t>
            </a:r>
            <a:endParaRPr lang="en-US" sz="1200" dirty="0"/>
          </a:p>
        </p:txBody>
      </p:sp>
      <p:sp>
        <p:nvSpPr>
          <p:cNvPr id="13" name="Shape 11"/>
          <p:cNvSpPr/>
          <p:nvPr/>
        </p:nvSpPr>
        <p:spPr>
          <a:xfrm>
            <a:off x="548640" y="4014216"/>
            <a:ext cx="11137392" cy="960120"/>
          </a:xfrm>
          <a:prstGeom prst="roundRect">
            <a:avLst>
              <a:gd name="adj" fmla="val 5714"/>
            </a:avLst>
          </a:prstGeom>
          <a:solidFill>
            <a:srgbClr val="FFFFFF"/>
          </a:solidFill>
          <a:ln w="12700">
            <a:solidFill>
              <a:srgbClr val="D5E0E5"/>
            </a:solidFill>
            <a:prstDash val="solid"/>
          </a:ln>
          <a:effectLst>
            <a:outerShdw blurRad="101600" dist="12700" dir="5400000" algn="bl" rotWithShape="0">
              <a:srgbClr val="14303D">
                <a:alpha val="7000"/>
              </a:srgbClr>
            </a:outerShdw>
          </a:effectLst>
        </p:spPr>
        <p:txBody>
          <a:bodyPr/>
          <a:lstStyle/>
          <a:p>
            <a:endParaRPr lang="en-US"/>
          </a:p>
        </p:txBody>
      </p:sp>
      <p:sp>
        <p:nvSpPr>
          <p:cNvPr id="14" name="Shape 12"/>
          <p:cNvSpPr/>
          <p:nvPr/>
        </p:nvSpPr>
        <p:spPr>
          <a:xfrm>
            <a:off x="868680" y="4251960"/>
            <a:ext cx="1143000" cy="475488"/>
          </a:xfrm>
          <a:prstGeom prst="roundRect">
            <a:avLst>
              <a:gd name="adj" fmla="val 19231"/>
            </a:avLst>
          </a:prstGeom>
          <a:solidFill>
            <a:srgbClr val="0B6A8F"/>
          </a:solidFill>
          <a:ln w="12700">
            <a:solidFill>
              <a:srgbClr val="0B6A8F"/>
            </a:solidFill>
            <a:prstDash val="solid"/>
          </a:ln>
        </p:spPr>
        <p:txBody>
          <a:bodyPr/>
          <a:lstStyle/>
          <a:p>
            <a:endParaRPr lang="en-US"/>
          </a:p>
        </p:txBody>
      </p:sp>
      <p:sp>
        <p:nvSpPr>
          <p:cNvPr id="15" name="Text 13"/>
          <p:cNvSpPr txBox="1"/>
          <p:nvPr/>
        </p:nvSpPr>
        <p:spPr>
          <a:xfrm>
            <a:off x="868680" y="4251960"/>
            <a:ext cx="1143000"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6" name="Text 14"/>
          <p:cNvSpPr txBox="1"/>
          <p:nvPr/>
        </p:nvSpPr>
        <p:spPr>
          <a:xfrm>
            <a:off x="2240280" y="4187952"/>
            <a:ext cx="3108960" cy="329184"/>
          </a:xfrm>
          <a:prstGeom prst="rect">
            <a:avLst/>
          </a:prstGeom>
          <a:noFill/>
          <a:ln/>
        </p:spPr>
        <p:txBody>
          <a:bodyPr wrap="square" lIns="0" tIns="0" rIns="0" bIns="0" rtlCol="0" anchor="ctr"/>
          <a:lstStyle/>
          <a:p>
            <a:pPr marL="0" indent="0">
              <a:buNone/>
            </a:pPr>
            <a:r>
              <a:rPr lang="en-US" sz="1600" b="1" dirty="0">
                <a:solidFill>
                  <a:srgbClr val="14303D"/>
                </a:solidFill>
                <a:latin typeface="Calibri" pitchFamily="34" charset="0"/>
                <a:ea typeface="Calibri" pitchFamily="34" charset="-122"/>
                <a:cs typeface="Calibri" pitchFamily="34" charset="-120"/>
              </a:rPr>
              <a:t>Avoid repeating</a:t>
            </a:r>
            <a:endParaRPr lang="en-US" sz="1600" dirty="0"/>
          </a:p>
        </p:txBody>
      </p:sp>
      <p:sp>
        <p:nvSpPr>
          <p:cNvPr id="17" name="Text 15"/>
          <p:cNvSpPr txBox="1"/>
          <p:nvPr/>
        </p:nvSpPr>
        <p:spPr>
          <a:xfrm>
            <a:off x="2240280" y="4535424"/>
            <a:ext cx="8595360" cy="329184"/>
          </a:xfrm>
          <a:prstGeom prst="rect">
            <a:avLst/>
          </a:prstGeom>
          <a:noFill/>
          <a:ln/>
        </p:spPr>
        <p:txBody>
          <a:bodyPr wrap="square" lIns="0" tIns="0" rIns="0" bIns="0" rtlCol="0" anchor="ctr"/>
          <a:lstStyle/>
          <a:p>
            <a:pPr marL="0" indent="0">
              <a:buNone/>
            </a:pPr>
            <a:r>
              <a:rPr lang="en-US" sz="1200" dirty="0">
                <a:solidFill>
                  <a:srgbClr val="55697A"/>
                </a:solidFill>
                <a:latin typeface="Consolas" pitchFamily="34" charset="0"/>
                <a:ea typeface="Consolas" pitchFamily="34" charset="-122"/>
                <a:cs typeface="Consolas" pitchFamily="34" charset="-120"/>
              </a:rPr>
              <a:t>list_findings and get_coverage</a:t>
            </a:r>
            <a:endParaRPr lang="en-US" sz="1200" dirty="0"/>
          </a:p>
        </p:txBody>
      </p:sp>
      <p:sp>
        <p:nvSpPr>
          <p:cNvPr id="18" name="Shape 16"/>
          <p:cNvSpPr/>
          <p:nvPr/>
        </p:nvSpPr>
        <p:spPr>
          <a:xfrm>
            <a:off x="548640" y="5084064"/>
            <a:ext cx="11137392" cy="960120"/>
          </a:xfrm>
          <a:prstGeom prst="roundRect">
            <a:avLst>
              <a:gd name="adj" fmla="val 5714"/>
            </a:avLst>
          </a:prstGeom>
          <a:solidFill>
            <a:srgbClr val="FFFFFF"/>
          </a:solidFill>
          <a:ln w="12700">
            <a:solidFill>
              <a:srgbClr val="D5E0E5"/>
            </a:solidFill>
            <a:prstDash val="solid"/>
          </a:ln>
          <a:effectLst>
            <a:outerShdw blurRad="101600" dist="12700" dir="5400000" algn="bl" rotWithShape="0">
              <a:srgbClr val="14303D">
                <a:alpha val="7000"/>
              </a:srgbClr>
            </a:outerShdw>
          </a:effectLst>
        </p:spPr>
        <p:txBody>
          <a:bodyPr/>
          <a:lstStyle/>
          <a:p>
            <a:endParaRPr lang="en-US"/>
          </a:p>
        </p:txBody>
      </p:sp>
      <p:sp>
        <p:nvSpPr>
          <p:cNvPr id="19" name="Shape 17"/>
          <p:cNvSpPr/>
          <p:nvPr/>
        </p:nvSpPr>
        <p:spPr>
          <a:xfrm>
            <a:off x="868680" y="5321808"/>
            <a:ext cx="1143000" cy="475488"/>
          </a:xfrm>
          <a:prstGeom prst="roundRect">
            <a:avLst>
              <a:gd name="adj" fmla="val 19231"/>
            </a:avLst>
          </a:prstGeom>
          <a:solidFill>
            <a:srgbClr val="A9502C"/>
          </a:solidFill>
          <a:ln w="12700">
            <a:solidFill>
              <a:srgbClr val="A9502C"/>
            </a:solidFill>
            <a:prstDash val="solid"/>
          </a:ln>
        </p:spPr>
        <p:txBody>
          <a:bodyPr/>
          <a:lstStyle/>
          <a:p>
            <a:endParaRPr lang="en-US"/>
          </a:p>
        </p:txBody>
      </p:sp>
      <p:sp>
        <p:nvSpPr>
          <p:cNvPr id="20" name="Text 18"/>
          <p:cNvSpPr txBox="1"/>
          <p:nvPr/>
        </p:nvSpPr>
        <p:spPr>
          <a:xfrm>
            <a:off x="868680" y="5321808"/>
            <a:ext cx="1143000"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 onward</a:t>
            </a:r>
            <a:endParaRPr lang="en-US" sz="1300" dirty="0"/>
          </a:p>
        </p:txBody>
      </p:sp>
      <p:sp>
        <p:nvSpPr>
          <p:cNvPr id="21" name="Text 19"/>
          <p:cNvSpPr txBox="1"/>
          <p:nvPr/>
        </p:nvSpPr>
        <p:spPr>
          <a:xfrm>
            <a:off x="2240280" y="5257800"/>
            <a:ext cx="3108960" cy="329184"/>
          </a:xfrm>
          <a:prstGeom prst="rect">
            <a:avLst/>
          </a:prstGeom>
          <a:noFill/>
          <a:ln/>
        </p:spPr>
        <p:txBody>
          <a:bodyPr wrap="square" lIns="0" tIns="0" rIns="0" bIns="0" rtlCol="0" anchor="ctr"/>
          <a:lstStyle/>
          <a:p>
            <a:pPr marL="0" indent="0">
              <a:buNone/>
            </a:pPr>
            <a:r>
              <a:rPr lang="en-US" sz="1600" b="1" dirty="0">
                <a:solidFill>
                  <a:srgbClr val="14303D"/>
                </a:solidFill>
                <a:latin typeface="Calibri" pitchFamily="34" charset="0"/>
                <a:ea typeface="Calibri" pitchFamily="34" charset="-122"/>
                <a:cs typeface="Calibri" pitchFamily="34" charset="-120"/>
              </a:rPr>
              <a:t>Forced to commit</a:t>
            </a:r>
            <a:endParaRPr lang="en-US" sz="1600" dirty="0"/>
          </a:p>
        </p:txBody>
      </p:sp>
      <p:sp>
        <p:nvSpPr>
          <p:cNvPr id="22" name="Text 20"/>
          <p:cNvSpPr txBox="1"/>
          <p:nvPr/>
        </p:nvSpPr>
        <p:spPr>
          <a:xfrm>
            <a:off x="2240280" y="5605272"/>
            <a:ext cx="8595360" cy="329184"/>
          </a:xfrm>
          <a:prstGeom prst="rect">
            <a:avLst/>
          </a:prstGeom>
          <a:noFill/>
          <a:ln/>
        </p:spPr>
        <p:txBody>
          <a:bodyPr wrap="square" lIns="0" tIns="0" rIns="0" bIns="0" rtlCol="0" anchor="ctr"/>
          <a:lstStyle/>
          <a:p>
            <a:pPr marL="0" indent="0">
              <a:buNone/>
            </a:pPr>
            <a:r>
              <a:rPr lang="en-US" sz="1200" dirty="0">
                <a:solidFill>
                  <a:srgbClr val="55697A"/>
                </a:solidFill>
                <a:latin typeface="Consolas" pitchFamily="34" charset="0"/>
                <a:ea typeface="Consolas" pitchFamily="34" charset="-122"/>
                <a:cs typeface="Consolas" pitchFamily="34" charset="-120"/>
              </a:rPr>
              <a:t>the tool choice is pinned to propose_test_case</a:t>
            </a:r>
            <a:endParaRPr lang="en-US" sz="1200" dirty="0"/>
          </a:p>
        </p:txBody>
      </p:sp>
      <p:sp>
        <p:nvSpPr>
          <p:cNvPr id="23" name="Text 21"/>
          <p:cNvSpPr txBox="1"/>
          <p:nvPr/>
        </p:nvSpPr>
        <p:spPr>
          <a:xfrm>
            <a:off x="548640" y="6263640"/>
            <a:ext cx="10424160" cy="365760"/>
          </a:xfrm>
          <a:prstGeom prst="rect">
            <a:avLst/>
          </a:prstGeom>
          <a:noFill/>
          <a:ln/>
        </p:spPr>
        <p:txBody>
          <a:bodyPr wrap="square" lIns="0" tIns="0" rIns="0" bIns="0" rtlCol="0" anchor="ctr"/>
          <a:lstStyle/>
          <a:p>
            <a:pPr marL="0" indent="0">
              <a:buNone/>
            </a:pPr>
            <a:r>
              <a:rPr lang="en-US" sz="1250" i="1" dirty="0">
                <a:solidFill>
                  <a:srgbClr val="55697A"/>
                </a:solidFill>
                <a:latin typeface="Calibri" pitchFamily="34" charset="0"/>
                <a:ea typeface="Calibri" pitchFamily="34" charset="-122"/>
                <a:cs typeface="Calibri" pitchFamily="34" charset="-120"/>
              </a:rPr>
              <a:t>Ceiling of 12 turns. A model left free will investigate to the ceiling and never commit: we watched it do exactly that on the first live run.</a:t>
            </a:r>
            <a:endParaRPr lang="en-US" sz="1250" dirty="0"/>
          </a:p>
        </p:txBody>
      </p:sp>
      <p:sp>
        <p:nvSpPr>
          <p:cNvPr id="24" name="Text 22"/>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900" dirty="0">
                <a:solidFill>
                  <a:srgbClr val="55697A"/>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9"/>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9052560" cy="658368"/>
          </a:xfrm>
          <a:prstGeom prst="rect">
            <a:avLst/>
          </a:prstGeom>
          <a:noFill/>
          <a:ln/>
        </p:spPr>
        <p:txBody>
          <a:bodyPr wrap="square" lIns="0" tIns="0" rIns="0" bIns="0" rtlCol="0" anchor="ctr"/>
          <a:lstStyle/>
          <a:p>
            <a:pPr marL="0" indent="0">
              <a:buNone/>
            </a:pPr>
            <a:r>
              <a:rPr lang="en-US" sz="3000" b="1" dirty="0">
                <a:solidFill>
                  <a:srgbClr val="14303D"/>
                </a:solidFill>
                <a:latin typeface="Cambria" pitchFamily="34" charset="0"/>
                <a:ea typeface="Cambria" pitchFamily="34" charset="-122"/>
                <a:cs typeface="Cambria" pitchFamily="34" charset="-120"/>
              </a:rPr>
              <a:t>What the planner actually emits</a:t>
            </a:r>
            <a:endParaRPr lang="en-US" sz="3000" dirty="0"/>
          </a:p>
        </p:txBody>
      </p:sp>
      <p:sp>
        <p:nvSpPr>
          <p:cNvPr id="3" name="Text 1"/>
          <p:cNvSpPr txBox="1"/>
          <p:nvPr/>
        </p:nvSpPr>
        <p:spPr>
          <a:xfrm>
            <a:off x="548640" y="1133856"/>
            <a:ext cx="10424160" cy="347472"/>
          </a:xfrm>
          <a:prstGeom prst="rect">
            <a:avLst/>
          </a:prstGeom>
          <a:noFill/>
          <a:ln/>
        </p:spPr>
        <p:txBody>
          <a:bodyPr wrap="square" lIns="0" tIns="0" rIns="0" bIns="0" rtlCol="0" anchor="ctr"/>
          <a:lstStyle/>
          <a:p>
            <a:pPr marL="0" indent="0">
              <a:buNone/>
            </a:pPr>
            <a:r>
              <a:rPr lang="en-US" sz="1450" dirty="0">
                <a:solidFill>
                  <a:srgbClr val="55697A"/>
                </a:solidFill>
                <a:latin typeface="Calibri" pitchFamily="34" charset="0"/>
                <a:ea typeface="Calibri" pitchFamily="34" charset="-122"/>
                <a:cs typeface="Calibri" pitchFamily="34" charset="-120"/>
              </a:rPr>
              <a:t>A test case in plain language, never a tap sequence.</a:t>
            </a:r>
            <a:endParaRPr lang="en-US" sz="1450" dirty="0"/>
          </a:p>
        </p:txBody>
      </p:sp>
      <p:sp>
        <p:nvSpPr>
          <p:cNvPr id="4" name="Shape 2"/>
          <p:cNvSpPr/>
          <p:nvPr/>
        </p:nvSpPr>
        <p:spPr>
          <a:xfrm>
            <a:off x="548640" y="1828800"/>
            <a:ext cx="5532120" cy="4023360"/>
          </a:xfrm>
          <a:prstGeom prst="roundRect">
            <a:avLst>
              <a:gd name="adj" fmla="val 1364"/>
            </a:avLst>
          </a:prstGeom>
          <a:solidFill>
            <a:srgbClr val="14303D"/>
          </a:solidFill>
          <a:ln w="12700">
            <a:solidFill>
              <a:srgbClr val="D5E0E5"/>
            </a:solidFill>
            <a:prstDash val="solid"/>
          </a:ln>
          <a:effectLst>
            <a:outerShdw blurRad="101600" dist="12700" dir="5400000" algn="bl" rotWithShape="0">
              <a:srgbClr val="14303D">
                <a:alpha val="7000"/>
              </a:srgbClr>
            </a:outerShdw>
          </a:effectLst>
        </p:spPr>
        <p:txBody>
          <a:bodyPr/>
          <a:lstStyle/>
          <a:p>
            <a:endParaRPr lang="en-US"/>
          </a:p>
        </p:txBody>
      </p:sp>
      <p:sp>
        <p:nvSpPr>
          <p:cNvPr id="5" name="Text 3"/>
          <p:cNvSpPr txBox="1"/>
          <p:nvPr/>
        </p:nvSpPr>
        <p:spPr>
          <a:xfrm>
            <a:off x="914400" y="2103120"/>
            <a:ext cx="4754880" cy="3474720"/>
          </a:xfrm>
          <a:prstGeom prst="rect">
            <a:avLst/>
          </a:prstGeom>
          <a:noFill/>
          <a:ln/>
        </p:spPr>
        <p:txBody>
          <a:bodyPr wrap="square" lIns="0" tIns="0" rIns="0" bIns="0" rtlCol="0" anchor="ctr"/>
          <a:lstStyle/>
          <a:p>
            <a:pPr marL="0" indent="0">
              <a:lnSpc>
                <a:spcPts val="3000"/>
              </a:lnSpc>
              <a:buNone/>
            </a:pPr>
            <a:r>
              <a:rPr lang="en-US" sz="1600" dirty="0">
                <a:solidFill>
                  <a:srgbClr val="FFFFFF"/>
                </a:solidFill>
                <a:latin typeface="Consolas" pitchFamily="34" charset="0"/>
                <a:ea typeface="Consolas" pitchFamily="34" charset="-122"/>
                <a:cs typeface="Consolas" pitchFamily="34" charset="-120"/>
              </a:rPr>
              <a:t>title</a:t>
            </a:r>
            <a:endParaRPr lang="en-US" sz="1600" dirty="0"/>
          </a:p>
          <a:p>
            <a:pPr marL="0" indent="0">
              <a:lnSpc>
                <a:spcPts val="3000"/>
              </a:lnSpc>
              <a:buNone/>
            </a:pPr>
            <a:r>
              <a:rPr lang="en-US" sz="1600" dirty="0">
                <a:solidFill>
                  <a:srgbClr val="FFFFFF"/>
                </a:solidFill>
                <a:latin typeface="Consolas" pitchFamily="34" charset="0"/>
                <a:ea typeface="Consolas" pitchFamily="34" charset="-122"/>
                <a:cs typeface="Consolas" pitchFamily="34" charset="-120"/>
              </a:rPr>
              <a:t>objective</a:t>
            </a:r>
            <a:endParaRPr lang="en-US" sz="1600" dirty="0"/>
          </a:p>
          <a:p>
            <a:pPr marL="0" indent="0">
              <a:lnSpc>
                <a:spcPts val="3000"/>
              </a:lnSpc>
              <a:buNone/>
            </a:pPr>
            <a:r>
              <a:rPr lang="en-US" sz="1600" dirty="0">
                <a:solidFill>
                  <a:srgbClr val="FFFFFF"/>
                </a:solidFill>
                <a:latin typeface="Consolas" pitchFamily="34" charset="0"/>
                <a:ea typeface="Consolas" pitchFamily="34" charset="-122"/>
                <a:cs typeface="Consolas" pitchFamily="34" charset="-120"/>
              </a:rPr>
              <a:t>expected_result</a:t>
            </a:r>
            <a:endParaRPr lang="en-US" sz="1600" dirty="0"/>
          </a:p>
          <a:p>
            <a:pPr marL="0" indent="0">
              <a:lnSpc>
                <a:spcPts val="3000"/>
              </a:lnSpc>
              <a:buNone/>
            </a:pPr>
            <a:r>
              <a:rPr lang="en-US" sz="1600" dirty="0">
                <a:solidFill>
                  <a:srgbClr val="FFFFFF"/>
                </a:solidFill>
                <a:latin typeface="Consolas" pitchFamily="34" charset="0"/>
                <a:ea typeface="Consolas" pitchFamily="34" charset="-122"/>
                <a:cs typeface="Consolas" pitchFamily="34" charset="-120"/>
              </a:rPr>
              <a:t>preconditions[]</a:t>
            </a:r>
            <a:endParaRPr lang="en-US" sz="1600" dirty="0"/>
          </a:p>
          <a:p>
            <a:pPr marL="0" indent="0">
              <a:lnSpc>
                <a:spcPts val="3000"/>
              </a:lnSpc>
              <a:buNone/>
            </a:pPr>
            <a:r>
              <a:rPr lang="en-US" sz="1600" dirty="0">
                <a:solidFill>
                  <a:srgbClr val="FFFFFF"/>
                </a:solidFill>
                <a:latin typeface="Consolas" pitchFamily="34" charset="0"/>
                <a:ea typeface="Consolas" pitchFamily="34" charset="-122"/>
                <a:cs typeface="Consolas" pitchFamily="34" charset="-120"/>
              </a:rPr>
              <a:t>screen_hint</a:t>
            </a:r>
            <a:endParaRPr lang="en-US" sz="1600" dirty="0"/>
          </a:p>
          <a:p>
            <a:pPr marL="0" indent="0">
              <a:lnSpc>
                <a:spcPts val="3000"/>
              </a:lnSpc>
              <a:buNone/>
            </a:pPr>
            <a:r>
              <a:rPr lang="en-US" sz="1600" dirty="0">
                <a:solidFill>
                  <a:srgbClr val="FFFFFF"/>
                </a:solidFill>
                <a:latin typeface="Consolas" pitchFamily="34" charset="0"/>
                <a:ea typeface="Consolas" pitchFamily="34" charset="-122"/>
                <a:cs typeface="Consolas" pitchFamily="34" charset="-120"/>
              </a:rPr>
              <a:t>area</a:t>
            </a:r>
            <a:endParaRPr lang="en-US" sz="1600" dirty="0"/>
          </a:p>
          <a:p>
            <a:pPr marL="0" indent="0">
              <a:lnSpc>
                <a:spcPts val="3000"/>
              </a:lnSpc>
              <a:buNone/>
            </a:pPr>
            <a:r>
              <a:rPr lang="en-US" sz="1600" dirty="0">
                <a:solidFill>
                  <a:srgbClr val="FFFFFF"/>
                </a:solidFill>
                <a:latin typeface="Consolas" pitchFamily="34" charset="0"/>
                <a:ea typeface="Consolas" pitchFamily="34" charset="-122"/>
                <a:cs typeface="Consolas" pitchFamily="34" charset="-120"/>
              </a:rPr>
              <a:t>test_type</a:t>
            </a:r>
            <a:endParaRPr lang="en-US" sz="1600" dirty="0"/>
          </a:p>
          <a:p>
            <a:pPr marL="0" indent="0">
              <a:lnSpc>
                <a:spcPts val="3000"/>
              </a:lnSpc>
              <a:buNone/>
            </a:pPr>
            <a:r>
              <a:rPr lang="en-US" sz="1600" dirty="0">
                <a:solidFill>
                  <a:srgbClr val="FFFFFF"/>
                </a:solidFill>
                <a:latin typeface="Consolas" pitchFamily="34" charset="0"/>
                <a:ea typeface="Consolas" pitchFamily="34" charset="-122"/>
                <a:cs typeface="Consolas" pitchFamily="34" charset="-120"/>
              </a:rPr>
              <a:t>requirement_ids[]</a:t>
            </a:r>
            <a:endParaRPr lang="en-US" sz="1600" dirty="0"/>
          </a:p>
        </p:txBody>
      </p:sp>
      <p:sp>
        <p:nvSpPr>
          <p:cNvPr id="6" name="Shape 4"/>
          <p:cNvSpPr/>
          <p:nvPr/>
        </p:nvSpPr>
        <p:spPr>
          <a:xfrm>
            <a:off x="6355080" y="1828800"/>
            <a:ext cx="5330952" cy="4023360"/>
          </a:xfrm>
          <a:prstGeom prst="roundRect">
            <a:avLst>
              <a:gd name="adj" fmla="val 1364"/>
            </a:avLst>
          </a:prstGeom>
          <a:solidFill>
            <a:srgbClr val="FFFFFF"/>
          </a:solidFill>
          <a:ln w="12700">
            <a:solidFill>
              <a:srgbClr val="D5E0E5"/>
            </a:solidFill>
            <a:prstDash val="solid"/>
          </a:ln>
          <a:effectLst>
            <a:outerShdw blurRad="101600" dist="12700" dir="5400000" algn="bl" rotWithShape="0">
              <a:srgbClr val="14303D">
                <a:alpha val="7000"/>
              </a:srgbClr>
            </a:outerShdw>
          </a:effectLst>
        </p:spPr>
        <p:txBody>
          <a:bodyPr/>
          <a:lstStyle/>
          <a:p>
            <a:endParaRPr lang="en-US"/>
          </a:p>
        </p:txBody>
      </p:sp>
      <p:sp>
        <p:nvSpPr>
          <p:cNvPr id="7" name="Text 5"/>
          <p:cNvSpPr txBox="1"/>
          <p:nvPr/>
        </p:nvSpPr>
        <p:spPr>
          <a:xfrm>
            <a:off x="6675120" y="2057400"/>
            <a:ext cx="4663440" cy="274320"/>
          </a:xfrm>
          <a:prstGeom prst="rect">
            <a:avLst/>
          </a:prstGeom>
          <a:noFill/>
          <a:ln/>
        </p:spPr>
        <p:txBody>
          <a:bodyPr wrap="square" lIns="0" tIns="0" rIns="0" bIns="0" rtlCol="0" anchor="ctr"/>
          <a:lstStyle/>
          <a:p>
            <a:pPr marL="0" indent="0">
              <a:buNone/>
            </a:pPr>
            <a:r>
              <a:rPr lang="en-US" sz="1200" b="1" dirty="0">
                <a:solidFill>
                  <a:srgbClr val="0B6A8F"/>
                </a:solidFill>
                <a:latin typeface="Consolas" pitchFamily="34" charset="0"/>
                <a:ea typeface="Consolas" pitchFamily="34" charset="-122"/>
                <a:cs typeface="Consolas" pitchFamily="34" charset="-120"/>
              </a:rPr>
              <a:t>objective</a:t>
            </a:r>
            <a:endParaRPr lang="en-US" sz="1200" dirty="0"/>
          </a:p>
        </p:txBody>
      </p:sp>
      <p:sp>
        <p:nvSpPr>
          <p:cNvPr id="8" name="Text 6"/>
          <p:cNvSpPr txBox="1"/>
          <p:nvPr/>
        </p:nvSpPr>
        <p:spPr>
          <a:xfrm>
            <a:off x="6675120" y="2395728"/>
            <a:ext cx="4709160" cy="1554480"/>
          </a:xfrm>
          <a:prstGeom prst="rect">
            <a:avLst/>
          </a:prstGeom>
          <a:noFill/>
          <a:ln/>
        </p:spPr>
        <p:txBody>
          <a:bodyPr wrap="square" lIns="0" tIns="0" rIns="0" bIns="0" rtlCol="0" anchor="ctr"/>
          <a:lstStyle/>
          <a:p>
            <a:pPr marL="0" indent="0">
              <a:lnSpc>
                <a:spcPts val="2400"/>
              </a:lnSpc>
              <a:buNone/>
            </a:pPr>
            <a:r>
              <a:rPr lang="en-US" sz="1600" i="1" dirty="0">
                <a:solidFill>
                  <a:srgbClr val="14303D"/>
                </a:solidFill>
                <a:latin typeface="Cambria" pitchFamily="34" charset="0"/>
                <a:ea typeface="Cambria" pitchFamily="34" charset="-122"/>
                <a:cs typeface="Cambria" pitchFamily="34" charset="-120"/>
              </a:rPr>
              <a:t>“Verify that a survey cannot be submitted while a required question is unanswered, and that the error names the question.”</a:t>
            </a:r>
            <a:endParaRPr lang="en-US" sz="1600" dirty="0"/>
          </a:p>
        </p:txBody>
      </p:sp>
      <p:sp>
        <p:nvSpPr>
          <p:cNvPr id="9" name="Text 7"/>
          <p:cNvSpPr txBox="1"/>
          <p:nvPr/>
        </p:nvSpPr>
        <p:spPr>
          <a:xfrm>
            <a:off x="6675120" y="4069080"/>
            <a:ext cx="4663440" cy="274320"/>
          </a:xfrm>
          <a:prstGeom prst="rect">
            <a:avLst/>
          </a:prstGeom>
          <a:noFill/>
          <a:ln/>
        </p:spPr>
        <p:txBody>
          <a:bodyPr wrap="square" lIns="0" tIns="0" rIns="0" bIns="0" rtlCol="0" anchor="ctr"/>
          <a:lstStyle/>
          <a:p>
            <a:pPr marL="0" indent="0">
              <a:buNone/>
            </a:pPr>
            <a:r>
              <a:rPr lang="en-US" sz="1200" b="1" dirty="0">
                <a:solidFill>
                  <a:srgbClr val="0B6A8F"/>
                </a:solidFill>
                <a:latin typeface="Consolas" pitchFamily="34" charset="0"/>
                <a:ea typeface="Consolas" pitchFamily="34" charset="-122"/>
                <a:cs typeface="Consolas" pitchFamily="34" charset="-120"/>
              </a:rPr>
              <a:t>requirement_ids</a:t>
            </a:r>
            <a:endParaRPr lang="en-US" sz="1200" dirty="0"/>
          </a:p>
        </p:txBody>
      </p:sp>
      <p:sp>
        <p:nvSpPr>
          <p:cNvPr id="10" name="Text 8"/>
          <p:cNvSpPr txBox="1"/>
          <p:nvPr/>
        </p:nvSpPr>
        <p:spPr>
          <a:xfrm>
            <a:off x="6675120" y="4389120"/>
            <a:ext cx="4663440" cy="320040"/>
          </a:xfrm>
          <a:prstGeom prst="rect">
            <a:avLst/>
          </a:prstGeom>
          <a:noFill/>
          <a:ln/>
        </p:spPr>
        <p:txBody>
          <a:bodyPr wrap="square" lIns="0" tIns="0" rIns="0" bIns="0" rtlCol="0" anchor="ctr"/>
          <a:lstStyle/>
          <a:p>
            <a:pPr marL="0" indent="0">
              <a:buNone/>
            </a:pPr>
            <a:r>
              <a:rPr lang="en-US" sz="1400" dirty="0">
                <a:solidFill>
                  <a:srgbClr val="14303D"/>
                </a:solidFill>
                <a:latin typeface="Consolas" pitchFamily="34" charset="0"/>
                <a:ea typeface="Consolas" pitchFamily="34" charset="-122"/>
                <a:cs typeface="Consolas" pitchFamily="34" charset="-120"/>
              </a:rPr>
              <a:t>FR-RESP-03, FR-RESP-07</a:t>
            </a:r>
            <a:endParaRPr lang="en-US" sz="1400" dirty="0"/>
          </a:p>
        </p:txBody>
      </p:sp>
      <p:sp>
        <p:nvSpPr>
          <p:cNvPr id="11" name="Text 9"/>
          <p:cNvSpPr txBox="1"/>
          <p:nvPr/>
        </p:nvSpPr>
        <p:spPr>
          <a:xfrm>
            <a:off x="6675120" y="4846320"/>
            <a:ext cx="4709160" cy="868680"/>
          </a:xfrm>
          <a:prstGeom prst="rect">
            <a:avLst/>
          </a:prstGeom>
          <a:noFill/>
          <a:ln/>
        </p:spPr>
        <p:txBody>
          <a:bodyPr wrap="square" lIns="0" tIns="0" rIns="0" bIns="0" rtlCol="0" anchor="ctr"/>
          <a:lstStyle/>
          <a:p>
            <a:pPr marL="0" indent="0">
              <a:lnSpc>
                <a:spcPts val="1600"/>
              </a:lnSpc>
              <a:buNone/>
            </a:pPr>
            <a:r>
              <a:rPr lang="en-US" sz="1250" dirty="0">
                <a:solidFill>
                  <a:srgbClr val="55697A"/>
                </a:solidFill>
                <a:latin typeface="Calibri" pitchFamily="34" charset="0"/>
                <a:ea typeface="Calibri" pitchFamily="34" charset="-122"/>
                <a:cs typeface="Calibri" pitchFamily="34" charset="-120"/>
              </a:rPr>
              <a:t>These identifiers are what make requirement coverage reportable at all, instead of activity coverage as a proxy.</a:t>
            </a:r>
            <a:endParaRPr lang="en-US" sz="1250" dirty="0"/>
          </a:p>
        </p:txBody>
      </p:sp>
      <p:sp>
        <p:nvSpPr>
          <p:cNvPr id="12" name="Text 10"/>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900" dirty="0">
                <a:solidFill>
                  <a:srgbClr val="55697A"/>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8F9"/>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9052560" cy="658368"/>
          </a:xfrm>
          <a:prstGeom prst="rect">
            <a:avLst/>
          </a:prstGeom>
          <a:noFill/>
          <a:ln/>
        </p:spPr>
        <p:txBody>
          <a:bodyPr wrap="square" lIns="0" tIns="0" rIns="0" bIns="0" rtlCol="0" anchor="ctr"/>
          <a:lstStyle/>
          <a:p>
            <a:pPr marL="0" indent="0">
              <a:buNone/>
            </a:pPr>
            <a:r>
              <a:rPr lang="en-US" sz="3000" b="1" dirty="0">
                <a:solidFill>
                  <a:srgbClr val="14303D"/>
                </a:solidFill>
                <a:latin typeface="Cambria" pitchFamily="34" charset="0"/>
                <a:ea typeface="Cambria" pitchFamily="34" charset="-122"/>
                <a:cs typeface="Cambria" pitchFamily="34" charset="-120"/>
              </a:rPr>
              <a:t>Nothing reaches a device unvalidated</a:t>
            </a:r>
            <a:endParaRPr lang="en-US" sz="3000" dirty="0"/>
          </a:p>
        </p:txBody>
      </p:sp>
      <p:sp>
        <p:nvSpPr>
          <p:cNvPr id="3" name="Shape 1"/>
          <p:cNvSpPr/>
          <p:nvPr/>
        </p:nvSpPr>
        <p:spPr>
          <a:xfrm>
            <a:off x="548640" y="1874520"/>
            <a:ext cx="11137392" cy="914400"/>
          </a:xfrm>
          <a:prstGeom prst="roundRect">
            <a:avLst>
              <a:gd name="adj" fmla="val 6000"/>
            </a:avLst>
          </a:prstGeom>
          <a:solidFill>
            <a:srgbClr val="FFFFFF"/>
          </a:solidFill>
          <a:ln w="12700">
            <a:solidFill>
              <a:srgbClr val="D5E0E5"/>
            </a:solidFill>
            <a:prstDash val="solid"/>
          </a:ln>
          <a:effectLst>
            <a:outerShdw blurRad="101600" dist="12700" dir="5400000" algn="bl" rotWithShape="0">
              <a:srgbClr val="14303D">
                <a:alpha val="7000"/>
              </a:srgbClr>
            </a:outerShdw>
          </a:effectLst>
        </p:spPr>
        <p:txBody>
          <a:bodyPr/>
          <a:lstStyle/>
          <a:p>
            <a:endParaRPr lang="en-US"/>
          </a:p>
        </p:txBody>
      </p:sp>
      <p:sp>
        <p:nvSpPr>
          <p:cNvPr id="4" name="Shape 2"/>
          <p:cNvSpPr/>
          <p:nvPr/>
        </p:nvSpPr>
        <p:spPr>
          <a:xfrm>
            <a:off x="868680" y="2130552"/>
            <a:ext cx="402336" cy="402336"/>
          </a:xfrm>
          <a:prstGeom prst="ellipse">
            <a:avLst/>
          </a:prstGeom>
          <a:solidFill>
            <a:srgbClr val="0B6A8F"/>
          </a:solidFill>
          <a:ln w="12700">
            <a:solidFill>
              <a:srgbClr val="0B6A8F"/>
            </a:solidFill>
            <a:prstDash val="solid"/>
          </a:ln>
        </p:spPr>
        <p:txBody>
          <a:bodyPr/>
          <a:lstStyle/>
          <a:p>
            <a:endParaRPr lang="en-US"/>
          </a:p>
        </p:txBody>
      </p:sp>
      <p:sp>
        <p:nvSpPr>
          <p:cNvPr id="5" name="Text 3"/>
          <p:cNvSpPr txBox="1"/>
          <p:nvPr/>
        </p:nvSpPr>
        <p:spPr>
          <a:xfrm>
            <a:off x="868680" y="2130552"/>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463040" y="2020824"/>
            <a:ext cx="4572000" cy="310896"/>
          </a:xfrm>
          <a:prstGeom prst="rect">
            <a:avLst/>
          </a:prstGeom>
          <a:noFill/>
          <a:ln/>
        </p:spPr>
        <p:txBody>
          <a:bodyPr wrap="square" lIns="0" tIns="0" rIns="0" bIns="0" rtlCol="0" anchor="ctr"/>
          <a:lstStyle/>
          <a:p>
            <a:pPr marL="0" indent="0">
              <a:buNone/>
            </a:pPr>
            <a:r>
              <a:rPr lang="en-US" sz="1550" b="1" dirty="0">
                <a:solidFill>
                  <a:srgbClr val="14303D"/>
                </a:solidFill>
                <a:latin typeface="Calibri" pitchFamily="34" charset="0"/>
                <a:ea typeface="Calibri" pitchFamily="34" charset="-122"/>
                <a:cs typeface="Calibri" pitchFamily="34" charset="-120"/>
              </a:rPr>
              <a:t>The screen must exist</a:t>
            </a:r>
            <a:endParaRPr lang="en-US" sz="1550" dirty="0"/>
          </a:p>
        </p:txBody>
      </p:sp>
      <p:sp>
        <p:nvSpPr>
          <p:cNvPr id="7" name="Text 5"/>
          <p:cNvSpPr txBox="1"/>
          <p:nvPr/>
        </p:nvSpPr>
        <p:spPr>
          <a:xfrm>
            <a:off x="1463040" y="2359152"/>
            <a:ext cx="6400800" cy="310896"/>
          </a:xfrm>
          <a:prstGeom prst="rect">
            <a:avLst/>
          </a:prstGeom>
          <a:noFill/>
          <a:ln/>
        </p:spPr>
        <p:txBody>
          <a:bodyPr wrap="square" lIns="0" tIns="0" rIns="0" bIns="0" rtlCol="0" anchor="ctr"/>
          <a:lstStyle/>
          <a:p>
            <a:pPr marL="0" indent="0">
              <a:buNone/>
            </a:pPr>
            <a:r>
              <a:rPr lang="en-US" sz="1250" dirty="0">
                <a:solidFill>
                  <a:srgbClr val="55697A"/>
                </a:solidFill>
                <a:latin typeface="Calibri" pitchFamily="34" charset="0"/>
                <a:ea typeface="Calibri" pitchFamily="34" charset="-122"/>
                <a:cs typeface="Calibri" pitchFamily="34" charset="-120"/>
              </a:rPr>
              <a:t>checked against screens actually observed</a:t>
            </a:r>
            <a:endParaRPr lang="en-US" sz="1250" dirty="0"/>
          </a:p>
        </p:txBody>
      </p:sp>
      <p:sp>
        <p:nvSpPr>
          <p:cNvPr id="8" name="Shape 6"/>
          <p:cNvSpPr/>
          <p:nvPr/>
        </p:nvSpPr>
        <p:spPr>
          <a:xfrm>
            <a:off x="548640" y="2898648"/>
            <a:ext cx="11137392" cy="914400"/>
          </a:xfrm>
          <a:prstGeom prst="roundRect">
            <a:avLst>
              <a:gd name="adj" fmla="val 6000"/>
            </a:avLst>
          </a:prstGeom>
          <a:solidFill>
            <a:srgbClr val="FFFFFF"/>
          </a:solidFill>
          <a:ln w="12700">
            <a:solidFill>
              <a:srgbClr val="D5E0E5"/>
            </a:solidFill>
            <a:prstDash val="solid"/>
          </a:ln>
          <a:effectLst>
            <a:outerShdw blurRad="101600" dist="12700" dir="5400000" algn="bl" rotWithShape="0">
              <a:srgbClr val="14303D">
                <a:alpha val="7000"/>
              </a:srgbClr>
            </a:outerShdw>
          </a:effectLst>
        </p:spPr>
        <p:txBody>
          <a:bodyPr/>
          <a:lstStyle/>
          <a:p>
            <a:endParaRPr lang="en-US"/>
          </a:p>
        </p:txBody>
      </p:sp>
      <p:sp>
        <p:nvSpPr>
          <p:cNvPr id="9" name="Shape 7"/>
          <p:cNvSpPr/>
          <p:nvPr/>
        </p:nvSpPr>
        <p:spPr>
          <a:xfrm>
            <a:off x="868680" y="3154680"/>
            <a:ext cx="402336" cy="402336"/>
          </a:xfrm>
          <a:prstGeom prst="ellipse">
            <a:avLst/>
          </a:prstGeom>
          <a:solidFill>
            <a:srgbClr val="0B6A8F"/>
          </a:solidFill>
          <a:ln w="12700">
            <a:solidFill>
              <a:srgbClr val="0B6A8F"/>
            </a:solidFill>
            <a:prstDash val="solid"/>
          </a:ln>
        </p:spPr>
        <p:txBody>
          <a:bodyPr/>
          <a:lstStyle/>
          <a:p>
            <a:endParaRPr lang="en-US"/>
          </a:p>
        </p:txBody>
      </p:sp>
      <p:sp>
        <p:nvSpPr>
          <p:cNvPr id="10" name="Text 8"/>
          <p:cNvSpPr txBox="1"/>
          <p:nvPr/>
        </p:nvSpPr>
        <p:spPr>
          <a:xfrm>
            <a:off x="868680" y="3154680"/>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1463040" y="3044952"/>
            <a:ext cx="4572000" cy="310896"/>
          </a:xfrm>
          <a:prstGeom prst="rect">
            <a:avLst/>
          </a:prstGeom>
          <a:noFill/>
          <a:ln/>
        </p:spPr>
        <p:txBody>
          <a:bodyPr wrap="square" lIns="0" tIns="0" rIns="0" bIns="0" rtlCol="0" anchor="ctr"/>
          <a:lstStyle/>
          <a:p>
            <a:pPr marL="0" indent="0">
              <a:buNone/>
            </a:pPr>
            <a:r>
              <a:rPr lang="en-US" sz="1550" b="1" dirty="0">
                <a:solidFill>
                  <a:srgbClr val="14303D"/>
                </a:solidFill>
                <a:latin typeface="Calibri" pitchFamily="34" charset="0"/>
                <a:ea typeface="Calibri" pitchFamily="34" charset="-122"/>
                <a:cs typeface="Calibri" pitchFamily="34" charset="-120"/>
              </a:rPr>
              <a:t>Requirement IDs must exist</a:t>
            </a:r>
            <a:endParaRPr lang="en-US" sz="1550" dirty="0"/>
          </a:p>
        </p:txBody>
      </p:sp>
      <p:sp>
        <p:nvSpPr>
          <p:cNvPr id="12" name="Text 10"/>
          <p:cNvSpPr txBox="1"/>
          <p:nvPr/>
        </p:nvSpPr>
        <p:spPr>
          <a:xfrm>
            <a:off x="1463040" y="3383280"/>
            <a:ext cx="6400800" cy="310896"/>
          </a:xfrm>
          <a:prstGeom prst="rect">
            <a:avLst/>
          </a:prstGeom>
          <a:noFill/>
          <a:ln/>
        </p:spPr>
        <p:txBody>
          <a:bodyPr wrap="square" lIns="0" tIns="0" rIns="0" bIns="0" rtlCol="0" anchor="ctr"/>
          <a:lstStyle/>
          <a:p>
            <a:pPr marL="0" indent="0">
              <a:buNone/>
            </a:pPr>
            <a:r>
              <a:rPr lang="en-US" sz="1250" dirty="0">
                <a:solidFill>
                  <a:srgbClr val="55697A"/>
                </a:solidFill>
                <a:latin typeface="Calibri" pitchFamily="34" charset="0"/>
                <a:ea typeface="Calibri" pitchFamily="34" charset="-122"/>
                <a:cs typeface="Calibri" pitchFamily="34" charset="-120"/>
              </a:rPr>
              <a:t>invented identifiers are rejected, not silently stored</a:t>
            </a:r>
            <a:endParaRPr lang="en-US" sz="1250" dirty="0"/>
          </a:p>
        </p:txBody>
      </p:sp>
      <p:sp>
        <p:nvSpPr>
          <p:cNvPr id="13" name="Shape 11"/>
          <p:cNvSpPr/>
          <p:nvPr/>
        </p:nvSpPr>
        <p:spPr>
          <a:xfrm>
            <a:off x="548640" y="3922776"/>
            <a:ext cx="11137392" cy="914400"/>
          </a:xfrm>
          <a:prstGeom prst="roundRect">
            <a:avLst>
              <a:gd name="adj" fmla="val 6000"/>
            </a:avLst>
          </a:prstGeom>
          <a:solidFill>
            <a:srgbClr val="FFFFFF"/>
          </a:solidFill>
          <a:ln w="12700">
            <a:solidFill>
              <a:srgbClr val="D5E0E5"/>
            </a:solidFill>
            <a:prstDash val="solid"/>
          </a:ln>
          <a:effectLst>
            <a:outerShdw blurRad="101600" dist="12700" dir="5400000" algn="bl" rotWithShape="0">
              <a:srgbClr val="14303D">
                <a:alpha val="7000"/>
              </a:srgbClr>
            </a:outerShdw>
          </a:effectLst>
        </p:spPr>
        <p:txBody>
          <a:bodyPr/>
          <a:lstStyle/>
          <a:p>
            <a:endParaRPr lang="en-US"/>
          </a:p>
        </p:txBody>
      </p:sp>
      <p:sp>
        <p:nvSpPr>
          <p:cNvPr id="14" name="Shape 12"/>
          <p:cNvSpPr/>
          <p:nvPr/>
        </p:nvSpPr>
        <p:spPr>
          <a:xfrm>
            <a:off x="868680" y="4178808"/>
            <a:ext cx="402336" cy="402336"/>
          </a:xfrm>
          <a:prstGeom prst="ellipse">
            <a:avLst/>
          </a:prstGeom>
          <a:solidFill>
            <a:srgbClr val="0B6A8F"/>
          </a:solidFill>
          <a:ln w="12700">
            <a:solidFill>
              <a:srgbClr val="0B6A8F"/>
            </a:solidFill>
            <a:prstDash val="solid"/>
          </a:ln>
        </p:spPr>
        <p:txBody>
          <a:bodyPr/>
          <a:lstStyle/>
          <a:p>
            <a:endParaRPr lang="en-US"/>
          </a:p>
        </p:txBody>
      </p:sp>
      <p:sp>
        <p:nvSpPr>
          <p:cNvPr id="15" name="Text 13"/>
          <p:cNvSpPr txBox="1"/>
          <p:nvPr/>
        </p:nvSpPr>
        <p:spPr>
          <a:xfrm>
            <a:off x="868680" y="417880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txBox="1"/>
          <p:nvPr/>
        </p:nvSpPr>
        <p:spPr>
          <a:xfrm>
            <a:off x="1463040" y="4069080"/>
            <a:ext cx="4572000" cy="310896"/>
          </a:xfrm>
          <a:prstGeom prst="rect">
            <a:avLst/>
          </a:prstGeom>
          <a:noFill/>
          <a:ln/>
        </p:spPr>
        <p:txBody>
          <a:bodyPr wrap="square" lIns="0" tIns="0" rIns="0" bIns="0" rtlCol="0" anchor="ctr"/>
          <a:lstStyle/>
          <a:p>
            <a:pPr marL="0" indent="0">
              <a:buNone/>
            </a:pPr>
            <a:r>
              <a:rPr lang="en-US" sz="1550" b="1" dirty="0">
                <a:solidFill>
                  <a:srgbClr val="14303D"/>
                </a:solidFill>
                <a:latin typeface="Calibri" pitchFamily="34" charset="0"/>
                <a:ea typeface="Calibri" pitchFamily="34" charset="-122"/>
                <a:cs typeface="Calibri" pitchFamily="34" charset="-120"/>
              </a:rPr>
              <a:t>Not a duplicate</a:t>
            </a:r>
            <a:endParaRPr lang="en-US" sz="1550" dirty="0"/>
          </a:p>
        </p:txBody>
      </p:sp>
      <p:sp>
        <p:nvSpPr>
          <p:cNvPr id="17" name="Text 15"/>
          <p:cNvSpPr txBox="1"/>
          <p:nvPr/>
        </p:nvSpPr>
        <p:spPr>
          <a:xfrm>
            <a:off x="1463040" y="4407408"/>
            <a:ext cx="6400800" cy="310896"/>
          </a:xfrm>
          <a:prstGeom prst="rect">
            <a:avLst/>
          </a:prstGeom>
          <a:noFill/>
          <a:ln/>
        </p:spPr>
        <p:txBody>
          <a:bodyPr wrap="square" lIns="0" tIns="0" rIns="0" bIns="0" rtlCol="0" anchor="ctr"/>
          <a:lstStyle/>
          <a:p>
            <a:pPr marL="0" indent="0">
              <a:buNone/>
            </a:pPr>
            <a:r>
              <a:rPr lang="en-US" sz="1250" dirty="0">
                <a:solidFill>
                  <a:srgbClr val="55697A"/>
                </a:solidFill>
                <a:latin typeface="Calibri" pitchFamily="34" charset="0"/>
                <a:ea typeface="Calibri" pitchFamily="34" charset="-122"/>
                <a:cs typeface="Calibri" pitchFamily="34" charset="-120"/>
              </a:rPr>
              <a:t>semantic similarity check against tests already executed</a:t>
            </a:r>
            <a:endParaRPr lang="en-US" sz="1250" dirty="0"/>
          </a:p>
        </p:txBody>
      </p:sp>
      <p:sp>
        <p:nvSpPr>
          <p:cNvPr id="18" name="Shape 16"/>
          <p:cNvSpPr/>
          <p:nvPr/>
        </p:nvSpPr>
        <p:spPr>
          <a:xfrm>
            <a:off x="548640" y="4946904"/>
            <a:ext cx="11137392" cy="914400"/>
          </a:xfrm>
          <a:prstGeom prst="roundRect">
            <a:avLst>
              <a:gd name="adj" fmla="val 6000"/>
            </a:avLst>
          </a:prstGeom>
          <a:solidFill>
            <a:srgbClr val="FFFFFF"/>
          </a:solidFill>
          <a:ln w="12700">
            <a:solidFill>
              <a:srgbClr val="D5E0E5"/>
            </a:solidFill>
            <a:prstDash val="solid"/>
          </a:ln>
          <a:effectLst>
            <a:outerShdw blurRad="101600" dist="12700" dir="5400000" algn="bl" rotWithShape="0">
              <a:srgbClr val="14303D">
                <a:alpha val="7000"/>
              </a:srgbClr>
            </a:outerShdw>
          </a:effectLst>
        </p:spPr>
        <p:txBody>
          <a:bodyPr/>
          <a:lstStyle/>
          <a:p>
            <a:endParaRPr lang="en-US"/>
          </a:p>
        </p:txBody>
      </p:sp>
      <p:sp>
        <p:nvSpPr>
          <p:cNvPr id="19" name="Shape 17"/>
          <p:cNvSpPr/>
          <p:nvPr/>
        </p:nvSpPr>
        <p:spPr>
          <a:xfrm>
            <a:off x="868680" y="5202936"/>
            <a:ext cx="402336" cy="402336"/>
          </a:xfrm>
          <a:prstGeom prst="ellipse">
            <a:avLst/>
          </a:prstGeom>
          <a:solidFill>
            <a:srgbClr val="0B6A8F"/>
          </a:solidFill>
          <a:ln w="12700">
            <a:solidFill>
              <a:srgbClr val="0B6A8F"/>
            </a:solidFill>
            <a:prstDash val="solid"/>
          </a:ln>
        </p:spPr>
        <p:txBody>
          <a:bodyPr/>
          <a:lstStyle/>
          <a:p>
            <a:endParaRPr lang="en-US"/>
          </a:p>
        </p:txBody>
      </p:sp>
      <p:sp>
        <p:nvSpPr>
          <p:cNvPr id="20" name="Text 18"/>
          <p:cNvSpPr txBox="1"/>
          <p:nvPr/>
        </p:nvSpPr>
        <p:spPr>
          <a:xfrm>
            <a:off x="868680" y="5202936"/>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9"/>
          <p:cNvSpPr txBox="1"/>
          <p:nvPr/>
        </p:nvSpPr>
        <p:spPr>
          <a:xfrm>
            <a:off x="1463040" y="5093208"/>
            <a:ext cx="4572000" cy="310896"/>
          </a:xfrm>
          <a:prstGeom prst="rect">
            <a:avLst/>
          </a:prstGeom>
          <a:noFill/>
          <a:ln/>
        </p:spPr>
        <p:txBody>
          <a:bodyPr wrap="square" lIns="0" tIns="0" rIns="0" bIns="0" rtlCol="0" anchor="ctr"/>
          <a:lstStyle/>
          <a:p>
            <a:pPr marL="0" indent="0">
              <a:buNone/>
            </a:pPr>
            <a:r>
              <a:rPr lang="en-US" sz="1550" b="1" dirty="0">
                <a:solidFill>
                  <a:srgbClr val="14303D"/>
                </a:solidFill>
                <a:latin typeface="Calibri" pitchFamily="34" charset="0"/>
                <a:ea typeface="Calibri" pitchFamily="34" charset="-122"/>
                <a:cs typeface="Calibri" pitchFamily="34" charset="-120"/>
              </a:rPr>
              <a:t>Preconditions must be reachable</a:t>
            </a:r>
            <a:endParaRPr lang="en-US" sz="1550" dirty="0"/>
          </a:p>
        </p:txBody>
      </p:sp>
      <p:sp>
        <p:nvSpPr>
          <p:cNvPr id="22" name="Text 20"/>
          <p:cNvSpPr txBox="1"/>
          <p:nvPr/>
        </p:nvSpPr>
        <p:spPr>
          <a:xfrm>
            <a:off x="1463040" y="5431536"/>
            <a:ext cx="6400800" cy="310896"/>
          </a:xfrm>
          <a:prstGeom prst="rect">
            <a:avLst/>
          </a:prstGeom>
          <a:noFill/>
          <a:ln/>
        </p:spPr>
        <p:txBody>
          <a:bodyPr wrap="square" lIns="0" tIns="0" rIns="0" bIns="0" rtlCol="0" anchor="ctr"/>
          <a:lstStyle/>
          <a:p>
            <a:pPr marL="0" indent="0">
              <a:buNone/>
            </a:pPr>
            <a:r>
              <a:rPr lang="en-US" sz="1250" dirty="0">
                <a:solidFill>
                  <a:srgbClr val="55697A"/>
                </a:solidFill>
                <a:latin typeface="Calibri" pitchFamily="34" charset="0"/>
                <a:ea typeface="Calibri" pitchFamily="34" charset="-122"/>
                <a:cs typeface="Calibri" pitchFamily="34" charset="-120"/>
              </a:rPr>
              <a:t>no test that depends on a state nobody can create</a:t>
            </a:r>
            <a:endParaRPr lang="en-US" sz="1250" dirty="0"/>
          </a:p>
        </p:txBody>
      </p:sp>
      <p:sp>
        <p:nvSpPr>
          <p:cNvPr id="23" name="Shape 21"/>
          <p:cNvSpPr/>
          <p:nvPr/>
        </p:nvSpPr>
        <p:spPr>
          <a:xfrm>
            <a:off x="548640" y="6035040"/>
            <a:ext cx="11137392" cy="566928"/>
          </a:xfrm>
          <a:prstGeom prst="roundRect">
            <a:avLst>
              <a:gd name="adj" fmla="val 9677"/>
            </a:avLst>
          </a:prstGeom>
          <a:solidFill>
            <a:srgbClr val="14303D"/>
          </a:solidFill>
          <a:ln w="12700">
            <a:solidFill>
              <a:srgbClr val="D5E0E5"/>
            </a:solidFill>
            <a:prstDash val="solid"/>
          </a:ln>
          <a:effectLst>
            <a:outerShdw blurRad="101600" dist="12700" dir="5400000" algn="bl" rotWithShape="0">
              <a:srgbClr val="14303D">
                <a:alpha val="7000"/>
              </a:srgbClr>
            </a:outerShdw>
          </a:effectLst>
        </p:spPr>
        <p:txBody>
          <a:bodyPr/>
          <a:lstStyle/>
          <a:p>
            <a:endParaRPr lang="en-US"/>
          </a:p>
        </p:txBody>
      </p:sp>
      <p:sp>
        <p:nvSpPr>
          <p:cNvPr id="24" name="Text 22"/>
          <p:cNvSpPr txBox="1"/>
          <p:nvPr/>
        </p:nvSpPr>
        <p:spPr>
          <a:xfrm>
            <a:off x="914400" y="6035040"/>
            <a:ext cx="10424160" cy="566928"/>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Three rejections and the best effort is accepted with a recorded degradation. A round never returns nothing.</a:t>
            </a:r>
            <a:endParaRPr lang="en-US" sz="1300" dirty="0"/>
          </a:p>
        </p:txBody>
      </p:sp>
      <p:sp>
        <p:nvSpPr>
          <p:cNvPr id="25" name="Text 23"/>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900" dirty="0">
                <a:solidFill>
                  <a:srgbClr val="55697A"/>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303D"/>
        </a:solidFill>
        <a:effectLst/>
      </p:bgPr>
    </p:bg>
    <p:spTree>
      <p:nvGrpSpPr>
        <p:cNvPr id="1" name=""/>
        <p:cNvGrpSpPr/>
        <p:nvPr/>
      </p:nvGrpSpPr>
      <p:grpSpPr>
        <a:xfrm>
          <a:off x="0" y="0"/>
          <a:ext cx="0" cy="0"/>
          <a:chOff x="0" y="0"/>
          <a:chExt cx="0" cy="0"/>
        </a:xfrm>
      </p:grpSpPr>
      <p:sp>
        <p:nvSpPr>
          <p:cNvPr id="2" name="Text 0"/>
          <p:cNvSpPr txBox="1"/>
          <p:nvPr/>
        </p:nvSpPr>
        <p:spPr>
          <a:xfrm>
            <a:off x="914400" y="1737360"/>
            <a:ext cx="5029200" cy="1554480"/>
          </a:xfrm>
          <a:prstGeom prst="rect">
            <a:avLst/>
          </a:prstGeom>
          <a:noFill/>
          <a:ln/>
        </p:spPr>
        <p:txBody>
          <a:bodyPr wrap="square" lIns="0" tIns="0" rIns="0" bIns="0" rtlCol="0" anchor="ctr"/>
          <a:lstStyle/>
          <a:p>
            <a:pPr marL="0" indent="0">
              <a:buNone/>
            </a:pPr>
            <a:r>
              <a:rPr lang="en-US" sz="9600" b="1" dirty="0">
                <a:solidFill>
                  <a:srgbClr val="A9502C"/>
                </a:solidFill>
                <a:latin typeface="Cambria" pitchFamily="34" charset="0"/>
                <a:ea typeface="Cambria" pitchFamily="34" charset="-122"/>
                <a:cs typeface="Cambria" pitchFamily="34" charset="-120"/>
              </a:rPr>
              <a:t>16%</a:t>
            </a:r>
            <a:endParaRPr lang="en-US" sz="9600" dirty="0"/>
          </a:p>
        </p:txBody>
      </p:sp>
      <p:sp>
        <p:nvSpPr>
          <p:cNvPr id="3" name="Text 1"/>
          <p:cNvSpPr txBox="1"/>
          <p:nvPr/>
        </p:nvSpPr>
        <p:spPr>
          <a:xfrm>
            <a:off x="914400" y="3383280"/>
            <a:ext cx="4846320" cy="1371600"/>
          </a:xfrm>
          <a:prstGeom prst="rect">
            <a:avLst/>
          </a:prstGeom>
          <a:noFill/>
          <a:ln/>
        </p:spPr>
        <p:txBody>
          <a:bodyPr wrap="square" lIns="0" tIns="0" rIns="0" bIns="0" rtlCol="0" anchor="ctr"/>
          <a:lstStyle/>
          <a:p>
            <a:pPr marL="0" indent="0">
              <a:lnSpc>
                <a:spcPts val="2400"/>
              </a:lnSpc>
              <a:buNone/>
            </a:pPr>
            <a:r>
              <a:rPr lang="en-US" sz="1700" dirty="0">
                <a:solidFill>
                  <a:srgbClr val="FFFFFF"/>
                </a:solidFill>
                <a:latin typeface="Calibri" pitchFamily="34" charset="0"/>
                <a:ea typeface="Calibri" pitchFamily="34" charset="-122"/>
                <a:cs typeface="Calibri" pitchFamily="34" charset="-120"/>
              </a:rPr>
              <a:t>of proposals named a screen that really existed, under the first planner design.</a:t>
            </a:r>
            <a:endParaRPr lang="en-US" sz="1700" dirty="0"/>
          </a:p>
        </p:txBody>
      </p:sp>
      <p:sp>
        <p:nvSpPr>
          <p:cNvPr id="4" name="Shape 2"/>
          <p:cNvSpPr/>
          <p:nvPr/>
        </p:nvSpPr>
        <p:spPr>
          <a:xfrm>
            <a:off x="6492240" y="1920240"/>
            <a:ext cx="4754880" cy="2743200"/>
          </a:xfrm>
          <a:prstGeom prst="roundRect">
            <a:avLst>
              <a:gd name="adj" fmla="val 2000"/>
            </a:avLst>
          </a:prstGeom>
          <a:solidFill>
            <a:srgbClr val="FFFFFF"/>
          </a:solidFill>
          <a:ln w="12700">
            <a:solidFill>
              <a:srgbClr val="D5E0E5"/>
            </a:solidFill>
            <a:prstDash val="solid"/>
          </a:ln>
          <a:effectLst>
            <a:outerShdw blurRad="101600" dist="12700" dir="5400000" algn="bl" rotWithShape="0">
              <a:srgbClr val="14303D">
                <a:alpha val="7000"/>
              </a:srgbClr>
            </a:outerShdw>
          </a:effectLst>
        </p:spPr>
        <p:txBody>
          <a:bodyPr/>
          <a:lstStyle/>
          <a:p>
            <a:endParaRPr lang="en-US"/>
          </a:p>
        </p:txBody>
      </p:sp>
      <p:sp>
        <p:nvSpPr>
          <p:cNvPr id="5" name="Text 3"/>
          <p:cNvSpPr txBox="1"/>
          <p:nvPr/>
        </p:nvSpPr>
        <p:spPr>
          <a:xfrm>
            <a:off x="6858000" y="2148840"/>
            <a:ext cx="4023360" cy="320040"/>
          </a:xfrm>
          <a:prstGeom prst="rect">
            <a:avLst/>
          </a:prstGeom>
          <a:noFill/>
          <a:ln/>
        </p:spPr>
        <p:txBody>
          <a:bodyPr wrap="square" lIns="0" tIns="0" rIns="0" bIns="0" rtlCol="0" anchor="ctr"/>
          <a:lstStyle/>
          <a:p>
            <a:pPr marL="0" indent="0">
              <a:buNone/>
            </a:pPr>
            <a:r>
              <a:rPr lang="en-US" sz="1200" b="1" kern="0" spc="120" dirty="0">
                <a:solidFill>
                  <a:srgbClr val="0B6A8F"/>
                </a:solidFill>
                <a:latin typeface="Calibri" pitchFamily="34" charset="0"/>
                <a:ea typeface="Calibri" pitchFamily="34" charset="-122"/>
                <a:cs typeface="Calibri" pitchFamily="34" charset="-120"/>
              </a:rPr>
              <a:t>The cause was structural</a:t>
            </a:r>
            <a:endParaRPr lang="en-US" sz="1200" dirty="0"/>
          </a:p>
        </p:txBody>
      </p:sp>
      <p:sp>
        <p:nvSpPr>
          <p:cNvPr id="6" name="Text 4"/>
          <p:cNvSpPr txBox="1"/>
          <p:nvPr/>
        </p:nvSpPr>
        <p:spPr>
          <a:xfrm>
            <a:off x="6858000" y="2542032"/>
            <a:ext cx="4069080" cy="1371600"/>
          </a:xfrm>
          <a:prstGeom prst="rect">
            <a:avLst/>
          </a:prstGeom>
          <a:noFill/>
          <a:ln/>
        </p:spPr>
        <p:txBody>
          <a:bodyPr wrap="square" lIns="0" tIns="0" rIns="0" bIns="0" rtlCol="0" anchor="ctr"/>
          <a:lstStyle/>
          <a:p>
            <a:pPr marL="0" indent="0">
              <a:lnSpc>
                <a:spcPts val="1800"/>
              </a:lnSpc>
              <a:buNone/>
            </a:pPr>
            <a:r>
              <a:rPr lang="en-US" sz="1350" dirty="0">
                <a:solidFill>
                  <a:srgbClr val="14303D"/>
                </a:solidFill>
                <a:latin typeface="Calibri" pitchFamily="34" charset="0"/>
                <a:ea typeface="Calibri" pitchFamily="34" charset="-122"/>
                <a:cs typeface="Calibri" pitchFamily="34" charset="-120"/>
              </a:rPr>
              <a:t>The old planner chose what to fetch next without having read what it just fetched. Only a one line note came back.</a:t>
            </a:r>
            <a:endParaRPr lang="en-US" sz="1350" dirty="0"/>
          </a:p>
        </p:txBody>
      </p:sp>
      <p:sp>
        <p:nvSpPr>
          <p:cNvPr id="7" name="Text 5"/>
          <p:cNvSpPr txBox="1"/>
          <p:nvPr/>
        </p:nvSpPr>
        <p:spPr>
          <a:xfrm>
            <a:off x="6858000" y="3931920"/>
            <a:ext cx="4069080" cy="640080"/>
          </a:xfrm>
          <a:prstGeom prst="rect">
            <a:avLst/>
          </a:prstGeom>
          <a:noFill/>
          <a:ln/>
        </p:spPr>
        <p:txBody>
          <a:bodyPr wrap="square" lIns="0" tIns="0" rIns="0" bIns="0" rtlCol="0" anchor="ctr"/>
          <a:lstStyle/>
          <a:p>
            <a:pPr marL="0" indent="0">
              <a:lnSpc>
                <a:spcPts val="1800"/>
              </a:lnSpc>
              <a:buNone/>
            </a:pPr>
            <a:r>
              <a:rPr lang="en-US" sz="1400" b="1" dirty="0">
                <a:solidFill>
                  <a:srgbClr val="1E6B45"/>
                </a:solidFill>
                <a:latin typeface="Calibri" pitchFamily="34" charset="0"/>
                <a:ea typeface="Calibri" pitchFamily="34" charset="-122"/>
                <a:cs typeface="Calibri" pitchFamily="34" charset="-120"/>
              </a:rPr>
              <a:t>After the redesign: one rejection across eight test cases.</a:t>
            </a:r>
            <a:endParaRPr lang="en-US" sz="1400" dirty="0"/>
          </a:p>
        </p:txBody>
      </p:sp>
      <p:sp>
        <p:nvSpPr>
          <p:cNvPr id="8" name="Text 6"/>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900" dirty="0">
                <a:solidFill>
                  <a:srgbClr val="55697A"/>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8F9"/>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9052560" cy="658368"/>
          </a:xfrm>
          <a:prstGeom prst="rect">
            <a:avLst/>
          </a:prstGeom>
          <a:noFill/>
          <a:ln/>
        </p:spPr>
        <p:txBody>
          <a:bodyPr wrap="square" lIns="0" tIns="0" rIns="0" bIns="0" rtlCol="0" anchor="ctr"/>
          <a:lstStyle/>
          <a:p>
            <a:pPr marL="0" indent="0">
              <a:buNone/>
            </a:pPr>
            <a:r>
              <a:rPr lang="en-US" sz="3000" b="1" dirty="0">
                <a:solidFill>
                  <a:srgbClr val="14303D"/>
                </a:solidFill>
                <a:latin typeface="Cambria" pitchFamily="34" charset="0"/>
                <a:ea typeface="Cambria" pitchFamily="34" charset="-122"/>
                <a:cs typeface="Cambria" pitchFamily="34" charset="-120"/>
              </a:rPr>
              <a:t>The Android agent: driving a real handset</a:t>
            </a:r>
            <a:endParaRPr lang="en-US" sz="3000" dirty="0"/>
          </a:p>
        </p:txBody>
      </p:sp>
      <p:sp>
        <p:nvSpPr>
          <p:cNvPr id="3" name="Text 1"/>
          <p:cNvSpPr txBox="1"/>
          <p:nvPr/>
        </p:nvSpPr>
        <p:spPr>
          <a:xfrm>
            <a:off x="548640" y="1133856"/>
            <a:ext cx="10424160" cy="347472"/>
          </a:xfrm>
          <a:prstGeom prst="rect">
            <a:avLst/>
          </a:prstGeom>
          <a:noFill/>
          <a:ln/>
        </p:spPr>
        <p:txBody>
          <a:bodyPr wrap="square" lIns="0" tIns="0" rIns="0" bIns="0" rtlCol="0" anchor="ctr"/>
          <a:lstStyle/>
          <a:p>
            <a:pPr marL="0" indent="0">
              <a:buNone/>
            </a:pPr>
            <a:r>
              <a:rPr lang="en-US" sz="1450" dirty="0">
                <a:solidFill>
                  <a:srgbClr val="55697A"/>
                </a:solidFill>
                <a:latin typeface="Calibri" pitchFamily="34" charset="0"/>
                <a:ea typeface="Calibri" pitchFamily="34" charset="-122"/>
                <a:cs typeface="Calibri" pitchFamily="34" charset="-120"/>
              </a:rPr>
              <a:t>Built on mobilerun, over the Android Debug Bridge and the accessibility service.</a:t>
            </a:r>
            <a:endParaRPr lang="en-US" sz="1450" dirty="0"/>
          </a:p>
        </p:txBody>
      </p:sp>
      <p:sp>
        <p:nvSpPr>
          <p:cNvPr id="4" name="Shape 2"/>
          <p:cNvSpPr/>
          <p:nvPr/>
        </p:nvSpPr>
        <p:spPr>
          <a:xfrm>
            <a:off x="548640" y="1837944"/>
            <a:ext cx="11137392" cy="603504"/>
          </a:xfrm>
          <a:prstGeom prst="rect">
            <a:avLst/>
          </a:prstGeom>
          <a:solidFill>
            <a:srgbClr val="EDF3F5"/>
          </a:solidFill>
          <a:ln w="12700">
            <a:solidFill>
              <a:srgbClr val="EDF3F5"/>
            </a:solidFill>
            <a:prstDash val="solid"/>
          </a:ln>
        </p:spPr>
        <p:txBody>
          <a:bodyPr/>
          <a:lstStyle/>
          <a:p>
            <a:endParaRPr lang="en-US"/>
          </a:p>
        </p:txBody>
      </p:sp>
      <p:sp>
        <p:nvSpPr>
          <p:cNvPr id="5" name="Text 3"/>
          <p:cNvSpPr txBox="1"/>
          <p:nvPr/>
        </p:nvSpPr>
        <p:spPr>
          <a:xfrm>
            <a:off x="749808" y="1874520"/>
            <a:ext cx="3840480" cy="530352"/>
          </a:xfrm>
          <a:prstGeom prst="rect">
            <a:avLst/>
          </a:prstGeom>
          <a:noFill/>
          <a:ln/>
        </p:spPr>
        <p:txBody>
          <a:bodyPr wrap="square" lIns="0" tIns="0" rIns="0" bIns="0" rtlCol="0" anchor="ctr"/>
          <a:lstStyle/>
          <a:p>
            <a:pPr marL="0" indent="0">
              <a:buNone/>
            </a:pPr>
            <a:r>
              <a:rPr lang="en-US" sz="1350" b="1" dirty="0">
                <a:solidFill>
                  <a:srgbClr val="0B6A8F"/>
                </a:solidFill>
                <a:latin typeface="Consolas" pitchFamily="34" charset="0"/>
                <a:ea typeface="Consolas" pitchFamily="34" charset="-122"/>
                <a:cs typeface="Consolas" pitchFamily="34" charset="-120"/>
              </a:rPr>
              <a:t>MobileAgent + AndroidDriver</a:t>
            </a:r>
            <a:endParaRPr lang="en-US" sz="1350" dirty="0"/>
          </a:p>
        </p:txBody>
      </p:sp>
      <p:sp>
        <p:nvSpPr>
          <p:cNvPr id="6" name="Text 4"/>
          <p:cNvSpPr txBox="1"/>
          <p:nvPr/>
        </p:nvSpPr>
        <p:spPr>
          <a:xfrm>
            <a:off x="4681728" y="1874520"/>
            <a:ext cx="6793992" cy="530352"/>
          </a:xfrm>
          <a:prstGeom prst="rect">
            <a:avLst/>
          </a:prstGeom>
          <a:noFill/>
          <a:ln/>
        </p:spPr>
        <p:txBody>
          <a:bodyPr wrap="square" lIns="0" tIns="0" rIns="0" bIns="0" rtlCol="0" anchor="ctr"/>
          <a:lstStyle/>
          <a:p>
            <a:pPr marL="0" indent="0">
              <a:buNone/>
            </a:pPr>
            <a:r>
              <a:rPr lang="en-US" sz="1350" dirty="0">
                <a:solidFill>
                  <a:srgbClr val="14303D"/>
                </a:solidFill>
                <a:latin typeface="Calibri" pitchFamily="34" charset="0"/>
                <a:ea typeface="Calibri" pitchFamily="34" charset="-122"/>
                <a:cs typeface="Calibri" pitchFamily="34" charset="-120"/>
              </a:rPr>
              <a:t>the action loop and the device connection</a:t>
            </a:r>
            <a:endParaRPr lang="en-US" sz="1350" dirty="0"/>
          </a:p>
        </p:txBody>
      </p:sp>
      <p:sp>
        <p:nvSpPr>
          <p:cNvPr id="7" name="Text 5"/>
          <p:cNvSpPr txBox="1"/>
          <p:nvPr/>
        </p:nvSpPr>
        <p:spPr>
          <a:xfrm>
            <a:off x="749808" y="2478024"/>
            <a:ext cx="3840480" cy="530352"/>
          </a:xfrm>
          <a:prstGeom prst="rect">
            <a:avLst/>
          </a:prstGeom>
          <a:noFill/>
          <a:ln/>
        </p:spPr>
        <p:txBody>
          <a:bodyPr wrap="square" lIns="0" tIns="0" rIns="0" bIns="0" rtlCol="0" anchor="ctr"/>
          <a:lstStyle/>
          <a:p>
            <a:pPr marL="0" indent="0">
              <a:buNone/>
            </a:pPr>
            <a:r>
              <a:rPr lang="en-US" sz="1350" b="1" dirty="0">
                <a:solidFill>
                  <a:srgbClr val="0B6A8F"/>
                </a:solidFill>
                <a:latin typeface="Consolas" pitchFamily="34" charset="0"/>
                <a:ea typeface="Consolas" pitchFamily="34" charset="-122"/>
                <a:cs typeface="Consolas" pitchFamily="34" charset="-120"/>
              </a:rPr>
              <a:t>accessibility tree</a:t>
            </a:r>
            <a:endParaRPr lang="en-US" sz="1350" dirty="0"/>
          </a:p>
        </p:txBody>
      </p:sp>
      <p:sp>
        <p:nvSpPr>
          <p:cNvPr id="8" name="Text 6"/>
          <p:cNvSpPr txBox="1"/>
          <p:nvPr/>
        </p:nvSpPr>
        <p:spPr>
          <a:xfrm>
            <a:off x="4681728" y="2478024"/>
            <a:ext cx="6793992" cy="530352"/>
          </a:xfrm>
          <a:prstGeom prst="rect">
            <a:avLst/>
          </a:prstGeom>
          <a:noFill/>
          <a:ln/>
        </p:spPr>
        <p:txBody>
          <a:bodyPr wrap="square" lIns="0" tIns="0" rIns="0" bIns="0" rtlCol="0" anchor="ctr"/>
          <a:lstStyle/>
          <a:p>
            <a:pPr marL="0" indent="0">
              <a:buNone/>
            </a:pPr>
            <a:r>
              <a:rPr lang="en-US" sz="1350" dirty="0">
                <a:solidFill>
                  <a:srgbClr val="14303D"/>
                </a:solidFill>
                <a:latin typeface="Calibri" pitchFamily="34" charset="0"/>
                <a:ea typeface="Calibri" pitchFamily="34" charset="-122"/>
                <a:cs typeface="Calibri" pitchFamily="34" charset="-120"/>
              </a:rPr>
              <a:t>every control with its role, text and content description</a:t>
            </a:r>
            <a:endParaRPr lang="en-US" sz="1350" dirty="0"/>
          </a:p>
        </p:txBody>
      </p:sp>
      <p:sp>
        <p:nvSpPr>
          <p:cNvPr id="9" name="Shape 7"/>
          <p:cNvSpPr/>
          <p:nvPr/>
        </p:nvSpPr>
        <p:spPr>
          <a:xfrm>
            <a:off x="548640" y="3044952"/>
            <a:ext cx="11137392" cy="603504"/>
          </a:xfrm>
          <a:prstGeom prst="rect">
            <a:avLst/>
          </a:prstGeom>
          <a:solidFill>
            <a:srgbClr val="EDF3F5"/>
          </a:solidFill>
          <a:ln w="12700">
            <a:solidFill>
              <a:srgbClr val="EDF3F5"/>
            </a:solidFill>
            <a:prstDash val="solid"/>
          </a:ln>
        </p:spPr>
        <p:txBody>
          <a:bodyPr/>
          <a:lstStyle/>
          <a:p>
            <a:endParaRPr lang="en-US"/>
          </a:p>
        </p:txBody>
      </p:sp>
      <p:sp>
        <p:nvSpPr>
          <p:cNvPr id="10" name="Text 8"/>
          <p:cNvSpPr txBox="1"/>
          <p:nvPr/>
        </p:nvSpPr>
        <p:spPr>
          <a:xfrm>
            <a:off x="749808" y="3081528"/>
            <a:ext cx="3840480" cy="530352"/>
          </a:xfrm>
          <a:prstGeom prst="rect">
            <a:avLst/>
          </a:prstGeom>
          <a:noFill/>
          <a:ln/>
        </p:spPr>
        <p:txBody>
          <a:bodyPr wrap="square" lIns="0" tIns="0" rIns="0" bIns="0" rtlCol="0" anchor="ctr"/>
          <a:lstStyle/>
          <a:p>
            <a:pPr marL="0" indent="0">
              <a:buNone/>
            </a:pPr>
            <a:r>
              <a:rPr lang="en-US" sz="1350" b="1" dirty="0">
                <a:solidFill>
                  <a:srgbClr val="0B6A8F"/>
                </a:solidFill>
                <a:latin typeface="Consolas" pitchFamily="34" charset="0"/>
                <a:ea typeface="Consolas" pitchFamily="34" charset="-122"/>
                <a:cs typeface="Consolas" pitchFamily="34" charset="-120"/>
              </a:rPr>
              <a:t>screenshot each step</a:t>
            </a:r>
            <a:endParaRPr lang="en-US" sz="1350" dirty="0"/>
          </a:p>
        </p:txBody>
      </p:sp>
      <p:sp>
        <p:nvSpPr>
          <p:cNvPr id="11" name="Text 9"/>
          <p:cNvSpPr txBox="1"/>
          <p:nvPr/>
        </p:nvSpPr>
        <p:spPr>
          <a:xfrm>
            <a:off x="4681728" y="3081528"/>
            <a:ext cx="6793992" cy="530352"/>
          </a:xfrm>
          <a:prstGeom prst="rect">
            <a:avLst/>
          </a:prstGeom>
          <a:noFill/>
          <a:ln/>
        </p:spPr>
        <p:txBody>
          <a:bodyPr wrap="square" lIns="0" tIns="0" rIns="0" bIns="0" rtlCol="0" anchor="ctr"/>
          <a:lstStyle/>
          <a:p>
            <a:pPr marL="0" indent="0">
              <a:buNone/>
            </a:pPr>
            <a:r>
              <a:rPr lang="en-US" sz="1350" dirty="0">
                <a:solidFill>
                  <a:srgbClr val="14303D"/>
                </a:solidFill>
                <a:latin typeface="Calibri" pitchFamily="34" charset="0"/>
                <a:ea typeface="Calibri" pitchFamily="34" charset="-122"/>
                <a:cs typeface="Calibri" pitchFamily="34" charset="-120"/>
              </a:rPr>
              <a:t>so the model can ground an action it cannot name</a:t>
            </a:r>
            <a:endParaRPr lang="en-US" sz="1350" dirty="0"/>
          </a:p>
        </p:txBody>
      </p:sp>
      <p:sp>
        <p:nvSpPr>
          <p:cNvPr id="12" name="Text 10"/>
          <p:cNvSpPr txBox="1"/>
          <p:nvPr/>
        </p:nvSpPr>
        <p:spPr>
          <a:xfrm>
            <a:off x="749808" y="3685032"/>
            <a:ext cx="3840480" cy="530352"/>
          </a:xfrm>
          <a:prstGeom prst="rect">
            <a:avLst/>
          </a:prstGeom>
          <a:noFill/>
          <a:ln/>
        </p:spPr>
        <p:txBody>
          <a:bodyPr wrap="square" lIns="0" tIns="0" rIns="0" bIns="0" rtlCol="0" anchor="ctr"/>
          <a:lstStyle/>
          <a:p>
            <a:pPr marL="0" indent="0">
              <a:buNone/>
            </a:pPr>
            <a:r>
              <a:rPr lang="en-US" sz="1350" b="1" dirty="0">
                <a:solidFill>
                  <a:srgbClr val="0B6A8F"/>
                </a:solidFill>
                <a:latin typeface="Consolas" pitchFamily="34" charset="0"/>
                <a:ea typeface="Consolas" pitchFamily="34" charset="-122"/>
                <a:cs typeface="Consolas" pitchFamily="34" charset="-120"/>
              </a:rPr>
              <a:t>RecordUIStateEvent</a:t>
            </a:r>
            <a:endParaRPr lang="en-US" sz="1350" dirty="0"/>
          </a:p>
        </p:txBody>
      </p:sp>
      <p:sp>
        <p:nvSpPr>
          <p:cNvPr id="13" name="Text 11"/>
          <p:cNvSpPr txBox="1"/>
          <p:nvPr/>
        </p:nvSpPr>
        <p:spPr>
          <a:xfrm>
            <a:off x="4681728" y="3685032"/>
            <a:ext cx="6793992" cy="530352"/>
          </a:xfrm>
          <a:prstGeom prst="rect">
            <a:avLst/>
          </a:prstGeom>
          <a:noFill/>
          <a:ln/>
        </p:spPr>
        <p:txBody>
          <a:bodyPr wrap="square" lIns="0" tIns="0" rIns="0" bIns="0" rtlCol="0" anchor="ctr"/>
          <a:lstStyle/>
          <a:p>
            <a:pPr marL="0" indent="0">
              <a:buNone/>
            </a:pPr>
            <a:r>
              <a:rPr lang="en-US" sz="1350" dirty="0">
                <a:solidFill>
                  <a:srgbClr val="14303D"/>
                </a:solidFill>
                <a:latin typeface="Calibri" pitchFamily="34" charset="0"/>
                <a:ea typeface="Calibri" pitchFamily="34" charset="-122"/>
                <a:cs typeface="Calibri" pitchFamily="34" charset="-120"/>
              </a:rPr>
              <a:t>the executor subscribes to the event stream as it runs</a:t>
            </a:r>
            <a:endParaRPr lang="en-US" sz="1350" dirty="0"/>
          </a:p>
        </p:txBody>
      </p:sp>
      <p:sp>
        <p:nvSpPr>
          <p:cNvPr id="14" name="Shape 12"/>
          <p:cNvSpPr/>
          <p:nvPr/>
        </p:nvSpPr>
        <p:spPr>
          <a:xfrm>
            <a:off x="548640" y="4251960"/>
            <a:ext cx="11137392" cy="603504"/>
          </a:xfrm>
          <a:prstGeom prst="rect">
            <a:avLst/>
          </a:prstGeom>
          <a:solidFill>
            <a:srgbClr val="EDF3F5"/>
          </a:solidFill>
          <a:ln w="12700">
            <a:solidFill>
              <a:srgbClr val="EDF3F5"/>
            </a:solidFill>
            <a:prstDash val="solid"/>
          </a:ln>
        </p:spPr>
        <p:txBody>
          <a:bodyPr/>
          <a:lstStyle/>
          <a:p>
            <a:endParaRPr lang="en-US"/>
          </a:p>
        </p:txBody>
      </p:sp>
      <p:sp>
        <p:nvSpPr>
          <p:cNvPr id="15" name="Text 13"/>
          <p:cNvSpPr txBox="1"/>
          <p:nvPr/>
        </p:nvSpPr>
        <p:spPr>
          <a:xfrm>
            <a:off x="749808" y="4288536"/>
            <a:ext cx="3840480" cy="530352"/>
          </a:xfrm>
          <a:prstGeom prst="rect">
            <a:avLst/>
          </a:prstGeom>
          <a:noFill/>
          <a:ln/>
        </p:spPr>
        <p:txBody>
          <a:bodyPr wrap="square" lIns="0" tIns="0" rIns="0" bIns="0" rtlCol="0" anchor="ctr"/>
          <a:lstStyle/>
          <a:p>
            <a:pPr marL="0" indent="0">
              <a:buNone/>
            </a:pPr>
            <a:r>
              <a:rPr lang="en-US" sz="1350" b="1" dirty="0">
                <a:solidFill>
                  <a:srgbClr val="0B6A8F"/>
                </a:solidFill>
                <a:latin typeface="Consolas" pitchFamily="34" charset="0"/>
                <a:ea typeface="Consolas" pitchFamily="34" charset="-122"/>
                <a:cs typeface="Consolas" pitchFamily="34" charset="-120"/>
              </a:rPr>
              <a:t>normalize_ui_state</a:t>
            </a:r>
            <a:endParaRPr lang="en-US" sz="1350" dirty="0"/>
          </a:p>
        </p:txBody>
      </p:sp>
      <p:sp>
        <p:nvSpPr>
          <p:cNvPr id="16" name="Text 14"/>
          <p:cNvSpPr txBox="1"/>
          <p:nvPr/>
        </p:nvSpPr>
        <p:spPr>
          <a:xfrm>
            <a:off x="4681728" y="4288536"/>
            <a:ext cx="6793992" cy="530352"/>
          </a:xfrm>
          <a:prstGeom prst="rect">
            <a:avLst/>
          </a:prstGeom>
          <a:noFill/>
          <a:ln/>
        </p:spPr>
        <p:txBody>
          <a:bodyPr wrap="square" lIns="0" tIns="0" rIns="0" bIns="0" rtlCol="0" anchor="ctr"/>
          <a:lstStyle/>
          <a:p>
            <a:pPr marL="0" indent="0">
              <a:buNone/>
            </a:pPr>
            <a:r>
              <a:rPr lang="en-US" sz="1350" dirty="0">
                <a:solidFill>
                  <a:srgbClr val="14303D"/>
                </a:solidFill>
                <a:latin typeface="Calibri" pitchFamily="34" charset="0"/>
                <a:ea typeface="Calibri" pitchFamily="34" charset="-122"/>
                <a:cs typeface="Calibri" pitchFamily="34" charset="-120"/>
              </a:rPr>
              <a:t>each observed screen is normalised before it reaches the graph</a:t>
            </a:r>
            <a:endParaRPr lang="en-US" sz="1350" dirty="0"/>
          </a:p>
        </p:txBody>
      </p:sp>
      <p:sp>
        <p:nvSpPr>
          <p:cNvPr id="17" name="Shape 15"/>
          <p:cNvSpPr/>
          <p:nvPr/>
        </p:nvSpPr>
        <p:spPr>
          <a:xfrm>
            <a:off x="548640" y="5074920"/>
            <a:ext cx="5440680" cy="1051560"/>
          </a:xfrm>
          <a:prstGeom prst="roundRect">
            <a:avLst>
              <a:gd name="adj" fmla="val 5217"/>
            </a:avLst>
          </a:prstGeom>
          <a:solidFill>
            <a:srgbClr val="FFFFFF"/>
          </a:solidFill>
          <a:ln w="12700">
            <a:solidFill>
              <a:srgbClr val="D5E0E5"/>
            </a:solidFill>
            <a:prstDash val="solid"/>
          </a:ln>
          <a:effectLst>
            <a:outerShdw blurRad="101600" dist="12700" dir="5400000" algn="bl" rotWithShape="0">
              <a:srgbClr val="14303D">
                <a:alpha val="7000"/>
              </a:srgbClr>
            </a:outerShdw>
          </a:effectLst>
        </p:spPr>
        <p:txBody>
          <a:bodyPr/>
          <a:lstStyle/>
          <a:p>
            <a:endParaRPr lang="en-US"/>
          </a:p>
        </p:txBody>
      </p:sp>
      <p:sp>
        <p:nvSpPr>
          <p:cNvPr id="18" name="Text 16"/>
          <p:cNvSpPr txBox="1"/>
          <p:nvPr/>
        </p:nvSpPr>
        <p:spPr>
          <a:xfrm>
            <a:off x="868680" y="5074920"/>
            <a:ext cx="4846320" cy="1051560"/>
          </a:xfrm>
          <a:prstGeom prst="rect">
            <a:avLst/>
          </a:prstGeom>
          <a:noFill/>
          <a:ln/>
        </p:spPr>
        <p:txBody>
          <a:bodyPr wrap="square" lIns="0" tIns="0" rIns="0" bIns="0" rtlCol="0" anchor="ctr"/>
          <a:lstStyle/>
          <a:p>
            <a:pPr marL="0" indent="0">
              <a:lnSpc>
                <a:spcPts val="1900"/>
              </a:lnSpc>
              <a:buNone/>
            </a:pPr>
            <a:r>
              <a:rPr lang="en-US" sz="1400" dirty="0">
                <a:solidFill>
                  <a:srgbClr val="14303D"/>
                </a:solidFill>
                <a:latin typeface="Calibri" pitchFamily="34" charset="0"/>
                <a:ea typeface="Calibri" pitchFamily="34" charset="-122"/>
                <a:cs typeface="Calibri" pitchFamily="34" charset="-120"/>
              </a:rPr>
              <a:t>Controls are addressed by role and name, never by pixel coordinates.</a:t>
            </a:r>
            <a:endParaRPr lang="en-US" sz="1400" dirty="0"/>
          </a:p>
        </p:txBody>
      </p:sp>
      <p:sp>
        <p:nvSpPr>
          <p:cNvPr id="19" name="Shape 17"/>
          <p:cNvSpPr/>
          <p:nvPr/>
        </p:nvSpPr>
        <p:spPr>
          <a:xfrm>
            <a:off x="6263640" y="5074920"/>
            <a:ext cx="5422392" cy="1051560"/>
          </a:xfrm>
          <a:prstGeom prst="roundRect">
            <a:avLst>
              <a:gd name="adj" fmla="val 5217"/>
            </a:avLst>
          </a:prstGeom>
          <a:solidFill>
            <a:srgbClr val="14303D"/>
          </a:solidFill>
          <a:ln w="12700">
            <a:solidFill>
              <a:srgbClr val="D5E0E5"/>
            </a:solidFill>
            <a:prstDash val="solid"/>
          </a:ln>
          <a:effectLst>
            <a:outerShdw blurRad="101600" dist="12700" dir="5400000" algn="bl" rotWithShape="0">
              <a:srgbClr val="14303D">
                <a:alpha val="7000"/>
              </a:srgbClr>
            </a:outerShdw>
          </a:effectLst>
        </p:spPr>
        <p:txBody>
          <a:bodyPr/>
          <a:lstStyle/>
          <a:p>
            <a:endParaRPr lang="en-US"/>
          </a:p>
        </p:txBody>
      </p:sp>
      <p:sp>
        <p:nvSpPr>
          <p:cNvPr id="20" name="Text 18"/>
          <p:cNvSpPr txBox="1"/>
          <p:nvPr/>
        </p:nvSpPr>
        <p:spPr>
          <a:xfrm>
            <a:off x="6583680" y="5074920"/>
            <a:ext cx="4754880" cy="1051560"/>
          </a:xfrm>
          <a:prstGeom prst="rect">
            <a:avLst/>
          </a:prstGeom>
          <a:noFill/>
          <a:ln/>
        </p:spPr>
        <p:txBody>
          <a:bodyPr wrap="square" lIns="0" tIns="0" rIns="0" bIns="0" rtlCol="0" anchor="ctr"/>
          <a:lstStyle/>
          <a:p>
            <a:pPr marL="0" indent="0">
              <a:lnSpc>
                <a:spcPts val="1900"/>
              </a:lnSpc>
              <a:buNone/>
            </a:pPr>
            <a:r>
              <a:rPr lang="en-US" sz="1400" dirty="0">
                <a:solidFill>
                  <a:srgbClr val="FFFFFF"/>
                </a:solidFill>
                <a:latin typeface="Calibri" pitchFamily="34" charset="0"/>
                <a:ea typeface="Calibri" pitchFamily="34" charset="-122"/>
                <a:cs typeface="Calibri" pitchFamily="34" charset="-120"/>
              </a:rPr>
              <a:t>At most 50 device actions per test, about 20 seconds per step.</a:t>
            </a:r>
            <a:endParaRPr lang="en-US" sz="1400" dirty="0"/>
          </a:p>
        </p:txBody>
      </p:sp>
      <p:sp>
        <p:nvSpPr>
          <p:cNvPr id="21" name="Text 19"/>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900" dirty="0">
                <a:solidFill>
                  <a:srgbClr val="55697A"/>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8F9"/>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9052560" cy="658368"/>
          </a:xfrm>
          <a:prstGeom prst="rect">
            <a:avLst/>
          </a:prstGeom>
          <a:noFill/>
          <a:ln/>
        </p:spPr>
        <p:txBody>
          <a:bodyPr wrap="square" lIns="0" tIns="0" rIns="0" bIns="0" rtlCol="0" anchor="ctr"/>
          <a:lstStyle/>
          <a:p>
            <a:pPr marL="0" indent="0">
              <a:buNone/>
            </a:pPr>
            <a:r>
              <a:rPr lang="en-US" sz="3000" b="1" dirty="0">
                <a:solidFill>
                  <a:srgbClr val="14303D"/>
                </a:solidFill>
                <a:latin typeface="Cambria" pitchFamily="34" charset="0"/>
                <a:ea typeface="Cambria" pitchFamily="34" charset="-122"/>
                <a:cs typeface="Cambria" pitchFamily="34" charset="-120"/>
              </a:rPr>
              <a:t>Is this a screen we have seen before?</a:t>
            </a:r>
            <a:endParaRPr lang="en-US" sz="3000" dirty="0"/>
          </a:p>
        </p:txBody>
      </p:sp>
      <p:sp>
        <p:nvSpPr>
          <p:cNvPr id="3" name="Text 1"/>
          <p:cNvSpPr txBox="1"/>
          <p:nvPr/>
        </p:nvSpPr>
        <p:spPr>
          <a:xfrm>
            <a:off x="548640" y="1133856"/>
            <a:ext cx="10424160" cy="347472"/>
          </a:xfrm>
          <a:prstGeom prst="rect">
            <a:avLst/>
          </a:prstGeom>
          <a:noFill/>
          <a:ln/>
        </p:spPr>
        <p:txBody>
          <a:bodyPr wrap="square" lIns="0" tIns="0" rIns="0" bIns="0" rtlCol="0" anchor="ctr"/>
          <a:lstStyle/>
          <a:p>
            <a:pPr marL="0" indent="0">
              <a:buNone/>
            </a:pPr>
            <a:r>
              <a:rPr lang="en-US" sz="1450" dirty="0">
                <a:solidFill>
                  <a:srgbClr val="55697A"/>
                </a:solidFill>
                <a:latin typeface="Calibri" pitchFamily="34" charset="0"/>
                <a:ea typeface="Calibri" pitchFamily="34" charset="-122"/>
                <a:cs typeface="Calibri" pitchFamily="34" charset="-120"/>
              </a:rPr>
              <a:t>Every observation must be matched to the app model or added to it. Five tests, cheapest first.</a:t>
            </a:r>
            <a:endParaRPr lang="en-US" sz="1450" dirty="0"/>
          </a:p>
        </p:txBody>
      </p:sp>
      <p:sp>
        <p:nvSpPr>
          <p:cNvPr id="4" name="Shape 2"/>
          <p:cNvSpPr/>
          <p:nvPr/>
        </p:nvSpPr>
        <p:spPr>
          <a:xfrm>
            <a:off x="548640" y="1965960"/>
            <a:ext cx="11137392" cy="804672"/>
          </a:xfrm>
          <a:prstGeom prst="roundRect">
            <a:avLst>
              <a:gd name="adj" fmla="val 6818"/>
            </a:avLst>
          </a:prstGeom>
          <a:solidFill>
            <a:srgbClr val="FFFFFF"/>
          </a:solidFill>
          <a:ln w="12700">
            <a:solidFill>
              <a:srgbClr val="D5E0E5"/>
            </a:solidFill>
            <a:prstDash val="solid"/>
          </a:ln>
          <a:effectLst>
            <a:outerShdw blurRad="101600" dist="12700" dir="5400000" algn="bl" rotWithShape="0">
              <a:srgbClr val="14303D">
                <a:alpha val="7000"/>
              </a:srgbClr>
            </a:outerShdw>
          </a:effectLst>
        </p:spPr>
        <p:txBody>
          <a:bodyPr/>
          <a:lstStyle/>
          <a:p>
            <a:endParaRPr lang="en-US"/>
          </a:p>
        </p:txBody>
      </p:sp>
      <p:sp>
        <p:nvSpPr>
          <p:cNvPr id="5" name="Shape 3"/>
          <p:cNvSpPr/>
          <p:nvPr/>
        </p:nvSpPr>
        <p:spPr>
          <a:xfrm>
            <a:off x="841248" y="2167128"/>
            <a:ext cx="402336" cy="402336"/>
          </a:xfrm>
          <a:prstGeom prst="ellipse">
            <a:avLst/>
          </a:prstGeom>
          <a:solidFill>
            <a:srgbClr val="0B6A8F"/>
          </a:solidFill>
          <a:ln w="12700">
            <a:solidFill>
              <a:srgbClr val="0B6A8F"/>
            </a:solidFill>
            <a:prstDash val="solid"/>
          </a:ln>
        </p:spPr>
        <p:txBody>
          <a:bodyPr/>
          <a:lstStyle/>
          <a:p>
            <a:endParaRPr lang="en-US"/>
          </a:p>
        </p:txBody>
      </p:sp>
      <p:sp>
        <p:nvSpPr>
          <p:cNvPr id="6" name="Text 4"/>
          <p:cNvSpPr txBox="1"/>
          <p:nvPr/>
        </p:nvSpPr>
        <p:spPr>
          <a:xfrm>
            <a:off x="841248" y="216712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444752" y="2185416"/>
            <a:ext cx="2743200" cy="365760"/>
          </a:xfrm>
          <a:prstGeom prst="rect">
            <a:avLst/>
          </a:prstGeom>
          <a:noFill/>
          <a:ln/>
        </p:spPr>
        <p:txBody>
          <a:bodyPr wrap="square" lIns="0" tIns="0" rIns="0" bIns="0" rtlCol="0" anchor="ctr"/>
          <a:lstStyle/>
          <a:p>
            <a:pPr marL="0" indent="0">
              <a:buNone/>
            </a:pPr>
            <a:r>
              <a:rPr lang="en-US" sz="1450" b="1" dirty="0">
                <a:solidFill>
                  <a:srgbClr val="14303D"/>
                </a:solidFill>
                <a:latin typeface="Calibri" pitchFamily="34" charset="0"/>
                <a:ea typeface="Calibri" pitchFamily="34" charset="-122"/>
                <a:cs typeface="Calibri" pitchFamily="34" charset="-120"/>
              </a:rPr>
              <a:t>Exact signature</a:t>
            </a:r>
            <a:endParaRPr lang="en-US" sz="1450" dirty="0"/>
          </a:p>
        </p:txBody>
      </p:sp>
      <p:sp>
        <p:nvSpPr>
          <p:cNvPr id="8" name="Text 6"/>
          <p:cNvSpPr txBox="1"/>
          <p:nvPr/>
        </p:nvSpPr>
        <p:spPr>
          <a:xfrm>
            <a:off x="4297680" y="2185416"/>
            <a:ext cx="6035040" cy="365760"/>
          </a:xfrm>
          <a:prstGeom prst="rect">
            <a:avLst/>
          </a:prstGeom>
          <a:noFill/>
          <a:ln/>
        </p:spPr>
        <p:txBody>
          <a:bodyPr wrap="square" lIns="0" tIns="0" rIns="0" bIns="0" rtlCol="0" anchor="ctr"/>
          <a:lstStyle/>
          <a:p>
            <a:pPr marL="0" indent="0">
              <a:buNone/>
            </a:pPr>
            <a:r>
              <a:rPr lang="en-US" sz="1250" dirty="0">
                <a:solidFill>
                  <a:srgbClr val="55697A"/>
                </a:solidFill>
                <a:latin typeface="Calibri" pitchFamily="34" charset="0"/>
                <a:ea typeface="Calibri" pitchFamily="34" charset="-122"/>
                <a:cs typeface="Calibri" pitchFamily="34" charset="-120"/>
              </a:rPr>
              <a:t>string comparison of the structural key</a:t>
            </a:r>
            <a:endParaRPr lang="en-US" sz="1250" dirty="0"/>
          </a:p>
        </p:txBody>
      </p:sp>
      <p:sp>
        <p:nvSpPr>
          <p:cNvPr id="9" name="Shape 7"/>
          <p:cNvSpPr/>
          <p:nvPr/>
        </p:nvSpPr>
        <p:spPr>
          <a:xfrm>
            <a:off x="548640" y="2862072"/>
            <a:ext cx="11137392" cy="804672"/>
          </a:xfrm>
          <a:prstGeom prst="roundRect">
            <a:avLst>
              <a:gd name="adj" fmla="val 6818"/>
            </a:avLst>
          </a:prstGeom>
          <a:solidFill>
            <a:srgbClr val="FFFFFF"/>
          </a:solidFill>
          <a:ln w="12700">
            <a:solidFill>
              <a:srgbClr val="D5E0E5"/>
            </a:solidFill>
            <a:prstDash val="solid"/>
          </a:ln>
          <a:effectLst>
            <a:outerShdw blurRad="101600" dist="12700" dir="5400000" algn="bl" rotWithShape="0">
              <a:srgbClr val="14303D">
                <a:alpha val="7000"/>
              </a:srgbClr>
            </a:outerShdw>
          </a:effectLst>
        </p:spPr>
        <p:txBody>
          <a:bodyPr/>
          <a:lstStyle/>
          <a:p>
            <a:endParaRPr lang="en-US"/>
          </a:p>
        </p:txBody>
      </p:sp>
      <p:sp>
        <p:nvSpPr>
          <p:cNvPr id="10" name="Shape 8"/>
          <p:cNvSpPr/>
          <p:nvPr/>
        </p:nvSpPr>
        <p:spPr>
          <a:xfrm>
            <a:off x="841248" y="3063240"/>
            <a:ext cx="402336" cy="402336"/>
          </a:xfrm>
          <a:prstGeom prst="ellipse">
            <a:avLst/>
          </a:prstGeom>
          <a:solidFill>
            <a:srgbClr val="0B6A8F"/>
          </a:solidFill>
          <a:ln w="12700">
            <a:solidFill>
              <a:srgbClr val="0B6A8F"/>
            </a:solidFill>
            <a:prstDash val="solid"/>
          </a:ln>
        </p:spPr>
        <p:txBody>
          <a:bodyPr/>
          <a:lstStyle/>
          <a:p>
            <a:endParaRPr lang="en-US"/>
          </a:p>
        </p:txBody>
      </p:sp>
      <p:sp>
        <p:nvSpPr>
          <p:cNvPr id="11" name="Text 9"/>
          <p:cNvSpPr txBox="1"/>
          <p:nvPr/>
        </p:nvSpPr>
        <p:spPr>
          <a:xfrm>
            <a:off x="841248" y="3063240"/>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1444752" y="3081528"/>
            <a:ext cx="2743200" cy="365760"/>
          </a:xfrm>
          <a:prstGeom prst="rect">
            <a:avLst/>
          </a:prstGeom>
          <a:noFill/>
          <a:ln/>
        </p:spPr>
        <p:txBody>
          <a:bodyPr wrap="square" lIns="0" tIns="0" rIns="0" bIns="0" rtlCol="0" anchor="ctr"/>
          <a:lstStyle/>
          <a:p>
            <a:pPr marL="0" indent="0">
              <a:buNone/>
            </a:pPr>
            <a:r>
              <a:rPr lang="en-US" sz="1450" b="1" dirty="0">
                <a:solidFill>
                  <a:srgbClr val="14303D"/>
                </a:solidFill>
                <a:latin typeface="Calibri" pitchFamily="34" charset="0"/>
                <a:ea typeface="Calibri" pitchFamily="34" charset="-122"/>
                <a:cs typeface="Calibri" pitchFamily="34" charset="-120"/>
              </a:rPr>
              <a:t>Structural Jaccard</a:t>
            </a:r>
            <a:endParaRPr lang="en-US" sz="1450" dirty="0"/>
          </a:p>
        </p:txBody>
      </p:sp>
      <p:sp>
        <p:nvSpPr>
          <p:cNvPr id="13" name="Text 11"/>
          <p:cNvSpPr txBox="1"/>
          <p:nvPr/>
        </p:nvSpPr>
        <p:spPr>
          <a:xfrm>
            <a:off x="4297680" y="3081528"/>
            <a:ext cx="6035040" cy="365760"/>
          </a:xfrm>
          <a:prstGeom prst="rect">
            <a:avLst/>
          </a:prstGeom>
          <a:noFill/>
          <a:ln/>
        </p:spPr>
        <p:txBody>
          <a:bodyPr wrap="square" lIns="0" tIns="0" rIns="0" bIns="0" rtlCol="0" anchor="ctr"/>
          <a:lstStyle/>
          <a:p>
            <a:pPr marL="0" indent="0">
              <a:buNone/>
            </a:pPr>
            <a:r>
              <a:rPr lang="en-US" sz="1250" dirty="0">
                <a:solidFill>
                  <a:srgbClr val="55697A"/>
                </a:solidFill>
                <a:latin typeface="Calibri" pitchFamily="34" charset="0"/>
                <a:ea typeface="Calibri" pitchFamily="34" charset="-122"/>
                <a:cs typeface="Calibri" pitchFamily="34" charset="-120"/>
              </a:rPr>
              <a:t>tolerates dynamic chrome such as counters and timestamps</a:t>
            </a:r>
            <a:endParaRPr lang="en-US" sz="1250" dirty="0"/>
          </a:p>
        </p:txBody>
      </p:sp>
      <p:sp>
        <p:nvSpPr>
          <p:cNvPr id="14" name="Text 12"/>
          <p:cNvSpPr txBox="1"/>
          <p:nvPr/>
        </p:nvSpPr>
        <p:spPr>
          <a:xfrm>
            <a:off x="10515600" y="3081528"/>
            <a:ext cx="914400" cy="365760"/>
          </a:xfrm>
          <a:prstGeom prst="rect">
            <a:avLst/>
          </a:prstGeom>
          <a:noFill/>
          <a:ln/>
        </p:spPr>
        <p:txBody>
          <a:bodyPr wrap="square" lIns="0" tIns="0" rIns="0" bIns="0" rtlCol="0" anchor="ctr"/>
          <a:lstStyle/>
          <a:p>
            <a:pPr marL="0" indent="0" algn="r">
              <a:buNone/>
            </a:pPr>
            <a:r>
              <a:rPr lang="en-US" sz="1300" b="1" dirty="0">
                <a:solidFill>
                  <a:srgbClr val="A9502C"/>
                </a:solidFill>
                <a:latin typeface="Consolas" pitchFamily="34" charset="0"/>
                <a:ea typeface="Consolas" pitchFamily="34" charset="-122"/>
                <a:cs typeface="Consolas" pitchFamily="34" charset="-120"/>
              </a:rPr>
              <a:t>0.90</a:t>
            </a:r>
            <a:endParaRPr lang="en-US" sz="1300" dirty="0"/>
          </a:p>
        </p:txBody>
      </p:sp>
      <p:sp>
        <p:nvSpPr>
          <p:cNvPr id="15" name="Shape 13"/>
          <p:cNvSpPr/>
          <p:nvPr/>
        </p:nvSpPr>
        <p:spPr>
          <a:xfrm>
            <a:off x="548640" y="3758184"/>
            <a:ext cx="11137392" cy="804672"/>
          </a:xfrm>
          <a:prstGeom prst="roundRect">
            <a:avLst>
              <a:gd name="adj" fmla="val 6818"/>
            </a:avLst>
          </a:prstGeom>
          <a:solidFill>
            <a:srgbClr val="FFFFFF"/>
          </a:solidFill>
          <a:ln w="12700">
            <a:solidFill>
              <a:srgbClr val="D5E0E5"/>
            </a:solidFill>
            <a:prstDash val="solid"/>
          </a:ln>
          <a:effectLst>
            <a:outerShdw blurRad="101600" dist="12700" dir="5400000" algn="bl" rotWithShape="0">
              <a:srgbClr val="14303D">
                <a:alpha val="7000"/>
              </a:srgbClr>
            </a:outerShdw>
          </a:effectLst>
        </p:spPr>
        <p:txBody>
          <a:bodyPr/>
          <a:lstStyle/>
          <a:p>
            <a:endParaRPr lang="en-US"/>
          </a:p>
        </p:txBody>
      </p:sp>
      <p:sp>
        <p:nvSpPr>
          <p:cNvPr id="16" name="Shape 14"/>
          <p:cNvSpPr/>
          <p:nvPr/>
        </p:nvSpPr>
        <p:spPr>
          <a:xfrm>
            <a:off x="841248" y="3959352"/>
            <a:ext cx="402336" cy="402336"/>
          </a:xfrm>
          <a:prstGeom prst="ellipse">
            <a:avLst/>
          </a:prstGeom>
          <a:solidFill>
            <a:srgbClr val="0B6A8F"/>
          </a:solidFill>
          <a:ln w="12700">
            <a:solidFill>
              <a:srgbClr val="0B6A8F"/>
            </a:solidFill>
            <a:prstDash val="solid"/>
          </a:ln>
        </p:spPr>
        <p:txBody>
          <a:bodyPr/>
          <a:lstStyle/>
          <a:p>
            <a:endParaRPr lang="en-US"/>
          </a:p>
        </p:txBody>
      </p:sp>
      <p:sp>
        <p:nvSpPr>
          <p:cNvPr id="17" name="Text 15"/>
          <p:cNvSpPr txBox="1"/>
          <p:nvPr/>
        </p:nvSpPr>
        <p:spPr>
          <a:xfrm>
            <a:off x="841248" y="3959352"/>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1444752" y="3977640"/>
            <a:ext cx="2743200" cy="365760"/>
          </a:xfrm>
          <a:prstGeom prst="rect">
            <a:avLst/>
          </a:prstGeom>
          <a:noFill/>
          <a:ln/>
        </p:spPr>
        <p:txBody>
          <a:bodyPr wrap="square" lIns="0" tIns="0" rIns="0" bIns="0" rtlCol="0" anchor="ctr"/>
          <a:lstStyle/>
          <a:p>
            <a:pPr marL="0" indent="0">
              <a:buNone/>
            </a:pPr>
            <a:r>
              <a:rPr lang="en-US" sz="1450" b="1" dirty="0">
                <a:solidFill>
                  <a:srgbClr val="14303D"/>
                </a:solidFill>
                <a:latin typeface="Calibri" pitchFamily="34" charset="0"/>
                <a:ea typeface="Calibri" pitchFamily="34" charset="-122"/>
                <a:cs typeface="Calibri" pitchFamily="34" charset="-120"/>
              </a:rPr>
              <a:t>Containment</a:t>
            </a:r>
            <a:endParaRPr lang="en-US" sz="1450" dirty="0"/>
          </a:p>
        </p:txBody>
      </p:sp>
      <p:sp>
        <p:nvSpPr>
          <p:cNvPr id="19" name="Text 17"/>
          <p:cNvSpPr txBox="1"/>
          <p:nvPr/>
        </p:nvSpPr>
        <p:spPr>
          <a:xfrm>
            <a:off x="4297680" y="3977640"/>
            <a:ext cx="6035040" cy="365760"/>
          </a:xfrm>
          <a:prstGeom prst="rect">
            <a:avLst/>
          </a:prstGeom>
          <a:noFill/>
          <a:ln/>
        </p:spPr>
        <p:txBody>
          <a:bodyPr wrap="square" lIns="0" tIns="0" rIns="0" bIns="0" rtlCol="0" anchor="ctr"/>
          <a:lstStyle/>
          <a:p>
            <a:pPr marL="0" indent="0">
              <a:buNone/>
            </a:pPr>
            <a:r>
              <a:rPr lang="en-US" sz="1250" dirty="0">
                <a:solidFill>
                  <a:srgbClr val="55697A"/>
                </a:solidFill>
                <a:latin typeface="Calibri" pitchFamily="34" charset="0"/>
                <a:ea typeface="Calibri" pitchFamily="34" charset="-122"/>
                <a:cs typeface="Calibri" pitchFamily="34" charset="-120"/>
              </a:rPr>
              <a:t>a screen captured before its late painting chrome arrives</a:t>
            </a:r>
            <a:endParaRPr lang="en-US" sz="1250" dirty="0"/>
          </a:p>
        </p:txBody>
      </p:sp>
      <p:sp>
        <p:nvSpPr>
          <p:cNvPr id="20" name="Text 18"/>
          <p:cNvSpPr txBox="1"/>
          <p:nvPr/>
        </p:nvSpPr>
        <p:spPr>
          <a:xfrm>
            <a:off x="10515600" y="3977640"/>
            <a:ext cx="914400" cy="365760"/>
          </a:xfrm>
          <a:prstGeom prst="rect">
            <a:avLst/>
          </a:prstGeom>
          <a:noFill/>
          <a:ln/>
        </p:spPr>
        <p:txBody>
          <a:bodyPr wrap="square" lIns="0" tIns="0" rIns="0" bIns="0" rtlCol="0" anchor="ctr"/>
          <a:lstStyle/>
          <a:p>
            <a:pPr marL="0" indent="0" algn="r">
              <a:buNone/>
            </a:pPr>
            <a:r>
              <a:rPr lang="en-US" sz="1300" b="1" dirty="0">
                <a:solidFill>
                  <a:srgbClr val="A9502C"/>
                </a:solidFill>
                <a:latin typeface="Consolas" pitchFamily="34" charset="0"/>
                <a:ea typeface="Consolas" pitchFamily="34" charset="-122"/>
                <a:cs typeface="Consolas" pitchFamily="34" charset="-120"/>
              </a:rPr>
              <a:t>0.95</a:t>
            </a:r>
            <a:endParaRPr lang="en-US" sz="1300" dirty="0"/>
          </a:p>
        </p:txBody>
      </p:sp>
      <p:sp>
        <p:nvSpPr>
          <p:cNvPr id="21" name="Shape 19"/>
          <p:cNvSpPr/>
          <p:nvPr/>
        </p:nvSpPr>
        <p:spPr>
          <a:xfrm>
            <a:off x="548640" y="4654296"/>
            <a:ext cx="11137392" cy="804672"/>
          </a:xfrm>
          <a:prstGeom prst="roundRect">
            <a:avLst>
              <a:gd name="adj" fmla="val 6818"/>
            </a:avLst>
          </a:prstGeom>
          <a:solidFill>
            <a:srgbClr val="FFFFFF"/>
          </a:solidFill>
          <a:ln w="12700">
            <a:solidFill>
              <a:srgbClr val="D5E0E5"/>
            </a:solidFill>
            <a:prstDash val="solid"/>
          </a:ln>
          <a:effectLst>
            <a:outerShdw blurRad="101600" dist="12700" dir="5400000" algn="bl" rotWithShape="0">
              <a:srgbClr val="14303D">
                <a:alpha val="7000"/>
              </a:srgbClr>
            </a:outerShdw>
          </a:effectLst>
        </p:spPr>
        <p:txBody>
          <a:bodyPr/>
          <a:lstStyle/>
          <a:p>
            <a:endParaRPr lang="en-US"/>
          </a:p>
        </p:txBody>
      </p:sp>
      <p:sp>
        <p:nvSpPr>
          <p:cNvPr id="22" name="Shape 20"/>
          <p:cNvSpPr/>
          <p:nvPr/>
        </p:nvSpPr>
        <p:spPr>
          <a:xfrm>
            <a:off x="841248" y="4855464"/>
            <a:ext cx="402336" cy="402336"/>
          </a:xfrm>
          <a:prstGeom prst="ellipse">
            <a:avLst/>
          </a:prstGeom>
          <a:solidFill>
            <a:srgbClr val="0B6A8F"/>
          </a:solidFill>
          <a:ln w="12700">
            <a:solidFill>
              <a:srgbClr val="0B6A8F"/>
            </a:solidFill>
            <a:prstDash val="solid"/>
          </a:ln>
        </p:spPr>
        <p:txBody>
          <a:bodyPr/>
          <a:lstStyle/>
          <a:p>
            <a:endParaRPr lang="en-US"/>
          </a:p>
        </p:txBody>
      </p:sp>
      <p:sp>
        <p:nvSpPr>
          <p:cNvPr id="23" name="Text 21"/>
          <p:cNvSpPr txBox="1"/>
          <p:nvPr/>
        </p:nvSpPr>
        <p:spPr>
          <a:xfrm>
            <a:off x="841248" y="485546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txBox="1"/>
          <p:nvPr/>
        </p:nvSpPr>
        <p:spPr>
          <a:xfrm>
            <a:off x="1444752" y="4873752"/>
            <a:ext cx="2743200" cy="365760"/>
          </a:xfrm>
          <a:prstGeom prst="rect">
            <a:avLst/>
          </a:prstGeom>
          <a:noFill/>
          <a:ln/>
        </p:spPr>
        <p:txBody>
          <a:bodyPr wrap="square" lIns="0" tIns="0" rIns="0" bIns="0" rtlCol="0" anchor="ctr"/>
          <a:lstStyle/>
          <a:p>
            <a:pPr marL="0" indent="0">
              <a:buNone/>
            </a:pPr>
            <a:r>
              <a:rPr lang="en-US" sz="1450" b="1" dirty="0">
                <a:solidFill>
                  <a:srgbClr val="14303D"/>
                </a:solidFill>
                <a:latin typeface="Calibri" pitchFamily="34" charset="0"/>
                <a:ea typeface="Calibri" pitchFamily="34" charset="-122"/>
                <a:cs typeface="Calibri" pitchFamily="34" charset="-120"/>
              </a:rPr>
              <a:t>Skeleton containment</a:t>
            </a:r>
            <a:endParaRPr lang="en-US" sz="1450" dirty="0"/>
          </a:p>
        </p:txBody>
      </p:sp>
      <p:sp>
        <p:nvSpPr>
          <p:cNvPr id="25" name="Text 23"/>
          <p:cNvSpPr txBox="1"/>
          <p:nvPr/>
        </p:nvSpPr>
        <p:spPr>
          <a:xfrm>
            <a:off x="4297680" y="4873752"/>
            <a:ext cx="6035040" cy="365760"/>
          </a:xfrm>
          <a:prstGeom prst="rect">
            <a:avLst/>
          </a:prstGeom>
          <a:noFill/>
          <a:ln/>
        </p:spPr>
        <p:txBody>
          <a:bodyPr wrap="square" lIns="0" tIns="0" rIns="0" bIns="0" rtlCol="0" anchor="ctr"/>
          <a:lstStyle/>
          <a:p>
            <a:pPr marL="0" indent="0">
              <a:buNone/>
            </a:pPr>
            <a:r>
              <a:rPr lang="en-US" sz="1250" dirty="0">
                <a:solidFill>
                  <a:srgbClr val="55697A"/>
                </a:solidFill>
                <a:latin typeface="Calibri" pitchFamily="34" charset="0"/>
                <a:ea typeface="Calibri" pitchFamily="34" charset="-122"/>
                <a:cs typeface="Calibri" pitchFamily="34" charset="-120"/>
              </a:rPr>
              <a:t>resource id and class only: same widgets, different values</a:t>
            </a:r>
            <a:endParaRPr lang="en-US" sz="1250" dirty="0"/>
          </a:p>
        </p:txBody>
      </p:sp>
      <p:sp>
        <p:nvSpPr>
          <p:cNvPr id="26" name="Text 24"/>
          <p:cNvSpPr txBox="1"/>
          <p:nvPr/>
        </p:nvSpPr>
        <p:spPr>
          <a:xfrm>
            <a:off x="10515600" y="4873752"/>
            <a:ext cx="914400" cy="365760"/>
          </a:xfrm>
          <a:prstGeom prst="rect">
            <a:avLst/>
          </a:prstGeom>
          <a:noFill/>
          <a:ln/>
        </p:spPr>
        <p:txBody>
          <a:bodyPr wrap="square" lIns="0" tIns="0" rIns="0" bIns="0" rtlCol="0" anchor="ctr"/>
          <a:lstStyle/>
          <a:p>
            <a:pPr marL="0" indent="0" algn="r">
              <a:buNone/>
            </a:pPr>
            <a:r>
              <a:rPr lang="en-US" sz="1300" b="1" dirty="0">
                <a:solidFill>
                  <a:srgbClr val="A9502C"/>
                </a:solidFill>
                <a:latin typeface="Consolas" pitchFamily="34" charset="0"/>
                <a:ea typeface="Consolas" pitchFamily="34" charset="-122"/>
                <a:cs typeface="Consolas" pitchFamily="34" charset="-120"/>
              </a:rPr>
              <a:t>0.95</a:t>
            </a:r>
            <a:endParaRPr lang="en-US" sz="1300" dirty="0"/>
          </a:p>
        </p:txBody>
      </p:sp>
      <p:sp>
        <p:nvSpPr>
          <p:cNvPr id="27" name="Shape 25"/>
          <p:cNvSpPr/>
          <p:nvPr/>
        </p:nvSpPr>
        <p:spPr>
          <a:xfrm>
            <a:off x="548640" y="5550408"/>
            <a:ext cx="11137392" cy="804672"/>
          </a:xfrm>
          <a:prstGeom prst="roundRect">
            <a:avLst>
              <a:gd name="adj" fmla="val 6818"/>
            </a:avLst>
          </a:prstGeom>
          <a:solidFill>
            <a:srgbClr val="FFFFFF"/>
          </a:solidFill>
          <a:ln w="12700">
            <a:solidFill>
              <a:srgbClr val="D5E0E5"/>
            </a:solidFill>
            <a:prstDash val="solid"/>
          </a:ln>
          <a:effectLst>
            <a:outerShdw blurRad="101600" dist="12700" dir="5400000" algn="bl" rotWithShape="0">
              <a:srgbClr val="14303D">
                <a:alpha val="7000"/>
              </a:srgbClr>
            </a:outerShdw>
          </a:effectLst>
        </p:spPr>
        <p:txBody>
          <a:bodyPr/>
          <a:lstStyle/>
          <a:p>
            <a:endParaRPr lang="en-US"/>
          </a:p>
        </p:txBody>
      </p:sp>
      <p:sp>
        <p:nvSpPr>
          <p:cNvPr id="28" name="Shape 26"/>
          <p:cNvSpPr/>
          <p:nvPr/>
        </p:nvSpPr>
        <p:spPr>
          <a:xfrm>
            <a:off x="841248" y="5751576"/>
            <a:ext cx="402336" cy="402336"/>
          </a:xfrm>
          <a:prstGeom prst="ellipse">
            <a:avLst/>
          </a:prstGeom>
          <a:solidFill>
            <a:srgbClr val="0B6A8F"/>
          </a:solidFill>
          <a:ln w="12700">
            <a:solidFill>
              <a:srgbClr val="0B6A8F"/>
            </a:solidFill>
            <a:prstDash val="solid"/>
          </a:ln>
        </p:spPr>
        <p:txBody>
          <a:bodyPr/>
          <a:lstStyle/>
          <a:p>
            <a:endParaRPr lang="en-US"/>
          </a:p>
        </p:txBody>
      </p:sp>
      <p:sp>
        <p:nvSpPr>
          <p:cNvPr id="29" name="Text 27"/>
          <p:cNvSpPr txBox="1"/>
          <p:nvPr/>
        </p:nvSpPr>
        <p:spPr>
          <a:xfrm>
            <a:off x="841248" y="5751576"/>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8"/>
          <p:cNvSpPr txBox="1"/>
          <p:nvPr/>
        </p:nvSpPr>
        <p:spPr>
          <a:xfrm>
            <a:off x="1444752" y="5769864"/>
            <a:ext cx="2743200" cy="365760"/>
          </a:xfrm>
          <a:prstGeom prst="rect">
            <a:avLst/>
          </a:prstGeom>
          <a:noFill/>
          <a:ln/>
        </p:spPr>
        <p:txBody>
          <a:bodyPr wrap="square" lIns="0" tIns="0" rIns="0" bIns="0" rtlCol="0" anchor="ctr"/>
          <a:lstStyle/>
          <a:p>
            <a:pPr marL="0" indent="0">
              <a:buNone/>
            </a:pPr>
            <a:r>
              <a:rPr lang="en-US" sz="1450" b="1" dirty="0">
                <a:solidFill>
                  <a:srgbClr val="14303D"/>
                </a:solidFill>
                <a:latin typeface="Calibri" pitchFamily="34" charset="0"/>
                <a:ea typeface="Calibri" pitchFamily="34" charset="-122"/>
                <a:cs typeface="Calibri" pitchFamily="34" charset="-120"/>
              </a:rPr>
              <a:t>Perceptual hash</a:t>
            </a:r>
            <a:endParaRPr lang="en-US" sz="1450" dirty="0"/>
          </a:p>
        </p:txBody>
      </p:sp>
      <p:sp>
        <p:nvSpPr>
          <p:cNvPr id="31" name="Text 29"/>
          <p:cNvSpPr txBox="1"/>
          <p:nvPr/>
        </p:nvSpPr>
        <p:spPr>
          <a:xfrm>
            <a:off x="4297680" y="5769864"/>
            <a:ext cx="6035040" cy="365760"/>
          </a:xfrm>
          <a:prstGeom prst="rect">
            <a:avLst/>
          </a:prstGeom>
          <a:noFill/>
          <a:ln/>
        </p:spPr>
        <p:txBody>
          <a:bodyPr wrap="square" lIns="0" tIns="0" rIns="0" bIns="0" rtlCol="0" anchor="ctr"/>
          <a:lstStyle/>
          <a:p>
            <a:pPr marL="0" indent="0">
              <a:buNone/>
            </a:pPr>
            <a:r>
              <a:rPr lang="en-US" sz="1250" dirty="0">
                <a:solidFill>
                  <a:srgbClr val="55697A"/>
                </a:solidFill>
                <a:latin typeface="Calibri" pitchFamily="34" charset="0"/>
                <a:ea typeface="Calibri" pitchFamily="34" charset="-122"/>
                <a:cs typeface="Calibri" pitchFamily="34" charset="-120"/>
              </a:rPr>
              <a:t>last resort when the accessibility tree is too thin to describe the screen</a:t>
            </a:r>
            <a:endParaRPr lang="en-US" sz="1250" dirty="0"/>
          </a:p>
        </p:txBody>
      </p:sp>
      <p:sp>
        <p:nvSpPr>
          <p:cNvPr id="32" name="Text 30"/>
          <p:cNvSpPr txBox="1"/>
          <p:nvPr/>
        </p:nvSpPr>
        <p:spPr>
          <a:xfrm>
            <a:off x="10515600" y="5769864"/>
            <a:ext cx="914400" cy="365760"/>
          </a:xfrm>
          <a:prstGeom prst="rect">
            <a:avLst/>
          </a:prstGeom>
          <a:noFill/>
          <a:ln/>
        </p:spPr>
        <p:txBody>
          <a:bodyPr wrap="square" lIns="0" tIns="0" rIns="0" bIns="0" rtlCol="0" anchor="ctr"/>
          <a:lstStyle/>
          <a:p>
            <a:pPr marL="0" indent="0" algn="r">
              <a:buNone/>
            </a:pPr>
            <a:r>
              <a:rPr lang="en-US" sz="1300" b="1" dirty="0">
                <a:solidFill>
                  <a:srgbClr val="A9502C"/>
                </a:solidFill>
                <a:latin typeface="Consolas" pitchFamily="34" charset="0"/>
                <a:ea typeface="Consolas" pitchFamily="34" charset="-122"/>
                <a:cs typeface="Consolas" pitchFamily="34" charset="-120"/>
              </a:rPr>
              <a:t>6</a:t>
            </a:r>
            <a:endParaRPr lang="en-US" sz="1300" dirty="0"/>
          </a:p>
        </p:txBody>
      </p:sp>
      <p:sp>
        <p:nvSpPr>
          <p:cNvPr id="33" name="Text 31"/>
          <p:cNvSpPr txBox="1"/>
          <p:nvPr/>
        </p:nvSpPr>
        <p:spPr>
          <a:xfrm>
            <a:off x="548640" y="6172200"/>
            <a:ext cx="10424160" cy="411480"/>
          </a:xfrm>
          <a:prstGeom prst="rect">
            <a:avLst/>
          </a:prstGeom>
          <a:noFill/>
          <a:ln/>
        </p:spPr>
        <p:txBody>
          <a:bodyPr wrap="square" lIns="0" tIns="0" rIns="0" bIns="0" rtlCol="0" anchor="ctr"/>
          <a:lstStyle/>
          <a:p>
            <a:pPr marL="0" indent="0">
              <a:buNone/>
            </a:pPr>
            <a:r>
              <a:rPr lang="en-US" sz="1250" i="1" dirty="0">
                <a:solidFill>
                  <a:srgbClr val="14303D"/>
                </a:solidFill>
                <a:latin typeface="Calibri" pitchFamily="34" charset="0"/>
                <a:ea typeface="Calibri" pitchFamily="34" charset="-122"/>
                <a:cs typeface="Calibri" pitchFamily="34" charset="-120"/>
              </a:rPr>
              <a:t>Merge too eagerly and the map collapses. Split too eagerly and it is destroyed: one wizard produced nine states before this cascade existed.</a:t>
            </a:r>
            <a:endParaRPr lang="en-US" sz="1250" dirty="0"/>
          </a:p>
        </p:txBody>
      </p:sp>
      <p:sp>
        <p:nvSpPr>
          <p:cNvPr id="34" name="Text 32"/>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900" dirty="0">
                <a:solidFill>
                  <a:srgbClr val="55697A"/>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8F9"/>
        </a:solidFill>
        <a:effectLst/>
      </p:bgPr>
    </p:bg>
    <p:spTree>
      <p:nvGrpSpPr>
        <p:cNvPr id="1" name=""/>
        <p:cNvGrpSpPr/>
        <p:nvPr/>
      </p:nvGrpSpPr>
      <p:grpSpPr>
        <a:xfrm>
          <a:off x="0" y="0"/>
          <a:ext cx="0" cy="0"/>
          <a:chOff x="0" y="0"/>
          <a:chExt cx="0" cy="0"/>
        </a:xfrm>
      </p:grpSpPr>
      <p:sp>
        <p:nvSpPr>
          <p:cNvPr id="2" name="Shape 0"/>
          <p:cNvSpPr/>
          <p:nvPr/>
        </p:nvSpPr>
        <p:spPr>
          <a:xfrm>
            <a:off x="9802368" y="420624"/>
            <a:ext cx="1883664" cy="384048"/>
          </a:xfrm>
          <a:prstGeom prst="roundRect">
            <a:avLst>
              <a:gd name="adj" fmla="val 50000"/>
            </a:avLst>
          </a:prstGeom>
          <a:solidFill>
            <a:srgbClr val="DCE8ED"/>
          </a:solidFill>
          <a:ln w="12700">
            <a:solidFill>
              <a:srgbClr val="DCE8ED"/>
            </a:solidFill>
            <a:prstDash val="solid"/>
          </a:ln>
        </p:spPr>
        <p:txBody>
          <a:bodyPr/>
          <a:lstStyle/>
          <a:p>
            <a:endParaRPr lang="en-US"/>
          </a:p>
        </p:txBody>
      </p:sp>
      <p:sp>
        <p:nvSpPr>
          <p:cNvPr id="3" name="Text 1"/>
          <p:cNvSpPr txBox="1"/>
          <p:nvPr/>
        </p:nvSpPr>
        <p:spPr>
          <a:xfrm>
            <a:off x="9802368" y="420624"/>
            <a:ext cx="1883664" cy="384048"/>
          </a:xfrm>
          <a:prstGeom prst="rect">
            <a:avLst/>
          </a:prstGeom>
          <a:noFill/>
          <a:ln/>
        </p:spPr>
        <p:txBody>
          <a:bodyPr wrap="square" lIns="0" tIns="0" rIns="0" bIns="0" rtlCol="0" anchor="ctr"/>
          <a:lstStyle/>
          <a:p>
            <a:pPr marL="0" indent="0" algn="ctr">
              <a:buNone/>
            </a:pPr>
            <a:r>
              <a:rPr lang="en-US" sz="1200" b="1" dirty="0">
                <a:solidFill>
                  <a:srgbClr val="0B6A8F"/>
                </a:solidFill>
                <a:latin typeface="Calibri" pitchFamily="34" charset="0"/>
                <a:ea typeface="Calibri" pitchFamily="34" charset="-122"/>
                <a:cs typeface="Calibri" pitchFamily="34" charset="-120"/>
              </a:rPr>
              <a:t>Jonayed</a:t>
            </a:r>
            <a:endParaRPr lang="en-US" sz="1200" dirty="0"/>
          </a:p>
        </p:txBody>
      </p:sp>
      <p:sp>
        <p:nvSpPr>
          <p:cNvPr id="4" name="Text 2"/>
          <p:cNvSpPr txBox="1"/>
          <p:nvPr/>
        </p:nvSpPr>
        <p:spPr>
          <a:xfrm>
            <a:off x="548640" y="457200"/>
            <a:ext cx="9052560" cy="658368"/>
          </a:xfrm>
          <a:prstGeom prst="rect">
            <a:avLst/>
          </a:prstGeom>
          <a:noFill/>
          <a:ln/>
        </p:spPr>
        <p:txBody>
          <a:bodyPr wrap="square" lIns="0" tIns="0" rIns="0" bIns="0" rtlCol="0" anchor="ctr"/>
          <a:lstStyle/>
          <a:p>
            <a:pPr marL="0" indent="0">
              <a:buNone/>
            </a:pPr>
            <a:r>
              <a:rPr lang="en-US" sz="3000" b="1" dirty="0">
                <a:solidFill>
                  <a:srgbClr val="14303D"/>
                </a:solidFill>
                <a:latin typeface="Cambria" pitchFamily="34" charset="0"/>
                <a:ea typeface="Cambria" pitchFamily="34" charset="-122"/>
                <a:cs typeface="Cambria" pitchFamily="34" charset="-120"/>
              </a:rPr>
              <a:t>An objective, never a tap sequence</a:t>
            </a:r>
            <a:endParaRPr lang="en-US" sz="3000" dirty="0"/>
          </a:p>
        </p:txBody>
      </p:sp>
      <p:sp>
        <p:nvSpPr>
          <p:cNvPr id="5" name="Shape 3"/>
          <p:cNvSpPr/>
          <p:nvPr/>
        </p:nvSpPr>
        <p:spPr>
          <a:xfrm>
            <a:off x="548640" y="1874520"/>
            <a:ext cx="5486400" cy="3291840"/>
          </a:xfrm>
          <a:prstGeom prst="roundRect">
            <a:avLst>
              <a:gd name="adj" fmla="val 1667"/>
            </a:avLst>
          </a:prstGeom>
          <a:solidFill>
            <a:srgbClr val="FFFFFF"/>
          </a:solidFill>
          <a:ln w="12700">
            <a:solidFill>
              <a:srgbClr val="D5E0E5"/>
            </a:solidFill>
            <a:prstDash val="solid"/>
          </a:ln>
          <a:effectLst>
            <a:outerShdw blurRad="101600" dist="12700" dir="5400000" algn="bl" rotWithShape="0">
              <a:srgbClr val="14303D">
                <a:alpha val="7000"/>
              </a:srgbClr>
            </a:outerShdw>
          </a:effectLst>
        </p:spPr>
        <p:txBody>
          <a:bodyPr/>
          <a:lstStyle/>
          <a:p>
            <a:endParaRPr lang="en-US"/>
          </a:p>
        </p:txBody>
      </p:sp>
      <p:sp>
        <p:nvSpPr>
          <p:cNvPr id="6" name="Text 4"/>
          <p:cNvSpPr txBox="1"/>
          <p:nvPr/>
        </p:nvSpPr>
        <p:spPr>
          <a:xfrm>
            <a:off x="868680" y="2103120"/>
            <a:ext cx="4572000" cy="274320"/>
          </a:xfrm>
          <a:prstGeom prst="rect">
            <a:avLst/>
          </a:prstGeom>
          <a:noFill/>
          <a:ln/>
        </p:spPr>
        <p:txBody>
          <a:bodyPr wrap="square" lIns="0" tIns="0" rIns="0" bIns="0" rtlCol="0" anchor="ctr"/>
          <a:lstStyle/>
          <a:p>
            <a:pPr marL="0" indent="0">
              <a:buNone/>
            </a:pPr>
            <a:r>
              <a:rPr lang="en-US" sz="1200" b="1" kern="0" spc="120" dirty="0">
                <a:solidFill>
                  <a:srgbClr val="0B6A8F"/>
                </a:solidFill>
                <a:latin typeface="Calibri" pitchFamily="34" charset="0"/>
                <a:ea typeface="Calibri" pitchFamily="34" charset="-122"/>
                <a:cs typeface="Calibri" pitchFamily="34" charset="-120"/>
              </a:rPr>
              <a:t>What the planner sends</a:t>
            </a:r>
            <a:endParaRPr lang="en-US" sz="1200" dirty="0"/>
          </a:p>
        </p:txBody>
      </p:sp>
      <p:sp>
        <p:nvSpPr>
          <p:cNvPr id="7" name="Text 5"/>
          <p:cNvSpPr txBox="1"/>
          <p:nvPr/>
        </p:nvSpPr>
        <p:spPr>
          <a:xfrm>
            <a:off x="868680" y="2487168"/>
            <a:ext cx="4846320" cy="914400"/>
          </a:xfrm>
          <a:prstGeom prst="rect">
            <a:avLst/>
          </a:prstGeom>
          <a:noFill/>
          <a:ln/>
        </p:spPr>
        <p:txBody>
          <a:bodyPr wrap="square" lIns="0" tIns="0" rIns="0" bIns="0" rtlCol="0" anchor="ctr"/>
          <a:lstStyle/>
          <a:p>
            <a:pPr marL="0" indent="0">
              <a:lnSpc>
                <a:spcPts val="2600"/>
              </a:lnSpc>
              <a:buNone/>
            </a:pPr>
            <a:r>
              <a:rPr lang="en-US" sz="1800" i="1" dirty="0">
                <a:solidFill>
                  <a:srgbClr val="14303D"/>
                </a:solidFill>
                <a:latin typeface="Cambria" pitchFamily="34" charset="0"/>
                <a:ea typeface="Cambria" pitchFamily="34" charset="-122"/>
                <a:cs typeface="Cambria" pitchFamily="34" charset="-120"/>
              </a:rPr>
              <a:t>A goal, the expected result, and preconditions. Nothing positional.</a:t>
            </a:r>
            <a:endParaRPr lang="en-US" sz="1800" dirty="0"/>
          </a:p>
        </p:txBody>
      </p:sp>
      <p:sp>
        <p:nvSpPr>
          <p:cNvPr id="8" name="Text 6"/>
          <p:cNvSpPr txBox="1"/>
          <p:nvPr/>
        </p:nvSpPr>
        <p:spPr>
          <a:xfrm>
            <a:off x="868680" y="3611880"/>
            <a:ext cx="4846320" cy="1280160"/>
          </a:xfrm>
          <a:prstGeom prst="rect">
            <a:avLst/>
          </a:prstGeom>
          <a:noFill/>
          <a:ln/>
        </p:spPr>
        <p:txBody>
          <a:bodyPr wrap="square" lIns="0" tIns="0" rIns="0" bIns="0" rtlCol="0" anchor="ctr"/>
          <a:lstStyle/>
          <a:p>
            <a:pPr marL="0" indent="0">
              <a:lnSpc>
                <a:spcPts val="1900"/>
              </a:lnSpc>
              <a:buNone/>
            </a:pPr>
            <a:r>
              <a:rPr lang="en-US" sz="1350" dirty="0">
                <a:solidFill>
                  <a:srgbClr val="55697A"/>
                </a:solidFill>
                <a:latin typeface="Calibri" pitchFamily="34" charset="0"/>
                <a:ea typeface="Calibri" pitchFamily="34" charset="-122"/>
                <a:cs typeface="Calibri" pitchFamily="34" charset="-120"/>
              </a:rPr>
              <a:t>The executor resolves every control at runtime against what is actually on the screen.</a:t>
            </a:r>
            <a:endParaRPr lang="en-US" sz="1350" dirty="0"/>
          </a:p>
        </p:txBody>
      </p:sp>
      <p:sp>
        <p:nvSpPr>
          <p:cNvPr id="9" name="Shape 7"/>
          <p:cNvSpPr/>
          <p:nvPr/>
        </p:nvSpPr>
        <p:spPr>
          <a:xfrm>
            <a:off x="6309360" y="1874520"/>
            <a:ext cx="5376672" cy="3291840"/>
          </a:xfrm>
          <a:prstGeom prst="roundRect">
            <a:avLst>
              <a:gd name="adj" fmla="val 1667"/>
            </a:avLst>
          </a:prstGeom>
          <a:solidFill>
            <a:srgbClr val="14303D"/>
          </a:solidFill>
          <a:ln w="12700">
            <a:solidFill>
              <a:srgbClr val="D5E0E5"/>
            </a:solidFill>
            <a:prstDash val="solid"/>
          </a:ln>
          <a:effectLst>
            <a:outerShdw blurRad="101600" dist="12700" dir="5400000" algn="bl" rotWithShape="0">
              <a:srgbClr val="14303D">
                <a:alpha val="7000"/>
              </a:srgbClr>
            </a:outerShdw>
          </a:effectLst>
        </p:spPr>
        <p:txBody>
          <a:bodyPr/>
          <a:lstStyle/>
          <a:p>
            <a:endParaRPr lang="en-US"/>
          </a:p>
        </p:txBody>
      </p:sp>
      <p:sp>
        <p:nvSpPr>
          <p:cNvPr id="10" name="Text 8"/>
          <p:cNvSpPr txBox="1"/>
          <p:nvPr/>
        </p:nvSpPr>
        <p:spPr>
          <a:xfrm>
            <a:off x="6629400" y="2103120"/>
            <a:ext cx="4572000" cy="274320"/>
          </a:xfrm>
          <a:prstGeom prst="rect">
            <a:avLst/>
          </a:prstGeom>
          <a:noFill/>
          <a:ln/>
        </p:spPr>
        <p:txBody>
          <a:bodyPr wrap="square" lIns="0" tIns="0" rIns="0" bIns="0" rtlCol="0" anchor="ctr"/>
          <a:lstStyle/>
          <a:p>
            <a:pPr marL="0" indent="0">
              <a:buNone/>
            </a:pPr>
            <a:r>
              <a:rPr lang="en-US" sz="1200" b="1" kern="0" spc="120" dirty="0">
                <a:solidFill>
                  <a:srgbClr val="7FB3C8"/>
                </a:solidFill>
                <a:latin typeface="Calibri" pitchFamily="34" charset="0"/>
                <a:ea typeface="Calibri" pitchFamily="34" charset="-122"/>
                <a:cs typeface="Calibri" pitchFamily="34" charset="-120"/>
              </a:rPr>
              <a:t>Why not a script</a:t>
            </a:r>
            <a:endParaRPr lang="en-US" sz="1200" dirty="0"/>
          </a:p>
        </p:txBody>
      </p:sp>
      <p:sp>
        <p:nvSpPr>
          <p:cNvPr id="11" name="Text 9"/>
          <p:cNvSpPr txBox="1"/>
          <p:nvPr/>
        </p:nvSpPr>
        <p:spPr>
          <a:xfrm>
            <a:off x="6629400" y="2487168"/>
            <a:ext cx="4754880" cy="731520"/>
          </a:xfrm>
          <a:prstGeom prst="rect">
            <a:avLst/>
          </a:prstGeom>
          <a:noFill/>
          <a:ln/>
        </p:spPr>
        <p:txBody>
          <a:bodyPr wrap="square" lIns="0" tIns="0" rIns="0" bIns="0" rtlCol="0" anchor="ctr"/>
          <a:lstStyle/>
          <a:p>
            <a:pPr marL="0" indent="0">
              <a:lnSpc>
                <a:spcPts val="2600"/>
              </a:lnSpc>
              <a:buNone/>
            </a:pPr>
            <a:r>
              <a:rPr lang="en-US" sz="1900" b="1" dirty="0">
                <a:solidFill>
                  <a:srgbClr val="FFFFFF"/>
                </a:solidFill>
                <a:latin typeface="Cambria" pitchFamily="34" charset="0"/>
                <a:ea typeface="Cambria" pitchFamily="34" charset="-122"/>
                <a:cs typeface="Cambria" pitchFamily="34" charset="-120"/>
              </a:rPr>
              <a:t>The planner cannot see the live screen.</a:t>
            </a:r>
            <a:endParaRPr lang="en-US" sz="1900" dirty="0"/>
          </a:p>
        </p:txBody>
      </p:sp>
      <p:sp>
        <p:nvSpPr>
          <p:cNvPr id="12" name="Text 10"/>
          <p:cNvSpPr txBox="1"/>
          <p:nvPr/>
        </p:nvSpPr>
        <p:spPr>
          <a:xfrm>
            <a:off x="6629400" y="3383280"/>
            <a:ext cx="4754880" cy="1463040"/>
          </a:xfrm>
          <a:prstGeom prst="rect">
            <a:avLst/>
          </a:prstGeom>
          <a:noFill/>
          <a:ln/>
        </p:spPr>
        <p:txBody>
          <a:bodyPr wrap="square" lIns="0" tIns="0" rIns="0" bIns="0" rtlCol="0" anchor="ctr"/>
          <a:lstStyle/>
          <a:p>
            <a:pPr marL="0" indent="0">
              <a:lnSpc>
                <a:spcPts val="2000"/>
              </a:lnSpc>
              <a:buNone/>
            </a:pPr>
            <a:r>
              <a:rPr lang="en-US" sz="1400" dirty="0">
                <a:solidFill>
                  <a:srgbClr val="C4D6DE"/>
                </a:solidFill>
                <a:latin typeface="Calibri" pitchFamily="34" charset="0"/>
                <a:ea typeface="Calibri" pitchFamily="34" charset="-122"/>
                <a:cs typeface="Calibri" pitchFamily="34" charset="-120"/>
              </a:rPr>
              <a:t>The executor can recover from a vague goal. It cannot recover from instructions that do not match the screen in front of it.</a:t>
            </a:r>
            <a:endParaRPr lang="en-US" sz="1400" dirty="0"/>
          </a:p>
        </p:txBody>
      </p:sp>
      <p:sp>
        <p:nvSpPr>
          <p:cNvPr id="13" name="Text 11"/>
          <p:cNvSpPr txBox="1"/>
          <p:nvPr/>
        </p:nvSpPr>
        <p:spPr>
          <a:xfrm>
            <a:off x="548640" y="5394960"/>
            <a:ext cx="11137392" cy="457200"/>
          </a:xfrm>
          <a:prstGeom prst="rect">
            <a:avLst/>
          </a:prstGeom>
          <a:noFill/>
          <a:ln/>
        </p:spPr>
        <p:txBody>
          <a:bodyPr wrap="square" lIns="0" tIns="0" rIns="0" bIns="0" rtlCol="0" anchor="ctr"/>
          <a:lstStyle/>
          <a:p>
            <a:pPr marL="0" indent="0">
              <a:buNone/>
            </a:pPr>
            <a:r>
              <a:rPr lang="en-US" sz="1400" b="1" dirty="0">
                <a:solidFill>
                  <a:srgbClr val="14303D"/>
                </a:solidFill>
                <a:latin typeface="Calibri" pitchFamily="34" charset="0"/>
                <a:ea typeface="Calibri" pitchFamily="34" charset="-122"/>
                <a:cs typeface="Calibri" pitchFamily="34" charset="-120"/>
              </a:rPr>
              <a:t>This is the contract both executors implement. One planner, two bodies.</a:t>
            </a:r>
            <a:endParaRPr lang="en-US" sz="1400" dirty="0"/>
          </a:p>
        </p:txBody>
      </p:sp>
      <p:sp>
        <p:nvSpPr>
          <p:cNvPr id="14" name="Text 12"/>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900" dirty="0">
                <a:solidFill>
                  <a:srgbClr val="55697A"/>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8F9"/>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9052560" cy="658368"/>
          </a:xfrm>
          <a:prstGeom prst="rect">
            <a:avLst/>
          </a:prstGeom>
          <a:noFill/>
          <a:ln/>
        </p:spPr>
        <p:txBody>
          <a:bodyPr wrap="square" lIns="0" tIns="0" rIns="0" bIns="0" rtlCol="0" anchor="ctr"/>
          <a:lstStyle/>
          <a:p>
            <a:pPr marL="0" indent="0">
              <a:buNone/>
            </a:pPr>
            <a:r>
              <a:rPr lang="en-US" sz="3000" b="1" dirty="0">
                <a:solidFill>
                  <a:srgbClr val="14303D"/>
                </a:solidFill>
                <a:latin typeface="Cambria" pitchFamily="34" charset="0"/>
                <a:ea typeface="Cambria" pitchFamily="34" charset="-122"/>
                <a:cs typeface="Cambria" pitchFamily="34" charset="-120"/>
              </a:rPr>
              <a:t>The web agent: what it sees</a:t>
            </a:r>
            <a:endParaRPr lang="en-US" sz="3000" dirty="0"/>
          </a:p>
        </p:txBody>
      </p:sp>
      <p:sp>
        <p:nvSpPr>
          <p:cNvPr id="3" name="Text 1"/>
          <p:cNvSpPr txBox="1"/>
          <p:nvPr/>
        </p:nvSpPr>
        <p:spPr>
          <a:xfrm>
            <a:off x="548640" y="1133856"/>
            <a:ext cx="10424160" cy="347472"/>
          </a:xfrm>
          <a:prstGeom prst="rect">
            <a:avLst/>
          </a:prstGeom>
          <a:noFill/>
          <a:ln/>
        </p:spPr>
        <p:txBody>
          <a:bodyPr wrap="square" lIns="0" tIns="0" rIns="0" bIns="0" rtlCol="0" anchor="ctr"/>
          <a:lstStyle/>
          <a:p>
            <a:pPr marL="0" indent="0">
              <a:buNone/>
            </a:pPr>
            <a:r>
              <a:rPr lang="en-US" sz="1450" dirty="0">
                <a:solidFill>
                  <a:srgbClr val="55697A"/>
                </a:solidFill>
                <a:latin typeface="Calibri" pitchFamily="34" charset="0"/>
                <a:ea typeface="Calibri" pitchFamily="34" charset="-122"/>
                <a:cs typeface="Calibri" pitchFamily="34" charset="-120"/>
              </a:rPr>
              <a:t>Playwright, reading an accessibility style description of the DOM rather than screenshots.</a:t>
            </a:r>
            <a:endParaRPr lang="en-US" sz="1450" dirty="0"/>
          </a:p>
        </p:txBody>
      </p:sp>
      <p:sp>
        <p:nvSpPr>
          <p:cNvPr id="4" name="Shape 2"/>
          <p:cNvSpPr/>
          <p:nvPr/>
        </p:nvSpPr>
        <p:spPr>
          <a:xfrm>
            <a:off x="548640" y="1837944"/>
            <a:ext cx="11137392" cy="566928"/>
          </a:xfrm>
          <a:prstGeom prst="rect">
            <a:avLst/>
          </a:prstGeom>
          <a:solidFill>
            <a:srgbClr val="EDF3F5"/>
          </a:solidFill>
          <a:ln w="12700">
            <a:solidFill>
              <a:srgbClr val="EDF3F5"/>
            </a:solidFill>
            <a:prstDash val="solid"/>
          </a:ln>
        </p:spPr>
        <p:txBody>
          <a:bodyPr/>
          <a:lstStyle/>
          <a:p>
            <a:endParaRPr lang="en-US"/>
          </a:p>
        </p:txBody>
      </p:sp>
      <p:sp>
        <p:nvSpPr>
          <p:cNvPr id="5" name="Text 3"/>
          <p:cNvSpPr txBox="1"/>
          <p:nvPr/>
        </p:nvSpPr>
        <p:spPr>
          <a:xfrm>
            <a:off x="749808" y="1874520"/>
            <a:ext cx="3291840" cy="493776"/>
          </a:xfrm>
          <a:prstGeom prst="rect">
            <a:avLst/>
          </a:prstGeom>
          <a:noFill/>
          <a:ln/>
        </p:spPr>
        <p:txBody>
          <a:bodyPr wrap="square" lIns="0" tIns="0" rIns="0" bIns="0" rtlCol="0" anchor="ctr"/>
          <a:lstStyle/>
          <a:p>
            <a:pPr marL="0" indent="0">
              <a:buNone/>
            </a:pPr>
            <a:r>
              <a:rPr lang="en-US" sz="1350" b="1" dirty="0">
                <a:solidFill>
                  <a:srgbClr val="0B6A8F"/>
                </a:solidFill>
                <a:latin typeface="Consolas" pitchFamily="34" charset="0"/>
                <a:ea typeface="Consolas" pitchFamily="34" charset="-122"/>
                <a:cs typeface="Consolas" pitchFamily="34" charset="-120"/>
              </a:rPr>
              <a:t>role, name</a:t>
            </a:r>
            <a:endParaRPr lang="en-US" sz="1350" dirty="0"/>
          </a:p>
        </p:txBody>
      </p:sp>
      <p:sp>
        <p:nvSpPr>
          <p:cNvPr id="6" name="Text 4"/>
          <p:cNvSpPr txBox="1"/>
          <p:nvPr/>
        </p:nvSpPr>
        <p:spPr>
          <a:xfrm>
            <a:off x="4133088" y="1874520"/>
            <a:ext cx="7342632" cy="493776"/>
          </a:xfrm>
          <a:prstGeom prst="rect">
            <a:avLst/>
          </a:prstGeom>
          <a:noFill/>
          <a:ln/>
        </p:spPr>
        <p:txBody>
          <a:bodyPr wrap="square" lIns="0" tIns="0" rIns="0" bIns="0" rtlCol="0" anchor="ctr"/>
          <a:lstStyle/>
          <a:p>
            <a:pPr marL="0" indent="0">
              <a:buNone/>
            </a:pPr>
            <a:r>
              <a:rPr lang="en-US" sz="1350" dirty="0">
                <a:solidFill>
                  <a:srgbClr val="14303D"/>
                </a:solidFill>
                <a:latin typeface="Calibri" pitchFamily="34" charset="0"/>
                <a:ea typeface="Calibri" pitchFamily="34" charset="-122"/>
                <a:cs typeface="Calibri" pitchFamily="34" charset="-120"/>
              </a:rPr>
              <a:t>how every control is addressed, the same vocabulary as Android</a:t>
            </a:r>
            <a:endParaRPr lang="en-US" sz="1350" dirty="0"/>
          </a:p>
        </p:txBody>
      </p:sp>
      <p:sp>
        <p:nvSpPr>
          <p:cNvPr id="7" name="Text 5"/>
          <p:cNvSpPr txBox="1"/>
          <p:nvPr/>
        </p:nvSpPr>
        <p:spPr>
          <a:xfrm>
            <a:off x="749808" y="2441448"/>
            <a:ext cx="3291840" cy="493776"/>
          </a:xfrm>
          <a:prstGeom prst="rect">
            <a:avLst/>
          </a:prstGeom>
          <a:noFill/>
          <a:ln/>
        </p:spPr>
        <p:txBody>
          <a:bodyPr wrap="square" lIns="0" tIns="0" rIns="0" bIns="0" rtlCol="0" anchor="ctr"/>
          <a:lstStyle/>
          <a:p>
            <a:pPr marL="0" indent="0">
              <a:buNone/>
            </a:pPr>
            <a:r>
              <a:rPr lang="en-US" sz="1350" b="1" dirty="0">
                <a:solidFill>
                  <a:srgbClr val="0B6A8F"/>
                </a:solidFill>
                <a:latin typeface="Consolas" pitchFamily="34" charset="0"/>
                <a:ea typeface="Consolas" pitchFamily="34" charset="-122"/>
                <a:cs typeface="Consolas" pitchFamily="34" charset="-120"/>
              </a:rPr>
              <a:t>value, checked, options</a:t>
            </a:r>
            <a:endParaRPr lang="en-US" sz="1350" dirty="0"/>
          </a:p>
        </p:txBody>
      </p:sp>
      <p:sp>
        <p:nvSpPr>
          <p:cNvPr id="8" name="Text 6"/>
          <p:cNvSpPr txBox="1"/>
          <p:nvPr/>
        </p:nvSpPr>
        <p:spPr>
          <a:xfrm>
            <a:off x="4133088" y="2441448"/>
            <a:ext cx="7342632" cy="493776"/>
          </a:xfrm>
          <a:prstGeom prst="rect">
            <a:avLst/>
          </a:prstGeom>
          <a:noFill/>
          <a:ln/>
        </p:spPr>
        <p:txBody>
          <a:bodyPr wrap="square" lIns="0" tIns="0" rIns="0" bIns="0" rtlCol="0" anchor="ctr"/>
          <a:lstStyle/>
          <a:p>
            <a:pPr marL="0" indent="0">
              <a:buNone/>
            </a:pPr>
            <a:r>
              <a:rPr lang="en-US" sz="1350" dirty="0">
                <a:solidFill>
                  <a:srgbClr val="14303D"/>
                </a:solidFill>
                <a:latin typeface="Calibri" pitchFamily="34" charset="0"/>
                <a:ea typeface="Calibri" pitchFamily="34" charset="-122"/>
                <a:cs typeface="Calibri" pitchFamily="34" charset="-120"/>
              </a:rPr>
              <a:t>the current state of each field, so a change can be verified</a:t>
            </a:r>
            <a:endParaRPr lang="en-US" sz="1350" dirty="0"/>
          </a:p>
        </p:txBody>
      </p:sp>
      <p:sp>
        <p:nvSpPr>
          <p:cNvPr id="9" name="Shape 7"/>
          <p:cNvSpPr/>
          <p:nvPr/>
        </p:nvSpPr>
        <p:spPr>
          <a:xfrm>
            <a:off x="548640" y="2971800"/>
            <a:ext cx="11137392" cy="566928"/>
          </a:xfrm>
          <a:prstGeom prst="rect">
            <a:avLst/>
          </a:prstGeom>
          <a:solidFill>
            <a:srgbClr val="EDF3F5"/>
          </a:solidFill>
          <a:ln w="12700">
            <a:solidFill>
              <a:srgbClr val="EDF3F5"/>
            </a:solidFill>
            <a:prstDash val="solid"/>
          </a:ln>
        </p:spPr>
        <p:txBody>
          <a:bodyPr/>
          <a:lstStyle/>
          <a:p>
            <a:endParaRPr lang="en-US"/>
          </a:p>
        </p:txBody>
      </p:sp>
      <p:sp>
        <p:nvSpPr>
          <p:cNvPr id="10" name="Text 8"/>
          <p:cNvSpPr txBox="1"/>
          <p:nvPr/>
        </p:nvSpPr>
        <p:spPr>
          <a:xfrm>
            <a:off x="749808" y="3008376"/>
            <a:ext cx="3291840" cy="493776"/>
          </a:xfrm>
          <a:prstGeom prst="rect">
            <a:avLst/>
          </a:prstGeom>
          <a:noFill/>
          <a:ln/>
        </p:spPr>
        <p:txBody>
          <a:bodyPr wrap="square" lIns="0" tIns="0" rIns="0" bIns="0" rtlCol="0" anchor="ctr"/>
          <a:lstStyle/>
          <a:p>
            <a:pPr marL="0" indent="0">
              <a:buNone/>
            </a:pPr>
            <a:r>
              <a:rPr lang="en-US" sz="1350" b="1" dirty="0">
                <a:solidFill>
                  <a:srgbClr val="0B6A8F"/>
                </a:solidFill>
                <a:latin typeface="Consolas" pitchFamily="34" charset="0"/>
                <a:ea typeface="Consolas" pitchFamily="34" charset="-122"/>
                <a:cs typeface="Consolas" pitchFamily="34" charset="-120"/>
              </a:rPr>
              <a:t>required, invalid</a:t>
            </a:r>
            <a:endParaRPr lang="en-US" sz="1350" dirty="0"/>
          </a:p>
        </p:txBody>
      </p:sp>
      <p:sp>
        <p:nvSpPr>
          <p:cNvPr id="11" name="Text 9"/>
          <p:cNvSpPr txBox="1"/>
          <p:nvPr/>
        </p:nvSpPr>
        <p:spPr>
          <a:xfrm>
            <a:off x="4133088" y="3008376"/>
            <a:ext cx="7342632" cy="493776"/>
          </a:xfrm>
          <a:prstGeom prst="rect">
            <a:avLst/>
          </a:prstGeom>
          <a:noFill/>
          <a:ln/>
        </p:spPr>
        <p:txBody>
          <a:bodyPr wrap="square" lIns="0" tIns="0" rIns="0" bIns="0" rtlCol="0" anchor="ctr"/>
          <a:lstStyle/>
          <a:p>
            <a:pPr marL="0" indent="0">
              <a:buNone/>
            </a:pPr>
            <a:r>
              <a:rPr lang="en-US" sz="1350" dirty="0">
                <a:solidFill>
                  <a:srgbClr val="14303D"/>
                </a:solidFill>
                <a:latin typeface="Calibri" pitchFamily="34" charset="0"/>
                <a:ea typeface="Calibri" pitchFamily="34" charset="-122"/>
                <a:cs typeface="Calibri" pitchFamily="34" charset="-120"/>
              </a:rPr>
              <a:t>native HTML5 validation, including the browser's own message</a:t>
            </a:r>
            <a:endParaRPr lang="en-US" sz="1350" dirty="0"/>
          </a:p>
        </p:txBody>
      </p:sp>
      <p:sp>
        <p:nvSpPr>
          <p:cNvPr id="12" name="Text 10"/>
          <p:cNvSpPr txBox="1"/>
          <p:nvPr/>
        </p:nvSpPr>
        <p:spPr>
          <a:xfrm>
            <a:off x="749808" y="3575304"/>
            <a:ext cx="3291840" cy="493776"/>
          </a:xfrm>
          <a:prstGeom prst="rect">
            <a:avLst/>
          </a:prstGeom>
          <a:noFill/>
          <a:ln/>
        </p:spPr>
        <p:txBody>
          <a:bodyPr wrap="square" lIns="0" tIns="0" rIns="0" bIns="0" rtlCol="0" anchor="ctr"/>
          <a:lstStyle/>
          <a:p>
            <a:pPr marL="0" indent="0">
              <a:buNone/>
            </a:pPr>
            <a:r>
              <a:rPr lang="en-US" sz="1350" b="1" dirty="0">
                <a:solidFill>
                  <a:srgbClr val="0B6A8F"/>
                </a:solidFill>
                <a:latin typeface="Consolas" pitchFamily="34" charset="0"/>
                <a:ea typeface="Consolas" pitchFamily="34" charset="-122"/>
                <a:cs typeface="Consolas" pitchFamily="34" charset="-120"/>
              </a:rPr>
              <a:t>filled_chars</a:t>
            </a:r>
            <a:endParaRPr lang="en-US" sz="1350" dirty="0"/>
          </a:p>
        </p:txBody>
      </p:sp>
      <p:sp>
        <p:nvSpPr>
          <p:cNvPr id="13" name="Text 11"/>
          <p:cNvSpPr txBox="1"/>
          <p:nvPr/>
        </p:nvSpPr>
        <p:spPr>
          <a:xfrm>
            <a:off x="4133088" y="3575304"/>
            <a:ext cx="7342632" cy="493776"/>
          </a:xfrm>
          <a:prstGeom prst="rect">
            <a:avLst/>
          </a:prstGeom>
          <a:noFill/>
          <a:ln/>
        </p:spPr>
        <p:txBody>
          <a:bodyPr wrap="square" lIns="0" tIns="0" rIns="0" bIns="0" rtlCol="0" anchor="ctr"/>
          <a:lstStyle/>
          <a:p>
            <a:pPr marL="0" indent="0">
              <a:buNone/>
            </a:pPr>
            <a:r>
              <a:rPr lang="en-US" sz="1350" dirty="0">
                <a:solidFill>
                  <a:srgbClr val="14303D"/>
                </a:solidFill>
                <a:latin typeface="Calibri" pitchFamily="34" charset="0"/>
                <a:ea typeface="Calibri" pitchFamily="34" charset="-122"/>
                <a:cs typeface="Calibri" pitchFamily="34" charset="-120"/>
              </a:rPr>
              <a:t>a password is described, never echoed, not even as asterisks</a:t>
            </a:r>
            <a:endParaRPr lang="en-US" sz="1350" dirty="0"/>
          </a:p>
        </p:txBody>
      </p:sp>
      <p:sp>
        <p:nvSpPr>
          <p:cNvPr id="14" name="Shape 12"/>
          <p:cNvSpPr/>
          <p:nvPr/>
        </p:nvSpPr>
        <p:spPr>
          <a:xfrm>
            <a:off x="548640" y="4105656"/>
            <a:ext cx="11137392" cy="566928"/>
          </a:xfrm>
          <a:prstGeom prst="rect">
            <a:avLst/>
          </a:prstGeom>
          <a:solidFill>
            <a:srgbClr val="EDF3F5"/>
          </a:solidFill>
          <a:ln w="12700">
            <a:solidFill>
              <a:srgbClr val="EDF3F5"/>
            </a:solidFill>
            <a:prstDash val="solid"/>
          </a:ln>
        </p:spPr>
        <p:txBody>
          <a:bodyPr/>
          <a:lstStyle/>
          <a:p>
            <a:endParaRPr lang="en-US"/>
          </a:p>
        </p:txBody>
      </p:sp>
      <p:sp>
        <p:nvSpPr>
          <p:cNvPr id="15" name="Text 13"/>
          <p:cNvSpPr txBox="1"/>
          <p:nvPr/>
        </p:nvSpPr>
        <p:spPr>
          <a:xfrm>
            <a:off x="749808" y="4142232"/>
            <a:ext cx="3291840" cy="493776"/>
          </a:xfrm>
          <a:prstGeom prst="rect">
            <a:avLst/>
          </a:prstGeom>
          <a:noFill/>
          <a:ln/>
        </p:spPr>
        <p:txBody>
          <a:bodyPr wrap="square" lIns="0" tIns="0" rIns="0" bIns="0" rtlCol="0" anchor="ctr"/>
          <a:lstStyle/>
          <a:p>
            <a:pPr marL="0" indent="0">
              <a:buNone/>
            </a:pPr>
            <a:r>
              <a:rPr lang="en-US" sz="1350" b="1" dirty="0">
                <a:solidFill>
                  <a:srgbClr val="0B6A8F"/>
                </a:solidFill>
                <a:latin typeface="Consolas" pitchFamily="34" charset="0"/>
                <a:ea typeface="Consolas" pitchFamily="34" charset="-122"/>
                <a:cs typeface="Consolas" pitchFamily="34" charset="-120"/>
              </a:rPr>
              <a:t>headings, messages</a:t>
            </a:r>
            <a:endParaRPr lang="en-US" sz="1350" dirty="0"/>
          </a:p>
        </p:txBody>
      </p:sp>
      <p:sp>
        <p:nvSpPr>
          <p:cNvPr id="16" name="Text 14"/>
          <p:cNvSpPr txBox="1"/>
          <p:nvPr/>
        </p:nvSpPr>
        <p:spPr>
          <a:xfrm>
            <a:off x="4133088" y="4142232"/>
            <a:ext cx="7342632" cy="493776"/>
          </a:xfrm>
          <a:prstGeom prst="rect">
            <a:avLst/>
          </a:prstGeom>
          <a:noFill/>
          <a:ln/>
        </p:spPr>
        <p:txBody>
          <a:bodyPr wrap="square" lIns="0" tIns="0" rIns="0" bIns="0" rtlCol="0" anchor="ctr"/>
          <a:lstStyle/>
          <a:p>
            <a:pPr marL="0" indent="0">
              <a:buNone/>
            </a:pPr>
            <a:r>
              <a:rPr lang="en-US" sz="1350" dirty="0">
                <a:solidFill>
                  <a:srgbClr val="14303D"/>
                </a:solidFill>
                <a:latin typeface="Calibri" pitchFamily="34" charset="0"/>
                <a:ea typeface="Calibri" pitchFamily="34" charset="-122"/>
                <a:cs typeface="Calibri" pitchFamily="34" charset="-120"/>
              </a:rPr>
              <a:t>page structure and any alert or status region</a:t>
            </a:r>
            <a:endParaRPr lang="en-US" sz="1350" dirty="0"/>
          </a:p>
        </p:txBody>
      </p:sp>
      <p:sp>
        <p:nvSpPr>
          <p:cNvPr id="17" name="Text 15"/>
          <p:cNvSpPr txBox="1"/>
          <p:nvPr/>
        </p:nvSpPr>
        <p:spPr>
          <a:xfrm>
            <a:off x="749808" y="4709160"/>
            <a:ext cx="3291840" cy="493776"/>
          </a:xfrm>
          <a:prstGeom prst="rect">
            <a:avLst/>
          </a:prstGeom>
          <a:noFill/>
          <a:ln/>
        </p:spPr>
        <p:txBody>
          <a:bodyPr wrap="square" lIns="0" tIns="0" rIns="0" bIns="0" rtlCol="0" anchor="ctr"/>
          <a:lstStyle/>
          <a:p>
            <a:pPr marL="0" indent="0">
              <a:buNone/>
            </a:pPr>
            <a:r>
              <a:rPr lang="en-US" sz="1350" b="1" dirty="0">
                <a:solidFill>
                  <a:srgbClr val="0B6A8F"/>
                </a:solidFill>
                <a:latin typeface="Consolas" pitchFamily="34" charset="0"/>
                <a:ea typeface="Consolas" pitchFamily="34" charset="-122"/>
                <a:cs typeface="Consolas" pitchFamily="34" charset="-120"/>
              </a:rPr>
              <a:t>captcha, loading</a:t>
            </a:r>
            <a:endParaRPr lang="en-US" sz="1350" dirty="0"/>
          </a:p>
        </p:txBody>
      </p:sp>
      <p:sp>
        <p:nvSpPr>
          <p:cNvPr id="18" name="Text 16"/>
          <p:cNvSpPr txBox="1"/>
          <p:nvPr/>
        </p:nvSpPr>
        <p:spPr>
          <a:xfrm>
            <a:off x="4133088" y="4709160"/>
            <a:ext cx="7342632" cy="493776"/>
          </a:xfrm>
          <a:prstGeom prst="rect">
            <a:avLst/>
          </a:prstGeom>
          <a:noFill/>
          <a:ln/>
        </p:spPr>
        <p:txBody>
          <a:bodyPr wrap="square" lIns="0" tIns="0" rIns="0" bIns="0" rtlCol="0" anchor="ctr"/>
          <a:lstStyle/>
          <a:p>
            <a:pPr marL="0" indent="0">
              <a:buNone/>
            </a:pPr>
            <a:r>
              <a:rPr lang="en-US" sz="1350" dirty="0">
                <a:solidFill>
                  <a:srgbClr val="14303D"/>
                </a:solidFill>
                <a:latin typeface="Calibri" pitchFamily="34" charset="0"/>
                <a:ea typeface="Calibri" pitchFamily="34" charset="-122"/>
                <a:cs typeface="Calibri" pitchFamily="34" charset="-120"/>
              </a:rPr>
              <a:t>flags the agent must act on rather than fight</a:t>
            </a:r>
            <a:endParaRPr lang="en-US" sz="1350" dirty="0"/>
          </a:p>
        </p:txBody>
      </p:sp>
      <p:sp>
        <p:nvSpPr>
          <p:cNvPr id="19" name="Shape 17"/>
          <p:cNvSpPr/>
          <p:nvPr/>
        </p:nvSpPr>
        <p:spPr>
          <a:xfrm>
            <a:off x="548640" y="5440680"/>
            <a:ext cx="11137392" cy="868680"/>
          </a:xfrm>
          <a:prstGeom prst="roundRect">
            <a:avLst>
              <a:gd name="adj" fmla="val 6316"/>
            </a:avLst>
          </a:prstGeom>
          <a:solidFill>
            <a:srgbClr val="14303D"/>
          </a:solidFill>
          <a:ln w="12700">
            <a:solidFill>
              <a:srgbClr val="D5E0E5"/>
            </a:solidFill>
            <a:prstDash val="solid"/>
          </a:ln>
          <a:effectLst>
            <a:outerShdw blurRad="101600" dist="12700" dir="5400000" algn="bl" rotWithShape="0">
              <a:srgbClr val="14303D">
                <a:alpha val="7000"/>
              </a:srgbClr>
            </a:outerShdw>
          </a:effectLst>
        </p:spPr>
        <p:txBody>
          <a:bodyPr/>
          <a:lstStyle/>
          <a:p>
            <a:endParaRPr lang="en-US"/>
          </a:p>
        </p:txBody>
      </p:sp>
      <p:sp>
        <p:nvSpPr>
          <p:cNvPr id="20" name="Text 18"/>
          <p:cNvSpPr txBox="1"/>
          <p:nvPr/>
        </p:nvSpPr>
        <p:spPr>
          <a:xfrm>
            <a:off x="914400" y="5440680"/>
            <a:ext cx="10424160" cy="868680"/>
          </a:xfrm>
          <a:prstGeom prst="rect">
            <a:avLst/>
          </a:prstGeom>
          <a:noFill/>
          <a:ln/>
        </p:spPr>
        <p:txBody>
          <a:bodyPr wrap="square" lIns="0" tIns="0" rIns="0" bIns="0" rtlCol="0" anchor="ctr"/>
          <a:lstStyle/>
          <a:p>
            <a:pPr marL="0" indent="0">
              <a:buNone/>
            </a:pPr>
            <a:r>
              <a:rPr lang="en-US" sz="1450" dirty="0">
                <a:solidFill>
                  <a:srgbClr val="FFFFFF"/>
                </a:solidFill>
                <a:latin typeface="Calibri" pitchFamily="34" charset="0"/>
                <a:ea typeface="Calibri" pitchFamily="34" charset="-122"/>
                <a:cs typeface="Calibri" pitchFamily="34" charset="-120"/>
              </a:rPr>
              <a:t>Cheaper per step and more precise than the vision based approach most comparable systems use.</a:t>
            </a:r>
            <a:endParaRPr lang="en-US" sz="1450" dirty="0"/>
          </a:p>
        </p:txBody>
      </p:sp>
      <p:sp>
        <p:nvSpPr>
          <p:cNvPr id="21" name="Text 19"/>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900" dirty="0">
                <a:solidFill>
                  <a:srgbClr val="55697A"/>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8F9"/>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9052560" cy="658368"/>
          </a:xfrm>
          <a:prstGeom prst="rect">
            <a:avLst/>
          </a:prstGeom>
          <a:noFill/>
          <a:ln/>
        </p:spPr>
        <p:txBody>
          <a:bodyPr wrap="square" lIns="0" tIns="0" rIns="0" bIns="0" rtlCol="0" anchor="ctr"/>
          <a:lstStyle/>
          <a:p>
            <a:pPr marL="0" indent="0">
              <a:buNone/>
            </a:pPr>
            <a:r>
              <a:rPr lang="en-US" sz="3000" b="1" dirty="0">
                <a:solidFill>
                  <a:srgbClr val="14303D"/>
                </a:solidFill>
                <a:latin typeface="Cambria" pitchFamily="34" charset="0"/>
                <a:ea typeface="Cambria" pitchFamily="34" charset="-122"/>
                <a:cs typeface="Cambria" pitchFamily="34" charset="-120"/>
              </a:rPr>
              <a:t>Nine actions, and two guards that stop a stalled run</a:t>
            </a:r>
            <a:endParaRPr lang="en-US" sz="3000" dirty="0"/>
          </a:p>
        </p:txBody>
      </p:sp>
      <p:sp>
        <p:nvSpPr>
          <p:cNvPr id="3" name="Shape 1"/>
          <p:cNvSpPr/>
          <p:nvPr/>
        </p:nvSpPr>
        <p:spPr>
          <a:xfrm>
            <a:off x="548640" y="1874520"/>
            <a:ext cx="5486400" cy="2011680"/>
          </a:xfrm>
          <a:prstGeom prst="roundRect">
            <a:avLst>
              <a:gd name="adj" fmla="val 2727"/>
            </a:avLst>
          </a:prstGeom>
          <a:solidFill>
            <a:srgbClr val="14303D"/>
          </a:solidFill>
          <a:ln w="12700">
            <a:solidFill>
              <a:srgbClr val="D5E0E5"/>
            </a:solidFill>
            <a:prstDash val="solid"/>
          </a:ln>
          <a:effectLst>
            <a:outerShdw blurRad="101600" dist="12700" dir="5400000" algn="bl" rotWithShape="0">
              <a:srgbClr val="14303D">
                <a:alpha val="7000"/>
              </a:srgbClr>
            </a:outerShdw>
          </a:effectLst>
        </p:spPr>
        <p:txBody>
          <a:bodyPr/>
          <a:lstStyle/>
          <a:p>
            <a:endParaRPr lang="en-US"/>
          </a:p>
        </p:txBody>
      </p:sp>
      <p:sp>
        <p:nvSpPr>
          <p:cNvPr id="4" name="Text 2"/>
          <p:cNvSpPr txBox="1"/>
          <p:nvPr/>
        </p:nvSpPr>
        <p:spPr>
          <a:xfrm>
            <a:off x="914400" y="2148840"/>
            <a:ext cx="4846320" cy="1463040"/>
          </a:xfrm>
          <a:prstGeom prst="rect">
            <a:avLst/>
          </a:prstGeom>
          <a:noFill/>
          <a:ln/>
        </p:spPr>
        <p:txBody>
          <a:bodyPr wrap="square" lIns="0" tIns="0" rIns="0" bIns="0" rtlCol="0" anchor="ctr"/>
          <a:lstStyle/>
          <a:p>
            <a:pPr marL="0" indent="0">
              <a:lnSpc>
                <a:spcPts val="3200"/>
              </a:lnSpc>
              <a:buNone/>
            </a:pPr>
            <a:r>
              <a:rPr lang="en-US" sz="1700" dirty="0">
                <a:solidFill>
                  <a:srgbClr val="FFFFFF"/>
                </a:solidFill>
                <a:latin typeface="Consolas" pitchFamily="34" charset="0"/>
                <a:ea typeface="Consolas" pitchFamily="34" charset="-122"/>
                <a:cs typeface="Consolas" pitchFamily="34" charset="-120"/>
              </a:rPr>
              <a:t>click   fill   press   select</a:t>
            </a:r>
            <a:endParaRPr lang="en-US" sz="1700" dirty="0"/>
          </a:p>
          <a:p>
            <a:pPr marL="0" indent="0">
              <a:lnSpc>
                <a:spcPts val="3200"/>
              </a:lnSpc>
              <a:buNone/>
            </a:pPr>
            <a:r>
              <a:rPr lang="en-US" sz="1700" dirty="0">
                <a:solidFill>
                  <a:srgbClr val="FFFFFF"/>
                </a:solidFill>
                <a:latin typeface="Consolas" pitchFamily="34" charset="0"/>
                <a:ea typeface="Consolas" pitchFamily="34" charset="-122"/>
                <a:cs typeface="Consolas" pitchFamily="34" charset="-120"/>
              </a:rPr>
              <a:t>goto   back   scroll   wait   finish</a:t>
            </a:r>
            <a:endParaRPr lang="en-US" sz="1700" dirty="0"/>
          </a:p>
        </p:txBody>
      </p:sp>
      <p:sp>
        <p:nvSpPr>
          <p:cNvPr id="5" name="Shape 3"/>
          <p:cNvSpPr/>
          <p:nvPr/>
        </p:nvSpPr>
        <p:spPr>
          <a:xfrm>
            <a:off x="548640" y="4069080"/>
            <a:ext cx="5486400" cy="1051560"/>
          </a:xfrm>
          <a:prstGeom prst="roundRect">
            <a:avLst>
              <a:gd name="adj" fmla="val 5217"/>
            </a:avLst>
          </a:prstGeom>
          <a:solidFill>
            <a:srgbClr val="FFFFFF"/>
          </a:solidFill>
          <a:ln w="12700">
            <a:solidFill>
              <a:srgbClr val="D5E0E5"/>
            </a:solidFill>
            <a:prstDash val="solid"/>
          </a:ln>
          <a:effectLst>
            <a:outerShdw blurRad="101600" dist="12700" dir="5400000" algn="bl" rotWithShape="0">
              <a:srgbClr val="14303D">
                <a:alpha val="7000"/>
              </a:srgbClr>
            </a:outerShdw>
          </a:effectLst>
        </p:spPr>
        <p:txBody>
          <a:bodyPr/>
          <a:lstStyle/>
          <a:p>
            <a:endParaRPr lang="en-US"/>
          </a:p>
        </p:txBody>
      </p:sp>
      <p:sp>
        <p:nvSpPr>
          <p:cNvPr id="6" name="Text 4"/>
          <p:cNvSpPr txBox="1"/>
          <p:nvPr/>
        </p:nvSpPr>
        <p:spPr>
          <a:xfrm>
            <a:off x="868680" y="4197096"/>
            <a:ext cx="2743200" cy="292608"/>
          </a:xfrm>
          <a:prstGeom prst="rect">
            <a:avLst/>
          </a:prstGeom>
          <a:noFill/>
          <a:ln/>
        </p:spPr>
        <p:txBody>
          <a:bodyPr wrap="square" lIns="0" tIns="0" rIns="0" bIns="0" rtlCol="0" anchor="ctr"/>
          <a:lstStyle/>
          <a:p>
            <a:pPr marL="0" indent="0">
              <a:buNone/>
            </a:pPr>
            <a:r>
              <a:rPr lang="en-US" sz="1450" b="1" dirty="0">
                <a:solidFill>
                  <a:srgbClr val="A9502C"/>
                </a:solidFill>
                <a:latin typeface="Calibri" pitchFamily="34" charset="0"/>
                <a:ea typeface="Calibri" pitchFamily="34" charset="-122"/>
                <a:cs typeface="Calibri" pitchFamily="34" charset="-120"/>
              </a:rPr>
              <a:t>Repetition</a:t>
            </a:r>
            <a:endParaRPr lang="en-US" sz="1450" dirty="0"/>
          </a:p>
        </p:txBody>
      </p:sp>
      <p:sp>
        <p:nvSpPr>
          <p:cNvPr id="7" name="Text 5"/>
          <p:cNvSpPr txBox="1"/>
          <p:nvPr/>
        </p:nvSpPr>
        <p:spPr>
          <a:xfrm>
            <a:off x="3566160" y="4215384"/>
            <a:ext cx="2194560" cy="274320"/>
          </a:xfrm>
          <a:prstGeom prst="rect">
            <a:avLst/>
          </a:prstGeom>
          <a:noFill/>
          <a:ln/>
        </p:spPr>
        <p:txBody>
          <a:bodyPr wrap="square" lIns="0" tIns="0" rIns="0" bIns="0" rtlCol="0" anchor="ctr"/>
          <a:lstStyle/>
          <a:p>
            <a:pPr marL="0" indent="0" algn="r">
              <a:buNone/>
            </a:pPr>
            <a:r>
              <a:rPr lang="en-US" sz="1150" dirty="0">
                <a:solidFill>
                  <a:srgbClr val="0B6A8F"/>
                </a:solidFill>
                <a:latin typeface="Consolas" pitchFamily="34" charset="0"/>
                <a:ea typeface="Consolas" pitchFamily="34" charset="-122"/>
                <a:cs typeface="Consolas" pitchFamily="34" charset="-120"/>
              </a:rPr>
              <a:t>warn at 2, abort at 4</a:t>
            </a:r>
            <a:endParaRPr lang="en-US" sz="1150" dirty="0"/>
          </a:p>
        </p:txBody>
      </p:sp>
      <p:sp>
        <p:nvSpPr>
          <p:cNvPr id="8" name="Text 6"/>
          <p:cNvSpPr txBox="1"/>
          <p:nvPr/>
        </p:nvSpPr>
        <p:spPr>
          <a:xfrm>
            <a:off x="868680" y="4526280"/>
            <a:ext cx="4846320" cy="502920"/>
          </a:xfrm>
          <a:prstGeom prst="rect">
            <a:avLst/>
          </a:prstGeom>
          <a:noFill/>
          <a:ln/>
        </p:spPr>
        <p:txBody>
          <a:bodyPr wrap="square" lIns="0" tIns="0" rIns="0" bIns="0" rtlCol="0" anchor="ctr"/>
          <a:lstStyle/>
          <a:p>
            <a:pPr marL="0" indent="0">
              <a:lnSpc>
                <a:spcPts val="1500"/>
              </a:lnSpc>
              <a:buNone/>
            </a:pPr>
            <a:r>
              <a:rPr lang="en-US" sz="1200" dirty="0">
                <a:solidFill>
                  <a:srgbClr val="55697A"/>
                </a:solidFill>
                <a:latin typeface="Calibri" pitchFamily="34" charset="0"/>
                <a:ea typeface="Calibri" pitchFamily="34" charset="-122"/>
                <a:cs typeface="Calibri" pitchFamily="34" charset="-120"/>
              </a:rPr>
              <a:t>the same action, on the same page state, already proven to change nothing</a:t>
            </a:r>
            <a:endParaRPr lang="en-US" sz="1200" dirty="0"/>
          </a:p>
        </p:txBody>
      </p:sp>
      <p:sp>
        <p:nvSpPr>
          <p:cNvPr id="9" name="Shape 7"/>
          <p:cNvSpPr/>
          <p:nvPr/>
        </p:nvSpPr>
        <p:spPr>
          <a:xfrm>
            <a:off x="548640" y="5230368"/>
            <a:ext cx="5486400" cy="1051560"/>
          </a:xfrm>
          <a:prstGeom prst="roundRect">
            <a:avLst>
              <a:gd name="adj" fmla="val 5217"/>
            </a:avLst>
          </a:prstGeom>
          <a:solidFill>
            <a:srgbClr val="FFFFFF"/>
          </a:solidFill>
          <a:ln w="12700">
            <a:solidFill>
              <a:srgbClr val="D5E0E5"/>
            </a:solidFill>
            <a:prstDash val="solid"/>
          </a:ln>
          <a:effectLst>
            <a:outerShdw blurRad="101600" dist="12700" dir="5400000" algn="bl" rotWithShape="0">
              <a:srgbClr val="14303D">
                <a:alpha val="7000"/>
              </a:srgbClr>
            </a:outerShdw>
          </a:effectLst>
        </p:spPr>
        <p:txBody>
          <a:bodyPr/>
          <a:lstStyle/>
          <a:p>
            <a:endParaRPr lang="en-US"/>
          </a:p>
        </p:txBody>
      </p:sp>
      <p:sp>
        <p:nvSpPr>
          <p:cNvPr id="10" name="Text 8"/>
          <p:cNvSpPr txBox="1"/>
          <p:nvPr/>
        </p:nvSpPr>
        <p:spPr>
          <a:xfrm>
            <a:off x="868680" y="5358384"/>
            <a:ext cx="2743200" cy="292608"/>
          </a:xfrm>
          <a:prstGeom prst="rect">
            <a:avLst/>
          </a:prstGeom>
          <a:noFill/>
          <a:ln/>
        </p:spPr>
        <p:txBody>
          <a:bodyPr wrap="square" lIns="0" tIns="0" rIns="0" bIns="0" rtlCol="0" anchor="ctr"/>
          <a:lstStyle/>
          <a:p>
            <a:pPr marL="0" indent="0">
              <a:buNone/>
            </a:pPr>
            <a:r>
              <a:rPr lang="en-US" sz="1450" b="1" dirty="0">
                <a:solidFill>
                  <a:srgbClr val="A9502C"/>
                </a:solidFill>
                <a:latin typeface="Calibri" pitchFamily="34" charset="0"/>
                <a:ea typeface="Calibri" pitchFamily="34" charset="-122"/>
                <a:cs typeface="Calibri" pitchFamily="34" charset="-120"/>
              </a:rPr>
              <a:t>Wandering</a:t>
            </a:r>
            <a:endParaRPr lang="en-US" sz="1450" dirty="0"/>
          </a:p>
        </p:txBody>
      </p:sp>
      <p:sp>
        <p:nvSpPr>
          <p:cNvPr id="11" name="Text 9"/>
          <p:cNvSpPr txBox="1"/>
          <p:nvPr/>
        </p:nvSpPr>
        <p:spPr>
          <a:xfrm>
            <a:off x="3566160" y="5376672"/>
            <a:ext cx="2194560" cy="274320"/>
          </a:xfrm>
          <a:prstGeom prst="rect">
            <a:avLst/>
          </a:prstGeom>
          <a:noFill/>
          <a:ln/>
        </p:spPr>
        <p:txBody>
          <a:bodyPr wrap="square" lIns="0" tIns="0" rIns="0" bIns="0" rtlCol="0" anchor="ctr"/>
          <a:lstStyle/>
          <a:p>
            <a:pPr marL="0" indent="0" algn="r">
              <a:buNone/>
            </a:pPr>
            <a:r>
              <a:rPr lang="en-US" sz="1150" dirty="0">
                <a:solidFill>
                  <a:srgbClr val="0B6A8F"/>
                </a:solidFill>
                <a:latin typeface="Consolas" pitchFamily="34" charset="0"/>
                <a:ea typeface="Consolas" pitchFamily="34" charset="-122"/>
                <a:cs typeface="Consolas" pitchFamily="34" charset="-120"/>
              </a:rPr>
              <a:t>conclude at 2, abort at 6</a:t>
            </a:r>
            <a:endParaRPr lang="en-US" sz="1150" dirty="0"/>
          </a:p>
        </p:txBody>
      </p:sp>
      <p:sp>
        <p:nvSpPr>
          <p:cNvPr id="12" name="Text 10"/>
          <p:cNvSpPr txBox="1"/>
          <p:nvPr/>
        </p:nvSpPr>
        <p:spPr>
          <a:xfrm>
            <a:off x="868680" y="5687568"/>
            <a:ext cx="4846320" cy="502920"/>
          </a:xfrm>
          <a:prstGeom prst="rect">
            <a:avLst/>
          </a:prstGeom>
          <a:noFill/>
          <a:ln/>
        </p:spPr>
        <p:txBody>
          <a:bodyPr wrap="square" lIns="0" tIns="0" rIns="0" bIns="0" rtlCol="0" anchor="ctr"/>
          <a:lstStyle/>
          <a:p>
            <a:pPr marL="0" indent="0">
              <a:lnSpc>
                <a:spcPts val="1500"/>
              </a:lnSpc>
              <a:buNone/>
            </a:pPr>
            <a:r>
              <a:rPr lang="en-US" sz="1200" dirty="0">
                <a:solidFill>
                  <a:srgbClr val="55697A"/>
                </a:solidFill>
                <a:latin typeface="Calibri" pitchFamily="34" charset="0"/>
                <a:ea typeface="Calibri" pitchFamily="34" charset="-122"/>
                <a:cs typeface="Calibri" pitchFamily="34" charset="-120"/>
              </a:rPr>
              <a:t>a different action every time, and still nothing changes</a:t>
            </a:r>
            <a:endParaRPr lang="en-US" sz="1200" dirty="0"/>
          </a:p>
        </p:txBody>
      </p:sp>
      <p:sp>
        <p:nvSpPr>
          <p:cNvPr id="13" name="Shape 11"/>
          <p:cNvSpPr/>
          <p:nvPr/>
        </p:nvSpPr>
        <p:spPr>
          <a:xfrm>
            <a:off x="6309360" y="1874520"/>
            <a:ext cx="5376672" cy="4434840"/>
          </a:xfrm>
          <a:prstGeom prst="roundRect">
            <a:avLst>
              <a:gd name="adj" fmla="val 1237"/>
            </a:avLst>
          </a:prstGeom>
          <a:solidFill>
            <a:srgbClr val="FFFFFF"/>
          </a:solidFill>
          <a:ln w="12700">
            <a:solidFill>
              <a:srgbClr val="D5E0E5"/>
            </a:solidFill>
            <a:prstDash val="solid"/>
          </a:ln>
          <a:effectLst>
            <a:outerShdw blurRad="101600" dist="12700" dir="5400000" algn="bl" rotWithShape="0">
              <a:srgbClr val="14303D">
                <a:alpha val="7000"/>
              </a:srgbClr>
            </a:outerShdw>
          </a:effectLst>
        </p:spPr>
        <p:txBody>
          <a:bodyPr/>
          <a:lstStyle/>
          <a:p>
            <a:endParaRPr lang="en-US"/>
          </a:p>
        </p:txBody>
      </p:sp>
      <p:sp>
        <p:nvSpPr>
          <p:cNvPr id="14" name="Text 12"/>
          <p:cNvSpPr txBox="1"/>
          <p:nvPr/>
        </p:nvSpPr>
        <p:spPr>
          <a:xfrm>
            <a:off x="6629400" y="2103120"/>
            <a:ext cx="4663440" cy="320040"/>
          </a:xfrm>
          <a:prstGeom prst="rect">
            <a:avLst/>
          </a:prstGeom>
          <a:noFill/>
          <a:ln/>
        </p:spPr>
        <p:txBody>
          <a:bodyPr wrap="square" lIns="0" tIns="0" rIns="0" bIns="0" rtlCol="0" anchor="ctr"/>
          <a:lstStyle/>
          <a:p>
            <a:pPr marL="0" indent="0">
              <a:buNone/>
            </a:pPr>
            <a:r>
              <a:rPr lang="en-US" sz="1200" b="1" kern="0" spc="120" dirty="0">
                <a:solidFill>
                  <a:srgbClr val="0B6A8F"/>
                </a:solidFill>
                <a:latin typeface="Calibri" pitchFamily="34" charset="0"/>
                <a:ea typeface="Calibri" pitchFamily="34" charset="-122"/>
                <a:cs typeface="Calibri" pitchFamily="34" charset="-120"/>
              </a:rPr>
              <a:t>Passive oracles</a:t>
            </a:r>
            <a:endParaRPr lang="en-US" sz="1200" dirty="0"/>
          </a:p>
        </p:txBody>
      </p:sp>
      <p:sp>
        <p:nvSpPr>
          <p:cNvPr id="15" name="Text 13"/>
          <p:cNvSpPr txBox="1"/>
          <p:nvPr/>
        </p:nvSpPr>
        <p:spPr>
          <a:xfrm>
            <a:off x="6629400" y="2487168"/>
            <a:ext cx="4754880" cy="640080"/>
          </a:xfrm>
          <a:prstGeom prst="rect">
            <a:avLst/>
          </a:prstGeom>
          <a:noFill/>
          <a:ln/>
        </p:spPr>
        <p:txBody>
          <a:bodyPr wrap="square" lIns="0" tIns="0" rIns="0" bIns="0" rtlCol="0" anchor="ctr"/>
          <a:lstStyle/>
          <a:p>
            <a:pPr marL="0" indent="0">
              <a:lnSpc>
                <a:spcPts val="1800"/>
              </a:lnSpc>
              <a:buNone/>
            </a:pPr>
            <a:r>
              <a:rPr lang="en-US" sz="1350" dirty="0">
                <a:solidFill>
                  <a:srgbClr val="14303D"/>
                </a:solidFill>
                <a:latin typeface="Calibri" pitchFamily="34" charset="0"/>
                <a:ea typeface="Calibri" pitchFamily="34" charset="-122"/>
                <a:cs typeface="Calibri" pitchFamily="34" charset="-120"/>
              </a:rPr>
              <a:t>Defect signals collected independently of anything the agent claims:</a:t>
            </a:r>
            <a:endParaRPr lang="en-US" sz="1350" dirty="0"/>
          </a:p>
        </p:txBody>
      </p:sp>
      <p:sp>
        <p:nvSpPr>
          <p:cNvPr id="16" name="Text 14"/>
          <p:cNvSpPr txBox="1"/>
          <p:nvPr/>
        </p:nvSpPr>
        <p:spPr>
          <a:xfrm>
            <a:off x="6720840" y="3200400"/>
            <a:ext cx="4572000" cy="1737360"/>
          </a:xfrm>
          <a:prstGeom prst="rect">
            <a:avLst/>
          </a:prstGeom>
          <a:noFill/>
          <a:ln/>
        </p:spPr>
        <p:txBody>
          <a:bodyPr wrap="square" lIns="0" tIns="0" rIns="0" bIns="0" rtlCol="0" anchor="ctr"/>
          <a:lstStyle/>
          <a:p>
            <a:pPr marL="342900" indent="-342900">
              <a:spcAft>
                <a:spcPts val="700"/>
              </a:spcAft>
              <a:buSzPct val="100000"/>
              <a:buChar char="•"/>
            </a:pPr>
            <a:r>
              <a:rPr lang="en-US" sz="1250" dirty="0">
                <a:solidFill>
                  <a:srgbClr val="14303D"/>
                </a:solidFill>
                <a:latin typeface="Consolas" pitchFamily="34" charset="0"/>
                <a:ea typeface="Consolas" pitchFamily="34" charset="-122"/>
                <a:cs typeface="Consolas" pitchFamily="34" charset="-120"/>
              </a:rPr>
              <a:t>console_errors</a:t>
            </a:r>
            <a:endParaRPr lang="en-US" sz="1250" dirty="0"/>
          </a:p>
          <a:p>
            <a:pPr marL="342900" indent="-342900">
              <a:spcAft>
                <a:spcPts val="700"/>
              </a:spcAft>
              <a:buSzPct val="100000"/>
              <a:buChar char="•"/>
            </a:pPr>
            <a:r>
              <a:rPr lang="en-US" sz="1250" dirty="0">
                <a:solidFill>
                  <a:srgbClr val="14303D"/>
                </a:solidFill>
                <a:latin typeface="Consolas" pitchFamily="34" charset="0"/>
                <a:ea typeface="Consolas" pitchFamily="34" charset="-122"/>
                <a:cs typeface="Consolas" pitchFamily="34" charset="-120"/>
              </a:rPr>
              <a:t>page_errors, the uncaught exceptions</a:t>
            </a:r>
            <a:endParaRPr lang="en-US" sz="1250" dirty="0"/>
          </a:p>
          <a:p>
            <a:pPr marL="342900" indent="-342900">
              <a:spcAft>
                <a:spcPts val="700"/>
              </a:spcAft>
              <a:buSzPct val="100000"/>
              <a:buChar char="•"/>
            </a:pPr>
            <a:r>
              <a:rPr lang="en-US" sz="1250" dirty="0">
                <a:solidFill>
                  <a:srgbClr val="14303D"/>
                </a:solidFill>
                <a:latin typeface="Consolas" pitchFamily="34" charset="0"/>
                <a:ea typeface="Consolas" pitchFamily="34" charset="-122"/>
                <a:cs typeface="Consolas" pitchFamily="34" charset="-120"/>
              </a:rPr>
              <a:t>http_5xx, the application broke</a:t>
            </a:r>
            <a:endParaRPr lang="en-US" sz="1250" dirty="0"/>
          </a:p>
          <a:p>
            <a:pPr marL="342900" indent="-342900">
              <a:spcAft>
                <a:spcPts val="700"/>
              </a:spcAft>
              <a:buSzPct val="100000"/>
              <a:buChar char="•"/>
            </a:pPr>
            <a:r>
              <a:rPr lang="en-US" sz="1250" dirty="0">
                <a:solidFill>
                  <a:srgbClr val="14303D"/>
                </a:solidFill>
                <a:latin typeface="Consolas" pitchFamily="34" charset="0"/>
                <a:ea typeface="Consolas" pitchFamily="34" charset="-122"/>
                <a:cs typeface="Consolas" pitchFamily="34" charset="-120"/>
              </a:rPr>
              <a:t>http_4xx, often expected</a:t>
            </a:r>
            <a:endParaRPr lang="en-US" sz="1250" dirty="0"/>
          </a:p>
          <a:p>
            <a:pPr marL="342900" indent="-342900">
              <a:spcAft>
                <a:spcPts val="700"/>
              </a:spcAft>
              <a:buSzPct val="100000"/>
              <a:buChar char="•"/>
            </a:pPr>
            <a:r>
              <a:rPr lang="en-US" sz="1250" dirty="0">
                <a:solidFill>
                  <a:srgbClr val="14303D"/>
                </a:solidFill>
                <a:latin typeface="Consolas" pitchFamily="34" charset="0"/>
                <a:ea typeface="Consolas" pitchFamily="34" charset="-122"/>
                <a:cs typeface="Consolas" pitchFamily="34" charset="-120"/>
              </a:rPr>
              <a:t>network_errors</a:t>
            </a:r>
            <a:endParaRPr lang="en-US" sz="1250" dirty="0"/>
          </a:p>
        </p:txBody>
      </p:sp>
      <p:sp>
        <p:nvSpPr>
          <p:cNvPr id="17" name="Text 15"/>
          <p:cNvSpPr txBox="1"/>
          <p:nvPr/>
        </p:nvSpPr>
        <p:spPr>
          <a:xfrm>
            <a:off x="6629400" y="4983480"/>
            <a:ext cx="4754880" cy="1143000"/>
          </a:xfrm>
          <a:prstGeom prst="rect">
            <a:avLst/>
          </a:prstGeom>
          <a:noFill/>
          <a:ln/>
        </p:spPr>
        <p:txBody>
          <a:bodyPr wrap="square" lIns="0" tIns="0" rIns="0" bIns="0" rtlCol="0" anchor="ctr"/>
          <a:lstStyle/>
          <a:p>
            <a:pPr marL="0" indent="0">
              <a:lnSpc>
                <a:spcPts val="1700"/>
              </a:lnSpc>
              <a:buNone/>
            </a:pPr>
            <a:r>
              <a:rPr lang="en-US" sz="1300" b="1" dirty="0">
                <a:solidFill>
                  <a:srgbClr val="A9502C"/>
                </a:solidFill>
                <a:latin typeface="Calibri" pitchFamily="34" charset="0"/>
                <a:ea typeface="Calibri" pitchFamily="34" charset="-122"/>
                <a:cs typeface="Calibri" pitchFamily="34" charset="-120"/>
              </a:rPr>
              <a:t>A 5xx can override a claimed pass. On the live site this caught a real HTTP 500 the agent had nearly filed as a interface error.</a:t>
            </a:r>
            <a:endParaRPr lang="en-US" sz="1300" dirty="0"/>
          </a:p>
        </p:txBody>
      </p:sp>
      <p:sp>
        <p:nvSpPr>
          <p:cNvPr id="18" name="Text 16"/>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900" dirty="0">
                <a:solidFill>
                  <a:srgbClr val="55697A"/>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8F9"/>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9052560" cy="658368"/>
          </a:xfrm>
          <a:prstGeom prst="rect">
            <a:avLst/>
          </a:prstGeom>
          <a:noFill/>
          <a:ln/>
        </p:spPr>
        <p:txBody>
          <a:bodyPr wrap="square" lIns="0" tIns="0" rIns="0" bIns="0" rtlCol="0" anchor="ctr"/>
          <a:lstStyle/>
          <a:p>
            <a:pPr marL="0" indent="0">
              <a:buNone/>
            </a:pPr>
            <a:r>
              <a:rPr lang="en-US" sz="3000" b="1" dirty="0">
                <a:solidFill>
                  <a:srgbClr val="14303D"/>
                </a:solidFill>
                <a:latin typeface="Cambria" pitchFamily="34" charset="0"/>
                <a:ea typeface="Cambria" pitchFamily="34" charset="-122"/>
                <a:cs typeface="Cambria" pitchFamily="34" charset="-120"/>
              </a:rPr>
              <a:t>Running against live systems safely</a:t>
            </a:r>
            <a:endParaRPr lang="en-US" sz="3000" dirty="0"/>
          </a:p>
        </p:txBody>
      </p:sp>
      <p:sp>
        <p:nvSpPr>
          <p:cNvPr id="3" name="Shape 1"/>
          <p:cNvSpPr/>
          <p:nvPr/>
        </p:nvSpPr>
        <p:spPr>
          <a:xfrm>
            <a:off x="548640" y="1874520"/>
            <a:ext cx="5486400" cy="2286000"/>
          </a:xfrm>
          <a:prstGeom prst="roundRect">
            <a:avLst>
              <a:gd name="adj" fmla="val 2400"/>
            </a:avLst>
          </a:prstGeom>
          <a:solidFill>
            <a:srgbClr val="FFFFFF"/>
          </a:solidFill>
          <a:ln w="12700">
            <a:solidFill>
              <a:srgbClr val="D5E0E5"/>
            </a:solidFill>
            <a:prstDash val="solid"/>
          </a:ln>
          <a:effectLst>
            <a:outerShdw blurRad="101600" dist="12700" dir="5400000" algn="bl" rotWithShape="0">
              <a:srgbClr val="14303D">
                <a:alpha val="7000"/>
              </a:srgbClr>
            </a:outerShdw>
          </a:effectLst>
        </p:spPr>
        <p:txBody>
          <a:bodyPr/>
          <a:lstStyle/>
          <a:p>
            <a:endParaRPr lang="en-US"/>
          </a:p>
        </p:txBody>
      </p:sp>
      <p:sp>
        <p:nvSpPr>
          <p:cNvPr id="4" name="Text 2"/>
          <p:cNvSpPr txBox="1"/>
          <p:nvPr/>
        </p:nvSpPr>
        <p:spPr>
          <a:xfrm>
            <a:off x="868680" y="2103120"/>
            <a:ext cx="4754880" cy="320040"/>
          </a:xfrm>
          <a:prstGeom prst="rect">
            <a:avLst/>
          </a:prstGeom>
          <a:noFill/>
          <a:ln/>
        </p:spPr>
        <p:txBody>
          <a:bodyPr wrap="square" lIns="0" tIns="0" rIns="0" bIns="0" rtlCol="0" anchor="ctr"/>
          <a:lstStyle/>
          <a:p>
            <a:pPr marL="0" indent="0">
              <a:buNone/>
            </a:pPr>
            <a:r>
              <a:rPr lang="en-US" sz="1300" b="1" dirty="0">
                <a:solidFill>
                  <a:srgbClr val="A9502C"/>
                </a:solidFill>
                <a:latin typeface="Calibri" pitchFamily="34" charset="0"/>
                <a:ea typeface="Calibri" pitchFamily="34" charset="-122"/>
                <a:cs typeface="Calibri" pitchFamily="34" charset="-120"/>
              </a:rPr>
              <a:t>Eight labels are refused outright</a:t>
            </a:r>
            <a:endParaRPr lang="en-US" sz="1300" dirty="0"/>
          </a:p>
        </p:txBody>
      </p:sp>
      <p:sp>
        <p:nvSpPr>
          <p:cNvPr id="5" name="Text 3"/>
          <p:cNvSpPr txBox="1"/>
          <p:nvPr/>
        </p:nvSpPr>
        <p:spPr>
          <a:xfrm>
            <a:off x="868680" y="2514600"/>
            <a:ext cx="4846320" cy="1005840"/>
          </a:xfrm>
          <a:prstGeom prst="rect">
            <a:avLst/>
          </a:prstGeom>
          <a:noFill/>
          <a:ln/>
        </p:spPr>
        <p:txBody>
          <a:bodyPr wrap="square" lIns="0" tIns="0" rIns="0" bIns="0" rtlCol="0" anchor="ctr"/>
          <a:lstStyle/>
          <a:p>
            <a:pPr marL="0" indent="0">
              <a:lnSpc>
                <a:spcPts val="2000"/>
              </a:lnSpc>
              <a:buNone/>
            </a:pPr>
            <a:r>
              <a:rPr lang="en-US" sz="1250" dirty="0">
                <a:solidFill>
                  <a:srgbClr val="14303D"/>
                </a:solidFill>
                <a:latin typeface="Consolas" pitchFamily="34" charset="0"/>
                <a:ea typeface="Consolas" pitchFamily="34" charset="-122"/>
                <a:cs typeface="Consolas" pitchFamily="34" charset="-120"/>
              </a:rPr>
              <a:t>delete account · close account · deactivate account</a:t>
            </a:r>
            <a:endParaRPr lang="en-US" sz="1250" dirty="0"/>
          </a:p>
          <a:p>
            <a:pPr marL="0" indent="0">
              <a:lnSpc>
                <a:spcPts val="2000"/>
              </a:lnSpc>
              <a:buNone/>
            </a:pPr>
            <a:r>
              <a:rPr lang="en-US" sz="1250" dirty="0">
                <a:solidFill>
                  <a:srgbClr val="14303D"/>
                </a:solidFill>
                <a:latin typeface="Consolas" pitchFamily="34" charset="0"/>
                <a:ea typeface="Consolas" pitchFamily="34" charset="-122"/>
                <a:cs typeface="Consolas" pitchFamily="34" charset="-120"/>
              </a:rPr>
              <a:t>log out · logout · sign out · signout</a:t>
            </a:r>
            <a:endParaRPr lang="en-US" sz="1250" dirty="0"/>
          </a:p>
        </p:txBody>
      </p:sp>
      <p:sp>
        <p:nvSpPr>
          <p:cNvPr id="6" name="Text 4"/>
          <p:cNvSpPr txBox="1"/>
          <p:nvPr/>
        </p:nvSpPr>
        <p:spPr>
          <a:xfrm>
            <a:off x="868680" y="3566160"/>
            <a:ext cx="4846320" cy="502920"/>
          </a:xfrm>
          <a:prstGeom prst="rect">
            <a:avLst/>
          </a:prstGeom>
          <a:noFill/>
          <a:ln/>
        </p:spPr>
        <p:txBody>
          <a:bodyPr wrap="square" lIns="0" tIns="0" rIns="0" bIns="0" rtlCol="0" anchor="ctr"/>
          <a:lstStyle/>
          <a:p>
            <a:pPr marL="0" indent="0">
              <a:buNone/>
            </a:pPr>
            <a:r>
              <a:rPr lang="en-US" sz="1250" dirty="0">
                <a:solidFill>
                  <a:srgbClr val="55697A"/>
                </a:solidFill>
                <a:latin typeface="Calibri" pitchFamily="34" charset="0"/>
                <a:ea typeface="Calibri" pitchFamily="34" charset="-122"/>
                <a:cs typeface="Calibri" pitchFamily="34" charset="-120"/>
              </a:rPr>
              <a:t>Blocked at the configuration layer, before the action is attempted, and per target.</a:t>
            </a:r>
            <a:endParaRPr lang="en-US" sz="1250" dirty="0"/>
          </a:p>
        </p:txBody>
      </p:sp>
      <p:sp>
        <p:nvSpPr>
          <p:cNvPr id="7" name="Shape 5"/>
          <p:cNvSpPr/>
          <p:nvPr/>
        </p:nvSpPr>
        <p:spPr>
          <a:xfrm>
            <a:off x="6309360" y="1874520"/>
            <a:ext cx="5376672" cy="2286000"/>
          </a:xfrm>
          <a:prstGeom prst="roundRect">
            <a:avLst>
              <a:gd name="adj" fmla="val 2400"/>
            </a:avLst>
          </a:prstGeom>
          <a:solidFill>
            <a:srgbClr val="14303D"/>
          </a:solidFill>
          <a:ln w="12700">
            <a:solidFill>
              <a:srgbClr val="D5E0E5"/>
            </a:solidFill>
            <a:prstDash val="solid"/>
          </a:ln>
          <a:effectLst>
            <a:outerShdw blurRad="101600" dist="12700" dir="5400000" algn="bl" rotWithShape="0">
              <a:srgbClr val="14303D">
                <a:alpha val="7000"/>
              </a:srgbClr>
            </a:outerShdw>
          </a:effectLst>
        </p:spPr>
        <p:txBody>
          <a:bodyPr/>
          <a:lstStyle/>
          <a:p>
            <a:endParaRPr lang="en-US"/>
          </a:p>
        </p:txBody>
      </p:sp>
      <p:sp>
        <p:nvSpPr>
          <p:cNvPr id="8" name="Text 6"/>
          <p:cNvSpPr txBox="1"/>
          <p:nvPr/>
        </p:nvSpPr>
        <p:spPr>
          <a:xfrm>
            <a:off x="6629400" y="2103120"/>
            <a:ext cx="4754880" cy="320040"/>
          </a:xfrm>
          <a:prstGeom prst="rect">
            <a:avLst/>
          </a:prstGeom>
          <a:noFill/>
          <a:ln/>
        </p:spPr>
        <p:txBody>
          <a:bodyPr wrap="square" lIns="0" tIns="0" rIns="0" bIns="0" rtlCol="0" anchor="ctr"/>
          <a:lstStyle/>
          <a:p>
            <a:pPr marL="0" indent="0">
              <a:buNone/>
            </a:pPr>
            <a:r>
              <a:rPr lang="en-US" sz="1300" b="1" dirty="0">
                <a:solidFill>
                  <a:srgbClr val="7FB3C8"/>
                </a:solidFill>
                <a:latin typeface="Calibri" pitchFamily="34" charset="0"/>
                <a:ea typeface="Calibri" pitchFamily="34" charset="-122"/>
                <a:cs typeface="Calibri" pitchFamily="34" charset="-120"/>
              </a:rPr>
              <a:t>CAPTCHA</a:t>
            </a:r>
            <a:endParaRPr lang="en-US" sz="1300" dirty="0"/>
          </a:p>
        </p:txBody>
      </p:sp>
      <p:sp>
        <p:nvSpPr>
          <p:cNvPr id="9" name="Text 7"/>
          <p:cNvSpPr txBox="1"/>
          <p:nvPr/>
        </p:nvSpPr>
        <p:spPr>
          <a:xfrm>
            <a:off x="6629400" y="2487168"/>
            <a:ext cx="4754880" cy="1554480"/>
          </a:xfrm>
          <a:prstGeom prst="rect">
            <a:avLst/>
          </a:prstGeom>
          <a:noFill/>
          <a:ln/>
        </p:spPr>
        <p:txBody>
          <a:bodyPr wrap="square" lIns="0" tIns="0" rIns="0" bIns="0" rtlCol="0" anchor="ctr"/>
          <a:lstStyle/>
          <a:p>
            <a:pPr marL="0" indent="0">
              <a:lnSpc>
                <a:spcPts val="1800"/>
              </a:lnSpc>
              <a:buNone/>
            </a:pPr>
            <a:r>
              <a:rPr lang="en-US" sz="1350" dirty="0">
                <a:solidFill>
                  <a:srgbClr val="FFFFFF"/>
                </a:solidFill>
                <a:latin typeface="Calibri" pitchFamily="34" charset="0"/>
                <a:ea typeface="Calibri" pitchFamily="34" charset="-122"/>
                <a:cs typeface="Calibri" pitchFamily="34" charset="-120"/>
              </a:rPr>
              <a:t>Visible run: it pauses, asks a person, and sounds a tone every 20 seconds for up to 3 minutes, then resumes where it stopped.</a:t>
            </a:r>
            <a:endParaRPr lang="en-US" sz="1350" dirty="0"/>
          </a:p>
          <a:p>
            <a:pPr marL="0" indent="0">
              <a:lnSpc>
                <a:spcPts val="1800"/>
              </a:lnSpc>
              <a:buNone/>
            </a:pPr>
            <a:endParaRPr lang="en-US" sz="1350" dirty="0"/>
          </a:p>
          <a:p>
            <a:pPr marL="0" indent="0">
              <a:lnSpc>
                <a:spcPts val="1800"/>
              </a:lnSpc>
              <a:buNone/>
            </a:pPr>
            <a:r>
              <a:rPr lang="en-US" sz="1350" dirty="0">
                <a:solidFill>
                  <a:srgbClr val="FFFFFF"/>
                </a:solidFill>
                <a:latin typeface="Calibri" pitchFamily="34" charset="0"/>
                <a:ea typeface="Calibri" pitchFamily="34" charset="-122"/>
                <a:cs typeface="Calibri" pitchFamily="34" charset="-120"/>
              </a:rPr>
              <a:t>Headless run: it fails the test cleanly and says why.</a:t>
            </a:r>
            <a:endParaRPr lang="en-US" sz="1350" dirty="0"/>
          </a:p>
        </p:txBody>
      </p:sp>
      <p:sp>
        <p:nvSpPr>
          <p:cNvPr id="10" name="Shape 8"/>
          <p:cNvSpPr/>
          <p:nvPr/>
        </p:nvSpPr>
        <p:spPr>
          <a:xfrm>
            <a:off x="548640" y="4389120"/>
            <a:ext cx="11137392" cy="1737360"/>
          </a:xfrm>
          <a:prstGeom prst="roundRect">
            <a:avLst>
              <a:gd name="adj" fmla="val 3158"/>
            </a:avLst>
          </a:prstGeom>
          <a:solidFill>
            <a:srgbClr val="FFFFFF"/>
          </a:solidFill>
          <a:ln w="12700">
            <a:solidFill>
              <a:srgbClr val="D5E0E5"/>
            </a:solidFill>
            <a:prstDash val="solid"/>
          </a:ln>
          <a:effectLst>
            <a:outerShdw blurRad="101600" dist="12700" dir="5400000" algn="bl" rotWithShape="0">
              <a:srgbClr val="14303D">
                <a:alpha val="7000"/>
              </a:srgbClr>
            </a:outerShdw>
          </a:effectLst>
        </p:spPr>
        <p:txBody>
          <a:bodyPr/>
          <a:lstStyle/>
          <a:p>
            <a:endParaRPr lang="en-US"/>
          </a:p>
        </p:txBody>
      </p:sp>
      <p:sp>
        <p:nvSpPr>
          <p:cNvPr id="11" name="Text 9"/>
          <p:cNvSpPr txBox="1"/>
          <p:nvPr/>
        </p:nvSpPr>
        <p:spPr>
          <a:xfrm>
            <a:off x="914400" y="4572000"/>
            <a:ext cx="10424160" cy="365760"/>
          </a:xfrm>
          <a:prstGeom prst="rect">
            <a:avLst/>
          </a:prstGeom>
          <a:noFill/>
          <a:ln/>
        </p:spPr>
        <p:txBody>
          <a:bodyPr wrap="square" lIns="0" tIns="0" rIns="0" bIns="0" rtlCol="0" anchor="ctr"/>
          <a:lstStyle/>
          <a:p>
            <a:pPr marL="0" indent="0">
              <a:buNone/>
            </a:pPr>
            <a:r>
              <a:rPr lang="en-US" sz="1500" b="1" dirty="0">
                <a:solidFill>
                  <a:srgbClr val="14303D"/>
                </a:solidFill>
                <a:latin typeface="Calibri" pitchFamily="34" charset="0"/>
                <a:ea typeface="Calibri" pitchFamily="34" charset="-122"/>
                <a:cs typeface="Calibri" pitchFamily="34" charset="-120"/>
              </a:rPr>
              <a:t>A run lock, because two campaigns at once corrupted both</a:t>
            </a:r>
            <a:endParaRPr lang="en-US" sz="1500" dirty="0"/>
          </a:p>
        </p:txBody>
      </p:sp>
      <p:sp>
        <p:nvSpPr>
          <p:cNvPr id="12" name="Text 10"/>
          <p:cNvSpPr txBox="1"/>
          <p:nvPr/>
        </p:nvSpPr>
        <p:spPr>
          <a:xfrm>
            <a:off x="914400" y="4983480"/>
            <a:ext cx="10424160" cy="914400"/>
          </a:xfrm>
          <a:prstGeom prst="rect">
            <a:avLst/>
          </a:prstGeom>
          <a:noFill/>
          <a:ln/>
        </p:spPr>
        <p:txBody>
          <a:bodyPr wrap="square" lIns="0" tIns="0" rIns="0" bIns="0" rtlCol="0" anchor="ctr"/>
          <a:lstStyle/>
          <a:p>
            <a:pPr marL="0" indent="0">
              <a:lnSpc>
                <a:spcPts val="1800"/>
              </a:lnSpc>
              <a:buNone/>
            </a:pPr>
            <a:r>
              <a:rPr lang="en-US" sz="1350" dirty="0">
                <a:solidFill>
                  <a:srgbClr val="55697A"/>
                </a:solidFill>
                <a:latin typeface="Calibri" pitchFamily="34" charset="0"/>
                <a:ea typeface="Calibri" pitchFamily="34" charset="-122"/>
                <a:cs typeface="Calibri" pitchFamily="34" charset="-120"/>
              </a:rPr>
              <a:t>The agent also learns the target's real API routes as it observes traffic, so it stops inventing plausible looking endpoints that do not exist. That single failure once cost an entire test.</a:t>
            </a:r>
            <a:endParaRPr lang="en-US" sz="1350" dirty="0"/>
          </a:p>
        </p:txBody>
      </p:sp>
      <p:sp>
        <p:nvSpPr>
          <p:cNvPr id="13" name="Text 11"/>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900" dirty="0">
                <a:solidFill>
                  <a:srgbClr val="55697A"/>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8F9"/>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9052560" cy="658368"/>
          </a:xfrm>
          <a:prstGeom prst="rect">
            <a:avLst/>
          </a:prstGeom>
          <a:noFill/>
          <a:ln/>
        </p:spPr>
        <p:txBody>
          <a:bodyPr wrap="square" lIns="0" tIns="0" rIns="0" bIns="0" rtlCol="0" anchor="ctr"/>
          <a:lstStyle/>
          <a:p>
            <a:pPr marL="0" indent="0">
              <a:buNone/>
            </a:pPr>
            <a:r>
              <a:rPr lang="en-US" sz="3000" b="1" dirty="0">
                <a:solidFill>
                  <a:srgbClr val="14303D"/>
                </a:solidFill>
                <a:latin typeface="Cambria" pitchFamily="34" charset="0"/>
                <a:ea typeface="Cambria" pitchFamily="34" charset="-122"/>
                <a:cs typeface="Cambria" pitchFamily="34" charset="-120"/>
              </a:rPr>
              <a:t>Adding an application is a data change</a:t>
            </a:r>
            <a:endParaRPr lang="en-US" sz="3000" dirty="0"/>
          </a:p>
        </p:txBody>
      </p:sp>
      <p:sp>
        <p:nvSpPr>
          <p:cNvPr id="3" name="Shape 1"/>
          <p:cNvSpPr/>
          <p:nvPr/>
        </p:nvSpPr>
        <p:spPr>
          <a:xfrm>
            <a:off x="548640" y="1929384"/>
            <a:ext cx="6675120" cy="621792"/>
          </a:xfrm>
          <a:prstGeom prst="rect">
            <a:avLst/>
          </a:prstGeom>
          <a:solidFill>
            <a:srgbClr val="EDF3F5"/>
          </a:solidFill>
          <a:ln w="12700">
            <a:solidFill>
              <a:srgbClr val="EDF3F5"/>
            </a:solidFill>
            <a:prstDash val="solid"/>
          </a:ln>
        </p:spPr>
        <p:txBody>
          <a:bodyPr/>
          <a:lstStyle/>
          <a:p>
            <a:endParaRPr lang="en-US"/>
          </a:p>
        </p:txBody>
      </p:sp>
      <p:sp>
        <p:nvSpPr>
          <p:cNvPr id="4" name="Text 2"/>
          <p:cNvSpPr txBox="1"/>
          <p:nvPr/>
        </p:nvSpPr>
        <p:spPr>
          <a:xfrm>
            <a:off x="749808" y="1965960"/>
            <a:ext cx="2103120" cy="548640"/>
          </a:xfrm>
          <a:prstGeom prst="rect">
            <a:avLst/>
          </a:prstGeom>
          <a:noFill/>
          <a:ln/>
        </p:spPr>
        <p:txBody>
          <a:bodyPr wrap="square" lIns="0" tIns="0" rIns="0" bIns="0" rtlCol="0" anchor="ctr"/>
          <a:lstStyle/>
          <a:p>
            <a:pPr marL="0" indent="0">
              <a:buNone/>
            </a:pPr>
            <a:r>
              <a:rPr lang="en-US" sz="1350" b="1" dirty="0">
                <a:solidFill>
                  <a:srgbClr val="0B6A8F"/>
                </a:solidFill>
                <a:latin typeface="Consolas" pitchFamily="34" charset="0"/>
                <a:ea typeface="Consolas" pitchFamily="34" charset="-122"/>
                <a:cs typeface="Consolas" pitchFamily="34" charset="-120"/>
              </a:rPr>
              <a:t>kind</a:t>
            </a:r>
            <a:endParaRPr lang="en-US" sz="1350" dirty="0"/>
          </a:p>
        </p:txBody>
      </p:sp>
      <p:sp>
        <p:nvSpPr>
          <p:cNvPr id="5" name="Text 3"/>
          <p:cNvSpPr txBox="1"/>
          <p:nvPr/>
        </p:nvSpPr>
        <p:spPr>
          <a:xfrm>
            <a:off x="2944368" y="1965960"/>
            <a:ext cx="4069080" cy="548640"/>
          </a:xfrm>
          <a:prstGeom prst="rect">
            <a:avLst/>
          </a:prstGeom>
          <a:noFill/>
          <a:ln/>
        </p:spPr>
        <p:txBody>
          <a:bodyPr wrap="square" lIns="0" tIns="0" rIns="0" bIns="0" rtlCol="0" anchor="ctr"/>
          <a:lstStyle/>
          <a:p>
            <a:pPr marL="0" indent="0">
              <a:buNone/>
            </a:pPr>
            <a:r>
              <a:rPr lang="en-US" sz="1350" dirty="0">
                <a:solidFill>
                  <a:srgbClr val="14303D"/>
                </a:solidFill>
                <a:latin typeface="Calibri" pitchFamily="34" charset="0"/>
                <a:ea typeface="Calibri" pitchFamily="34" charset="-122"/>
                <a:cs typeface="Calibri" pitchFamily="34" charset="-120"/>
              </a:rPr>
              <a:t>android or web</a:t>
            </a:r>
            <a:endParaRPr lang="en-US" sz="1350" dirty="0"/>
          </a:p>
        </p:txBody>
      </p:sp>
      <p:sp>
        <p:nvSpPr>
          <p:cNvPr id="6" name="Text 4"/>
          <p:cNvSpPr txBox="1"/>
          <p:nvPr/>
        </p:nvSpPr>
        <p:spPr>
          <a:xfrm>
            <a:off x="749808" y="2587752"/>
            <a:ext cx="2103120" cy="548640"/>
          </a:xfrm>
          <a:prstGeom prst="rect">
            <a:avLst/>
          </a:prstGeom>
          <a:noFill/>
          <a:ln/>
        </p:spPr>
        <p:txBody>
          <a:bodyPr wrap="square" lIns="0" tIns="0" rIns="0" bIns="0" rtlCol="0" anchor="ctr"/>
          <a:lstStyle/>
          <a:p>
            <a:pPr marL="0" indent="0">
              <a:buNone/>
            </a:pPr>
            <a:r>
              <a:rPr lang="en-US" sz="1350" b="1" dirty="0">
                <a:solidFill>
                  <a:srgbClr val="0B6A8F"/>
                </a:solidFill>
                <a:latin typeface="Consolas" pitchFamily="34" charset="0"/>
                <a:ea typeface="Consolas" pitchFamily="34" charset="-122"/>
                <a:cs typeface="Consolas" pitchFamily="34" charset="-120"/>
              </a:rPr>
              <a:t>knowledge</a:t>
            </a:r>
            <a:endParaRPr lang="en-US" sz="1350" dirty="0"/>
          </a:p>
        </p:txBody>
      </p:sp>
      <p:sp>
        <p:nvSpPr>
          <p:cNvPr id="7" name="Text 5"/>
          <p:cNvSpPr txBox="1"/>
          <p:nvPr/>
        </p:nvSpPr>
        <p:spPr>
          <a:xfrm>
            <a:off x="2944368" y="2587752"/>
            <a:ext cx="4069080" cy="548640"/>
          </a:xfrm>
          <a:prstGeom prst="rect">
            <a:avLst/>
          </a:prstGeom>
          <a:noFill/>
          <a:ln/>
        </p:spPr>
        <p:txBody>
          <a:bodyPr wrap="square" lIns="0" tIns="0" rIns="0" bIns="0" rtlCol="0" anchor="ctr"/>
          <a:lstStyle/>
          <a:p>
            <a:pPr marL="0" indent="0">
              <a:buNone/>
            </a:pPr>
            <a:r>
              <a:rPr lang="en-US" sz="1350" dirty="0">
                <a:solidFill>
                  <a:srgbClr val="14303D"/>
                </a:solidFill>
                <a:latin typeface="Calibri" pitchFamily="34" charset="0"/>
                <a:ea typeface="Calibri" pitchFamily="34" charset="-122"/>
                <a:cs typeface="Calibri" pitchFamily="34" charset="-120"/>
              </a:rPr>
              <a:t>specification, API notes, defect history</a:t>
            </a:r>
            <a:endParaRPr lang="en-US" sz="1350" dirty="0"/>
          </a:p>
        </p:txBody>
      </p:sp>
      <p:sp>
        <p:nvSpPr>
          <p:cNvPr id="8" name="Shape 6"/>
          <p:cNvSpPr/>
          <p:nvPr/>
        </p:nvSpPr>
        <p:spPr>
          <a:xfrm>
            <a:off x="548640" y="3172968"/>
            <a:ext cx="6675120" cy="621792"/>
          </a:xfrm>
          <a:prstGeom prst="rect">
            <a:avLst/>
          </a:prstGeom>
          <a:solidFill>
            <a:srgbClr val="EDF3F5"/>
          </a:solidFill>
          <a:ln w="12700">
            <a:solidFill>
              <a:srgbClr val="EDF3F5"/>
            </a:solidFill>
            <a:prstDash val="solid"/>
          </a:ln>
        </p:spPr>
        <p:txBody>
          <a:bodyPr/>
          <a:lstStyle/>
          <a:p>
            <a:endParaRPr lang="en-US"/>
          </a:p>
        </p:txBody>
      </p:sp>
      <p:sp>
        <p:nvSpPr>
          <p:cNvPr id="9" name="Text 7"/>
          <p:cNvSpPr txBox="1"/>
          <p:nvPr/>
        </p:nvSpPr>
        <p:spPr>
          <a:xfrm>
            <a:off x="749808" y="3209544"/>
            <a:ext cx="2103120" cy="548640"/>
          </a:xfrm>
          <a:prstGeom prst="rect">
            <a:avLst/>
          </a:prstGeom>
          <a:noFill/>
          <a:ln/>
        </p:spPr>
        <p:txBody>
          <a:bodyPr wrap="square" lIns="0" tIns="0" rIns="0" bIns="0" rtlCol="0" anchor="ctr"/>
          <a:lstStyle/>
          <a:p>
            <a:pPr marL="0" indent="0">
              <a:buNone/>
            </a:pPr>
            <a:r>
              <a:rPr lang="en-US" sz="1350" b="1" dirty="0">
                <a:solidFill>
                  <a:srgbClr val="0B6A8F"/>
                </a:solidFill>
                <a:latin typeface="Consolas" pitchFamily="34" charset="0"/>
                <a:ea typeface="Consolas" pitchFamily="34" charset="-122"/>
                <a:cs typeface="Consolas" pitchFamily="34" charset="-120"/>
              </a:rPr>
              <a:t>guardrails</a:t>
            </a:r>
            <a:endParaRPr lang="en-US" sz="1350" dirty="0"/>
          </a:p>
        </p:txBody>
      </p:sp>
      <p:sp>
        <p:nvSpPr>
          <p:cNvPr id="10" name="Text 8"/>
          <p:cNvSpPr txBox="1"/>
          <p:nvPr/>
        </p:nvSpPr>
        <p:spPr>
          <a:xfrm>
            <a:off x="2944368" y="3209544"/>
            <a:ext cx="4069080" cy="548640"/>
          </a:xfrm>
          <a:prstGeom prst="rect">
            <a:avLst/>
          </a:prstGeom>
          <a:noFill/>
          <a:ln/>
        </p:spPr>
        <p:txBody>
          <a:bodyPr wrap="square" lIns="0" tIns="0" rIns="0" bIns="0" rtlCol="0" anchor="ctr"/>
          <a:lstStyle/>
          <a:p>
            <a:pPr marL="0" indent="0">
              <a:buNone/>
            </a:pPr>
            <a:r>
              <a:rPr lang="en-US" sz="1350" dirty="0">
                <a:solidFill>
                  <a:srgbClr val="14303D"/>
                </a:solidFill>
                <a:latin typeface="Calibri" pitchFamily="34" charset="0"/>
                <a:ea typeface="Calibri" pitchFamily="34" charset="-122"/>
                <a:cs typeface="Calibri" pitchFamily="34" charset="-120"/>
              </a:rPr>
              <a:t>the controls this target must never activate</a:t>
            </a:r>
            <a:endParaRPr lang="en-US" sz="1350" dirty="0"/>
          </a:p>
        </p:txBody>
      </p:sp>
      <p:sp>
        <p:nvSpPr>
          <p:cNvPr id="11" name="Text 9"/>
          <p:cNvSpPr txBox="1"/>
          <p:nvPr/>
        </p:nvSpPr>
        <p:spPr>
          <a:xfrm>
            <a:off x="749808" y="3831336"/>
            <a:ext cx="2103120" cy="548640"/>
          </a:xfrm>
          <a:prstGeom prst="rect">
            <a:avLst/>
          </a:prstGeom>
          <a:noFill/>
          <a:ln/>
        </p:spPr>
        <p:txBody>
          <a:bodyPr wrap="square" lIns="0" tIns="0" rIns="0" bIns="0" rtlCol="0" anchor="ctr"/>
          <a:lstStyle/>
          <a:p>
            <a:pPr marL="0" indent="0">
              <a:buNone/>
            </a:pPr>
            <a:r>
              <a:rPr lang="en-US" sz="1350" b="1" dirty="0">
                <a:solidFill>
                  <a:srgbClr val="0B6A8F"/>
                </a:solidFill>
                <a:latin typeface="Consolas" pitchFamily="34" charset="0"/>
                <a:ea typeface="Consolas" pitchFamily="34" charset="-122"/>
                <a:cs typeface="Consolas" pitchFamily="34" charset="-120"/>
              </a:rPr>
              <a:t>run budget</a:t>
            </a:r>
            <a:endParaRPr lang="en-US" sz="1350" dirty="0"/>
          </a:p>
        </p:txBody>
      </p:sp>
      <p:sp>
        <p:nvSpPr>
          <p:cNvPr id="12" name="Text 10"/>
          <p:cNvSpPr txBox="1"/>
          <p:nvPr/>
        </p:nvSpPr>
        <p:spPr>
          <a:xfrm>
            <a:off x="2944368" y="3831336"/>
            <a:ext cx="4069080" cy="548640"/>
          </a:xfrm>
          <a:prstGeom prst="rect">
            <a:avLst/>
          </a:prstGeom>
          <a:noFill/>
          <a:ln/>
        </p:spPr>
        <p:txBody>
          <a:bodyPr wrap="square" lIns="0" tIns="0" rIns="0" bIns="0" rtlCol="0" anchor="ctr"/>
          <a:lstStyle/>
          <a:p>
            <a:pPr marL="0" indent="0">
              <a:buNone/>
            </a:pPr>
            <a:r>
              <a:rPr lang="en-US" sz="1350" dirty="0">
                <a:solidFill>
                  <a:srgbClr val="14303D"/>
                </a:solidFill>
                <a:latin typeface="Calibri" pitchFamily="34" charset="0"/>
                <a:ea typeface="Calibri" pitchFamily="34" charset="-122"/>
                <a:cs typeface="Calibri" pitchFamily="34" charset="-120"/>
              </a:rPr>
              <a:t>steps per test, wall clock, rounds</a:t>
            </a:r>
            <a:endParaRPr lang="en-US" sz="1350" dirty="0"/>
          </a:p>
        </p:txBody>
      </p:sp>
      <p:sp>
        <p:nvSpPr>
          <p:cNvPr id="13" name="Shape 11"/>
          <p:cNvSpPr/>
          <p:nvPr/>
        </p:nvSpPr>
        <p:spPr>
          <a:xfrm>
            <a:off x="548640" y="4416552"/>
            <a:ext cx="6675120" cy="621792"/>
          </a:xfrm>
          <a:prstGeom prst="rect">
            <a:avLst/>
          </a:prstGeom>
          <a:solidFill>
            <a:srgbClr val="EDF3F5"/>
          </a:solidFill>
          <a:ln w="12700">
            <a:solidFill>
              <a:srgbClr val="EDF3F5"/>
            </a:solidFill>
            <a:prstDash val="solid"/>
          </a:ln>
        </p:spPr>
        <p:txBody>
          <a:bodyPr/>
          <a:lstStyle/>
          <a:p>
            <a:endParaRPr lang="en-US"/>
          </a:p>
        </p:txBody>
      </p:sp>
      <p:sp>
        <p:nvSpPr>
          <p:cNvPr id="14" name="Text 12"/>
          <p:cNvSpPr txBox="1"/>
          <p:nvPr/>
        </p:nvSpPr>
        <p:spPr>
          <a:xfrm>
            <a:off x="749808" y="4453128"/>
            <a:ext cx="2103120" cy="548640"/>
          </a:xfrm>
          <a:prstGeom prst="rect">
            <a:avLst/>
          </a:prstGeom>
          <a:noFill/>
          <a:ln/>
        </p:spPr>
        <p:txBody>
          <a:bodyPr wrap="square" lIns="0" tIns="0" rIns="0" bIns="0" rtlCol="0" anchor="ctr"/>
          <a:lstStyle/>
          <a:p>
            <a:pPr marL="0" indent="0">
              <a:buNone/>
            </a:pPr>
            <a:r>
              <a:rPr lang="en-US" sz="1350" b="1" dirty="0">
                <a:solidFill>
                  <a:srgbClr val="0B6A8F"/>
                </a:solidFill>
                <a:latin typeface="Consolas" pitchFamily="34" charset="0"/>
                <a:ea typeface="Consolas" pitchFamily="34" charset="-122"/>
                <a:cs typeface="Consolas" pitchFamily="34" charset="-120"/>
              </a:rPr>
              <a:t>login</a:t>
            </a:r>
            <a:endParaRPr lang="en-US" sz="1350" dirty="0"/>
          </a:p>
        </p:txBody>
      </p:sp>
      <p:sp>
        <p:nvSpPr>
          <p:cNvPr id="15" name="Text 13"/>
          <p:cNvSpPr txBox="1"/>
          <p:nvPr/>
        </p:nvSpPr>
        <p:spPr>
          <a:xfrm>
            <a:off x="2944368" y="4453128"/>
            <a:ext cx="4069080" cy="548640"/>
          </a:xfrm>
          <a:prstGeom prst="rect">
            <a:avLst/>
          </a:prstGeom>
          <a:noFill/>
          <a:ln/>
        </p:spPr>
        <p:txBody>
          <a:bodyPr wrap="square" lIns="0" tIns="0" rIns="0" bIns="0" rtlCol="0" anchor="ctr"/>
          <a:lstStyle/>
          <a:p>
            <a:pPr marL="0" indent="0">
              <a:buNone/>
            </a:pPr>
            <a:r>
              <a:rPr lang="en-US" sz="1350" dirty="0">
                <a:solidFill>
                  <a:srgbClr val="14303D"/>
                </a:solidFill>
                <a:latin typeface="Calibri" pitchFamily="34" charset="0"/>
                <a:ea typeface="Calibri" pitchFamily="34" charset="-122"/>
                <a:cs typeface="Calibri" pitchFamily="34" charset="-120"/>
              </a:rPr>
              <a:t>a disposable test account, never shown to the planner</a:t>
            </a:r>
            <a:endParaRPr lang="en-US" sz="1350" dirty="0"/>
          </a:p>
        </p:txBody>
      </p:sp>
      <p:sp>
        <p:nvSpPr>
          <p:cNvPr id="16" name="Shape 14"/>
          <p:cNvSpPr/>
          <p:nvPr/>
        </p:nvSpPr>
        <p:spPr>
          <a:xfrm>
            <a:off x="7498080" y="1920240"/>
            <a:ext cx="4187952" cy="3291840"/>
          </a:xfrm>
          <a:prstGeom prst="roundRect">
            <a:avLst>
              <a:gd name="adj" fmla="val 1667"/>
            </a:avLst>
          </a:prstGeom>
          <a:solidFill>
            <a:srgbClr val="14303D"/>
          </a:solidFill>
          <a:ln w="12700">
            <a:solidFill>
              <a:srgbClr val="D5E0E5"/>
            </a:solidFill>
            <a:prstDash val="solid"/>
          </a:ln>
          <a:effectLst>
            <a:outerShdw blurRad="101600" dist="12700" dir="5400000" algn="bl" rotWithShape="0">
              <a:srgbClr val="14303D">
                <a:alpha val="7000"/>
              </a:srgbClr>
            </a:outerShdw>
          </a:effectLst>
        </p:spPr>
        <p:txBody>
          <a:bodyPr/>
          <a:lstStyle/>
          <a:p>
            <a:endParaRPr lang="en-US"/>
          </a:p>
        </p:txBody>
      </p:sp>
      <p:sp>
        <p:nvSpPr>
          <p:cNvPr id="17" name="Text 15"/>
          <p:cNvSpPr txBox="1"/>
          <p:nvPr/>
        </p:nvSpPr>
        <p:spPr>
          <a:xfrm>
            <a:off x="7863840" y="2286000"/>
            <a:ext cx="1005840" cy="1097280"/>
          </a:xfrm>
          <a:prstGeom prst="rect">
            <a:avLst/>
          </a:prstGeom>
          <a:noFill/>
          <a:ln/>
        </p:spPr>
        <p:txBody>
          <a:bodyPr wrap="square" lIns="0" tIns="0" rIns="0" bIns="0" rtlCol="0" anchor="ctr"/>
          <a:lstStyle/>
          <a:p>
            <a:pPr marL="0" indent="0">
              <a:buNone/>
            </a:pPr>
            <a:r>
              <a:rPr lang="en-US" sz="6000" b="1" dirty="0">
                <a:solidFill>
                  <a:srgbClr val="FFFFFF"/>
                </a:solidFill>
                <a:latin typeface="Cambria" pitchFamily="34" charset="0"/>
                <a:ea typeface="Cambria" pitchFamily="34" charset="-122"/>
                <a:cs typeface="Cambria" pitchFamily="34" charset="-120"/>
              </a:rPr>
              <a:t>5</a:t>
            </a:r>
            <a:endParaRPr lang="en-US" sz="6000" dirty="0"/>
          </a:p>
        </p:txBody>
      </p:sp>
      <p:sp>
        <p:nvSpPr>
          <p:cNvPr id="18" name="Text 16"/>
          <p:cNvSpPr txBox="1"/>
          <p:nvPr/>
        </p:nvSpPr>
        <p:spPr>
          <a:xfrm>
            <a:off x="8778240" y="2852928"/>
            <a:ext cx="2377440" cy="457200"/>
          </a:xfrm>
          <a:prstGeom prst="rect">
            <a:avLst/>
          </a:prstGeom>
          <a:noFill/>
          <a:ln/>
        </p:spPr>
        <p:txBody>
          <a:bodyPr wrap="square" lIns="0" tIns="0" rIns="0" bIns="0" rtlCol="0" anchor="ctr"/>
          <a:lstStyle/>
          <a:p>
            <a:pPr marL="0" indent="0">
              <a:buNone/>
            </a:pPr>
            <a:r>
              <a:rPr lang="en-US" sz="1700" dirty="0">
                <a:solidFill>
                  <a:srgbClr val="7FB3C8"/>
                </a:solidFill>
                <a:latin typeface="Calibri" pitchFamily="34" charset="0"/>
                <a:ea typeface="Calibri" pitchFamily="34" charset="-122"/>
                <a:cs typeface="Calibri" pitchFamily="34" charset="-120"/>
              </a:rPr>
              <a:t>targets</a:t>
            </a:r>
            <a:endParaRPr lang="en-US" sz="1700" dirty="0"/>
          </a:p>
        </p:txBody>
      </p:sp>
      <p:sp>
        <p:nvSpPr>
          <p:cNvPr id="19" name="Text 17"/>
          <p:cNvSpPr txBox="1"/>
          <p:nvPr/>
        </p:nvSpPr>
        <p:spPr>
          <a:xfrm>
            <a:off x="7863840" y="3611880"/>
            <a:ext cx="3520440" cy="1371600"/>
          </a:xfrm>
          <a:prstGeom prst="rect">
            <a:avLst/>
          </a:prstGeom>
          <a:noFill/>
          <a:ln/>
        </p:spPr>
        <p:txBody>
          <a:bodyPr wrap="square" lIns="0" tIns="0" rIns="0" bIns="0" rtlCol="0" anchor="ctr"/>
          <a:lstStyle/>
          <a:p>
            <a:pPr marL="0" indent="0">
              <a:lnSpc>
                <a:spcPts val="1900"/>
              </a:lnSpc>
              <a:buNone/>
            </a:pPr>
            <a:r>
              <a:rPr lang="en-US" sz="1400" dirty="0">
                <a:solidFill>
                  <a:srgbClr val="C4D6DE"/>
                </a:solidFill>
                <a:latin typeface="Calibri" pitchFamily="34" charset="0"/>
                <a:ea typeface="Calibri" pitchFamily="34" charset="-122"/>
                <a:cs typeface="Calibri" pitchFamily="34" charset="-120"/>
              </a:rPr>
              <a:t>Two Android applications and three websites, on one planner, one graph and one report format.</a:t>
            </a:r>
            <a:endParaRPr lang="en-US" sz="1400" dirty="0"/>
          </a:p>
        </p:txBody>
      </p:sp>
      <p:sp>
        <p:nvSpPr>
          <p:cNvPr id="20" name="Text 18"/>
          <p:cNvSpPr txBox="1"/>
          <p:nvPr/>
        </p:nvSpPr>
        <p:spPr>
          <a:xfrm>
            <a:off x="548640" y="5349240"/>
            <a:ext cx="6675120" cy="822960"/>
          </a:xfrm>
          <a:prstGeom prst="rect">
            <a:avLst/>
          </a:prstGeom>
          <a:noFill/>
          <a:ln/>
        </p:spPr>
        <p:txBody>
          <a:bodyPr wrap="square" lIns="0" tIns="0" rIns="0" bIns="0" rtlCol="0" anchor="ctr"/>
          <a:lstStyle/>
          <a:p>
            <a:pPr marL="0" indent="0">
              <a:lnSpc>
                <a:spcPts val="1700"/>
              </a:lnSpc>
              <a:buNone/>
            </a:pPr>
            <a:r>
              <a:rPr lang="en-US" sz="1300" dirty="0">
                <a:solidFill>
                  <a:srgbClr val="55697A"/>
                </a:solidFill>
                <a:latin typeface="Calibri" pitchFamily="34" charset="0"/>
                <a:ea typeface="Calibri" pitchFamily="34" charset="-122"/>
                <a:cs typeface="Calibri" pitchFamily="34" charset="-120"/>
              </a:rPr>
              <a:t>The dashboard can list, validate, save, ingest and run a profile, so a new target never touches the source tree.</a:t>
            </a:r>
            <a:endParaRPr lang="en-US" sz="1300" dirty="0"/>
          </a:p>
        </p:txBody>
      </p:sp>
      <p:sp>
        <p:nvSpPr>
          <p:cNvPr id="21" name="Text 19"/>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900" dirty="0">
                <a:solidFill>
                  <a:srgbClr val="55697A"/>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8F9"/>
        </a:solidFill>
        <a:effectLst/>
      </p:bgPr>
    </p:bg>
    <p:spTree>
      <p:nvGrpSpPr>
        <p:cNvPr id="1" name=""/>
        <p:cNvGrpSpPr/>
        <p:nvPr/>
      </p:nvGrpSpPr>
      <p:grpSpPr>
        <a:xfrm>
          <a:off x="0" y="0"/>
          <a:ext cx="0" cy="0"/>
          <a:chOff x="0" y="0"/>
          <a:chExt cx="0" cy="0"/>
        </a:xfrm>
      </p:grpSpPr>
      <p:sp>
        <p:nvSpPr>
          <p:cNvPr id="2" name="Shape 0"/>
          <p:cNvSpPr/>
          <p:nvPr/>
        </p:nvSpPr>
        <p:spPr>
          <a:xfrm>
            <a:off x="9802368" y="420624"/>
            <a:ext cx="1883664" cy="384048"/>
          </a:xfrm>
          <a:prstGeom prst="roundRect">
            <a:avLst>
              <a:gd name="adj" fmla="val 50000"/>
            </a:avLst>
          </a:prstGeom>
          <a:solidFill>
            <a:srgbClr val="DCE8ED"/>
          </a:solidFill>
          <a:ln w="12700">
            <a:solidFill>
              <a:srgbClr val="DCE8ED"/>
            </a:solidFill>
            <a:prstDash val="solid"/>
          </a:ln>
        </p:spPr>
        <p:txBody>
          <a:bodyPr/>
          <a:lstStyle/>
          <a:p>
            <a:endParaRPr lang="en-US"/>
          </a:p>
        </p:txBody>
      </p:sp>
      <p:sp>
        <p:nvSpPr>
          <p:cNvPr id="3" name="Text 1"/>
          <p:cNvSpPr txBox="1"/>
          <p:nvPr/>
        </p:nvSpPr>
        <p:spPr>
          <a:xfrm>
            <a:off x="9802368" y="420624"/>
            <a:ext cx="1883664" cy="384048"/>
          </a:xfrm>
          <a:prstGeom prst="rect">
            <a:avLst/>
          </a:prstGeom>
          <a:noFill/>
          <a:ln/>
        </p:spPr>
        <p:txBody>
          <a:bodyPr wrap="square" lIns="0" tIns="0" rIns="0" bIns="0" rtlCol="0" anchor="ctr"/>
          <a:lstStyle/>
          <a:p>
            <a:pPr marL="0" indent="0" algn="ctr">
              <a:buNone/>
            </a:pPr>
            <a:r>
              <a:rPr lang="en-US" sz="1200" b="1" dirty="0">
                <a:solidFill>
                  <a:srgbClr val="0B6A8F"/>
                </a:solidFill>
                <a:latin typeface="Calibri" pitchFamily="34" charset="0"/>
                <a:ea typeface="Calibri" pitchFamily="34" charset="-122"/>
                <a:cs typeface="Calibri" pitchFamily="34" charset="-120"/>
              </a:rPr>
              <a:t>Tuhin</a:t>
            </a:r>
            <a:endParaRPr lang="en-US" sz="1200" dirty="0"/>
          </a:p>
        </p:txBody>
      </p:sp>
      <p:sp>
        <p:nvSpPr>
          <p:cNvPr id="4" name="Text 2"/>
          <p:cNvSpPr txBox="1"/>
          <p:nvPr/>
        </p:nvSpPr>
        <p:spPr>
          <a:xfrm>
            <a:off x="548640" y="457200"/>
            <a:ext cx="9052560" cy="658368"/>
          </a:xfrm>
          <a:prstGeom prst="rect">
            <a:avLst/>
          </a:prstGeom>
          <a:noFill/>
          <a:ln/>
        </p:spPr>
        <p:txBody>
          <a:bodyPr wrap="square" lIns="0" tIns="0" rIns="0" bIns="0" rtlCol="0" anchor="ctr"/>
          <a:lstStyle/>
          <a:p>
            <a:pPr marL="0" indent="0">
              <a:buNone/>
            </a:pPr>
            <a:r>
              <a:rPr lang="en-US" sz="3000" b="1" dirty="0">
                <a:solidFill>
                  <a:srgbClr val="14303D"/>
                </a:solidFill>
                <a:latin typeface="Cambria" pitchFamily="34" charset="0"/>
                <a:ea typeface="Cambria" pitchFamily="34" charset="-122"/>
                <a:cs typeface="Cambria" pitchFamily="34" charset="-120"/>
              </a:rPr>
              <a:t>The investigator: turning a run into knowledge</a:t>
            </a:r>
            <a:endParaRPr lang="en-US" sz="3000" dirty="0"/>
          </a:p>
        </p:txBody>
      </p:sp>
      <p:pic>
        <p:nvPicPr>
          <p:cNvPr id="5" name="Image 0" descr="D:\Projects\Exploratory-Testing-Planner-Agent\Report\BUET_CSE_Capstone_Project_Template\figures\06-investigator-trajectory-to-knowledge.png"/>
          <p:cNvPicPr>
            <a:picLocks noChangeAspect="1"/>
          </p:cNvPicPr>
          <p:nvPr/>
        </p:nvPicPr>
        <p:blipFill>
          <a:blip r:embed="rId3"/>
          <a:stretch>
            <a:fillRect/>
          </a:stretch>
        </p:blipFill>
        <p:spPr>
          <a:xfrm>
            <a:off x="548640" y="1115568"/>
            <a:ext cx="11137392" cy="3543894"/>
          </a:xfrm>
          <a:prstGeom prst="rect">
            <a:avLst/>
          </a:prstGeom>
        </p:spPr>
      </p:pic>
      <p:sp>
        <p:nvSpPr>
          <p:cNvPr id="6" name="Text 3"/>
          <p:cNvSpPr txBox="1"/>
          <p:nvPr/>
        </p:nvSpPr>
        <p:spPr>
          <a:xfrm>
            <a:off x="548640" y="4890051"/>
            <a:ext cx="1737360" cy="365760"/>
          </a:xfrm>
          <a:prstGeom prst="rect">
            <a:avLst/>
          </a:prstGeom>
          <a:noFill/>
          <a:ln/>
        </p:spPr>
        <p:txBody>
          <a:bodyPr wrap="square" lIns="0" tIns="0" rIns="0" bIns="0" rtlCol="0" anchor="ctr"/>
          <a:lstStyle/>
          <a:p>
            <a:pPr marL="0" indent="0">
              <a:buNone/>
            </a:pPr>
            <a:r>
              <a:rPr lang="en-US" sz="1400" b="1" dirty="0">
                <a:solidFill>
                  <a:srgbClr val="0B6A8F"/>
                </a:solidFill>
                <a:latin typeface="Calibri" pitchFamily="34" charset="0"/>
                <a:ea typeface="Calibri" pitchFamily="34" charset="-122"/>
                <a:cs typeface="Calibri" pitchFamily="34" charset="-120"/>
              </a:rPr>
              <a:t>It is given</a:t>
            </a:r>
            <a:endParaRPr lang="en-US" sz="1400" dirty="0"/>
          </a:p>
        </p:txBody>
      </p:sp>
      <p:sp>
        <p:nvSpPr>
          <p:cNvPr id="7" name="Text 4"/>
          <p:cNvSpPr txBox="1"/>
          <p:nvPr/>
        </p:nvSpPr>
        <p:spPr>
          <a:xfrm>
            <a:off x="2377440" y="4890051"/>
            <a:ext cx="9326880" cy="685800"/>
          </a:xfrm>
          <a:prstGeom prst="rect">
            <a:avLst/>
          </a:prstGeom>
          <a:noFill/>
          <a:ln/>
        </p:spPr>
        <p:txBody>
          <a:bodyPr wrap="square" lIns="0" tIns="0" rIns="0" bIns="0" rtlCol="0" anchor="ctr"/>
          <a:lstStyle/>
          <a:p>
            <a:pPr marL="0" indent="0">
              <a:lnSpc>
                <a:spcPts val="1800"/>
              </a:lnSpc>
              <a:buNone/>
            </a:pPr>
            <a:r>
              <a:rPr lang="en-US" sz="1350" dirty="0">
                <a:solidFill>
                  <a:srgbClr val="14303D"/>
                </a:solidFill>
                <a:latin typeface="Calibri" pitchFamily="34" charset="0"/>
                <a:ea typeface="Calibri" pitchFamily="34" charset="-122"/>
                <a:cs typeface="Calibri" pitchFamily="34" charset="-120"/>
              </a:rPr>
              <a:t>the full trajectory, the test's own objective, and the findings already recorded for those screens</a:t>
            </a:r>
            <a:endParaRPr lang="en-US" sz="1350" dirty="0"/>
          </a:p>
        </p:txBody>
      </p:sp>
      <p:sp>
        <p:nvSpPr>
          <p:cNvPr id="8" name="Text 5"/>
          <p:cNvSpPr txBox="1"/>
          <p:nvPr/>
        </p:nvSpPr>
        <p:spPr>
          <a:xfrm>
            <a:off x="548640" y="5713011"/>
            <a:ext cx="1737360" cy="365760"/>
          </a:xfrm>
          <a:prstGeom prst="rect">
            <a:avLst/>
          </a:prstGeom>
          <a:noFill/>
          <a:ln/>
        </p:spPr>
        <p:txBody>
          <a:bodyPr wrap="square" lIns="0" tIns="0" rIns="0" bIns="0" rtlCol="0" anchor="ctr"/>
          <a:lstStyle/>
          <a:p>
            <a:pPr marL="0" indent="0">
              <a:buNone/>
            </a:pPr>
            <a:r>
              <a:rPr lang="en-US" sz="1400" b="1" dirty="0">
                <a:solidFill>
                  <a:srgbClr val="0B6A8F"/>
                </a:solidFill>
                <a:latin typeface="Calibri" pitchFamily="34" charset="0"/>
                <a:ea typeface="Calibri" pitchFamily="34" charset="-122"/>
                <a:cs typeface="Calibri" pitchFamily="34" charset="-120"/>
              </a:rPr>
              <a:t>It returns</a:t>
            </a:r>
            <a:endParaRPr lang="en-US" sz="1400" dirty="0"/>
          </a:p>
        </p:txBody>
      </p:sp>
      <p:sp>
        <p:nvSpPr>
          <p:cNvPr id="9" name="Text 6"/>
          <p:cNvSpPr txBox="1"/>
          <p:nvPr/>
        </p:nvSpPr>
        <p:spPr>
          <a:xfrm>
            <a:off x="2377440" y="5713011"/>
            <a:ext cx="9326880" cy="685800"/>
          </a:xfrm>
          <a:prstGeom prst="rect">
            <a:avLst/>
          </a:prstGeom>
          <a:noFill/>
          <a:ln/>
        </p:spPr>
        <p:txBody>
          <a:bodyPr wrap="square" lIns="0" tIns="0" rIns="0" bIns="0" rtlCol="0" anchor="ctr"/>
          <a:lstStyle/>
          <a:p>
            <a:pPr marL="0" indent="0">
              <a:lnSpc>
                <a:spcPts val="1800"/>
              </a:lnSpc>
              <a:buNone/>
            </a:pPr>
            <a:r>
              <a:rPr lang="en-US" sz="1350" dirty="0">
                <a:solidFill>
                  <a:srgbClr val="14303D"/>
                </a:solidFill>
                <a:latin typeface="Calibri" pitchFamily="34" charset="0"/>
                <a:ea typeface="Calibri" pitchFamily="34" charset="-122"/>
                <a:cs typeface="Calibri" pitchFamily="34" charset="-120"/>
              </a:rPr>
              <a:t>typed findings with a claim, evidence, severity, confidence and cited requirement ids</a:t>
            </a:r>
            <a:endParaRPr lang="en-US" sz="1350" dirty="0"/>
          </a:p>
        </p:txBody>
      </p:sp>
      <p:sp>
        <p:nvSpPr>
          <p:cNvPr id="10" name="Text 7"/>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900" dirty="0">
                <a:solidFill>
                  <a:srgbClr val="55697A"/>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8F9"/>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9052560" cy="658368"/>
          </a:xfrm>
          <a:prstGeom prst="rect">
            <a:avLst/>
          </a:prstGeom>
          <a:noFill/>
          <a:ln/>
        </p:spPr>
        <p:txBody>
          <a:bodyPr wrap="square" lIns="0" tIns="0" rIns="0" bIns="0" rtlCol="0" anchor="ctr"/>
          <a:lstStyle/>
          <a:p>
            <a:pPr marL="0" indent="0">
              <a:buNone/>
            </a:pPr>
            <a:r>
              <a:rPr lang="en-US" sz="3000" b="1" dirty="0">
                <a:solidFill>
                  <a:srgbClr val="14303D"/>
                </a:solidFill>
                <a:latin typeface="Cambria" pitchFamily="34" charset="0"/>
                <a:ea typeface="Cambria" pitchFamily="34" charset="-122"/>
                <a:cs typeface="Cambria" pitchFamily="34" charset="-120"/>
              </a:rPr>
              <a:t>Eight kinds of finding, and only two are defects</a:t>
            </a:r>
            <a:endParaRPr lang="en-US" sz="3000" dirty="0"/>
          </a:p>
        </p:txBody>
      </p:sp>
      <p:sp>
        <p:nvSpPr>
          <p:cNvPr id="3" name="Shape 1"/>
          <p:cNvSpPr/>
          <p:nvPr/>
        </p:nvSpPr>
        <p:spPr>
          <a:xfrm>
            <a:off x="548640" y="1837944"/>
            <a:ext cx="11137392" cy="502920"/>
          </a:xfrm>
          <a:prstGeom prst="rect">
            <a:avLst/>
          </a:prstGeom>
          <a:solidFill>
            <a:srgbClr val="EDF3F5"/>
          </a:solidFill>
          <a:ln w="12700">
            <a:solidFill>
              <a:srgbClr val="EDF3F5"/>
            </a:solidFill>
            <a:prstDash val="solid"/>
          </a:ln>
        </p:spPr>
        <p:txBody>
          <a:bodyPr/>
          <a:lstStyle/>
          <a:p>
            <a:endParaRPr lang="en-US"/>
          </a:p>
        </p:txBody>
      </p:sp>
      <p:sp>
        <p:nvSpPr>
          <p:cNvPr id="4" name="Text 2"/>
          <p:cNvSpPr txBox="1"/>
          <p:nvPr/>
        </p:nvSpPr>
        <p:spPr>
          <a:xfrm>
            <a:off x="749808" y="1874520"/>
            <a:ext cx="3840480" cy="429768"/>
          </a:xfrm>
          <a:prstGeom prst="rect">
            <a:avLst/>
          </a:prstGeom>
          <a:noFill/>
          <a:ln/>
        </p:spPr>
        <p:txBody>
          <a:bodyPr wrap="square" lIns="0" tIns="0" rIns="0" bIns="0" rtlCol="0" anchor="ctr"/>
          <a:lstStyle/>
          <a:p>
            <a:pPr marL="0" indent="0">
              <a:buNone/>
            </a:pPr>
            <a:r>
              <a:rPr lang="en-US" sz="1300" b="1" dirty="0">
                <a:solidFill>
                  <a:srgbClr val="0B6A8F"/>
                </a:solidFill>
                <a:latin typeface="Consolas" pitchFamily="34" charset="0"/>
                <a:ea typeface="Consolas" pitchFamily="34" charset="-122"/>
                <a:cs typeface="Consolas" pitchFamily="34" charset="-120"/>
              </a:rPr>
              <a:t>SPEC_VIOLATION</a:t>
            </a:r>
            <a:endParaRPr lang="en-US" sz="1300" dirty="0"/>
          </a:p>
        </p:txBody>
      </p:sp>
      <p:sp>
        <p:nvSpPr>
          <p:cNvPr id="5" name="Text 3"/>
          <p:cNvSpPr txBox="1"/>
          <p:nvPr/>
        </p:nvSpPr>
        <p:spPr>
          <a:xfrm>
            <a:off x="4681728" y="1874520"/>
            <a:ext cx="6793992" cy="429768"/>
          </a:xfrm>
          <a:prstGeom prst="rect">
            <a:avLst/>
          </a:prstGeom>
          <a:noFill/>
          <a:ln/>
        </p:spPr>
        <p:txBody>
          <a:bodyPr wrap="square" lIns="0" tIns="0" rIns="0" bIns="0" rtlCol="0" anchor="ctr"/>
          <a:lstStyle/>
          <a:p>
            <a:pPr marL="0" indent="0">
              <a:buNone/>
            </a:pPr>
            <a:r>
              <a:rPr lang="en-US" sz="1300" dirty="0">
                <a:solidFill>
                  <a:srgbClr val="14303D"/>
                </a:solidFill>
                <a:latin typeface="Calibri" pitchFamily="34" charset="0"/>
                <a:ea typeface="Calibri" pitchFamily="34" charset="-122"/>
                <a:cs typeface="Calibri" pitchFamily="34" charset="-120"/>
              </a:rPr>
              <a:t>observed behaviour contradicts a cited requirement</a:t>
            </a:r>
            <a:endParaRPr lang="en-US" sz="1300" dirty="0"/>
          </a:p>
        </p:txBody>
      </p:sp>
      <p:sp>
        <p:nvSpPr>
          <p:cNvPr id="6" name="Text 4"/>
          <p:cNvSpPr txBox="1"/>
          <p:nvPr/>
        </p:nvSpPr>
        <p:spPr>
          <a:xfrm>
            <a:off x="749808" y="2377440"/>
            <a:ext cx="3840480" cy="429768"/>
          </a:xfrm>
          <a:prstGeom prst="rect">
            <a:avLst/>
          </a:prstGeom>
          <a:noFill/>
          <a:ln/>
        </p:spPr>
        <p:txBody>
          <a:bodyPr wrap="square" lIns="0" tIns="0" rIns="0" bIns="0" rtlCol="0" anchor="ctr"/>
          <a:lstStyle/>
          <a:p>
            <a:pPr marL="0" indent="0">
              <a:buNone/>
            </a:pPr>
            <a:r>
              <a:rPr lang="en-US" sz="1300" b="1" dirty="0">
                <a:solidFill>
                  <a:srgbClr val="0B6A8F"/>
                </a:solidFill>
                <a:latin typeface="Consolas" pitchFamily="34" charset="0"/>
                <a:ea typeface="Consolas" pitchFamily="34" charset="-122"/>
                <a:cs typeface="Consolas" pitchFamily="34" charset="-120"/>
              </a:rPr>
              <a:t>SUSPECTED_DEFECT</a:t>
            </a:r>
            <a:endParaRPr lang="en-US" sz="1300" dirty="0"/>
          </a:p>
        </p:txBody>
      </p:sp>
      <p:sp>
        <p:nvSpPr>
          <p:cNvPr id="7" name="Text 5"/>
          <p:cNvSpPr txBox="1"/>
          <p:nvPr/>
        </p:nvSpPr>
        <p:spPr>
          <a:xfrm>
            <a:off x="4681728" y="2377440"/>
            <a:ext cx="6793992" cy="429768"/>
          </a:xfrm>
          <a:prstGeom prst="rect">
            <a:avLst/>
          </a:prstGeom>
          <a:noFill/>
          <a:ln/>
        </p:spPr>
        <p:txBody>
          <a:bodyPr wrap="square" lIns="0" tIns="0" rIns="0" bIns="0" rtlCol="0" anchor="ctr"/>
          <a:lstStyle/>
          <a:p>
            <a:pPr marL="0" indent="0">
              <a:buNone/>
            </a:pPr>
            <a:r>
              <a:rPr lang="en-US" sz="1300" dirty="0">
                <a:solidFill>
                  <a:srgbClr val="14303D"/>
                </a:solidFill>
                <a:latin typeface="Calibri" pitchFamily="34" charset="0"/>
                <a:ea typeface="Calibri" pitchFamily="34" charset="-122"/>
                <a:cs typeface="Calibri" pitchFamily="34" charset="-120"/>
              </a:rPr>
              <a:t>looks wrong against universal expectations, no requirement covers it</a:t>
            </a:r>
            <a:endParaRPr lang="en-US" sz="1300" dirty="0"/>
          </a:p>
        </p:txBody>
      </p:sp>
      <p:sp>
        <p:nvSpPr>
          <p:cNvPr id="8" name="Shape 6"/>
          <p:cNvSpPr/>
          <p:nvPr/>
        </p:nvSpPr>
        <p:spPr>
          <a:xfrm>
            <a:off x="548640" y="2843784"/>
            <a:ext cx="11137392" cy="502920"/>
          </a:xfrm>
          <a:prstGeom prst="rect">
            <a:avLst/>
          </a:prstGeom>
          <a:solidFill>
            <a:srgbClr val="EDF3F5"/>
          </a:solidFill>
          <a:ln w="12700">
            <a:solidFill>
              <a:srgbClr val="EDF3F5"/>
            </a:solidFill>
            <a:prstDash val="solid"/>
          </a:ln>
        </p:spPr>
        <p:txBody>
          <a:bodyPr/>
          <a:lstStyle/>
          <a:p>
            <a:endParaRPr lang="en-US"/>
          </a:p>
        </p:txBody>
      </p:sp>
      <p:sp>
        <p:nvSpPr>
          <p:cNvPr id="9" name="Text 7"/>
          <p:cNvSpPr txBox="1"/>
          <p:nvPr/>
        </p:nvSpPr>
        <p:spPr>
          <a:xfrm>
            <a:off x="749808" y="2880360"/>
            <a:ext cx="3840480" cy="429768"/>
          </a:xfrm>
          <a:prstGeom prst="rect">
            <a:avLst/>
          </a:prstGeom>
          <a:noFill/>
          <a:ln/>
        </p:spPr>
        <p:txBody>
          <a:bodyPr wrap="square" lIns="0" tIns="0" rIns="0" bIns="0" rtlCol="0" anchor="ctr"/>
          <a:lstStyle/>
          <a:p>
            <a:pPr marL="0" indent="0">
              <a:buNone/>
            </a:pPr>
            <a:r>
              <a:rPr lang="en-US" sz="1300" b="1" dirty="0">
                <a:solidFill>
                  <a:srgbClr val="0B6A8F"/>
                </a:solidFill>
                <a:latin typeface="Consolas" pitchFamily="34" charset="0"/>
                <a:ea typeface="Consolas" pitchFamily="34" charset="-122"/>
                <a:cs typeface="Consolas" pitchFamily="34" charset="-120"/>
              </a:rPr>
              <a:t>CONFIRMED_BEHAVIOUR</a:t>
            </a:r>
            <a:endParaRPr lang="en-US" sz="1300" dirty="0"/>
          </a:p>
        </p:txBody>
      </p:sp>
      <p:sp>
        <p:nvSpPr>
          <p:cNvPr id="10" name="Text 8"/>
          <p:cNvSpPr txBox="1"/>
          <p:nvPr/>
        </p:nvSpPr>
        <p:spPr>
          <a:xfrm>
            <a:off x="4681728" y="2880360"/>
            <a:ext cx="6793992" cy="429768"/>
          </a:xfrm>
          <a:prstGeom prst="rect">
            <a:avLst/>
          </a:prstGeom>
          <a:noFill/>
          <a:ln/>
        </p:spPr>
        <p:txBody>
          <a:bodyPr wrap="square" lIns="0" tIns="0" rIns="0" bIns="0" rtlCol="0" anchor="ctr"/>
          <a:lstStyle/>
          <a:p>
            <a:pPr marL="0" indent="0">
              <a:buNone/>
            </a:pPr>
            <a:r>
              <a:rPr lang="en-US" sz="1300" dirty="0">
                <a:solidFill>
                  <a:srgbClr val="14303D"/>
                </a:solidFill>
                <a:latin typeface="Calibri" pitchFamily="34" charset="0"/>
                <a:ea typeface="Calibri" pitchFamily="34" charset="-122"/>
                <a:cs typeface="Calibri" pitchFamily="34" charset="-120"/>
              </a:rPr>
              <a:t>verified working as specified</a:t>
            </a:r>
            <a:endParaRPr lang="en-US" sz="1300" dirty="0"/>
          </a:p>
        </p:txBody>
      </p:sp>
      <p:sp>
        <p:nvSpPr>
          <p:cNvPr id="11" name="Text 9"/>
          <p:cNvSpPr txBox="1"/>
          <p:nvPr/>
        </p:nvSpPr>
        <p:spPr>
          <a:xfrm>
            <a:off x="749808" y="3383280"/>
            <a:ext cx="3840480" cy="429768"/>
          </a:xfrm>
          <a:prstGeom prst="rect">
            <a:avLst/>
          </a:prstGeom>
          <a:noFill/>
          <a:ln/>
        </p:spPr>
        <p:txBody>
          <a:bodyPr wrap="square" lIns="0" tIns="0" rIns="0" bIns="0" rtlCol="0" anchor="ctr"/>
          <a:lstStyle/>
          <a:p>
            <a:pPr marL="0" indent="0">
              <a:buNone/>
            </a:pPr>
            <a:r>
              <a:rPr lang="en-US" sz="1300" b="1" dirty="0">
                <a:solidFill>
                  <a:srgbClr val="0B6A8F"/>
                </a:solidFill>
                <a:latin typeface="Consolas" pitchFamily="34" charset="0"/>
                <a:ea typeface="Consolas" pitchFamily="34" charset="-122"/>
                <a:cs typeface="Consolas" pitchFamily="34" charset="-120"/>
              </a:rPr>
              <a:t>UNEXPECTED_BEHAVIOUR</a:t>
            </a:r>
            <a:endParaRPr lang="en-US" sz="1300" dirty="0"/>
          </a:p>
        </p:txBody>
      </p:sp>
      <p:sp>
        <p:nvSpPr>
          <p:cNvPr id="12" name="Text 10"/>
          <p:cNvSpPr txBox="1"/>
          <p:nvPr/>
        </p:nvSpPr>
        <p:spPr>
          <a:xfrm>
            <a:off x="4681728" y="3383280"/>
            <a:ext cx="6793992" cy="429768"/>
          </a:xfrm>
          <a:prstGeom prst="rect">
            <a:avLst/>
          </a:prstGeom>
          <a:noFill/>
          <a:ln/>
        </p:spPr>
        <p:txBody>
          <a:bodyPr wrap="square" lIns="0" tIns="0" rIns="0" bIns="0" rtlCol="0" anchor="ctr"/>
          <a:lstStyle/>
          <a:p>
            <a:pPr marL="0" indent="0">
              <a:buNone/>
            </a:pPr>
            <a:r>
              <a:rPr lang="en-US" sz="1300" dirty="0">
                <a:solidFill>
                  <a:srgbClr val="14303D"/>
                </a:solidFill>
                <a:latin typeface="Calibri" pitchFamily="34" charset="0"/>
                <a:ea typeface="Calibri" pitchFamily="34" charset="-122"/>
                <a:cs typeface="Calibri" pitchFamily="34" charset="-120"/>
              </a:rPr>
              <a:t>surprising or undocumented, needs judgement</a:t>
            </a:r>
            <a:endParaRPr lang="en-US" sz="1300" dirty="0"/>
          </a:p>
        </p:txBody>
      </p:sp>
      <p:sp>
        <p:nvSpPr>
          <p:cNvPr id="13" name="Shape 11"/>
          <p:cNvSpPr/>
          <p:nvPr/>
        </p:nvSpPr>
        <p:spPr>
          <a:xfrm>
            <a:off x="548640" y="3849624"/>
            <a:ext cx="11137392" cy="502920"/>
          </a:xfrm>
          <a:prstGeom prst="rect">
            <a:avLst/>
          </a:prstGeom>
          <a:solidFill>
            <a:srgbClr val="EDF3F5"/>
          </a:solidFill>
          <a:ln w="12700">
            <a:solidFill>
              <a:srgbClr val="EDF3F5"/>
            </a:solidFill>
            <a:prstDash val="solid"/>
          </a:ln>
        </p:spPr>
        <p:txBody>
          <a:bodyPr/>
          <a:lstStyle/>
          <a:p>
            <a:endParaRPr lang="en-US"/>
          </a:p>
        </p:txBody>
      </p:sp>
      <p:sp>
        <p:nvSpPr>
          <p:cNvPr id="14" name="Text 12"/>
          <p:cNvSpPr txBox="1"/>
          <p:nvPr/>
        </p:nvSpPr>
        <p:spPr>
          <a:xfrm>
            <a:off x="749808" y="3886200"/>
            <a:ext cx="3840480" cy="429768"/>
          </a:xfrm>
          <a:prstGeom prst="rect">
            <a:avLst/>
          </a:prstGeom>
          <a:noFill/>
          <a:ln/>
        </p:spPr>
        <p:txBody>
          <a:bodyPr wrap="square" lIns="0" tIns="0" rIns="0" bIns="0" rtlCol="0" anchor="ctr"/>
          <a:lstStyle/>
          <a:p>
            <a:pPr marL="0" indent="0">
              <a:buNone/>
            </a:pPr>
            <a:r>
              <a:rPr lang="en-US" sz="1300" b="1" dirty="0">
                <a:solidFill>
                  <a:srgbClr val="0B6A8F"/>
                </a:solidFill>
                <a:latin typeface="Consolas" pitchFamily="34" charset="0"/>
                <a:ea typeface="Consolas" pitchFamily="34" charset="-122"/>
                <a:cs typeface="Consolas" pitchFamily="34" charset="-120"/>
              </a:rPr>
              <a:t>SPEC_GAP</a:t>
            </a:r>
            <a:endParaRPr lang="en-US" sz="1300" dirty="0"/>
          </a:p>
        </p:txBody>
      </p:sp>
      <p:sp>
        <p:nvSpPr>
          <p:cNvPr id="15" name="Text 13"/>
          <p:cNvSpPr txBox="1"/>
          <p:nvPr/>
        </p:nvSpPr>
        <p:spPr>
          <a:xfrm>
            <a:off x="4681728" y="3886200"/>
            <a:ext cx="6793992" cy="429768"/>
          </a:xfrm>
          <a:prstGeom prst="rect">
            <a:avLst/>
          </a:prstGeom>
          <a:noFill/>
          <a:ln/>
        </p:spPr>
        <p:txBody>
          <a:bodyPr wrap="square" lIns="0" tIns="0" rIns="0" bIns="0" rtlCol="0" anchor="ctr"/>
          <a:lstStyle/>
          <a:p>
            <a:pPr marL="0" indent="0">
              <a:buNone/>
            </a:pPr>
            <a:r>
              <a:rPr lang="en-US" sz="1300" dirty="0">
                <a:solidFill>
                  <a:srgbClr val="14303D"/>
                </a:solidFill>
                <a:latin typeface="Calibri" pitchFamily="34" charset="0"/>
                <a:ea typeface="Calibri" pitchFamily="34" charset="-122"/>
                <a:cs typeface="Calibri" pitchFamily="34" charset="-120"/>
              </a:rPr>
              <a:t>real behaviour the requirements do not describe</a:t>
            </a:r>
            <a:endParaRPr lang="en-US" sz="1300" dirty="0"/>
          </a:p>
        </p:txBody>
      </p:sp>
      <p:sp>
        <p:nvSpPr>
          <p:cNvPr id="16" name="Text 14"/>
          <p:cNvSpPr txBox="1"/>
          <p:nvPr/>
        </p:nvSpPr>
        <p:spPr>
          <a:xfrm>
            <a:off x="749808" y="4389120"/>
            <a:ext cx="3840480" cy="429768"/>
          </a:xfrm>
          <a:prstGeom prst="rect">
            <a:avLst/>
          </a:prstGeom>
          <a:noFill/>
          <a:ln/>
        </p:spPr>
        <p:txBody>
          <a:bodyPr wrap="square" lIns="0" tIns="0" rIns="0" bIns="0" rtlCol="0" anchor="ctr"/>
          <a:lstStyle/>
          <a:p>
            <a:pPr marL="0" indent="0">
              <a:buNone/>
            </a:pPr>
            <a:r>
              <a:rPr lang="en-US" sz="1300" b="1" dirty="0">
                <a:solidFill>
                  <a:srgbClr val="0B6A8F"/>
                </a:solidFill>
                <a:latin typeface="Consolas" pitchFamily="34" charset="0"/>
                <a:ea typeface="Consolas" pitchFamily="34" charset="-122"/>
                <a:cs typeface="Consolas" pitchFamily="34" charset="-120"/>
              </a:rPr>
              <a:t>UNVERIFIED</a:t>
            </a:r>
            <a:endParaRPr lang="en-US" sz="1300" dirty="0"/>
          </a:p>
        </p:txBody>
      </p:sp>
      <p:sp>
        <p:nvSpPr>
          <p:cNvPr id="17" name="Text 15"/>
          <p:cNvSpPr txBox="1"/>
          <p:nvPr/>
        </p:nvSpPr>
        <p:spPr>
          <a:xfrm>
            <a:off x="4681728" y="4389120"/>
            <a:ext cx="6793992" cy="429768"/>
          </a:xfrm>
          <a:prstGeom prst="rect">
            <a:avLst/>
          </a:prstGeom>
          <a:noFill/>
          <a:ln/>
        </p:spPr>
        <p:txBody>
          <a:bodyPr wrap="square" lIns="0" tIns="0" rIns="0" bIns="0" rtlCol="0" anchor="ctr"/>
          <a:lstStyle/>
          <a:p>
            <a:pPr marL="0" indent="0">
              <a:buNone/>
            </a:pPr>
            <a:r>
              <a:rPr lang="en-US" sz="1300" dirty="0">
                <a:solidFill>
                  <a:srgbClr val="14303D"/>
                </a:solidFill>
                <a:latin typeface="Calibri" pitchFamily="34" charset="0"/>
                <a:ea typeface="Calibri" pitchFamily="34" charset="-122"/>
                <a:cs typeface="Calibri" pitchFamily="34" charset="-120"/>
              </a:rPr>
              <a:t>could not be determined this run</a:t>
            </a:r>
            <a:endParaRPr lang="en-US" sz="1300" dirty="0"/>
          </a:p>
        </p:txBody>
      </p:sp>
      <p:sp>
        <p:nvSpPr>
          <p:cNvPr id="18" name="Shape 16"/>
          <p:cNvSpPr/>
          <p:nvPr/>
        </p:nvSpPr>
        <p:spPr>
          <a:xfrm>
            <a:off x="548640" y="4855464"/>
            <a:ext cx="11137392" cy="502920"/>
          </a:xfrm>
          <a:prstGeom prst="rect">
            <a:avLst/>
          </a:prstGeom>
          <a:solidFill>
            <a:srgbClr val="EDF3F5"/>
          </a:solidFill>
          <a:ln w="12700">
            <a:solidFill>
              <a:srgbClr val="EDF3F5"/>
            </a:solidFill>
            <a:prstDash val="solid"/>
          </a:ln>
        </p:spPr>
        <p:txBody>
          <a:bodyPr/>
          <a:lstStyle/>
          <a:p>
            <a:endParaRPr lang="en-US"/>
          </a:p>
        </p:txBody>
      </p:sp>
      <p:sp>
        <p:nvSpPr>
          <p:cNvPr id="19" name="Text 17"/>
          <p:cNvSpPr txBox="1"/>
          <p:nvPr/>
        </p:nvSpPr>
        <p:spPr>
          <a:xfrm>
            <a:off x="749808" y="4892040"/>
            <a:ext cx="3840480" cy="429768"/>
          </a:xfrm>
          <a:prstGeom prst="rect">
            <a:avLst/>
          </a:prstGeom>
          <a:noFill/>
          <a:ln/>
        </p:spPr>
        <p:txBody>
          <a:bodyPr wrap="square" lIns="0" tIns="0" rIns="0" bIns="0" rtlCol="0" anchor="ctr"/>
          <a:lstStyle/>
          <a:p>
            <a:pPr marL="0" indent="0">
              <a:buNone/>
            </a:pPr>
            <a:r>
              <a:rPr lang="en-US" sz="1300" b="1" dirty="0">
                <a:solidFill>
                  <a:srgbClr val="0B6A8F"/>
                </a:solidFill>
                <a:latin typeface="Consolas" pitchFamily="34" charset="0"/>
                <a:ea typeface="Consolas" pitchFamily="34" charset="-122"/>
                <a:cs typeface="Consolas" pitchFamily="34" charset="-120"/>
              </a:rPr>
              <a:t>CONTROL_DISCOVERED</a:t>
            </a:r>
            <a:endParaRPr lang="en-US" sz="1300" dirty="0"/>
          </a:p>
        </p:txBody>
      </p:sp>
      <p:sp>
        <p:nvSpPr>
          <p:cNvPr id="20" name="Text 18"/>
          <p:cNvSpPr txBox="1"/>
          <p:nvPr/>
        </p:nvSpPr>
        <p:spPr>
          <a:xfrm>
            <a:off x="4681728" y="4892040"/>
            <a:ext cx="6793992" cy="429768"/>
          </a:xfrm>
          <a:prstGeom prst="rect">
            <a:avLst/>
          </a:prstGeom>
          <a:noFill/>
          <a:ln/>
        </p:spPr>
        <p:txBody>
          <a:bodyPr wrap="square" lIns="0" tIns="0" rIns="0" bIns="0" rtlCol="0" anchor="ctr"/>
          <a:lstStyle/>
          <a:p>
            <a:pPr marL="0" indent="0">
              <a:buNone/>
            </a:pPr>
            <a:r>
              <a:rPr lang="en-US" sz="1300" dirty="0">
                <a:solidFill>
                  <a:srgbClr val="14303D"/>
                </a:solidFill>
                <a:latin typeface="Calibri" pitchFamily="34" charset="0"/>
                <a:ea typeface="Calibri" pitchFamily="34" charset="-122"/>
                <a:cs typeface="Calibri" pitchFamily="34" charset="-120"/>
              </a:rPr>
              <a:t>a control or screen observed at runtime</a:t>
            </a:r>
            <a:endParaRPr lang="en-US" sz="1300" dirty="0"/>
          </a:p>
        </p:txBody>
      </p:sp>
      <p:sp>
        <p:nvSpPr>
          <p:cNvPr id="21" name="Text 19"/>
          <p:cNvSpPr txBox="1"/>
          <p:nvPr/>
        </p:nvSpPr>
        <p:spPr>
          <a:xfrm>
            <a:off x="749808" y="5394960"/>
            <a:ext cx="3840480" cy="429768"/>
          </a:xfrm>
          <a:prstGeom prst="rect">
            <a:avLst/>
          </a:prstGeom>
          <a:noFill/>
          <a:ln/>
        </p:spPr>
        <p:txBody>
          <a:bodyPr wrap="square" lIns="0" tIns="0" rIns="0" bIns="0" rtlCol="0" anchor="ctr"/>
          <a:lstStyle/>
          <a:p>
            <a:pPr marL="0" indent="0">
              <a:buNone/>
            </a:pPr>
            <a:r>
              <a:rPr lang="en-US" sz="1300" b="1" dirty="0">
                <a:solidFill>
                  <a:srgbClr val="0B6A8F"/>
                </a:solidFill>
                <a:latin typeface="Consolas" pitchFamily="34" charset="0"/>
                <a:ea typeface="Consolas" pitchFamily="34" charset="-122"/>
                <a:cs typeface="Consolas" pitchFamily="34" charset="-120"/>
              </a:rPr>
              <a:t>AGENT_DIFFICULTY</a:t>
            </a:r>
            <a:endParaRPr lang="en-US" sz="1300" dirty="0"/>
          </a:p>
        </p:txBody>
      </p:sp>
      <p:sp>
        <p:nvSpPr>
          <p:cNvPr id="22" name="Text 20"/>
          <p:cNvSpPr txBox="1"/>
          <p:nvPr/>
        </p:nvSpPr>
        <p:spPr>
          <a:xfrm>
            <a:off x="4681728" y="5394960"/>
            <a:ext cx="6793992" cy="429768"/>
          </a:xfrm>
          <a:prstGeom prst="rect">
            <a:avLst/>
          </a:prstGeom>
          <a:noFill/>
          <a:ln/>
        </p:spPr>
        <p:txBody>
          <a:bodyPr wrap="square" lIns="0" tIns="0" rIns="0" bIns="0" rtlCol="0" anchor="ctr"/>
          <a:lstStyle/>
          <a:p>
            <a:pPr marL="0" indent="0">
              <a:buNone/>
            </a:pPr>
            <a:r>
              <a:rPr lang="en-US" sz="1300" dirty="0">
                <a:solidFill>
                  <a:srgbClr val="14303D"/>
                </a:solidFill>
                <a:latin typeface="Calibri" pitchFamily="34" charset="0"/>
                <a:ea typeface="Calibri" pitchFamily="34" charset="-122"/>
                <a:cs typeface="Calibri" pitchFamily="34" charset="-120"/>
              </a:rPr>
              <a:t>our own agent struggled here, never app evidence</a:t>
            </a:r>
            <a:endParaRPr lang="en-US" sz="1300" dirty="0"/>
          </a:p>
        </p:txBody>
      </p:sp>
      <p:sp>
        <p:nvSpPr>
          <p:cNvPr id="23" name="Shape 21"/>
          <p:cNvSpPr/>
          <p:nvPr/>
        </p:nvSpPr>
        <p:spPr>
          <a:xfrm>
            <a:off x="548640" y="5989320"/>
            <a:ext cx="11137392" cy="566928"/>
          </a:xfrm>
          <a:prstGeom prst="roundRect">
            <a:avLst>
              <a:gd name="adj" fmla="val 9677"/>
            </a:avLst>
          </a:prstGeom>
          <a:solidFill>
            <a:srgbClr val="14303D"/>
          </a:solidFill>
          <a:ln w="12700">
            <a:solidFill>
              <a:srgbClr val="D5E0E5"/>
            </a:solidFill>
            <a:prstDash val="solid"/>
          </a:ln>
          <a:effectLst>
            <a:outerShdw blurRad="101600" dist="12700" dir="5400000" algn="bl" rotWithShape="0">
              <a:srgbClr val="14303D">
                <a:alpha val="7000"/>
              </a:srgbClr>
            </a:outerShdw>
          </a:effectLst>
        </p:spPr>
        <p:txBody>
          <a:bodyPr/>
          <a:lstStyle/>
          <a:p>
            <a:endParaRPr lang="en-US"/>
          </a:p>
        </p:txBody>
      </p:sp>
      <p:sp>
        <p:nvSpPr>
          <p:cNvPr id="24" name="Text 22"/>
          <p:cNvSpPr txBox="1"/>
          <p:nvPr/>
        </p:nvSpPr>
        <p:spPr>
          <a:xfrm>
            <a:off x="914400" y="5989320"/>
            <a:ext cx="10424160" cy="566928"/>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Only the first two ever reach a defect report. The rest are knowledge, and a spec gap is a finding about the specification, not the app.</a:t>
            </a:r>
            <a:endParaRPr lang="en-US" sz="1250" dirty="0"/>
          </a:p>
        </p:txBody>
      </p:sp>
      <p:sp>
        <p:nvSpPr>
          <p:cNvPr id="25" name="Text 23"/>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900" dirty="0">
                <a:solidFill>
                  <a:srgbClr val="55697A"/>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8F9"/>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9052560" cy="658368"/>
          </a:xfrm>
          <a:prstGeom prst="rect">
            <a:avLst/>
          </a:prstGeom>
          <a:noFill/>
          <a:ln/>
        </p:spPr>
        <p:txBody>
          <a:bodyPr wrap="square" lIns="0" tIns="0" rIns="0" bIns="0" rtlCol="0" anchor="ctr"/>
          <a:lstStyle/>
          <a:p>
            <a:pPr marL="0" indent="0">
              <a:buNone/>
            </a:pPr>
            <a:r>
              <a:rPr lang="en-US" sz="3000" b="1" dirty="0">
                <a:solidFill>
                  <a:srgbClr val="14303D"/>
                </a:solidFill>
                <a:latin typeface="Cambria" pitchFamily="34" charset="0"/>
                <a:ea typeface="Cambria" pitchFamily="34" charset="-122"/>
                <a:cs typeface="Cambria" pitchFamily="34" charset="-120"/>
              </a:rPr>
              <a:t>The same finding, seen three times, is not three findings</a:t>
            </a:r>
            <a:endParaRPr lang="en-US" sz="3000" dirty="0"/>
          </a:p>
        </p:txBody>
      </p:sp>
      <p:sp>
        <p:nvSpPr>
          <p:cNvPr id="3" name="Shape 1"/>
          <p:cNvSpPr/>
          <p:nvPr/>
        </p:nvSpPr>
        <p:spPr>
          <a:xfrm>
            <a:off x="548640" y="1920240"/>
            <a:ext cx="5486400" cy="2194560"/>
          </a:xfrm>
          <a:prstGeom prst="roundRect">
            <a:avLst>
              <a:gd name="adj" fmla="val 2500"/>
            </a:avLst>
          </a:prstGeom>
          <a:solidFill>
            <a:srgbClr val="14303D"/>
          </a:solidFill>
          <a:ln w="12700">
            <a:solidFill>
              <a:srgbClr val="D5E0E5"/>
            </a:solidFill>
            <a:prstDash val="solid"/>
          </a:ln>
          <a:effectLst>
            <a:outerShdw blurRad="101600" dist="12700" dir="5400000" algn="bl" rotWithShape="0">
              <a:srgbClr val="14303D">
                <a:alpha val="7000"/>
              </a:srgbClr>
            </a:outerShdw>
          </a:effectLst>
        </p:spPr>
        <p:txBody>
          <a:bodyPr/>
          <a:lstStyle/>
          <a:p>
            <a:endParaRPr lang="en-US"/>
          </a:p>
        </p:txBody>
      </p:sp>
      <p:sp>
        <p:nvSpPr>
          <p:cNvPr id="4" name="Text 2"/>
          <p:cNvSpPr txBox="1"/>
          <p:nvPr/>
        </p:nvSpPr>
        <p:spPr>
          <a:xfrm>
            <a:off x="914400" y="2148840"/>
            <a:ext cx="4754880" cy="365760"/>
          </a:xfrm>
          <a:prstGeom prst="rect">
            <a:avLst/>
          </a:prstGeom>
          <a:noFill/>
          <a:ln/>
        </p:spPr>
        <p:txBody>
          <a:bodyPr wrap="square" lIns="0" tIns="0" rIns="0" bIns="0" rtlCol="0" anchor="ctr"/>
          <a:lstStyle/>
          <a:p>
            <a:pPr marL="0" indent="0">
              <a:buNone/>
            </a:pPr>
            <a:r>
              <a:rPr lang="en-US" sz="1600" b="1" dirty="0">
                <a:solidFill>
                  <a:srgbClr val="7FB3C8"/>
                </a:solidFill>
                <a:latin typeface="Consolas" pitchFamily="34" charset="0"/>
                <a:ea typeface="Consolas" pitchFamily="34" charset="-122"/>
                <a:cs typeface="Consolas" pitchFamily="34" charset="-120"/>
              </a:rPr>
              <a:t>times_seen</a:t>
            </a:r>
            <a:endParaRPr lang="en-US" sz="1600" dirty="0"/>
          </a:p>
        </p:txBody>
      </p:sp>
      <p:sp>
        <p:nvSpPr>
          <p:cNvPr id="5" name="Text 3"/>
          <p:cNvSpPr txBox="1"/>
          <p:nvPr/>
        </p:nvSpPr>
        <p:spPr>
          <a:xfrm>
            <a:off x="914400" y="2606040"/>
            <a:ext cx="4754880" cy="1280160"/>
          </a:xfrm>
          <a:prstGeom prst="rect">
            <a:avLst/>
          </a:prstGeom>
          <a:noFill/>
          <a:ln/>
        </p:spPr>
        <p:txBody>
          <a:bodyPr wrap="square" lIns="0" tIns="0" rIns="0" bIns="0" rtlCol="0" anchor="ctr"/>
          <a:lstStyle/>
          <a:p>
            <a:pPr marL="0" indent="0">
              <a:lnSpc>
                <a:spcPts val="1900"/>
              </a:lnSpc>
              <a:buNone/>
            </a:pPr>
            <a:r>
              <a:rPr lang="en-US" sz="1400" dirty="0">
                <a:solidFill>
                  <a:srgbClr val="FFFFFF"/>
                </a:solidFill>
                <a:latin typeface="Calibri" pitchFamily="34" charset="0"/>
                <a:ea typeface="Calibri" pitchFamily="34" charset="-122"/>
                <a:cs typeface="Calibri" pitchFamily="34" charset="-120"/>
              </a:rPr>
              <a:t>A repeat observation raises the count on the existing finding instead of creating a near duplicate.</a:t>
            </a:r>
            <a:endParaRPr lang="en-US" sz="1400" dirty="0"/>
          </a:p>
        </p:txBody>
      </p:sp>
      <p:sp>
        <p:nvSpPr>
          <p:cNvPr id="6" name="Shape 4"/>
          <p:cNvSpPr/>
          <p:nvPr/>
        </p:nvSpPr>
        <p:spPr>
          <a:xfrm>
            <a:off x="6309360" y="1920240"/>
            <a:ext cx="5376672" cy="2194560"/>
          </a:xfrm>
          <a:prstGeom prst="roundRect">
            <a:avLst>
              <a:gd name="adj" fmla="val 2500"/>
            </a:avLst>
          </a:prstGeom>
          <a:solidFill>
            <a:srgbClr val="FFFFFF"/>
          </a:solidFill>
          <a:ln w="12700">
            <a:solidFill>
              <a:srgbClr val="D5E0E5"/>
            </a:solidFill>
            <a:prstDash val="solid"/>
          </a:ln>
          <a:effectLst>
            <a:outerShdw blurRad="101600" dist="12700" dir="5400000" algn="bl" rotWithShape="0">
              <a:srgbClr val="14303D">
                <a:alpha val="7000"/>
              </a:srgbClr>
            </a:outerShdw>
          </a:effectLst>
        </p:spPr>
        <p:txBody>
          <a:bodyPr/>
          <a:lstStyle/>
          <a:p>
            <a:endParaRPr lang="en-US"/>
          </a:p>
        </p:txBody>
      </p:sp>
      <p:sp>
        <p:nvSpPr>
          <p:cNvPr id="7" name="Text 5"/>
          <p:cNvSpPr txBox="1"/>
          <p:nvPr/>
        </p:nvSpPr>
        <p:spPr>
          <a:xfrm>
            <a:off x="6629400" y="2148840"/>
            <a:ext cx="4754880" cy="320040"/>
          </a:xfrm>
          <a:prstGeom prst="rect">
            <a:avLst/>
          </a:prstGeom>
          <a:noFill/>
          <a:ln/>
        </p:spPr>
        <p:txBody>
          <a:bodyPr wrap="square" lIns="0" tIns="0" rIns="0" bIns="0" rtlCol="0" anchor="ctr"/>
          <a:lstStyle/>
          <a:p>
            <a:pPr marL="0" indent="0">
              <a:buNone/>
            </a:pPr>
            <a:r>
              <a:rPr lang="en-US" sz="1200" b="1" kern="0" spc="120" dirty="0">
                <a:solidFill>
                  <a:srgbClr val="0B6A8F"/>
                </a:solidFill>
                <a:latin typeface="Calibri" pitchFamily="34" charset="0"/>
                <a:ea typeface="Calibri" pitchFamily="34" charset="-122"/>
                <a:cs typeface="Calibri" pitchFamily="34" charset="-120"/>
              </a:rPr>
              <a:t>Why it matters</a:t>
            </a:r>
            <a:endParaRPr lang="en-US" sz="1200" dirty="0"/>
          </a:p>
        </p:txBody>
      </p:sp>
      <p:sp>
        <p:nvSpPr>
          <p:cNvPr id="8" name="Text 6"/>
          <p:cNvSpPr txBox="1"/>
          <p:nvPr/>
        </p:nvSpPr>
        <p:spPr>
          <a:xfrm>
            <a:off x="6629400" y="2560320"/>
            <a:ext cx="4754880" cy="1371600"/>
          </a:xfrm>
          <a:prstGeom prst="rect">
            <a:avLst/>
          </a:prstGeom>
          <a:noFill/>
          <a:ln/>
        </p:spPr>
        <p:txBody>
          <a:bodyPr wrap="square" lIns="0" tIns="0" rIns="0" bIns="0" rtlCol="0" anchor="ctr"/>
          <a:lstStyle/>
          <a:p>
            <a:pPr marL="0" indent="0">
              <a:lnSpc>
                <a:spcPts val="1900"/>
              </a:lnSpc>
              <a:buNone/>
            </a:pPr>
            <a:r>
              <a:rPr lang="en-US" sz="1400" dirty="0">
                <a:solidFill>
                  <a:srgbClr val="14303D"/>
                </a:solidFill>
                <a:latin typeface="Calibri" pitchFamily="34" charset="0"/>
                <a:ea typeface="Calibri" pitchFamily="34" charset="-122"/>
                <a:cs typeface="Calibri" pitchFamily="34" charset="-120"/>
              </a:rPr>
              <a:t>A claim independently observed three times across three runs carries weight that a claim asserted once does not.</a:t>
            </a:r>
            <a:endParaRPr lang="en-US" sz="1400" dirty="0"/>
          </a:p>
        </p:txBody>
      </p:sp>
      <p:sp>
        <p:nvSpPr>
          <p:cNvPr id="9" name="Shape 7"/>
          <p:cNvSpPr/>
          <p:nvPr/>
        </p:nvSpPr>
        <p:spPr>
          <a:xfrm>
            <a:off x="548640" y="4343400"/>
            <a:ext cx="11137392" cy="1783080"/>
          </a:xfrm>
          <a:prstGeom prst="roundRect">
            <a:avLst>
              <a:gd name="adj" fmla="val 3077"/>
            </a:avLst>
          </a:prstGeom>
          <a:solidFill>
            <a:srgbClr val="FFFFFF"/>
          </a:solidFill>
          <a:ln w="12700">
            <a:solidFill>
              <a:srgbClr val="D5E0E5"/>
            </a:solidFill>
            <a:prstDash val="solid"/>
          </a:ln>
          <a:effectLst>
            <a:outerShdw blurRad="101600" dist="12700" dir="5400000" algn="bl" rotWithShape="0">
              <a:srgbClr val="14303D">
                <a:alpha val="7000"/>
              </a:srgbClr>
            </a:outerShdw>
          </a:effectLst>
        </p:spPr>
        <p:txBody>
          <a:bodyPr/>
          <a:lstStyle/>
          <a:p>
            <a:endParaRPr lang="en-US"/>
          </a:p>
        </p:txBody>
      </p:sp>
      <p:sp>
        <p:nvSpPr>
          <p:cNvPr id="10" name="Text 8"/>
          <p:cNvSpPr txBox="1"/>
          <p:nvPr/>
        </p:nvSpPr>
        <p:spPr>
          <a:xfrm>
            <a:off x="914400" y="4526280"/>
            <a:ext cx="10424160" cy="365760"/>
          </a:xfrm>
          <a:prstGeom prst="rect">
            <a:avLst/>
          </a:prstGeom>
          <a:noFill/>
          <a:ln/>
        </p:spPr>
        <p:txBody>
          <a:bodyPr wrap="square" lIns="0" tIns="0" rIns="0" bIns="0" rtlCol="0" anchor="ctr"/>
          <a:lstStyle/>
          <a:p>
            <a:pPr marL="0" indent="0">
              <a:buNone/>
            </a:pPr>
            <a:r>
              <a:rPr lang="en-US" sz="1600" b="1" dirty="0">
                <a:solidFill>
                  <a:srgbClr val="14303D"/>
                </a:solidFill>
                <a:latin typeface="Calibri" pitchFamily="34" charset="0"/>
                <a:ea typeface="Calibri" pitchFamily="34" charset="-122"/>
                <a:cs typeface="Calibri" pitchFamily="34" charset="-120"/>
              </a:rPr>
              <a:t>Open questions close themselves</a:t>
            </a:r>
            <a:endParaRPr lang="en-US" sz="1600" dirty="0"/>
          </a:p>
        </p:txBody>
      </p:sp>
      <p:sp>
        <p:nvSpPr>
          <p:cNvPr id="11" name="Text 9"/>
          <p:cNvSpPr txBox="1"/>
          <p:nvPr/>
        </p:nvSpPr>
        <p:spPr>
          <a:xfrm>
            <a:off x="914400" y="4956048"/>
            <a:ext cx="10424160" cy="1005840"/>
          </a:xfrm>
          <a:prstGeom prst="rect">
            <a:avLst/>
          </a:prstGeom>
          <a:noFill/>
          <a:ln/>
        </p:spPr>
        <p:txBody>
          <a:bodyPr wrap="square" lIns="0" tIns="0" rIns="0" bIns="0" rtlCol="0" anchor="ctr"/>
          <a:lstStyle/>
          <a:p>
            <a:pPr marL="0" indent="0">
              <a:lnSpc>
                <a:spcPts val="1800"/>
              </a:lnSpc>
              <a:buNone/>
            </a:pPr>
            <a:r>
              <a:rPr lang="en-US" sz="1350" dirty="0">
                <a:solidFill>
                  <a:srgbClr val="55697A"/>
                </a:solidFill>
                <a:latin typeface="Calibri" pitchFamily="34" charset="0"/>
                <a:ea typeface="Calibri" pitchFamily="34" charset="-122"/>
                <a:cs typeface="Calibri" pitchFamily="34" charset="-120"/>
              </a:rPr>
              <a:t>When the investigator cannot settle something, it records an open question and the planner is steered to probe it. After three attempts it auto closes as inconclusive, which is a result a person can act on rather than an endless retry.</a:t>
            </a:r>
            <a:endParaRPr lang="en-US" sz="1350" dirty="0"/>
          </a:p>
        </p:txBody>
      </p:sp>
      <p:sp>
        <p:nvSpPr>
          <p:cNvPr id="12" name="Text 10"/>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900" dirty="0">
                <a:solidFill>
                  <a:srgbClr val="55697A"/>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8F9"/>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9052560" cy="658368"/>
          </a:xfrm>
          <a:prstGeom prst="rect">
            <a:avLst/>
          </a:prstGeom>
          <a:noFill/>
          <a:ln/>
        </p:spPr>
        <p:txBody>
          <a:bodyPr wrap="square" lIns="0" tIns="0" rIns="0" bIns="0" rtlCol="0" anchor="ctr"/>
          <a:lstStyle/>
          <a:p>
            <a:pPr marL="0" indent="0">
              <a:buNone/>
            </a:pPr>
            <a:r>
              <a:rPr lang="en-US" sz="3000" b="1" dirty="0">
                <a:solidFill>
                  <a:srgbClr val="14303D"/>
                </a:solidFill>
                <a:latin typeface="Cambria" pitchFamily="34" charset="0"/>
                <a:ea typeface="Cambria" pitchFamily="34" charset="-122"/>
                <a:cs typeface="Cambria" pitchFamily="34" charset="-120"/>
              </a:rPr>
              <a:t>Not every failure is the application's fault</a:t>
            </a:r>
            <a:endParaRPr lang="en-US" sz="3000" dirty="0"/>
          </a:p>
        </p:txBody>
      </p:sp>
      <p:sp>
        <p:nvSpPr>
          <p:cNvPr id="3" name="Shape 1"/>
          <p:cNvSpPr/>
          <p:nvPr/>
        </p:nvSpPr>
        <p:spPr>
          <a:xfrm>
            <a:off x="548640" y="1874520"/>
            <a:ext cx="3566160" cy="2834640"/>
          </a:xfrm>
          <a:prstGeom prst="roundRect">
            <a:avLst>
              <a:gd name="adj" fmla="val 1935"/>
            </a:avLst>
          </a:prstGeom>
          <a:solidFill>
            <a:srgbClr val="FFFFFF"/>
          </a:solidFill>
          <a:ln w="12700">
            <a:solidFill>
              <a:srgbClr val="D5E0E5"/>
            </a:solidFill>
            <a:prstDash val="solid"/>
          </a:ln>
          <a:effectLst>
            <a:outerShdw blurRad="101600" dist="12700" dir="5400000" algn="bl" rotWithShape="0">
              <a:srgbClr val="14303D">
                <a:alpha val="7000"/>
              </a:srgbClr>
            </a:outerShdw>
          </a:effectLst>
        </p:spPr>
        <p:txBody>
          <a:bodyPr/>
          <a:lstStyle/>
          <a:p>
            <a:endParaRPr lang="en-US"/>
          </a:p>
        </p:txBody>
      </p:sp>
      <p:sp>
        <p:nvSpPr>
          <p:cNvPr id="4" name="Text 2"/>
          <p:cNvSpPr txBox="1"/>
          <p:nvPr/>
        </p:nvSpPr>
        <p:spPr>
          <a:xfrm>
            <a:off x="841248" y="2121408"/>
            <a:ext cx="3017520" cy="411480"/>
          </a:xfrm>
          <a:prstGeom prst="rect">
            <a:avLst/>
          </a:prstGeom>
          <a:noFill/>
          <a:ln/>
        </p:spPr>
        <p:txBody>
          <a:bodyPr wrap="square" lIns="0" tIns="0" rIns="0" bIns="0" rtlCol="0" anchor="ctr"/>
          <a:lstStyle/>
          <a:p>
            <a:pPr marL="0" indent="0">
              <a:buNone/>
            </a:pPr>
            <a:r>
              <a:rPr lang="en-US" sz="2400" b="1" dirty="0">
                <a:solidFill>
                  <a:srgbClr val="A9502C"/>
                </a:solidFill>
                <a:latin typeface="Cambria" pitchFamily="34" charset="0"/>
                <a:ea typeface="Cambria" pitchFamily="34" charset="-122"/>
                <a:cs typeface="Cambria" pitchFamily="34" charset="-120"/>
              </a:rPr>
              <a:t>APP</a:t>
            </a:r>
            <a:endParaRPr lang="en-US" sz="2400" dirty="0"/>
          </a:p>
        </p:txBody>
      </p:sp>
      <p:sp>
        <p:nvSpPr>
          <p:cNvPr id="5" name="Text 3"/>
          <p:cNvSpPr txBox="1"/>
          <p:nvPr/>
        </p:nvSpPr>
        <p:spPr>
          <a:xfrm>
            <a:off x="841248" y="2606040"/>
            <a:ext cx="3017520" cy="640080"/>
          </a:xfrm>
          <a:prstGeom prst="rect">
            <a:avLst/>
          </a:prstGeom>
          <a:noFill/>
          <a:ln/>
        </p:spPr>
        <p:txBody>
          <a:bodyPr wrap="square" lIns="0" tIns="0" rIns="0" bIns="0" rtlCol="0" anchor="ctr"/>
          <a:lstStyle/>
          <a:p>
            <a:pPr marL="0" indent="0">
              <a:lnSpc>
                <a:spcPts val="1900"/>
              </a:lnSpc>
              <a:buNone/>
            </a:pPr>
            <a:r>
              <a:rPr lang="en-US" sz="1500" dirty="0">
                <a:solidFill>
                  <a:srgbClr val="14303D"/>
                </a:solidFill>
                <a:latin typeface="Calibri" pitchFamily="34" charset="0"/>
                <a:ea typeface="Calibri" pitchFamily="34" charset="-122"/>
                <a:cs typeface="Calibri" pitchFamily="34" charset="-120"/>
              </a:rPr>
              <a:t>the application is wrong</a:t>
            </a:r>
            <a:endParaRPr lang="en-US" sz="1500" dirty="0"/>
          </a:p>
        </p:txBody>
      </p:sp>
      <p:sp>
        <p:nvSpPr>
          <p:cNvPr id="6" name="Text 4"/>
          <p:cNvSpPr txBox="1"/>
          <p:nvPr/>
        </p:nvSpPr>
        <p:spPr>
          <a:xfrm>
            <a:off x="841248" y="3383280"/>
            <a:ext cx="3017520" cy="1188720"/>
          </a:xfrm>
          <a:prstGeom prst="rect">
            <a:avLst/>
          </a:prstGeom>
          <a:noFill/>
          <a:ln/>
        </p:spPr>
        <p:txBody>
          <a:bodyPr wrap="square" lIns="0" tIns="0" rIns="0" bIns="0" rtlCol="0" anchor="ctr"/>
          <a:lstStyle/>
          <a:p>
            <a:pPr marL="0" indent="0">
              <a:lnSpc>
                <a:spcPts val="1600"/>
              </a:lnSpc>
              <a:buNone/>
            </a:pPr>
            <a:r>
              <a:rPr lang="en-US" sz="1200" dirty="0">
                <a:solidFill>
                  <a:srgbClr val="55697A"/>
                </a:solidFill>
                <a:latin typeface="Calibri" pitchFamily="34" charset="0"/>
                <a:ea typeface="Calibri" pitchFamily="34" charset="-122"/>
                <a:cs typeface="Calibri" pitchFamily="34" charset="-120"/>
              </a:rPr>
              <a:t>crash · assertion failure · unresponsive · HTTP error · page error</a:t>
            </a:r>
            <a:endParaRPr lang="en-US" sz="1200" dirty="0"/>
          </a:p>
        </p:txBody>
      </p:sp>
      <p:sp>
        <p:nvSpPr>
          <p:cNvPr id="7" name="Shape 5"/>
          <p:cNvSpPr/>
          <p:nvPr/>
        </p:nvSpPr>
        <p:spPr>
          <a:xfrm>
            <a:off x="4270248" y="1874520"/>
            <a:ext cx="3566160" cy="2834640"/>
          </a:xfrm>
          <a:prstGeom prst="roundRect">
            <a:avLst>
              <a:gd name="adj" fmla="val 1935"/>
            </a:avLst>
          </a:prstGeom>
          <a:solidFill>
            <a:srgbClr val="FFFFFF"/>
          </a:solidFill>
          <a:ln w="12700">
            <a:solidFill>
              <a:srgbClr val="D5E0E5"/>
            </a:solidFill>
            <a:prstDash val="solid"/>
          </a:ln>
          <a:effectLst>
            <a:outerShdw blurRad="101600" dist="12700" dir="5400000" algn="bl" rotWithShape="0">
              <a:srgbClr val="14303D">
                <a:alpha val="7000"/>
              </a:srgbClr>
            </a:outerShdw>
          </a:effectLst>
        </p:spPr>
        <p:txBody>
          <a:bodyPr/>
          <a:lstStyle/>
          <a:p>
            <a:endParaRPr lang="en-US"/>
          </a:p>
        </p:txBody>
      </p:sp>
      <p:sp>
        <p:nvSpPr>
          <p:cNvPr id="8" name="Text 6"/>
          <p:cNvSpPr txBox="1"/>
          <p:nvPr/>
        </p:nvSpPr>
        <p:spPr>
          <a:xfrm>
            <a:off x="4562856" y="2121408"/>
            <a:ext cx="3017520" cy="411480"/>
          </a:xfrm>
          <a:prstGeom prst="rect">
            <a:avLst/>
          </a:prstGeom>
          <a:noFill/>
          <a:ln/>
        </p:spPr>
        <p:txBody>
          <a:bodyPr wrap="square" lIns="0" tIns="0" rIns="0" bIns="0" rtlCol="0" anchor="ctr"/>
          <a:lstStyle/>
          <a:p>
            <a:pPr marL="0" indent="0">
              <a:buNone/>
            </a:pPr>
            <a:r>
              <a:rPr lang="en-US" sz="2400" b="1" dirty="0">
                <a:solidFill>
                  <a:srgbClr val="0B6A8F"/>
                </a:solidFill>
                <a:latin typeface="Cambria" pitchFamily="34" charset="0"/>
                <a:ea typeface="Cambria" pitchFamily="34" charset="-122"/>
                <a:cs typeface="Cambria" pitchFamily="34" charset="-120"/>
              </a:rPr>
              <a:t>AGENT</a:t>
            </a:r>
            <a:endParaRPr lang="en-US" sz="2400" dirty="0"/>
          </a:p>
        </p:txBody>
      </p:sp>
      <p:sp>
        <p:nvSpPr>
          <p:cNvPr id="9" name="Text 7"/>
          <p:cNvSpPr txBox="1"/>
          <p:nvPr/>
        </p:nvSpPr>
        <p:spPr>
          <a:xfrm>
            <a:off x="4562856" y="2606040"/>
            <a:ext cx="3017520" cy="640080"/>
          </a:xfrm>
          <a:prstGeom prst="rect">
            <a:avLst/>
          </a:prstGeom>
          <a:noFill/>
          <a:ln/>
        </p:spPr>
        <p:txBody>
          <a:bodyPr wrap="square" lIns="0" tIns="0" rIns="0" bIns="0" rtlCol="0" anchor="ctr"/>
          <a:lstStyle/>
          <a:p>
            <a:pPr marL="0" indent="0">
              <a:lnSpc>
                <a:spcPts val="1900"/>
              </a:lnSpc>
              <a:buNone/>
            </a:pPr>
            <a:r>
              <a:rPr lang="en-US" sz="1500" dirty="0">
                <a:solidFill>
                  <a:srgbClr val="14303D"/>
                </a:solidFill>
                <a:latin typeface="Calibri" pitchFamily="34" charset="0"/>
                <a:ea typeface="Calibri" pitchFamily="34" charset="-122"/>
                <a:cs typeface="Calibri" pitchFamily="34" charset="-120"/>
              </a:rPr>
              <a:t>we could not drive it</a:t>
            </a:r>
            <a:endParaRPr lang="en-US" sz="1500" dirty="0"/>
          </a:p>
        </p:txBody>
      </p:sp>
      <p:sp>
        <p:nvSpPr>
          <p:cNvPr id="10" name="Text 8"/>
          <p:cNvSpPr txBox="1"/>
          <p:nvPr/>
        </p:nvSpPr>
        <p:spPr>
          <a:xfrm>
            <a:off x="4562856" y="3383280"/>
            <a:ext cx="3017520" cy="1188720"/>
          </a:xfrm>
          <a:prstGeom prst="rect">
            <a:avLst/>
          </a:prstGeom>
          <a:noFill/>
          <a:ln/>
        </p:spPr>
        <p:txBody>
          <a:bodyPr wrap="square" lIns="0" tIns="0" rIns="0" bIns="0" rtlCol="0" anchor="ctr"/>
          <a:lstStyle/>
          <a:p>
            <a:pPr marL="0" indent="0">
              <a:lnSpc>
                <a:spcPts val="1600"/>
              </a:lnSpc>
              <a:buNone/>
            </a:pPr>
            <a:r>
              <a:rPr lang="en-US" sz="1200" dirty="0">
                <a:solidFill>
                  <a:srgbClr val="55697A"/>
                </a:solidFill>
                <a:latin typeface="Calibri" pitchFamily="34" charset="0"/>
                <a:ea typeface="Calibri" pitchFamily="34" charset="-122"/>
                <a:cs typeface="Calibri" pitchFamily="34" charset="-120"/>
              </a:rPr>
              <a:t>element not found · timeout · navigation failure · livelock · stale element</a:t>
            </a:r>
            <a:endParaRPr lang="en-US" sz="1200" dirty="0"/>
          </a:p>
        </p:txBody>
      </p:sp>
      <p:sp>
        <p:nvSpPr>
          <p:cNvPr id="11" name="Shape 9"/>
          <p:cNvSpPr/>
          <p:nvPr/>
        </p:nvSpPr>
        <p:spPr>
          <a:xfrm>
            <a:off x="7991856" y="1874520"/>
            <a:ext cx="3566160" cy="2834640"/>
          </a:xfrm>
          <a:prstGeom prst="roundRect">
            <a:avLst>
              <a:gd name="adj" fmla="val 1935"/>
            </a:avLst>
          </a:prstGeom>
          <a:solidFill>
            <a:srgbClr val="FFFFFF"/>
          </a:solidFill>
          <a:ln w="12700">
            <a:solidFill>
              <a:srgbClr val="D5E0E5"/>
            </a:solidFill>
            <a:prstDash val="solid"/>
          </a:ln>
          <a:effectLst>
            <a:outerShdw blurRad="101600" dist="12700" dir="5400000" algn="bl" rotWithShape="0">
              <a:srgbClr val="14303D">
                <a:alpha val="7000"/>
              </a:srgbClr>
            </a:outerShdw>
          </a:effectLst>
        </p:spPr>
        <p:txBody>
          <a:bodyPr/>
          <a:lstStyle/>
          <a:p>
            <a:endParaRPr lang="en-US"/>
          </a:p>
        </p:txBody>
      </p:sp>
      <p:sp>
        <p:nvSpPr>
          <p:cNvPr id="12" name="Text 10"/>
          <p:cNvSpPr txBox="1"/>
          <p:nvPr/>
        </p:nvSpPr>
        <p:spPr>
          <a:xfrm>
            <a:off x="8284464" y="2121408"/>
            <a:ext cx="3017520" cy="411480"/>
          </a:xfrm>
          <a:prstGeom prst="rect">
            <a:avLst/>
          </a:prstGeom>
          <a:noFill/>
          <a:ln/>
        </p:spPr>
        <p:txBody>
          <a:bodyPr wrap="square" lIns="0" tIns="0" rIns="0" bIns="0" rtlCol="0" anchor="ctr"/>
          <a:lstStyle/>
          <a:p>
            <a:pPr marL="0" indent="0">
              <a:buNone/>
            </a:pPr>
            <a:r>
              <a:rPr lang="en-US" sz="2400" b="1" dirty="0">
                <a:solidFill>
                  <a:srgbClr val="55697A"/>
                </a:solidFill>
                <a:latin typeface="Cambria" pitchFamily="34" charset="0"/>
                <a:ea typeface="Cambria" pitchFamily="34" charset="-122"/>
                <a:cs typeface="Cambria" pitchFamily="34" charset="-120"/>
              </a:rPr>
              <a:t>ENV</a:t>
            </a:r>
            <a:endParaRPr lang="en-US" sz="2400" dirty="0"/>
          </a:p>
        </p:txBody>
      </p:sp>
      <p:sp>
        <p:nvSpPr>
          <p:cNvPr id="13" name="Text 11"/>
          <p:cNvSpPr txBox="1"/>
          <p:nvPr/>
        </p:nvSpPr>
        <p:spPr>
          <a:xfrm>
            <a:off x="8284464" y="2606040"/>
            <a:ext cx="3017520" cy="640080"/>
          </a:xfrm>
          <a:prstGeom prst="rect">
            <a:avLst/>
          </a:prstGeom>
          <a:noFill/>
          <a:ln/>
        </p:spPr>
        <p:txBody>
          <a:bodyPr wrap="square" lIns="0" tIns="0" rIns="0" bIns="0" rtlCol="0" anchor="ctr"/>
          <a:lstStyle/>
          <a:p>
            <a:pPr marL="0" indent="0">
              <a:lnSpc>
                <a:spcPts val="1900"/>
              </a:lnSpc>
              <a:buNone/>
            </a:pPr>
            <a:r>
              <a:rPr lang="en-US" sz="1500" dirty="0">
                <a:solidFill>
                  <a:srgbClr val="14303D"/>
                </a:solidFill>
                <a:latin typeface="Calibri" pitchFamily="34" charset="0"/>
                <a:ea typeface="Calibri" pitchFamily="34" charset="-122"/>
                <a:cs typeface="Calibri" pitchFamily="34" charset="-120"/>
              </a:rPr>
              <a:t>something blocked the test</a:t>
            </a:r>
            <a:endParaRPr lang="en-US" sz="1500" dirty="0"/>
          </a:p>
        </p:txBody>
      </p:sp>
      <p:sp>
        <p:nvSpPr>
          <p:cNvPr id="14" name="Text 12"/>
          <p:cNvSpPr txBox="1"/>
          <p:nvPr/>
        </p:nvSpPr>
        <p:spPr>
          <a:xfrm>
            <a:off x="8284464" y="3383280"/>
            <a:ext cx="3017520" cy="1188720"/>
          </a:xfrm>
          <a:prstGeom prst="rect">
            <a:avLst/>
          </a:prstGeom>
          <a:noFill/>
          <a:ln/>
        </p:spPr>
        <p:txBody>
          <a:bodyPr wrap="square" lIns="0" tIns="0" rIns="0" bIns="0" rtlCol="0" anchor="ctr"/>
          <a:lstStyle/>
          <a:p>
            <a:pPr marL="0" indent="0">
              <a:lnSpc>
                <a:spcPts val="1600"/>
              </a:lnSpc>
              <a:buNone/>
            </a:pPr>
            <a:r>
              <a:rPr lang="en-US" sz="1200" dirty="0">
                <a:solidFill>
                  <a:srgbClr val="55697A"/>
                </a:solidFill>
                <a:latin typeface="Calibri" pitchFamily="34" charset="0"/>
                <a:ea typeface="Calibri" pitchFamily="34" charset="-122"/>
                <a:cs typeface="Calibri" pitchFamily="34" charset="-120"/>
              </a:rPr>
              <a:t>precondition · permission · CAPTCHA · guardrail · step limit · browser closed</a:t>
            </a:r>
            <a:endParaRPr lang="en-US" sz="1200" dirty="0"/>
          </a:p>
        </p:txBody>
      </p:sp>
      <p:sp>
        <p:nvSpPr>
          <p:cNvPr id="15" name="Shape 13"/>
          <p:cNvSpPr/>
          <p:nvPr/>
        </p:nvSpPr>
        <p:spPr>
          <a:xfrm>
            <a:off x="548640" y="4937760"/>
            <a:ext cx="11137392" cy="914400"/>
          </a:xfrm>
          <a:prstGeom prst="roundRect">
            <a:avLst>
              <a:gd name="adj" fmla="val 6000"/>
            </a:avLst>
          </a:prstGeom>
          <a:solidFill>
            <a:srgbClr val="14303D"/>
          </a:solidFill>
          <a:ln w="12700">
            <a:solidFill>
              <a:srgbClr val="D5E0E5"/>
            </a:solidFill>
            <a:prstDash val="solid"/>
          </a:ln>
          <a:effectLst>
            <a:outerShdw blurRad="101600" dist="12700" dir="5400000" algn="bl" rotWithShape="0">
              <a:srgbClr val="14303D">
                <a:alpha val="7000"/>
              </a:srgbClr>
            </a:outerShdw>
          </a:effectLst>
        </p:spPr>
        <p:txBody>
          <a:bodyPr/>
          <a:lstStyle/>
          <a:p>
            <a:endParaRPr lang="en-US"/>
          </a:p>
        </p:txBody>
      </p:sp>
      <p:sp>
        <p:nvSpPr>
          <p:cNvPr id="16" name="Text 14"/>
          <p:cNvSpPr txBox="1"/>
          <p:nvPr/>
        </p:nvSpPr>
        <p:spPr>
          <a:xfrm>
            <a:off x="914400" y="4937760"/>
            <a:ext cx="10424160" cy="914400"/>
          </a:xfrm>
          <a:prstGeom prst="rect">
            <a:avLst/>
          </a:prstGeom>
          <a:noFill/>
          <a:ln/>
        </p:spPr>
        <p:txBody>
          <a:bodyPr wrap="square" lIns="0" tIns="0" rIns="0" bIns="0" rtlCol="0" anchor="ctr"/>
          <a:lstStyle/>
          <a:p>
            <a:pPr marL="0" indent="0">
              <a:lnSpc>
                <a:spcPts val="1900"/>
              </a:lnSpc>
              <a:buNone/>
            </a:pPr>
            <a:r>
              <a:rPr lang="en-US" sz="1400" dirty="0">
                <a:solidFill>
                  <a:srgbClr val="FFFFFF"/>
                </a:solidFill>
                <a:latin typeface="Calibri" pitchFamily="34" charset="0"/>
                <a:ea typeface="Calibri" pitchFamily="34" charset="-122"/>
                <a:cs typeface="Calibri" pitchFamily="34" charset="-120"/>
              </a:rPr>
              <a:t>Only the first is ever evidence about the application. Conflating them inflates the defect count, which is the most expensive error this system can make.</a:t>
            </a:r>
            <a:endParaRPr lang="en-US" sz="1400" dirty="0"/>
          </a:p>
        </p:txBody>
      </p:sp>
      <p:sp>
        <p:nvSpPr>
          <p:cNvPr id="17" name="Text 15"/>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900" dirty="0">
                <a:solidFill>
                  <a:srgbClr val="55697A"/>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4303D"/>
        </a:solidFill>
        <a:effectLst/>
      </p:bgPr>
    </p:bg>
    <p:spTree>
      <p:nvGrpSpPr>
        <p:cNvPr id="1" name=""/>
        <p:cNvGrpSpPr/>
        <p:nvPr/>
      </p:nvGrpSpPr>
      <p:grpSpPr>
        <a:xfrm>
          <a:off x="0" y="0"/>
          <a:ext cx="0" cy="0"/>
          <a:chOff x="0" y="0"/>
          <a:chExt cx="0" cy="0"/>
        </a:xfrm>
      </p:grpSpPr>
      <p:sp>
        <p:nvSpPr>
          <p:cNvPr id="2" name="Text 0"/>
          <p:cNvSpPr txBox="1"/>
          <p:nvPr/>
        </p:nvSpPr>
        <p:spPr>
          <a:xfrm>
            <a:off x="914400" y="1828800"/>
            <a:ext cx="4206240" cy="1280160"/>
          </a:xfrm>
          <a:prstGeom prst="rect">
            <a:avLst/>
          </a:prstGeom>
          <a:noFill/>
          <a:ln/>
        </p:spPr>
        <p:txBody>
          <a:bodyPr wrap="square" lIns="0" tIns="0" rIns="0" bIns="0" rtlCol="0" anchor="ctr"/>
          <a:lstStyle/>
          <a:p>
            <a:pPr marL="0" indent="0">
              <a:buNone/>
            </a:pPr>
            <a:r>
              <a:rPr lang="en-US" sz="7600" b="1" dirty="0">
                <a:solidFill>
                  <a:srgbClr val="A9502C"/>
                </a:solidFill>
                <a:latin typeface="Cambria" pitchFamily="34" charset="0"/>
                <a:ea typeface="Cambria" pitchFamily="34" charset="-122"/>
                <a:cs typeface="Cambria" pitchFamily="34" charset="-120"/>
              </a:rPr>
              <a:t>100%</a:t>
            </a:r>
            <a:endParaRPr lang="en-US" sz="7600" dirty="0"/>
          </a:p>
        </p:txBody>
      </p:sp>
      <p:sp>
        <p:nvSpPr>
          <p:cNvPr id="3" name="Text 1"/>
          <p:cNvSpPr txBox="1"/>
          <p:nvPr/>
        </p:nvSpPr>
        <p:spPr>
          <a:xfrm>
            <a:off x="914400" y="3127248"/>
            <a:ext cx="4389120" cy="457200"/>
          </a:xfrm>
          <a:prstGeom prst="rect">
            <a:avLst/>
          </a:prstGeom>
          <a:noFill/>
          <a:ln/>
        </p:spPr>
        <p:txBody>
          <a:bodyPr wrap="square" lIns="0" tIns="0" rIns="0" bIns="0" rtlCol="0" anchor="ctr"/>
          <a:lstStyle/>
          <a:p>
            <a:pPr marL="0" indent="0">
              <a:buNone/>
            </a:pPr>
            <a:r>
              <a:rPr lang="en-US" sz="1600" dirty="0">
                <a:solidFill>
                  <a:srgbClr val="C4D6DE"/>
                </a:solidFill>
                <a:latin typeface="Calibri" pitchFamily="34" charset="0"/>
                <a:ea typeface="Calibri" pitchFamily="34" charset="-122"/>
                <a:cs typeface="Calibri" pitchFamily="34" charset="-120"/>
              </a:rPr>
              <a:t>was the autonomy we reported.</a:t>
            </a:r>
            <a:endParaRPr lang="en-US" sz="1600" dirty="0"/>
          </a:p>
        </p:txBody>
      </p:sp>
      <p:sp>
        <p:nvSpPr>
          <p:cNvPr id="4" name="Text 2"/>
          <p:cNvSpPr txBox="1"/>
          <p:nvPr/>
        </p:nvSpPr>
        <p:spPr>
          <a:xfrm>
            <a:off x="6309360" y="1828800"/>
            <a:ext cx="4206240" cy="1280160"/>
          </a:xfrm>
          <a:prstGeom prst="rect">
            <a:avLst/>
          </a:prstGeom>
          <a:noFill/>
          <a:ln/>
        </p:spPr>
        <p:txBody>
          <a:bodyPr wrap="square" lIns="0" tIns="0" rIns="0" bIns="0" rtlCol="0" anchor="ctr"/>
          <a:lstStyle/>
          <a:p>
            <a:pPr marL="0" indent="0">
              <a:buNone/>
            </a:pPr>
            <a:r>
              <a:rPr lang="en-US" sz="7600" b="1" dirty="0">
                <a:solidFill>
                  <a:srgbClr val="FFFFFF"/>
                </a:solidFill>
                <a:latin typeface="Cambria" pitchFamily="34" charset="0"/>
                <a:ea typeface="Cambria" pitchFamily="34" charset="-122"/>
                <a:cs typeface="Cambria" pitchFamily="34" charset="-120"/>
              </a:rPr>
              <a:t>67%</a:t>
            </a:r>
            <a:endParaRPr lang="en-US" sz="7600" dirty="0"/>
          </a:p>
        </p:txBody>
      </p:sp>
      <p:sp>
        <p:nvSpPr>
          <p:cNvPr id="5" name="Text 3"/>
          <p:cNvSpPr txBox="1"/>
          <p:nvPr/>
        </p:nvSpPr>
        <p:spPr>
          <a:xfrm>
            <a:off x="6309360" y="3127248"/>
            <a:ext cx="4389120" cy="457200"/>
          </a:xfrm>
          <a:prstGeom prst="rect">
            <a:avLst/>
          </a:prstGeom>
          <a:noFill/>
          <a:ln/>
        </p:spPr>
        <p:txBody>
          <a:bodyPr wrap="square" lIns="0" tIns="0" rIns="0" bIns="0" rtlCol="0" anchor="ctr"/>
          <a:lstStyle/>
          <a:p>
            <a:pPr marL="0" indent="0">
              <a:buNone/>
            </a:pPr>
            <a:r>
              <a:rPr lang="en-US" sz="1600" dirty="0">
                <a:solidFill>
                  <a:srgbClr val="C4D6DE"/>
                </a:solidFill>
                <a:latin typeface="Calibri" pitchFamily="34" charset="0"/>
                <a:ea typeface="Calibri" pitchFamily="34" charset="-122"/>
                <a:cs typeface="Calibri" pitchFamily="34" charset="-120"/>
              </a:rPr>
              <a:t>was the truth.</a:t>
            </a:r>
            <a:endParaRPr lang="en-US" sz="1600" dirty="0"/>
          </a:p>
        </p:txBody>
      </p:sp>
      <p:sp>
        <p:nvSpPr>
          <p:cNvPr id="6" name="Shape 4"/>
          <p:cNvSpPr/>
          <p:nvPr/>
        </p:nvSpPr>
        <p:spPr>
          <a:xfrm>
            <a:off x="914400" y="4069080"/>
            <a:ext cx="10332720" cy="1371600"/>
          </a:xfrm>
          <a:prstGeom prst="roundRect">
            <a:avLst>
              <a:gd name="adj" fmla="val 4000"/>
            </a:avLst>
          </a:prstGeom>
          <a:solidFill>
            <a:srgbClr val="FFFFFF"/>
          </a:solidFill>
          <a:ln w="12700">
            <a:solidFill>
              <a:srgbClr val="D5E0E5"/>
            </a:solidFill>
            <a:prstDash val="solid"/>
          </a:ln>
          <a:effectLst>
            <a:outerShdw blurRad="101600" dist="12700" dir="5400000" algn="bl" rotWithShape="0">
              <a:srgbClr val="14303D">
                <a:alpha val="7000"/>
              </a:srgbClr>
            </a:outerShdw>
          </a:effectLst>
        </p:spPr>
        <p:txBody>
          <a:bodyPr/>
          <a:lstStyle/>
          <a:p>
            <a:endParaRPr lang="en-US"/>
          </a:p>
        </p:txBody>
      </p:sp>
      <p:sp>
        <p:nvSpPr>
          <p:cNvPr id="7" name="Text 5"/>
          <p:cNvSpPr txBox="1"/>
          <p:nvPr/>
        </p:nvSpPr>
        <p:spPr>
          <a:xfrm>
            <a:off x="1280160" y="4251960"/>
            <a:ext cx="9601200" cy="1005840"/>
          </a:xfrm>
          <a:prstGeom prst="rect">
            <a:avLst/>
          </a:prstGeom>
          <a:noFill/>
          <a:ln/>
        </p:spPr>
        <p:txBody>
          <a:bodyPr wrap="square" lIns="0" tIns="0" rIns="0" bIns="0" rtlCol="0" anchor="ctr"/>
          <a:lstStyle/>
          <a:p>
            <a:pPr marL="0" indent="0">
              <a:lnSpc>
                <a:spcPts val="2100"/>
              </a:lnSpc>
              <a:buNone/>
            </a:pPr>
            <a:r>
              <a:rPr lang="en-US" sz="1500" dirty="0">
                <a:solidFill>
                  <a:srgbClr val="14303D"/>
                </a:solidFill>
                <a:latin typeface="Calibri" pitchFamily="34" charset="0"/>
                <a:ea typeface="Calibri" pitchFamily="34" charset="-122"/>
                <a:cs typeface="Calibri" pitchFamily="34" charset="-120"/>
              </a:rPr>
              <a:t>The taxonomy had been defined in two places and the copies drifted. It is now three frozen sets in one module, imported everywhere, and a configuration guard asserts they stay disjoint.</a:t>
            </a:r>
            <a:endParaRPr lang="en-US" sz="1500" dirty="0"/>
          </a:p>
        </p:txBody>
      </p:sp>
      <p:sp>
        <p:nvSpPr>
          <p:cNvPr id="8" name="Text 6"/>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900" dirty="0">
                <a:solidFill>
                  <a:srgbClr val="55697A"/>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8F9"/>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9052560" cy="658368"/>
          </a:xfrm>
          <a:prstGeom prst="rect">
            <a:avLst/>
          </a:prstGeom>
          <a:noFill/>
          <a:ln/>
        </p:spPr>
        <p:txBody>
          <a:bodyPr wrap="square" lIns="0" tIns="0" rIns="0" bIns="0" rtlCol="0" anchor="ctr"/>
          <a:lstStyle/>
          <a:p>
            <a:pPr marL="0" indent="0">
              <a:buNone/>
            </a:pPr>
            <a:r>
              <a:rPr lang="en-US" sz="3000" b="1" dirty="0">
                <a:solidFill>
                  <a:srgbClr val="14303D"/>
                </a:solidFill>
                <a:latin typeface="Cambria" pitchFamily="34" charset="0"/>
                <a:ea typeface="Cambria" pitchFamily="34" charset="-122"/>
                <a:cs typeface="Cambria" pitchFamily="34" charset="-120"/>
              </a:rPr>
              <a:t>So does it cry wolf?</a:t>
            </a:r>
            <a:endParaRPr lang="en-US" sz="3000" dirty="0"/>
          </a:p>
        </p:txBody>
      </p:sp>
      <p:sp>
        <p:nvSpPr>
          <p:cNvPr id="3" name="Shape 1"/>
          <p:cNvSpPr/>
          <p:nvPr/>
        </p:nvSpPr>
        <p:spPr>
          <a:xfrm>
            <a:off x="548640" y="1874520"/>
            <a:ext cx="5440680" cy="3383280"/>
          </a:xfrm>
          <a:prstGeom prst="roundRect">
            <a:avLst>
              <a:gd name="adj" fmla="val 1622"/>
            </a:avLst>
          </a:prstGeom>
          <a:solidFill>
            <a:srgbClr val="FFFFFF"/>
          </a:solidFill>
          <a:ln w="12700">
            <a:solidFill>
              <a:srgbClr val="D5E0E5"/>
            </a:solidFill>
            <a:prstDash val="solid"/>
          </a:ln>
          <a:effectLst>
            <a:outerShdw blurRad="101600" dist="12700" dir="5400000" algn="bl" rotWithShape="0">
              <a:srgbClr val="14303D">
                <a:alpha val="7000"/>
              </a:srgbClr>
            </a:outerShdw>
          </a:effectLst>
        </p:spPr>
        <p:txBody>
          <a:bodyPr/>
          <a:lstStyle/>
          <a:p>
            <a:endParaRPr lang="en-US"/>
          </a:p>
        </p:txBody>
      </p:sp>
      <p:sp>
        <p:nvSpPr>
          <p:cNvPr id="4" name="Text 2"/>
          <p:cNvSpPr txBox="1"/>
          <p:nvPr/>
        </p:nvSpPr>
        <p:spPr>
          <a:xfrm>
            <a:off x="868680" y="2103120"/>
            <a:ext cx="4572000" cy="292608"/>
          </a:xfrm>
          <a:prstGeom prst="rect">
            <a:avLst/>
          </a:prstGeom>
          <a:noFill/>
          <a:ln/>
        </p:spPr>
        <p:txBody>
          <a:bodyPr wrap="square" lIns="0" tIns="0" rIns="0" bIns="0" rtlCol="0" anchor="ctr"/>
          <a:lstStyle/>
          <a:p>
            <a:pPr marL="0" indent="0">
              <a:buNone/>
            </a:pPr>
            <a:r>
              <a:rPr lang="en-US" sz="1200" b="1" kern="0" spc="110" dirty="0">
                <a:solidFill>
                  <a:srgbClr val="55697A"/>
                </a:solidFill>
                <a:latin typeface="Calibri" pitchFamily="34" charset="0"/>
                <a:ea typeface="Calibri" pitchFamily="34" charset="-122"/>
                <a:cs typeface="Calibri" pitchFamily="34" charset="-120"/>
              </a:rPr>
              <a:t>A comparable published agent</a:t>
            </a:r>
            <a:endParaRPr lang="en-US" sz="1200" dirty="0"/>
          </a:p>
        </p:txBody>
      </p:sp>
      <p:sp>
        <p:nvSpPr>
          <p:cNvPr id="5" name="Text 3"/>
          <p:cNvSpPr txBox="1"/>
          <p:nvPr/>
        </p:nvSpPr>
        <p:spPr>
          <a:xfrm>
            <a:off x="868680" y="2514600"/>
            <a:ext cx="4800600" cy="1005840"/>
          </a:xfrm>
          <a:prstGeom prst="rect">
            <a:avLst/>
          </a:prstGeom>
          <a:noFill/>
          <a:ln/>
        </p:spPr>
        <p:txBody>
          <a:bodyPr wrap="square" lIns="0" tIns="0" rIns="0" bIns="0" rtlCol="0" anchor="ctr"/>
          <a:lstStyle/>
          <a:p>
            <a:pPr marL="0" indent="0">
              <a:lnSpc>
                <a:spcPts val="3000"/>
              </a:lnSpc>
              <a:buNone/>
            </a:pPr>
            <a:r>
              <a:rPr lang="en-US" sz="2100" dirty="0">
                <a:solidFill>
                  <a:srgbClr val="14303D"/>
                </a:solidFill>
                <a:latin typeface="Cambria" pitchFamily="34" charset="0"/>
                <a:ea typeface="Cambria" pitchFamily="34" charset="-122"/>
                <a:cs typeface="Cambria" pitchFamily="34" charset="-120"/>
              </a:rPr>
              <a:t>158 defects reported</a:t>
            </a:r>
            <a:endParaRPr lang="en-US" sz="2100" dirty="0"/>
          </a:p>
          <a:p>
            <a:pPr marL="0" indent="0">
              <a:lnSpc>
                <a:spcPts val="3000"/>
              </a:lnSpc>
              <a:buNone/>
            </a:pPr>
            <a:r>
              <a:rPr lang="en-US" sz="2100" dirty="0">
                <a:solidFill>
                  <a:srgbClr val="14303D"/>
                </a:solidFill>
                <a:latin typeface="Cambria" pitchFamily="34" charset="0"/>
                <a:ea typeface="Cambria" pitchFamily="34" charset="-122"/>
                <a:cs typeface="Cambria" pitchFamily="34" charset="-120"/>
              </a:rPr>
              <a:t>against a human team's 80.</a:t>
            </a:r>
            <a:endParaRPr lang="en-US" sz="2100" dirty="0"/>
          </a:p>
        </p:txBody>
      </p:sp>
      <p:sp>
        <p:nvSpPr>
          <p:cNvPr id="6" name="Text 4"/>
          <p:cNvSpPr txBox="1"/>
          <p:nvPr/>
        </p:nvSpPr>
        <p:spPr>
          <a:xfrm>
            <a:off x="868680" y="3657600"/>
            <a:ext cx="4800600" cy="1371600"/>
          </a:xfrm>
          <a:prstGeom prst="rect">
            <a:avLst/>
          </a:prstGeom>
          <a:noFill/>
          <a:ln/>
        </p:spPr>
        <p:txBody>
          <a:bodyPr wrap="square" lIns="0" tIns="0" rIns="0" bIns="0" rtlCol="0" anchor="ctr"/>
          <a:lstStyle/>
          <a:p>
            <a:pPr marL="0" indent="0">
              <a:lnSpc>
                <a:spcPts val="2000"/>
              </a:lnSpc>
              <a:buNone/>
            </a:pPr>
            <a:r>
              <a:rPr lang="en-US" sz="1450" dirty="0">
                <a:solidFill>
                  <a:srgbClr val="A9502C"/>
                </a:solidFill>
                <a:latin typeface="Calibri" pitchFamily="34" charset="0"/>
                <a:ea typeface="Calibri" pitchFamily="34" charset="-122"/>
                <a:cs typeface="Calibri" pitchFamily="34" charset="-120"/>
              </a:rPr>
              <a:t>At 52 to 66% accuracy, where the humans were at 100%. Two in five of its reports were false.</a:t>
            </a:r>
            <a:endParaRPr lang="en-US" sz="1450" dirty="0"/>
          </a:p>
        </p:txBody>
      </p:sp>
      <p:sp>
        <p:nvSpPr>
          <p:cNvPr id="7" name="Shape 5"/>
          <p:cNvSpPr/>
          <p:nvPr/>
        </p:nvSpPr>
        <p:spPr>
          <a:xfrm>
            <a:off x="6263640" y="1874520"/>
            <a:ext cx="5422392" cy="3383280"/>
          </a:xfrm>
          <a:prstGeom prst="roundRect">
            <a:avLst>
              <a:gd name="adj" fmla="val 1622"/>
            </a:avLst>
          </a:prstGeom>
          <a:solidFill>
            <a:srgbClr val="14303D"/>
          </a:solidFill>
          <a:ln w="12700">
            <a:solidFill>
              <a:srgbClr val="D5E0E5"/>
            </a:solidFill>
            <a:prstDash val="solid"/>
          </a:ln>
          <a:effectLst>
            <a:outerShdw blurRad="101600" dist="12700" dir="5400000" algn="bl" rotWithShape="0">
              <a:srgbClr val="14303D">
                <a:alpha val="7000"/>
              </a:srgbClr>
            </a:outerShdw>
          </a:effectLst>
        </p:spPr>
        <p:txBody>
          <a:bodyPr/>
          <a:lstStyle/>
          <a:p>
            <a:endParaRPr lang="en-US"/>
          </a:p>
        </p:txBody>
      </p:sp>
      <p:sp>
        <p:nvSpPr>
          <p:cNvPr id="8" name="Text 6"/>
          <p:cNvSpPr txBox="1"/>
          <p:nvPr/>
        </p:nvSpPr>
        <p:spPr>
          <a:xfrm>
            <a:off x="6583680" y="2103120"/>
            <a:ext cx="4572000" cy="292608"/>
          </a:xfrm>
          <a:prstGeom prst="rect">
            <a:avLst/>
          </a:prstGeom>
          <a:noFill/>
          <a:ln/>
        </p:spPr>
        <p:txBody>
          <a:bodyPr wrap="square" lIns="0" tIns="0" rIns="0" bIns="0" rtlCol="0" anchor="ctr"/>
          <a:lstStyle/>
          <a:p>
            <a:pPr marL="0" indent="0">
              <a:buNone/>
            </a:pPr>
            <a:r>
              <a:rPr lang="en-US" sz="1200" b="1" kern="0" spc="110" dirty="0">
                <a:solidFill>
                  <a:srgbClr val="7FB3C8"/>
                </a:solidFill>
                <a:latin typeface="Calibri" pitchFamily="34" charset="0"/>
                <a:ea typeface="Calibri" pitchFamily="34" charset="-122"/>
                <a:cs typeface="Calibri" pitchFamily="34" charset="-120"/>
              </a:rPr>
              <a:t>Ours, on the live site</a:t>
            </a:r>
            <a:endParaRPr lang="en-US" sz="1200" dirty="0"/>
          </a:p>
        </p:txBody>
      </p:sp>
      <p:sp>
        <p:nvSpPr>
          <p:cNvPr id="9" name="Text 7"/>
          <p:cNvSpPr txBox="1"/>
          <p:nvPr/>
        </p:nvSpPr>
        <p:spPr>
          <a:xfrm>
            <a:off x="6583680" y="2514600"/>
            <a:ext cx="4754880" cy="1005840"/>
          </a:xfrm>
          <a:prstGeom prst="rect">
            <a:avLst/>
          </a:prstGeom>
          <a:noFill/>
          <a:ln/>
        </p:spPr>
        <p:txBody>
          <a:bodyPr wrap="square" lIns="0" tIns="0" rIns="0" bIns="0" rtlCol="0" anchor="ctr"/>
          <a:lstStyle/>
          <a:p>
            <a:pPr marL="0" indent="0">
              <a:lnSpc>
                <a:spcPts val="3000"/>
              </a:lnSpc>
              <a:buNone/>
            </a:pPr>
            <a:r>
              <a:rPr lang="en-US" sz="2100" dirty="0">
                <a:solidFill>
                  <a:srgbClr val="FFFFFF"/>
                </a:solidFill>
                <a:latin typeface="Cambria" pitchFamily="34" charset="0"/>
                <a:ea typeface="Cambria" pitchFamily="34" charset="-122"/>
                <a:cs typeface="Cambria" pitchFamily="34" charset="-120"/>
              </a:rPr>
              <a:t>It flagged what looked like a serious access control hole.</a:t>
            </a:r>
            <a:endParaRPr lang="en-US" sz="2100" dirty="0"/>
          </a:p>
        </p:txBody>
      </p:sp>
      <p:sp>
        <p:nvSpPr>
          <p:cNvPr id="10" name="Text 8"/>
          <p:cNvSpPr txBox="1"/>
          <p:nvPr/>
        </p:nvSpPr>
        <p:spPr>
          <a:xfrm>
            <a:off x="6583680" y="3657600"/>
            <a:ext cx="4754880" cy="914400"/>
          </a:xfrm>
          <a:prstGeom prst="rect">
            <a:avLst/>
          </a:prstGeom>
          <a:noFill/>
          <a:ln/>
        </p:spPr>
        <p:txBody>
          <a:bodyPr wrap="square" lIns="0" tIns="0" rIns="0" bIns="0" rtlCol="0" anchor="ctr"/>
          <a:lstStyle/>
          <a:p>
            <a:pPr marL="0" indent="0">
              <a:lnSpc>
                <a:spcPts val="1900"/>
              </a:lnSpc>
              <a:buNone/>
            </a:pPr>
            <a:r>
              <a:rPr lang="en-US" sz="1450" dirty="0">
                <a:solidFill>
                  <a:srgbClr val="C4D6DE"/>
                </a:solidFill>
                <a:latin typeface="Calibri" pitchFamily="34" charset="0"/>
                <a:ea typeface="Calibri" pitchFamily="34" charset="-122"/>
                <a:cs typeface="Calibri" pitchFamily="34" charset="-120"/>
              </a:rPr>
              <a:t>We checked. It was gated by the site's own privacy setting, working as designed.</a:t>
            </a:r>
            <a:endParaRPr lang="en-US" sz="1450" dirty="0"/>
          </a:p>
        </p:txBody>
      </p:sp>
      <p:sp>
        <p:nvSpPr>
          <p:cNvPr id="11" name="Text 9"/>
          <p:cNvSpPr txBox="1"/>
          <p:nvPr/>
        </p:nvSpPr>
        <p:spPr>
          <a:xfrm>
            <a:off x="6583680" y="4617720"/>
            <a:ext cx="4754880" cy="45720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So we did not report it.</a:t>
            </a:r>
            <a:endParaRPr lang="en-US" sz="2200" dirty="0"/>
          </a:p>
        </p:txBody>
      </p:sp>
      <p:sp>
        <p:nvSpPr>
          <p:cNvPr id="12" name="Text 10"/>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900" dirty="0">
                <a:solidFill>
                  <a:srgbClr val="55697A"/>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8F9"/>
        </a:solidFill>
        <a:effectLst/>
      </p:bgPr>
    </p:bg>
    <p:spTree>
      <p:nvGrpSpPr>
        <p:cNvPr id="1" name=""/>
        <p:cNvGrpSpPr/>
        <p:nvPr/>
      </p:nvGrpSpPr>
      <p:grpSpPr>
        <a:xfrm>
          <a:off x="0" y="0"/>
          <a:ext cx="0" cy="0"/>
          <a:chOff x="0" y="0"/>
          <a:chExt cx="0" cy="0"/>
        </a:xfrm>
      </p:grpSpPr>
      <p:sp>
        <p:nvSpPr>
          <p:cNvPr id="2" name="Shape 0"/>
          <p:cNvSpPr/>
          <p:nvPr/>
        </p:nvSpPr>
        <p:spPr>
          <a:xfrm>
            <a:off x="9802368" y="420624"/>
            <a:ext cx="1883664" cy="384048"/>
          </a:xfrm>
          <a:prstGeom prst="roundRect">
            <a:avLst>
              <a:gd name="adj" fmla="val 50000"/>
            </a:avLst>
          </a:prstGeom>
          <a:solidFill>
            <a:srgbClr val="DCE8ED"/>
          </a:solidFill>
          <a:ln w="12700">
            <a:solidFill>
              <a:srgbClr val="DCE8ED"/>
            </a:solidFill>
            <a:prstDash val="solid"/>
          </a:ln>
        </p:spPr>
        <p:txBody>
          <a:bodyPr/>
          <a:lstStyle/>
          <a:p>
            <a:endParaRPr lang="en-US"/>
          </a:p>
        </p:txBody>
      </p:sp>
      <p:sp>
        <p:nvSpPr>
          <p:cNvPr id="3" name="Text 1"/>
          <p:cNvSpPr txBox="1"/>
          <p:nvPr/>
        </p:nvSpPr>
        <p:spPr>
          <a:xfrm>
            <a:off x="9802368" y="420624"/>
            <a:ext cx="1883664" cy="384048"/>
          </a:xfrm>
          <a:prstGeom prst="rect">
            <a:avLst/>
          </a:prstGeom>
          <a:noFill/>
          <a:ln/>
        </p:spPr>
        <p:txBody>
          <a:bodyPr wrap="square" lIns="0" tIns="0" rIns="0" bIns="0" rtlCol="0" anchor="ctr"/>
          <a:lstStyle/>
          <a:p>
            <a:pPr marL="0" indent="0" algn="ctr">
              <a:buNone/>
            </a:pPr>
            <a:r>
              <a:rPr lang="en-US" sz="1200" b="1" dirty="0">
                <a:solidFill>
                  <a:srgbClr val="0B6A8F"/>
                </a:solidFill>
                <a:latin typeface="Calibri" pitchFamily="34" charset="0"/>
                <a:ea typeface="Calibri" pitchFamily="34" charset="-122"/>
                <a:cs typeface="Calibri" pitchFamily="34" charset="-120"/>
              </a:rPr>
              <a:t>Niloy</a:t>
            </a:r>
            <a:endParaRPr lang="en-US" sz="1200" dirty="0"/>
          </a:p>
        </p:txBody>
      </p:sp>
      <p:sp>
        <p:nvSpPr>
          <p:cNvPr id="4" name="Text 2"/>
          <p:cNvSpPr txBox="1"/>
          <p:nvPr/>
        </p:nvSpPr>
        <p:spPr>
          <a:xfrm>
            <a:off x="548640" y="457200"/>
            <a:ext cx="9052560" cy="658368"/>
          </a:xfrm>
          <a:prstGeom prst="rect">
            <a:avLst/>
          </a:prstGeom>
          <a:noFill/>
          <a:ln/>
        </p:spPr>
        <p:txBody>
          <a:bodyPr wrap="square" lIns="0" tIns="0" rIns="0" bIns="0" rtlCol="0" anchor="ctr"/>
          <a:lstStyle/>
          <a:p>
            <a:pPr marL="0" indent="0">
              <a:buNone/>
            </a:pPr>
            <a:r>
              <a:rPr lang="en-US" sz="3000" b="1" dirty="0">
                <a:solidFill>
                  <a:srgbClr val="14303D"/>
                </a:solidFill>
                <a:latin typeface="Cambria" pitchFamily="34" charset="0"/>
                <a:ea typeface="Cambria" pitchFamily="34" charset="-122"/>
                <a:cs typeface="Cambria" pitchFamily="34" charset="-120"/>
              </a:rPr>
              <a:t>189 autonomous runs across five targets</a:t>
            </a:r>
            <a:endParaRPr lang="en-US" sz="30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137392" cy="914400"/>
        </p:xfrm>
        <a:graphic>
          <a:graphicData uri="http://schemas.openxmlformats.org/drawingml/2006/table">
            <a:tbl>
              <a:tblPr/>
              <a:tblGrid>
                <a:gridCol w="3822192">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783080">
                  <a:extLst>
                    <a:ext uri="{9D8B030D-6E8A-4147-A177-3AD203B41FA5}">
                      <a16:colId xmlns:a16="http://schemas.microsoft.com/office/drawing/2014/main" val="20005"/>
                    </a:ext>
                  </a:extLst>
                </a:gridCol>
              </a:tblGrid>
              <a:tr h="47548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Target</a:t>
                      </a:r>
                      <a:endParaRPr lang="en-US" sz="1300" dirty="0">
                        <a:latin typeface="Calibri" charset="0"/>
                        <a:ea typeface="Calibri" charset="0"/>
                        <a:cs typeface="Calibri" charset="0"/>
                      </a:endParaRPr>
                    </a:p>
                  </a:txBody>
                  <a:tcPr anchor="ctr">
                    <a:lnL w="12700" cap="flat" cmpd="sng" algn="ctr">
                      <a:solidFill>
                        <a:srgbClr val="D5E0E5"/>
                      </a:solidFill>
                      <a:prstDash val="solid"/>
                      <a:round/>
                      <a:headEnd type="none" w="med" len="med"/>
                      <a:tailEnd type="none" w="med" len="med"/>
                    </a:lnL>
                    <a:lnR w="12700" cap="flat" cmpd="sng" algn="ctr">
                      <a:solidFill>
                        <a:srgbClr val="D5E0E5"/>
                      </a:solidFill>
                      <a:prstDash val="solid"/>
                      <a:round/>
                      <a:headEnd type="none" w="med" len="med"/>
                      <a:tailEnd type="none" w="med" len="med"/>
                    </a:lnR>
                    <a:lnT w="12700" cap="flat" cmpd="sng" algn="ctr">
                      <a:solidFill>
                        <a:srgbClr val="D5E0E5"/>
                      </a:solidFill>
                      <a:prstDash val="solid"/>
                      <a:round/>
                      <a:headEnd type="none" w="med" len="med"/>
                      <a:tailEnd type="none" w="med" len="med"/>
                    </a:lnT>
                    <a:lnB w="12700" cap="flat" cmpd="sng" algn="ctr">
                      <a:solidFill>
                        <a:srgbClr val="D5E0E5"/>
                      </a:solidFill>
                      <a:prstDash val="solid"/>
                      <a:round/>
                      <a:headEnd type="none" w="med" len="med"/>
                      <a:tailEnd type="none" w="med" len="med"/>
                    </a:lnB>
                    <a:solidFill>
                      <a:srgbClr val="14303D"/>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Platform</a:t>
                      </a:r>
                      <a:endParaRPr lang="en-US" sz="1300" dirty="0">
                        <a:latin typeface="Calibri" charset="0"/>
                        <a:ea typeface="Calibri" charset="0"/>
                        <a:cs typeface="Calibri" charset="0"/>
                      </a:endParaRPr>
                    </a:p>
                  </a:txBody>
                  <a:tcPr anchor="ctr">
                    <a:lnL w="12700" cap="flat" cmpd="sng" algn="ctr">
                      <a:solidFill>
                        <a:srgbClr val="D5E0E5"/>
                      </a:solidFill>
                      <a:prstDash val="solid"/>
                      <a:round/>
                      <a:headEnd type="none" w="med" len="med"/>
                      <a:tailEnd type="none" w="med" len="med"/>
                    </a:lnL>
                    <a:lnR w="12700" cap="flat" cmpd="sng" algn="ctr">
                      <a:solidFill>
                        <a:srgbClr val="D5E0E5"/>
                      </a:solidFill>
                      <a:prstDash val="solid"/>
                      <a:round/>
                      <a:headEnd type="none" w="med" len="med"/>
                      <a:tailEnd type="none" w="med" len="med"/>
                    </a:lnR>
                    <a:lnT w="12700" cap="flat" cmpd="sng" algn="ctr">
                      <a:solidFill>
                        <a:srgbClr val="D5E0E5"/>
                      </a:solidFill>
                      <a:prstDash val="solid"/>
                      <a:round/>
                      <a:headEnd type="none" w="med" len="med"/>
                      <a:tailEnd type="none" w="med" len="med"/>
                    </a:lnT>
                    <a:lnB w="12700" cap="flat" cmpd="sng" algn="ctr">
                      <a:solidFill>
                        <a:srgbClr val="D5E0E5"/>
                      </a:solidFill>
                      <a:prstDash val="solid"/>
                      <a:round/>
                      <a:headEnd type="none" w="med" len="med"/>
                      <a:tailEnd type="none" w="med" len="med"/>
                    </a:lnB>
                    <a:solidFill>
                      <a:srgbClr val="14303D"/>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Tests</a:t>
                      </a:r>
                      <a:endParaRPr lang="en-US" sz="1300" dirty="0">
                        <a:latin typeface="Calibri" charset="0"/>
                        <a:ea typeface="Calibri" charset="0"/>
                        <a:cs typeface="Calibri" charset="0"/>
                      </a:endParaRPr>
                    </a:p>
                  </a:txBody>
                  <a:tcPr anchor="ctr">
                    <a:lnL w="12700" cap="flat" cmpd="sng" algn="ctr">
                      <a:solidFill>
                        <a:srgbClr val="D5E0E5"/>
                      </a:solidFill>
                      <a:prstDash val="solid"/>
                      <a:round/>
                      <a:headEnd type="none" w="med" len="med"/>
                      <a:tailEnd type="none" w="med" len="med"/>
                    </a:lnL>
                    <a:lnR w="12700" cap="flat" cmpd="sng" algn="ctr">
                      <a:solidFill>
                        <a:srgbClr val="D5E0E5"/>
                      </a:solidFill>
                      <a:prstDash val="solid"/>
                      <a:round/>
                      <a:headEnd type="none" w="med" len="med"/>
                      <a:tailEnd type="none" w="med" len="med"/>
                    </a:lnR>
                    <a:lnT w="12700" cap="flat" cmpd="sng" algn="ctr">
                      <a:solidFill>
                        <a:srgbClr val="D5E0E5"/>
                      </a:solidFill>
                      <a:prstDash val="solid"/>
                      <a:round/>
                      <a:headEnd type="none" w="med" len="med"/>
                      <a:tailEnd type="none" w="med" len="med"/>
                    </a:lnT>
                    <a:lnB w="12700" cap="flat" cmpd="sng" algn="ctr">
                      <a:solidFill>
                        <a:srgbClr val="D5E0E5"/>
                      </a:solidFill>
                      <a:prstDash val="solid"/>
                      <a:round/>
                      <a:headEnd type="none" w="med" len="med"/>
                      <a:tailEnd type="none" w="med" len="med"/>
                    </a:lnB>
                    <a:solidFill>
                      <a:srgbClr val="14303D"/>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Passed</a:t>
                      </a:r>
                      <a:endParaRPr lang="en-US" sz="1300" dirty="0">
                        <a:latin typeface="Calibri" charset="0"/>
                        <a:ea typeface="Calibri" charset="0"/>
                        <a:cs typeface="Calibri" charset="0"/>
                      </a:endParaRPr>
                    </a:p>
                  </a:txBody>
                  <a:tcPr anchor="ctr">
                    <a:lnL w="12700" cap="flat" cmpd="sng" algn="ctr">
                      <a:solidFill>
                        <a:srgbClr val="D5E0E5"/>
                      </a:solidFill>
                      <a:prstDash val="solid"/>
                      <a:round/>
                      <a:headEnd type="none" w="med" len="med"/>
                      <a:tailEnd type="none" w="med" len="med"/>
                    </a:lnL>
                    <a:lnR w="12700" cap="flat" cmpd="sng" algn="ctr">
                      <a:solidFill>
                        <a:srgbClr val="D5E0E5"/>
                      </a:solidFill>
                      <a:prstDash val="solid"/>
                      <a:round/>
                      <a:headEnd type="none" w="med" len="med"/>
                      <a:tailEnd type="none" w="med" len="med"/>
                    </a:lnR>
                    <a:lnT w="12700" cap="flat" cmpd="sng" algn="ctr">
                      <a:solidFill>
                        <a:srgbClr val="D5E0E5"/>
                      </a:solidFill>
                      <a:prstDash val="solid"/>
                      <a:round/>
                      <a:headEnd type="none" w="med" len="med"/>
                      <a:tailEnd type="none" w="med" len="med"/>
                    </a:lnT>
                    <a:lnB w="12700" cap="flat" cmpd="sng" algn="ctr">
                      <a:solidFill>
                        <a:srgbClr val="D5E0E5"/>
                      </a:solidFill>
                      <a:prstDash val="solid"/>
                      <a:round/>
                      <a:headEnd type="none" w="med" len="med"/>
                      <a:tailEnd type="none" w="med" len="med"/>
                    </a:lnB>
                    <a:solidFill>
                      <a:srgbClr val="14303D"/>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App fault</a:t>
                      </a:r>
                      <a:endParaRPr lang="en-US" sz="1300" dirty="0">
                        <a:latin typeface="Calibri" charset="0"/>
                        <a:ea typeface="Calibri" charset="0"/>
                        <a:cs typeface="Calibri" charset="0"/>
                      </a:endParaRPr>
                    </a:p>
                  </a:txBody>
                  <a:tcPr anchor="ctr">
                    <a:lnL w="12700" cap="flat" cmpd="sng" algn="ctr">
                      <a:solidFill>
                        <a:srgbClr val="D5E0E5"/>
                      </a:solidFill>
                      <a:prstDash val="solid"/>
                      <a:round/>
                      <a:headEnd type="none" w="med" len="med"/>
                      <a:tailEnd type="none" w="med" len="med"/>
                    </a:lnL>
                    <a:lnR w="12700" cap="flat" cmpd="sng" algn="ctr">
                      <a:solidFill>
                        <a:srgbClr val="D5E0E5"/>
                      </a:solidFill>
                      <a:prstDash val="solid"/>
                      <a:round/>
                      <a:headEnd type="none" w="med" len="med"/>
                      <a:tailEnd type="none" w="med" len="med"/>
                    </a:lnR>
                    <a:lnT w="12700" cap="flat" cmpd="sng" algn="ctr">
                      <a:solidFill>
                        <a:srgbClr val="D5E0E5"/>
                      </a:solidFill>
                      <a:prstDash val="solid"/>
                      <a:round/>
                      <a:headEnd type="none" w="med" len="med"/>
                      <a:tailEnd type="none" w="med" len="med"/>
                    </a:lnT>
                    <a:lnB w="12700" cap="flat" cmpd="sng" algn="ctr">
                      <a:solidFill>
                        <a:srgbClr val="D5E0E5"/>
                      </a:solidFill>
                      <a:prstDash val="solid"/>
                      <a:round/>
                      <a:headEnd type="none" w="med" len="med"/>
                      <a:tailEnd type="none" w="med" len="med"/>
                    </a:lnB>
                    <a:solidFill>
                      <a:srgbClr val="14303D"/>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Agent fault</a:t>
                      </a:r>
                      <a:endParaRPr lang="en-US" sz="1300" dirty="0">
                        <a:latin typeface="Calibri" charset="0"/>
                        <a:ea typeface="Calibri" charset="0"/>
                        <a:cs typeface="Calibri" charset="0"/>
                      </a:endParaRPr>
                    </a:p>
                  </a:txBody>
                  <a:tcPr anchor="ctr">
                    <a:lnL w="12700" cap="flat" cmpd="sng" algn="ctr">
                      <a:solidFill>
                        <a:srgbClr val="D5E0E5"/>
                      </a:solidFill>
                      <a:prstDash val="solid"/>
                      <a:round/>
                      <a:headEnd type="none" w="med" len="med"/>
                      <a:tailEnd type="none" w="med" len="med"/>
                    </a:lnL>
                    <a:lnR w="12700" cap="flat" cmpd="sng" algn="ctr">
                      <a:solidFill>
                        <a:srgbClr val="D5E0E5"/>
                      </a:solidFill>
                      <a:prstDash val="solid"/>
                      <a:round/>
                      <a:headEnd type="none" w="med" len="med"/>
                      <a:tailEnd type="none" w="med" len="med"/>
                    </a:lnR>
                    <a:lnT w="12700" cap="flat" cmpd="sng" algn="ctr">
                      <a:solidFill>
                        <a:srgbClr val="D5E0E5"/>
                      </a:solidFill>
                      <a:prstDash val="solid"/>
                      <a:round/>
                      <a:headEnd type="none" w="med" len="med"/>
                      <a:tailEnd type="none" w="med" len="med"/>
                    </a:lnT>
                    <a:lnB w="12700" cap="flat" cmpd="sng" algn="ctr">
                      <a:solidFill>
                        <a:srgbClr val="D5E0E5"/>
                      </a:solidFill>
                      <a:prstDash val="solid"/>
                      <a:round/>
                      <a:headEnd type="none" w="med" len="med"/>
                      <a:tailEnd type="none" w="med" len="med"/>
                    </a:lnB>
                    <a:solidFill>
                      <a:srgbClr val="14303D"/>
                    </a:solidFill>
                  </a:tcPr>
                </a:tc>
                <a:extLst>
                  <a:ext uri="{0D108BD9-81ED-4DB2-BD59-A6C34878D82A}">
                    <a16:rowId xmlns:a16="http://schemas.microsoft.com/office/drawing/2014/main" val="10000"/>
                  </a:ext>
                </a:extLst>
              </a:tr>
              <a:tr h="475488">
                <a:tc>
                  <a:txBody>
                    <a:bodyPr/>
                    <a:lstStyle/>
                    <a:p>
                      <a:pPr marL="0" indent="0" algn="l">
                        <a:buNone/>
                      </a:pPr>
                      <a:r>
                        <a:rPr lang="en-US" sz="1350" b="1" dirty="0">
                          <a:solidFill>
                            <a:srgbClr val="14303D"/>
                          </a:solidFill>
                          <a:latin typeface="Calibri" pitchFamily="34" charset="0"/>
                          <a:ea typeface="Calibri" pitchFamily="34" charset="-122"/>
                          <a:cs typeface="Calibri" pitchFamily="34" charset="-120"/>
                        </a:rPr>
                        <a:t>DataGhurhi, survey platform</a:t>
                      </a:r>
                      <a:endParaRPr lang="en-US" sz="1350" dirty="0">
                        <a:latin typeface="Calibri" charset="0"/>
                        <a:ea typeface="Calibri" charset="0"/>
                        <a:cs typeface="Calibri" charset="0"/>
                      </a:endParaRPr>
                    </a:p>
                  </a:txBody>
                  <a:tcPr anchor="ctr">
                    <a:lnL w="12700" cap="flat" cmpd="sng" algn="ctr">
                      <a:solidFill>
                        <a:srgbClr val="D5E0E5"/>
                      </a:solidFill>
                      <a:prstDash val="solid"/>
                      <a:round/>
                      <a:headEnd type="none" w="med" len="med"/>
                      <a:tailEnd type="none" w="med" len="med"/>
                    </a:lnL>
                    <a:lnR w="12700" cap="flat" cmpd="sng" algn="ctr">
                      <a:solidFill>
                        <a:srgbClr val="D5E0E5"/>
                      </a:solidFill>
                      <a:prstDash val="solid"/>
                      <a:round/>
                      <a:headEnd type="none" w="med" len="med"/>
                      <a:tailEnd type="none" w="med" len="med"/>
                    </a:lnR>
                    <a:lnT w="12700" cap="flat" cmpd="sng" algn="ctr">
                      <a:solidFill>
                        <a:srgbClr val="D5E0E5"/>
                      </a:solidFill>
                      <a:prstDash val="solid"/>
                      <a:round/>
                      <a:headEnd type="none" w="med" len="med"/>
                      <a:tailEnd type="none" w="med" len="med"/>
                    </a:lnT>
                    <a:lnB w="12700" cap="flat" cmpd="sng" algn="ctr">
                      <a:solidFill>
                        <a:srgbClr val="D5E0E5"/>
                      </a:solidFill>
                      <a:prstDash val="solid"/>
                      <a:round/>
                      <a:headEnd type="none" w="med" len="med"/>
                      <a:tailEnd type="none" w="med" len="med"/>
                    </a:lnB>
                    <a:solidFill>
                      <a:srgbClr val="FFFFFF"/>
                    </a:solidFill>
                  </a:tcPr>
                </a:tc>
                <a:tc>
                  <a:txBody>
                    <a:bodyPr/>
                    <a:lstStyle/>
                    <a:p>
                      <a:pPr marL="0" indent="0" algn="l">
                        <a:buNone/>
                      </a:pPr>
                      <a:r>
                        <a:rPr lang="en-US" sz="1350" dirty="0">
                          <a:solidFill>
                            <a:srgbClr val="14303D"/>
                          </a:solidFill>
                          <a:latin typeface="Calibri" pitchFamily="34" charset="0"/>
                          <a:ea typeface="Calibri" pitchFamily="34" charset="-122"/>
                          <a:cs typeface="Calibri" pitchFamily="34" charset="-120"/>
                        </a:rPr>
                        <a:t>Web</a:t>
                      </a:r>
                      <a:endParaRPr lang="en-US" sz="1350" dirty="0">
                        <a:latin typeface="Calibri" charset="0"/>
                        <a:ea typeface="Calibri" charset="0"/>
                        <a:cs typeface="Calibri" charset="0"/>
                      </a:endParaRPr>
                    </a:p>
                  </a:txBody>
                  <a:tcPr anchor="ctr">
                    <a:lnL w="12700" cap="flat" cmpd="sng" algn="ctr">
                      <a:solidFill>
                        <a:srgbClr val="D5E0E5"/>
                      </a:solidFill>
                      <a:prstDash val="solid"/>
                      <a:round/>
                      <a:headEnd type="none" w="med" len="med"/>
                      <a:tailEnd type="none" w="med" len="med"/>
                    </a:lnL>
                    <a:lnR w="12700" cap="flat" cmpd="sng" algn="ctr">
                      <a:solidFill>
                        <a:srgbClr val="D5E0E5"/>
                      </a:solidFill>
                      <a:prstDash val="solid"/>
                      <a:round/>
                      <a:headEnd type="none" w="med" len="med"/>
                      <a:tailEnd type="none" w="med" len="med"/>
                    </a:lnR>
                    <a:lnT w="12700" cap="flat" cmpd="sng" algn="ctr">
                      <a:solidFill>
                        <a:srgbClr val="D5E0E5"/>
                      </a:solidFill>
                      <a:prstDash val="solid"/>
                      <a:round/>
                      <a:headEnd type="none" w="med" len="med"/>
                      <a:tailEnd type="none" w="med" len="med"/>
                    </a:lnT>
                    <a:lnB w="12700" cap="flat" cmpd="sng" algn="ctr">
                      <a:solidFill>
                        <a:srgbClr val="D5E0E5"/>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4303D"/>
                          </a:solidFill>
                          <a:latin typeface="Calibri" pitchFamily="34" charset="0"/>
                          <a:ea typeface="Calibri" pitchFamily="34" charset="-122"/>
                          <a:cs typeface="Calibri" pitchFamily="34" charset="-120"/>
                        </a:rPr>
                        <a:t>64</a:t>
                      </a:r>
                      <a:endParaRPr lang="en-US" sz="1350" dirty="0">
                        <a:latin typeface="Calibri" charset="0"/>
                        <a:ea typeface="Calibri" charset="0"/>
                        <a:cs typeface="Calibri" charset="0"/>
                      </a:endParaRPr>
                    </a:p>
                  </a:txBody>
                  <a:tcPr anchor="ctr">
                    <a:lnL w="12700" cap="flat" cmpd="sng" algn="ctr">
                      <a:solidFill>
                        <a:srgbClr val="D5E0E5"/>
                      </a:solidFill>
                      <a:prstDash val="solid"/>
                      <a:round/>
                      <a:headEnd type="none" w="med" len="med"/>
                      <a:tailEnd type="none" w="med" len="med"/>
                    </a:lnL>
                    <a:lnR w="12700" cap="flat" cmpd="sng" algn="ctr">
                      <a:solidFill>
                        <a:srgbClr val="D5E0E5"/>
                      </a:solidFill>
                      <a:prstDash val="solid"/>
                      <a:round/>
                      <a:headEnd type="none" w="med" len="med"/>
                      <a:tailEnd type="none" w="med" len="med"/>
                    </a:lnR>
                    <a:lnT w="12700" cap="flat" cmpd="sng" algn="ctr">
                      <a:solidFill>
                        <a:srgbClr val="D5E0E5"/>
                      </a:solidFill>
                      <a:prstDash val="solid"/>
                      <a:round/>
                      <a:headEnd type="none" w="med" len="med"/>
                      <a:tailEnd type="none" w="med" len="med"/>
                    </a:lnT>
                    <a:lnB w="12700" cap="flat" cmpd="sng" algn="ctr">
                      <a:solidFill>
                        <a:srgbClr val="D5E0E5"/>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4303D"/>
                          </a:solidFill>
                          <a:latin typeface="Calibri" pitchFamily="34" charset="0"/>
                          <a:ea typeface="Calibri" pitchFamily="34" charset="-122"/>
                          <a:cs typeface="Calibri" pitchFamily="34" charset="-120"/>
                        </a:rPr>
                        <a:t>51</a:t>
                      </a:r>
                      <a:endParaRPr lang="en-US" sz="1350" dirty="0">
                        <a:latin typeface="Calibri" charset="0"/>
                        <a:ea typeface="Calibri" charset="0"/>
                        <a:cs typeface="Calibri" charset="0"/>
                      </a:endParaRPr>
                    </a:p>
                  </a:txBody>
                  <a:tcPr anchor="ctr">
                    <a:lnL w="12700" cap="flat" cmpd="sng" algn="ctr">
                      <a:solidFill>
                        <a:srgbClr val="D5E0E5"/>
                      </a:solidFill>
                      <a:prstDash val="solid"/>
                      <a:round/>
                      <a:headEnd type="none" w="med" len="med"/>
                      <a:tailEnd type="none" w="med" len="med"/>
                    </a:lnL>
                    <a:lnR w="12700" cap="flat" cmpd="sng" algn="ctr">
                      <a:solidFill>
                        <a:srgbClr val="D5E0E5"/>
                      </a:solidFill>
                      <a:prstDash val="solid"/>
                      <a:round/>
                      <a:headEnd type="none" w="med" len="med"/>
                      <a:tailEnd type="none" w="med" len="med"/>
                    </a:lnR>
                    <a:lnT w="12700" cap="flat" cmpd="sng" algn="ctr">
                      <a:solidFill>
                        <a:srgbClr val="D5E0E5"/>
                      </a:solidFill>
                      <a:prstDash val="solid"/>
                      <a:round/>
                      <a:headEnd type="none" w="med" len="med"/>
                      <a:tailEnd type="none" w="med" len="med"/>
                    </a:lnT>
                    <a:lnB w="12700" cap="flat" cmpd="sng" algn="ctr">
                      <a:solidFill>
                        <a:srgbClr val="D5E0E5"/>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4303D"/>
                          </a:solidFill>
                          <a:latin typeface="Calibri" pitchFamily="34" charset="0"/>
                          <a:ea typeface="Calibri" pitchFamily="34" charset="-122"/>
                          <a:cs typeface="Calibri" pitchFamily="34" charset="-120"/>
                        </a:rPr>
                        <a:t>4</a:t>
                      </a:r>
                      <a:endParaRPr lang="en-US" sz="1350" dirty="0">
                        <a:latin typeface="Calibri" charset="0"/>
                        <a:ea typeface="Calibri" charset="0"/>
                        <a:cs typeface="Calibri" charset="0"/>
                      </a:endParaRPr>
                    </a:p>
                  </a:txBody>
                  <a:tcPr anchor="ctr">
                    <a:lnL w="12700" cap="flat" cmpd="sng" algn="ctr">
                      <a:solidFill>
                        <a:srgbClr val="D5E0E5"/>
                      </a:solidFill>
                      <a:prstDash val="solid"/>
                      <a:round/>
                      <a:headEnd type="none" w="med" len="med"/>
                      <a:tailEnd type="none" w="med" len="med"/>
                    </a:lnL>
                    <a:lnR w="12700" cap="flat" cmpd="sng" algn="ctr">
                      <a:solidFill>
                        <a:srgbClr val="D5E0E5"/>
                      </a:solidFill>
                      <a:prstDash val="solid"/>
                      <a:round/>
                      <a:headEnd type="none" w="med" len="med"/>
                      <a:tailEnd type="none" w="med" len="med"/>
                    </a:lnR>
                    <a:lnT w="12700" cap="flat" cmpd="sng" algn="ctr">
                      <a:solidFill>
                        <a:srgbClr val="D5E0E5"/>
                      </a:solidFill>
                      <a:prstDash val="solid"/>
                      <a:round/>
                      <a:headEnd type="none" w="med" len="med"/>
                      <a:tailEnd type="none" w="med" len="med"/>
                    </a:lnT>
                    <a:lnB w="12700" cap="flat" cmpd="sng" algn="ctr">
                      <a:solidFill>
                        <a:srgbClr val="D5E0E5"/>
                      </a:solidFill>
                      <a:prstDash val="solid"/>
                      <a:round/>
                      <a:headEnd type="none" w="med" len="med"/>
                      <a:tailEnd type="none" w="med" len="med"/>
                    </a:lnB>
                    <a:solidFill>
                      <a:srgbClr val="FFFFFF"/>
                    </a:solidFill>
                  </a:tcPr>
                </a:tc>
                <a:tc>
                  <a:txBody>
                    <a:bodyPr/>
                    <a:lstStyle/>
                    <a:p>
                      <a:pPr marL="0" indent="0" algn="ctr">
                        <a:buNone/>
                      </a:pPr>
                      <a:r>
                        <a:rPr lang="en-US" sz="1350" b="1" dirty="0">
                          <a:solidFill>
                            <a:srgbClr val="A9502C"/>
                          </a:solidFill>
                          <a:latin typeface="Calibri" pitchFamily="34" charset="0"/>
                          <a:ea typeface="Calibri" pitchFamily="34" charset="-122"/>
                          <a:cs typeface="Calibri" pitchFamily="34" charset="-120"/>
                        </a:rPr>
                        <a:t>0</a:t>
                      </a:r>
                      <a:endParaRPr lang="en-US" sz="1350" dirty="0">
                        <a:latin typeface="Calibri" charset="0"/>
                        <a:ea typeface="Calibri" charset="0"/>
                        <a:cs typeface="Calibri" charset="0"/>
                      </a:endParaRPr>
                    </a:p>
                  </a:txBody>
                  <a:tcPr anchor="ctr">
                    <a:lnL w="12700" cap="flat" cmpd="sng" algn="ctr">
                      <a:solidFill>
                        <a:srgbClr val="D5E0E5"/>
                      </a:solidFill>
                      <a:prstDash val="solid"/>
                      <a:round/>
                      <a:headEnd type="none" w="med" len="med"/>
                      <a:tailEnd type="none" w="med" len="med"/>
                    </a:lnL>
                    <a:lnR w="12700" cap="flat" cmpd="sng" algn="ctr">
                      <a:solidFill>
                        <a:srgbClr val="D5E0E5"/>
                      </a:solidFill>
                      <a:prstDash val="solid"/>
                      <a:round/>
                      <a:headEnd type="none" w="med" len="med"/>
                      <a:tailEnd type="none" w="med" len="med"/>
                    </a:lnR>
                    <a:lnT w="12700" cap="flat" cmpd="sng" algn="ctr">
                      <a:solidFill>
                        <a:srgbClr val="D5E0E5"/>
                      </a:solidFill>
                      <a:prstDash val="solid"/>
                      <a:round/>
                      <a:headEnd type="none" w="med" len="med"/>
                      <a:tailEnd type="none" w="med" len="med"/>
                    </a:lnT>
                    <a:lnB w="12700" cap="flat" cmpd="sng" algn="ctr">
                      <a:solidFill>
                        <a:srgbClr val="D5E0E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lgn="l">
                        <a:buNone/>
                      </a:pPr>
                      <a:r>
                        <a:rPr lang="en-US" sz="1350" b="1" dirty="0">
                          <a:solidFill>
                            <a:srgbClr val="14303D"/>
                          </a:solidFill>
                          <a:latin typeface="Calibri" pitchFamily="34" charset="0"/>
                          <a:ea typeface="Calibri" pitchFamily="34" charset="-122"/>
                          <a:cs typeface="Calibri" pitchFamily="34" charset="-120"/>
                        </a:rPr>
                        <a:t>Shobar Khamar, marketplace</a:t>
                      </a:r>
                      <a:endParaRPr lang="en-US" sz="1350" dirty="0">
                        <a:latin typeface="Calibri" charset="0"/>
                        <a:ea typeface="Calibri" charset="0"/>
                        <a:cs typeface="Calibri" charset="0"/>
                      </a:endParaRPr>
                    </a:p>
                  </a:txBody>
                  <a:tcPr anchor="ctr">
                    <a:lnL w="12700" cap="flat" cmpd="sng" algn="ctr">
                      <a:solidFill>
                        <a:srgbClr val="D5E0E5"/>
                      </a:solidFill>
                      <a:prstDash val="solid"/>
                      <a:round/>
                      <a:headEnd type="none" w="med" len="med"/>
                      <a:tailEnd type="none" w="med" len="med"/>
                    </a:lnL>
                    <a:lnR w="12700" cap="flat" cmpd="sng" algn="ctr">
                      <a:solidFill>
                        <a:srgbClr val="D5E0E5"/>
                      </a:solidFill>
                      <a:prstDash val="solid"/>
                      <a:round/>
                      <a:headEnd type="none" w="med" len="med"/>
                      <a:tailEnd type="none" w="med" len="med"/>
                    </a:lnR>
                    <a:lnT w="12700" cap="flat" cmpd="sng" algn="ctr">
                      <a:solidFill>
                        <a:srgbClr val="D5E0E5"/>
                      </a:solidFill>
                      <a:prstDash val="solid"/>
                      <a:round/>
                      <a:headEnd type="none" w="med" len="med"/>
                      <a:tailEnd type="none" w="med" len="med"/>
                    </a:lnT>
                    <a:lnB w="12700" cap="flat" cmpd="sng" algn="ctr">
                      <a:solidFill>
                        <a:srgbClr val="D5E0E5"/>
                      </a:solidFill>
                      <a:prstDash val="solid"/>
                      <a:round/>
                      <a:headEnd type="none" w="med" len="med"/>
                      <a:tailEnd type="none" w="med" len="med"/>
                    </a:lnB>
                    <a:solidFill>
                      <a:srgbClr val="EDF3F5"/>
                    </a:solidFill>
                  </a:tcPr>
                </a:tc>
                <a:tc>
                  <a:txBody>
                    <a:bodyPr/>
                    <a:lstStyle/>
                    <a:p>
                      <a:pPr marL="0" indent="0" algn="l">
                        <a:buNone/>
                      </a:pPr>
                      <a:r>
                        <a:rPr lang="en-US" sz="1350" dirty="0">
                          <a:solidFill>
                            <a:srgbClr val="14303D"/>
                          </a:solidFill>
                          <a:latin typeface="Calibri" pitchFamily="34" charset="0"/>
                          <a:ea typeface="Calibri" pitchFamily="34" charset="-122"/>
                          <a:cs typeface="Calibri" pitchFamily="34" charset="-120"/>
                        </a:rPr>
                        <a:t>Android</a:t>
                      </a:r>
                      <a:endParaRPr lang="en-US" sz="1350" dirty="0">
                        <a:latin typeface="Calibri" charset="0"/>
                        <a:ea typeface="Calibri" charset="0"/>
                        <a:cs typeface="Calibri" charset="0"/>
                      </a:endParaRPr>
                    </a:p>
                  </a:txBody>
                  <a:tcPr anchor="ctr">
                    <a:lnL w="12700" cap="flat" cmpd="sng" algn="ctr">
                      <a:solidFill>
                        <a:srgbClr val="D5E0E5"/>
                      </a:solidFill>
                      <a:prstDash val="solid"/>
                      <a:round/>
                      <a:headEnd type="none" w="med" len="med"/>
                      <a:tailEnd type="none" w="med" len="med"/>
                    </a:lnL>
                    <a:lnR w="12700" cap="flat" cmpd="sng" algn="ctr">
                      <a:solidFill>
                        <a:srgbClr val="D5E0E5"/>
                      </a:solidFill>
                      <a:prstDash val="solid"/>
                      <a:round/>
                      <a:headEnd type="none" w="med" len="med"/>
                      <a:tailEnd type="none" w="med" len="med"/>
                    </a:lnR>
                    <a:lnT w="12700" cap="flat" cmpd="sng" algn="ctr">
                      <a:solidFill>
                        <a:srgbClr val="D5E0E5"/>
                      </a:solidFill>
                      <a:prstDash val="solid"/>
                      <a:round/>
                      <a:headEnd type="none" w="med" len="med"/>
                      <a:tailEnd type="none" w="med" len="med"/>
                    </a:lnT>
                    <a:lnB w="12700" cap="flat" cmpd="sng" algn="ctr">
                      <a:solidFill>
                        <a:srgbClr val="D5E0E5"/>
                      </a:solidFill>
                      <a:prstDash val="solid"/>
                      <a:round/>
                      <a:headEnd type="none" w="med" len="med"/>
                      <a:tailEnd type="none" w="med" len="med"/>
                    </a:lnB>
                    <a:solidFill>
                      <a:srgbClr val="EDF3F5"/>
                    </a:solidFill>
                  </a:tcPr>
                </a:tc>
                <a:tc>
                  <a:txBody>
                    <a:bodyPr/>
                    <a:lstStyle/>
                    <a:p>
                      <a:pPr marL="0" indent="0" algn="ctr">
                        <a:buNone/>
                      </a:pPr>
                      <a:r>
                        <a:rPr lang="en-US" sz="1350" dirty="0">
                          <a:solidFill>
                            <a:srgbClr val="14303D"/>
                          </a:solidFill>
                          <a:latin typeface="Calibri" pitchFamily="34" charset="0"/>
                          <a:ea typeface="Calibri" pitchFamily="34" charset="-122"/>
                          <a:cs typeface="Calibri" pitchFamily="34" charset="-120"/>
                        </a:rPr>
                        <a:t>45</a:t>
                      </a:r>
                      <a:endParaRPr lang="en-US" sz="1350" dirty="0">
                        <a:latin typeface="Calibri" charset="0"/>
                        <a:ea typeface="Calibri" charset="0"/>
                        <a:cs typeface="Calibri" charset="0"/>
                      </a:endParaRPr>
                    </a:p>
                  </a:txBody>
                  <a:tcPr anchor="ctr">
                    <a:lnL w="12700" cap="flat" cmpd="sng" algn="ctr">
                      <a:solidFill>
                        <a:srgbClr val="D5E0E5"/>
                      </a:solidFill>
                      <a:prstDash val="solid"/>
                      <a:round/>
                      <a:headEnd type="none" w="med" len="med"/>
                      <a:tailEnd type="none" w="med" len="med"/>
                    </a:lnL>
                    <a:lnR w="12700" cap="flat" cmpd="sng" algn="ctr">
                      <a:solidFill>
                        <a:srgbClr val="D5E0E5"/>
                      </a:solidFill>
                      <a:prstDash val="solid"/>
                      <a:round/>
                      <a:headEnd type="none" w="med" len="med"/>
                      <a:tailEnd type="none" w="med" len="med"/>
                    </a:lnR>
                    <a:lnT w="12700" cap="flat" cmpd="sng" algn="ctr">
                      <a:solidFill>
                        <a:srgbClr val="D5E0E5"/>
                      </a:solidFill>
                      <a:prstDash val="solid"/>
                      <a:round/>
                      <a:headEnd type="none" w="med" len="med"/>
                      <a:tailEnd type="none" w="med" len="med"/>
                    </a:lnT>
                    <a:lnB w="12700" cap="flat" cmpd="sng" algn="ctr">
                      <a:solidFill>
                        <a:srgbClr val="D5E0E5"/>
                      </a:solidFill>
                      <a:prstDash val="solid"/>
                      <a:round/>
                      <a:headEnd type="none" w="med" len="med"/>
                      <a:tailEnd type="none" w="med" len="med"/>
                    </a:lnB>
                    <a:solidFill>
                      <a:srgbClr val="EDF3F5"/>
                    </a:solidFill>
                  </a:tcPr>
                </a:tc>
                <a:tc>
                  <a:txBody>
                    <a:bodyPr/>
                    <a:lstStyle/>
                    <a:p>
                      <a:pPr marL="0" indent="0" algn="ctr">
                        <a:buNone/>
                      </a:pPr>
                      <a:r>
                        <a:rPr lang="en-US" sz="1350" dirty="0">
                          <a:solidFill>
                            <a:srgbClr val="14303D"/>
                          </a:solidFill>
                          <a:latin typeface="Calibri" pitchFamily="34" charset="0"/>
                          <a:ea typeface="Calibri" pitchFamily="34" charset="-122"/>
                          <a:cs typeface="Calibri" pitchFamily="34" charset="-120"/>
                        </a:rPr>
                        <a:t>20</a:t>
                      </a:r>
                      <a:endParaRPr lang="en-US" sz="1350" dirty="0">
                        <a:latin typeface="Calibri" charset="0"/>
                        <a:ea typeface="Calibri" charset="0"/>
                        <a:cs typeface="Calibri" charset="0"/>
                      </a:endParaRPr>
                    </a:p>
                  </a:txBody>
                  <a:tcPr anchor="ctr">
                    <a:lnL w="12700" cap="flat" cmpd="sng" algn="ctr">
                      <a:solidFill>
                        <a:srgbClr val="D5E0E5"/>
                      </a:solidFill>
                      <a:prstDash val="solid"/>
                      <a:round/>
                      <a:headEnd type="none" w="med" len="med"/>
                      <a:tailEnd type="none" w="med" len="med"/>
                    </a:lnL>
                    <a:lnR w="12700" cap="flat" cmpd="sng" algn="ctr">
                      <a:solidFill>
                        <a:srgbClr val="D5E0E5"/>
                      </a:solidFill>
                      <a:prstDash val="solid"/>
                      <a:round/>
                      <a:headEnd type="none" w="med" len="med"/>
                      <a:tailEnd type="none" w="med" len="med"/>
                    </a:lnR>
                    <a:lnT w="12700" cap="flat" cmpd="sng" algn="ctr">
                      <a:solidFill>
                        <a:srgbClr val="D5E0E5"/>
                      </a:solidFill>
                      <a:prstDash val="solid"/>
                      <a:round/>
                      <a:headEnd type="none" w="med" len="med"/>
                      <a:tailEnd type="none" w="med" len="med"/>
                    </a:lnT>
                    <a:lnB w="12700" cap="flat" cmpd="sng" algn="ctr">
                      <a:solidFill>
                        <a:srgbClr val="D5E0E5"/>
                      </a:solidFill>
                      <a:prstDash val="solid"/>
                      <a:round/>
                      <a:headEnd type="none" w="med" len="med"/>
                      <a:tailEnd type="none" w="med" len="med"/>
                    </a:lnB>
                    <a:solidFill>
                      <a:srgbClr val="EDF3F5"/>
                    </a:solidFill>
                  </a:tcPr>
                </a:tc>
                <a:tc>
                  <a:txBody>
                    <a:bodyPr/>
                    <a:lstStyle/>
                    <a:p>
                      <a:pPr marL="0" indent="0" algn="ctr">
                        <a:buNone/>
                      </a:pPr>
                      <a:r>
                        <a:rPr lang="en-US" sz="1350" dirty="0">
                          <a:solidFill>
                            <a:srgbClr val="14303D"/>
                          </a:solidFill>
                          <a:latin typeface="Calibri" pitchFamily="34" charset="0"/>
                          <a:ea typeface="Calibri" pitchFamily="34" charset="-122"/>
                          <a:cs typeface="Calibri" pitchFamily="34" charset="-120"/>
                        </a:rPr>
                        <a:t>11</a:t>
                      </a:r>
                      <a:endParaRPr lang="en-US" sz="1350" dirty="0">
                        <a:latin typeface="Calibri" charset="0"/>
                        <a:ea typeface="Calibri" charset="0"/>
                        <a:cs typeface="Calibri" charset="0"/>
                      </a:endParaRPr>
                    </a:p>
                  </a:txBody>
                  <a:tcPr anchor="ctr">
                    <a:lnL w="12700" cap="flat" cmpd="sng" algn="ctr">
                      <a:solidFill>
                        <a:srgbClr val="D5E0E5"/>
                      </a:solidFill>
                      <a:prstDash val="solid"/>
                      <a:round/>
                      <a:headEnd type="none" w="med" len="med"/>
                      <a:tailEnd type="none" w="med" len="med"/>
                    </a:lnL>
                    <a:lnR w="12700" cap="flat" cmpd="sng" algn="ctr">
                      <a:solidFill>
                        <a:srgbClr val="D5E0E5"/>
                      </a:solidFill>
                      <a:prstDash val="solid"/>
                      <a:round/>
                      <a:headEnd type="none" w="med" len="med"/>
                      <a:tailEnd type="none" w="med" len="med"/>
                    </a:lnR>
                    <a:lnT w="12700" cap="flat" cmpd="sng" algn="ctr">
                      <a:solidFill>
                        <a:srgbClr val="D5E0E5"/>
                      </a:solidFill>
                      <a:prstDash val="solid"/>
                      <a:round/>
                      <a:headEnd type="none" w="med" len="med"/>
                      <a:tailEnd type="none" w="med" len="med"/>
                    </a:lnT>
                    <a:lnB w="12700" cap="flat" cmpd="sng" algn="ctr">
                      <a:solidFill>
                        <a:srgbClr val="D5E0E5"/>
                      </a:solidFill>
                      <a:prstDash val="solid"/>
                      <a:round/>
                      <a:headEnd type="none" w="med" len="med"/>
                      <a:tailEnd type="none" w="med" len="med"/>
                    </a:lnB>
                    <a:solidFill>
                      <a:srgbClr val="EDF3F5"/>
                    </a:solidFill>
                  </a:tcPr>
                </a:tc>
                <a:tc>
                  <a:txBody>
                    <a:bodyPr/>
                    <a:lstStyle/>
                    <a:p>
                      <a:pPr marL="0" indent="0" algn="ctr">
                        <a:buNone/>
                      </a:pPr>
                      <a:r>
                        <a:rPr lang="en-US" sz="1350" dirty="0">
                          <a:solidFill>
                            <a:srgbClr val="14303D"/>
                          </a:solidFill>
                          <a:latin typeface="Calibri" pitchFamily="34" charset="0"/>
                          <a:ea typeface="Calibri" pitchFamily="34" charset="-122"/>
                          <a:cs typeface="Calibri" pitchFamily="34" charset="-120"/>
                        </a:rPr>
                        <a:t>14</a:t>
                      </a:r>
                      <a:endParaRPr lang="en-US" sz="1350" dirty="0">
                        <a:latin typeface="Calibri" charset="0"/>
                        <a:ea typeface="Calibri" charset="0"/>
                        <a:cs typeface="Calibri" charset="0"/>
                      </a:endParaRPr>
                    </a:p>
                  </a:txBody>
                  <a:tcPr anchor="ctr">
                    <a:lnL w="12700" cap="flat" cmpd="sng" algn="ctr">
                      <a:solidFill>
                        <a:srgbClr val="D5E0E5"/>
                      </a:solidFill>
                      <a:prstDash val="solid"/>
                      <a:round/>
                      <a:headEnd type="none" w="med" len="med"/>
                      <a:tailEnd type="none" w="med" len="med"/>
                    </a:lnL>
                    <a:lnR w="12700" cap="flat" cmpd="sng" algn="ctr">
                      <a:solidFill>
                        <a:srgbClr val="D5E0E5"/>
                      </a:solidFill>
                      <a:prstDash val="solid"/>
                      <a:round/>
                      <a:headEnd type="none" w="med" len="med"/>
                      <a:tailEnd type="none" w="med" len="med"/>
                    </a:lnR>
                    <a:lnT w="12700" cap="flat" cmpd="sng" algn="ctr">
                      <a:solidFill>
                        <a:srgbClr val="D5E0E5"/>
                      </a:solidFill>
                      <a:prstDash val="solid"/>
                      <a:round/>
                      <a:headEnd type="none" w="med" len="med"/>
                      <a:tailEnd type="none" w="med" len="med"/>
                    </a:lnT>
                    <a:lnB w="12700" cap="flat" cmpd="sng" algn="ctr">
                      <a:solidFill>
                        <a:srgbClr val="D5E0E5"/>
                      </a:solidFill>
                      <a:prstDash val="solid"/>
                      <a:round/>
                      <a:headEnd type="none" w="med" len="med"/>
                      <a:tailEnd type="none" w="med" len="med"/>
                    </a:lnB>
                    <a:solidFill>
                      <a:srgbClr val="EDF3F5"/>
                    </a:solidFill>
                  </a:tcPr>
                </a:tc>
                <a:extLst>
                  <a:ext uri="{0D108BD9-81ED-4DB2-BD59-A6C34878D82A}">
                    <a16:rowId xmlns:a16="http://schemas.microsoft.com/office/drawing/2014/main" val="10002"/>
                  </a:ext>
                </a:extLst>
              </a:tr>
              <a:tr h="475488">
                <a:tc>
                  <a:txBody>
                    <a:bodyPr/>
                    <a:lstStyle/>
                    <a:p>
                      <a:pPr marL="0" indent="0" algn="l">
                        <a:buNone/>
                      </a:pPr>
                      <a:r>
                        <a:rPr lang="en-US" sz="1350" b="1" dirty="0">
                          <a:solidFill>
                            <a:srgbClr val="14303D"/>
                          </a:solidFill>
                          <a:latin typeface="Calibri" pitchFamily="34" charset="0"/>
                          <a:ea typeface="Calibri" pitchFamily="34" charset="-122"/>
                          <a:cs typeface="Calibri" pitchFamily="34" charset="-120"/>
                        </a:rPr>
                        <a:t>Google Contacts</a:t>
                      </a:r>
                      <a:endParaRPr lang="en-US" sz="1350" dirty="0">
                        <a:latin typeface="Calibri" charset="0"/>
                        <a:ea typeface="Calibri" charset="0"/>
                        <a:cs typeface="Calibri" charset="0"/>
                      </a:endParaRPr>
                    </a:p>
                  </a:txBody>
                  <a:tcPr anchor="ctr">
                    <a:lnL w="12700" cap="flat" cmpd="sng" algn="ctr">
                      <a:solidFill>
                        <a:srgbClr val="D5E0E5"/>
                      </a:solidFill>
                      <a:prstDash val="solid"/>
                      <a:round/>
                      <a:headEnd type="none" w="med" len="med"/>
                      <a:tailEnd type="none" w="med" len="med"/>
                    </a:lnL>
                    <a:lnR w="12700" cap="flat" cmpd="sng" algn="ctr">
                      <a:solidFill>
                        <a:srgbClr val="D5E0E5"/>
                      </a:solidFill>
                      <a:prstDash val="solid"/>
                      <a:round/>
                      <a:headEnd type="none" w="med" len="med"/>
                      <a:tailEnd type="none" w="med" len="med"/>
                    </a:lnR>
                    <a:lnT w="12700" cap="flat" cmpd="sng" algn="ctr">
                      <a:solidFill>
                        <a:srgbClr val="D5E0E5"/>
                      </a:solidFill>
                      <a:prstDash val="solid"/>
                      <a:round/>
                      <a:headEnd type="none" w="med" len="med"/>
                      <a:tailEnd type="none" w="med" len="med"/>
                    </a:lnT>
                    <a:lnB w="12700" cap="flat" cmpd="sng" algn="ctr">
                      <a:solidFill>
                        <a:srgbClr val="D5E0E5"/>
                      </a:solidFill>
                      <a:prstDash val="solid"/>
                      <a:round/>
                      <a:headEnd type="none" w="med" len="med"/>
                      <a:tailEnd type="none" w="med" len="med"/>
                    </a:lnB>
                    <a:solidFill>
                      <a:srgbClr val="FFFFFF"/>
                    </a:solidFill>
                  </a:tcPr>
                </a:tc>
                <a:tc>
                  <a:txBody>
                    <a:bodyPr/>
                    <a:lstStyle/>
                    <a:p>
                      <a:pPr marL="0" indent="0" algn="l">
                        <a:buNone/>
                      </a:pPr>
                      <a:r>
                        <a:rPr lang="en-US" sz="1350" dirty="0">
                          <a:solidFill>
                            <a:srgbClr val="14303D"/>
                          </a:solidFill>
                          <a:latin typeface="Calibri" pitchFamily="34" charset="0"/>
                          <a:ea typeface="Calibri" pitchFamily="34" charset="-122"/>
                          <a:cs typeface="Calibri" pitchFamily="34" charset="-120"/>
                        </a:rPr>
                        <a:t>Android</a:t>
                      </a:r>
                      <a:endParaRPr lang="en-US" sz="1350" dirty="0">
                        <a:latin typeface="Calibri" charset="0"/>
                        <a:ea typeface="Calibri" charset="0"/>
                        <a:cs typeface="Calibri" charset="0"/>
                      </a:endParaRPr>
                    </a:p>
                  </a:txBody>
                  <a:tcPr anchor="ctr">
                    <a:lnL w="12700" cap="flat" cmpd="sng" algn="ctr">
                      <a:solidFill>
                        <a:srgbClr val="D5E0E5"/>
                      </a:solidFill>
                      <a:prstDash val="solid"/>
                      <a:round/>
                      <a:headEnd type="none" w="med" len="med"/>
                      <a:tailEnd type="none" w="med" len="med"/>
                    </a:lnL>
                    <a:lnR w="12700" cap="flat" cmpd="sng" algn="ctr">
                      <a:solidFill>
                        <a:srgbClr val="D5E0E5"/>
                      </a:solidFill>
                      <a:prstDash val="solid"/>
                      <a:round/>
                      <a:headEnd type="none" w="med" len="med"/>
                      <a:tailEnd type="none" w="med" len="med"/>
                    </a:lnR>
                    <a:lnT w="12700" cap="flat" cmpd="sng" algn="ctr">
                      <a:solidFill>
                        <a:srgbClr val="D5E0E5"/>
                      </a:solidFill>
                      <a:prstDash val="solid"/>
                      <a:round/>
                      <a:headEnd type="none" w="med" len="med"/>
                      <a:tailEnd type="none" w="med" len="med"/>
                    </a:lnT>
                    <a:lnB w="12700" cap="flat" cmpd="sng" algn="ctr">
                      <a:solidFill>
                        <a:srgbClr val="D5E0E5"/>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4303D"/>
                          </a:solidFill>
                          <a:latin typeface="Calibri" pitchFamily="34" charset="0"/>
                          <a:ea typeface="Calibri" pitchFamily="34" charset="-122"/>
                          <a:cs typeface="Calibri" pitchFamily="34" charset="-120"/>
                        </a:rPr>
                        <a:t>50</a:t>
                      </a:r>
                      <a:endParaRPr lang="en-US" sz="1350" dirty="0">
                        <a:latin typeface="Calibri" charset="0"/>
                        <a:ea typeface="Calibri" charset="0"/>
                        <a:cs typeface="Calibri" charset="0"/>
                      </a:endParaRPr>
                    </a:p>
                  </a:txBody>
                  <a:tcPr anchor="ctr">
                    <a:lnL w="12700" cap="flat" cmpd="sng" algn="ctr">
                      <a:solidFill>
                        <a:srgbClr val="D5E0E5"/>
                      </a:solidFill>
                      <a:prstDash val="solid"/>
                      <a:round/>
                      <a:headEnd type="none" w="med" len="med"/>
                      <a:tailEnd type="none" w="med" len="med"/>
                    </a:lnL>
                    <a:lnR w="12700" cap="flat" cmpd="sng" algn="ctr">
                      <a:solidFill>
                        <a:srgbClr val="D5E0E5"/>
                      </a:solidFill>
                      <a:prstDash val="solid"/>
                      <a:round/>
                      <a:headEnd type="none" w="med" len="med"/>
                      <a:tailEnd type="none" w="med" len="med"/>
                    </a:lnR>
                    <a:lnT w="12700" cap="flat" cmpd="sng" algn="ctr">
                      <a:solidFill>
                        <a:srgbClr val="D5E0E5"/>
                      </a:solidFill>
                      <a:prstDash val="solid"/>
                      <a:round/>
                      <a:headEnd type="none" w="med" len="med"/>
                      <a:tailEnd type="none" w="med" len="med"/>
                    </a:lnT>
                    <a:lnB w="12700" cap="flat" cmpd="sng" algn="ctr">
                      <a:solidFill>
                        <a:srgbClr val="D5E0E5"/>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4303D"/>
                          </a:solidFill>
                          <a:latin typeface="Calibri" pitchFamily="34" charset="0"/>
                          <a:ea typeface="Calibri" pitchFamily="34" charset="-122"/>
                          <a:cs typeface="Calibri" pitchFamily="34" charset="-120"/>
                        </a:rPr>
                        <a:t>20</a:t>
                      </a:r>
                      <a:endParaRPr lang="en-US" sz="1350" dirty="0">
                        <a:latin typeface="Calibri" charset="0"/>
                        <a:ea typeface="Calibri" charset="0"/>
                        <a:cs typeface="Calibri" charset="0"/>
                      </a:endParaRPr>
                    </a:p>
                  </a:txBody>
                  <a:tcPr anchor="ctr">
                    <a:lnL w="12700" cap="flat" cmpd="sng" algn="ctr">
                      <a:solidFill>
                        <a:srgbClr val="D5E0E5"/>
                      </a:solidFill>
                      <a:prstDash val="solid"/>
                      <a:round/>
                      <a:headEnd type="none" w="med" len="med"/>
                      <a:tailEnd type="none" w="med" len="med"/>
                    </a:lnL>
                    <a:lnR w="12700" cap="flat" cmpd="sng" algn="ctr">
                      <a:solidFill>
                        <a:srgbClr val="D5E0E5"/>
                      </a:solidFill>
                      <a:prstDash val="solid"/>
                      <a:round/>
                      <a:headEnd type="none" w="med" len="med"/>
                      <a:tailEnd type="none" w="med" len="med"/>
                    </a:lnR>
                    <a:lnT w="12700" cap="flat" cmpd="sng" algn="ctr">
                      <a:solidFill>
                        <a:srgbClr val="D5E0E5"/>
                      </a:solidFill>
                      <a:prstDash val="solid"/>
                      <a:round/>
                      <a:headEnd type="none" w="med" len="med"/>
                      <a:tailEnd type="none" w="med" len="med"/>
                    </a:lnT>
                    <a:lnB w="12700" cap="flat" cmpd="sng" algn="ctr">
                      <a:solidFill>
                        <a:srgbClr val="D5E0E5"/>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4303D"/>
                          </a:solidFill>
                          <a:latin typeface="Calibri" pitchFamily="34" charset="0"/>
                          <a:ea typeface="Calibri" pitchFamily="34" charset="-122"/>
                          <a:cs typeface="Calibri" pitchFamily="34" charset="-120"/>
                        </a:rPr>
                        <a:t>19</a:t>
                      </a:r>
                      <a:endParaRPr lang="en-US" sz="1350" dirty="0">
                        <a:latin typeface="Calibri" charset="0"/>
                        <a:ea typeface="Calibri" charset="0"/>
                        <a:cs typeface="Calibri" charset="0"/>
                      </a:endParaRPr>
                    </a:p>
                  </a:txBody>
                  <a:tcPr anchor="ctr">
                    <a:lnL w="12700" cap="flat" cmpd="sng" algn="ctr">
                      <a:solidFill>
                        <a:srgbClr val="D5E0E5"/>
                      </a:solidFill>
                      <a:prstDash val="solid"/>
                      <a:round/>
                      <a:headEnd type="none" w="med" len="med"/>
                      <a:tailEnd type="none" w="med" len="med"/>
                    </a:lnL>
                    <a:lnR w="12700" cap="flat" cmpd="sng" algn="ctr">
                      <a:solidFill>
                        <a:srgbClr val="D5E0E5"/>
                      </a:solidFill>
                      <a:prstDash val="solid"/>
                      <a:round/>
                      <a:headEnd type="none" w="med" len="med"/>
                      <a:tailEnd type="none" w="med" len="med"/>
                    </a:lnR>
                    <a:lnT w="12700" cap="flat" cmpd="sng" algn="ctr">
                      <a:solidFill>
                        <a:srgbClr val="D5E0E5"/>
                      </a:solidFill>
                      <a:prstDash val="solid"/>
                      <a:round/>
                      <a:headEnd type="none" w="med" len="med"/>
                      <a:tailEnd type="none" w="med" len="med"/>
                    </a:lnT>
                    <a:lnB w="12700" cap="flat" cmpd="sng" algn="ctr">
                      <a:solidFill>
                        <a:srgbClr val="D5E0E5"/>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4303D"/>
                          </a:solidFill>
                          <a:latin typeface="Calibri" pitchFamily="34" charset="0"/>
                          <a:ea typeface="Calibri" pitchFamily="34" charset="-122"/>
                          <a:cs typeface="Calibri" pitchFamily="34" charset="-120"/>
                        </a:rPr>
                        <a:t>10</a:t>
                      </a:r>
                      <a:endParaRPr lang="en-US" sz="1350" dirty="0">
                        <a:latin typeface="Calibri" charset="0"/>
                        <a:ea typeface="Calibri" charset="0"/>
                        <a:cs typeface="Calibri" charset="0"/>
                      </a:endParaRPr>
                    </a:p>
                  </a:txBody>
                  <a:tcPr anchor="ctr">
                    <a:lnL w="12700" cap="flat" cmpd="sng" algn="ctr">
                      <a:solidFill>
                        <a:srgbClr val="D5E0E5"/>
                      </a:solidFill>
                      <a:prstDash val="solid"/>
                      <a:round/>
                      <a:headEnd type="none" w="med" len="med"/>
                      <a:tailEnd type="none" w="med" len="med"/>
                    </a:lnL>
                    <a:lnR w="12700" cap="flat" cmpd="sng" algn="ctr">
                      <a:solidFill>
                        <a:srgbClr val="D5E0E5"/>
                      </a:solidFill>
                      <a:prstDash val="solid"/>
                      <a:round/>
                      <a:headEnd type="none" w="med" len="med"/>
                      <a:tailEnd type="none" w="med" len="med"/>
                    </a:lnR>
                    <a:lnT w="12700" cap="flat" cmpd="sng" algn="ctr">
                      <a:solidFill>
                        <a:srgbClr val="D5E0E5"/>
                      </a:solidFill>
                      <a:prstDash val="solid"/>
                      <a:round/>
                      <a:headEnd type="none" w="med" len="med"/>
                      <a:tailEnd type="none" w="med" len="med"/>
                    </a:lnT>
                    <a:lnB w="12700" cap="flat" cmpd="sng" algn="ctr">
                      <a:solidFill>
                        <a:srgbClr val="D5E0E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lgn="l">
                        <a:buNone/>
                      </a:pPr>
                      <a:r>
                        <a:rPr lang="en-US" sz="1350" b="1" dirty="0">
                          <a:solidFill>
                            <a:srgbClr val="14303D"/>
                          </a:solidFill>
                          <a:latin typeface="Calibri" pitchFamily="34" charset="0"/>
                          <a:ea typeface="Calibri" pitchFamily="34" charset="-122"/>
                          <a:cs typeface="Calibri" pitchFamily="34" charset="-120"/>
                        </a:rPr>
                        <a:t>broken-workshop</a:t>
                      </a:r>
                      <a:endParaRPr lang="en-US" sz="1350" dirty="0">
                        <a:latin typeface="Calibri" charset="0"/>
                        <a:ea typeface="Calibri" charset="0"/>
                        <a:cs typeface="Calibri" charset="0"/>
                      </a:endParaRPr>
                    </a:p>
                  </a:txBody>
                  <a:tcPr anchor="ctr">
                    <a:lnL w="12700" cap="flat" cmpd="sng" algn="ctr">
                      <a:solidFill>
                        <a:srgbClr val="D5E0E5"/>
                      </a:solidFill>
                      <a:prstDash val="solid"/>
                      <a:round/>
                      <a:headEnd type="none" w="med" len="med"/>
                      <a:tailEnd type="none" w="med" len="med"/>
                    </a:lnL>
                    <a:lnR w="12700" cap="flat" cmpd="sng" algn="ctr">
                      <a:solidFill>
                        <a:srgbClr val="D5E0E5"/>
                      </a:solidFill>
                      <a:prstDash val="solid"/>
                      <a:round/>
                      <a:headEnd type="none" w="med" len="med"/>
                      <a:tailEnd type="none" w="med" len="med"/>
                    </a:lnR>
                    <a:lnT w="12700" cap="flat" cmpd="sng" algn="ctr">
                      <a:solidFill>
                        <a:srgbClr val="D5E0E5"/>
                      </a:solidFill>
                      <a:prstDash val="solid"/>
                      <a:round/>
                      <a:headEnd type="none" w="med" len="med"/>
                      <a:tailEnd type="none" w="med" len="med"/>
                    </a:lnT>
                    <a:lnB w="12700" cap="flat" cmpd="sng" algn="ctr">
                      <a:solidFill>
                        <a:srgbClr val="D5E0E5"/>
                      </a:solidFill>
                      <a:prstDash val="solid"/>
                      <a:round/>
                      <a:headEnd type="none" w="med" len="med"/>
                      <a:tailEnd type="none" w="med" len="med"/>
                    </a:lnB>
                    <a:solidFill>
                      <a:srgbClr val="EDF3F5"/>
                    </a:solidFill>
                  </a:tcPr>
                </a:tc>
                <a:tc>
                  <a:txBody>
                    <a:bodyPr/>
                    <a:lstStyle/>
                    <a:p>
                      <a:pPr marL="0" indent="0" algn="l">
                        <a:buNone/>
                      </a:pPr>
                      <a:r>
                        <a:rPr lang="en-US" sz="1350" dirty="0">
                          <a:solidFill>
                            <a:srgbClr val="14303D"/>
                          </a:solidFill>
                          <a:latin typeface="Calibri" pitchFamily="34" charset="0"/>
                          <a:ea typeface="Calibri" pitchFamily="34" charset="-122"/>
                          <a:cs typeface="Calibri" pitchFamily="34" charset="-120"/>
                        </a:rPr>
                        <a:t>Web</a:t>
                      </a:r>
                      <a:endParaRPr lang="en-US" sz="1350" dirty="0">
                        <a:latin typeface="Calibri" charset="0"/>
                        <a:ea typeface="Calibri" charset="0"/>
                        <a:cs typeface="Calibri" charset="0"/>
                      </a:endParaRPr>
                    </a:p>
                  </a:txBody>
                  <a:tcPr anchor="ctr">
                    <a:lnL w="12700" cap="flat" cmpd="sng" algn="ctr">
                      <a:solidFill>
                        <a:srgbClr val="D5E0E5"/>
                      </a:solidFill>
                      <a:prstDash val="solid"/>
                      <a:round/>
                      <a:headEnd type="none" w="med" len="med"/>
                      <a:tailEnd type="none" w="med" len="med"/>
                    </a:lnL>
                    <a:lnR w="12700" cap="flat" cmpd="sng" algn="ctr">
                      <a:solidFill>
                        <a:srgbClr val="D5E0E5"/>
                      </a:solidFill>
                      <a:prstDash val="solid"/>
                      <a:round/>
                      <a:headEnd type="none" w="med" len="med"/>
                      <a:tailEnd type="none" w="med" len="med"/>
                    </a:lnR>
                    <a:lnT w="12700" cap="flat" cmpd="sng" algn="ctr">
                      <a:solidFill>
                        <a:srgbClr val="D5E0E5"/>
                      </a:solidFill>
                      <a:prstDash val="solid"/>
                      <a:round/>
                      <a:headEnd type="none" w="med" len="med"/>
                      <a:tailEnd type="none" w="med" len="med"/>
                    </a:lnT>
                    <a:lnB w="12700" cap="flat" cmpd="sng" algn="ctr">
                      <a:solidFill>
                        <a:srgbClr val="D5E0E5"/>
                      </a:solidFill>
                      <a:prstDash val="solid"/>
                      <a:round/>
                      <a:headEnd type="none" w="med" len="med"/>
                      <a:tailEnd type="none" w="med" len="med"/>
                    </a:lnB>
                    <a:solidFill>
                      <a:srgbClr val="EDF3F5"/>
                    </a:solidFill>
                  </a:tcPr>
                </a:tc>
                <a:tc>
                  <a:txBody>
                    <a:bodyPr/>
                    <a:lstStyle/>
                    <a:p>
                      <a:pPr marL="0" indent="0" algn="ctr">
                        <a:buNone/>
                      </a:pPr>
                      <a:r>
                        <a:rPr lang="en-US" sz="1350" dirty="0">
                          <a:solidFill>
                            <a:srgbClr val="14303D"/>
                          </a:solidFill>
                          <a:latin typeface="Calibri" pitchFamily="34" charset="0"/>
                          <a:ea typeface="Calibri" pitchFamily="34" charset="-122"/>
                          <a:cs typeface="Calibri" pitchFamily="34" charset="-120"/>
                        </a:rPr>
                        <a:t>10</a:t>
                      </a:r>
                      <a:endParaRPr lang="en-US" sz="1350" dirty="0">
                        <a:latin typeface="Calibri" charset="0"/>
                        <a:ea typeface="Calibri" charset="0"/>
                        <a:cs typeface="Calibri" charset="0"/>
                      </a:endParaRPr>
                    </a:p>
                  </a:txBody>
                  <a:tcPr anchor="ctr">
                    <a:lnL w="12700" cap="flat" cmpd="sng" algn="ctr">
                      <a:solidFill>
                        <a:srgbClr val="D5E0E5"/>
                      </a:solidFill>
                      <a:prstDash val="solid"/>
                      <a:round/>
                      <a:headEnd type="none" w="med" len="med"/>
                      <a:tailEnd type="none" w="med" len="med"/>
                    </a:lnL>
                    <a:lnR w="12700" cap="flat" cmpd="sng" algn="ctr">
                      <a:solidFill>
                        <a:srgbClr val="D5E0E5"/>
                      </a:solidFill>
                      <a:prstDash val="solid"/>
                      <a:round/>
                      <a:headEnd type="none" w="med" len="med"/>
                      <a:tailEnd type="none" w="med" len="med"/>
                    </a:lnR>
                    <a:lnT w="12700" cap="flat" cmpd="sng" algn="ctr">
                      <a:solidFill>
                        <a:srgbClr val="D5E0E5"/>
                      </a:solidFill>
                      <a:prstDash val="solid"/>
                      <a:round/>
                      <a:headEnd type="none" w="med" len="med"/>
                      <a:tailEnd type="none" w="med" len="med"/>
                    </a:lnT>
                    <a:lnB w="12700" cap="flat" cmpd="sng" algn="ctr">
                      <a:solidFill>
                        <a:srgbClr val="D5E0E5"/>
                      </a:solidFill>
                      <a:prstDash val="solid"/>
                      <a:round/>
                      <a:headEnd type="none" w="med" len="med"/>
                      <a:tailEnd type="none" w="med" len="med"/>
                    </a:lnB>
                    <a:solidFill>
                      <a:srgbClr val="EDF3F5"/>
                    </a:solidFill>
                  </a:tcPr>
                </a:tc>
                <a:tc>
                  <a:txBody>
                    <a:bodyPr/>
                    <a:lstStyle/>
                    <a:p>
                      <a:pPr marL="0" indent="0" algn="ctr">
                        <a:buNone/>
                      </a:pPr>
                      <a:r>
                        <a:rPr lang="en-US" sz="1350" dirty="0">
                          <a:solidFill>
                            <a:srgbClr val="14303D"/>
                          </a:solidFill>
                          <a:latin typeface="Calibri" pitchFamily="34" charset="0"/>
                          <a:ea typeface="Calibri" pitchFamily="34" charset="-122"/>
                          <a:cs typeface="Calibri" pitchFamily="34" charset="-120"/>
                        </a:rPr>
                        <a:t>5</a:t>
                      </a:r>
                      <a:endParaRPr lang="en-US" sz="1350" dirty="0">
                        <a:latin typeface="Calibri" charset="0"/>
                        <a:ea typeface="Calibri" charset="0"/>
                        <a:cs typeface="Calibri" charset="0"/>
                      </a:endParaRPr>
                    </a:p>
                  </a:txBody>
                  <a:tcPr anchor="ctr">
                    <a:lnL w="12700" cap="flat" cmpd="sng" algn="ctr">
                      <a:solidFill>
                        <a:srgbClr val="D5E0E5"/>
                      </a:solidFill>
                      <a:prstDash val="solid"/>
                      <a:round/>
                      <a:headEnd type="none" w="med" len="med"/>
                      <a:tailEnd type="none" w="med" len="med"/>
                    </a:lnL>
                    <a:lnR w="12700" cap="flat" cmpd="sng" algn="ctr">
                      <a:solidFill>
                        <a:srgbClr val="D5E0E5"/>
                      </a:solidFill>
                      <a:prstDash val="solid"/>
                      <a:round/>
                      <a:headEnd type="none" w="med" len="med"/>
                      <a:tailEnd type="none" w="med" len="med"/>
                    </a:lnR>
                    <a:lnT w="12700" cap="flat" cmpd="sng" algn="ctr">
                      <a:solidFill>
                        <a:srgbClr val="D5E0E5"/>
                      </a:solidFill>
                      <a:prstDash val="solid"/>
                      <a:round/>
                      <a:headEnd type="none" w="med" len="med"/>
                      <a:tailEnd type="none" w="med" len="med"/>
                    </a:lnT>
                    <a:lnB w="12700" cap="flat" cmpd="sng" algn="ctr">
                      <a:solidFill>
                        <a:srgbClr val="D5E0E5"/>
                      </a:solidFill>
                      <a:prstDash val="solid"/>
                      <a:round/>
                      <a:headEnd type="none" w="med" len="med"/>
                      <a:tailEnd type="none" w="med" len="med"/>
                    </a:lnB>
                    <a:solidFill>
                      <a:srgbClr val="EDF3F5"/>
                    </a:solidFill>
                  </a:tcPr>
                </a:tc>
                <a:tc>
                  <a:txBody>
                    <a:bodyPr/>
                    <a:lstStyle/>
                    <a:p>
                      <a:pPr marL="0" indent="0" algn="ctr">
                        <a:buNone/>
                      </a:pPr>
                      <a:r>
                        <a:rPr lang="en-US" sz="1350" dirty="0">
                          <a:solidFill>
                            <a:srgbClr val="14303D"/>
                          </a:solidFill>
                          <a:latin typeface="Calibri" pitchFamily="34" charset="0"/>
                          <a:ea typeface="Calibri" pitchFamily="34" charset="-122"/>
                          <a:cs typeface="Calibri" pitchFamily="34" charset="-120"/>
                        </a:rPr>
                        <a:t>0</a:t>
                      </a:r>
                      <a:endParaRPr lang="en-US" sz="1350" dirty="0">
                        <a:latin typeface="Calibri" charset="0"/>
                        <a:ea typeface="Calibri" charset="0"/>
                        <a:cs typeface="Calibri" charset="0"/>
                      </a:endParaRPr>
                    </a:p>
                  </a:txBody>
                  <a:tcPr anchor="ctr">
                    <a:lnL w="12700" cap="flat" cmpd="sng" algn="ctr">
                      <a:solidFill>
                        <a:srgbClr val="D5E0E5"/>
                      </a:solidFill>
                      <a:prstDash val="solid"/>
                      <a:round/>
                      <a:headEnd type="none" w="med" len="med"/>
                      <a:tailEnd type="none" w="med" len="med"/>
                    </a:lnL>
                    <a:lnR w="12700" cap="flat" cmpd="sng" algn="ctr">
                      <a:solidFill>
                        <a:srgbClr val="D5E0E5"/>
                      </a:solidFill>
                      <a:prstDash val="solid"/>
                      <a:round/>
                      <a:headEnd type="none" w="med" len="med"/>
                      <a:tailEnd type="none" w="med" len="med"/>
                    </a:lnR>
                    <a:lnT w="12700" cap="flat" cmpd="sng" algn="ctr">
                      <a:solidFill>
                        <a:srgbClr val="D5E0E5"/>
                      </a:solidFill>
                      <a:prstDash val="solid"/>
                      <a:round/>
                      <a:headEnd type="none" w="med" len="med"/>
                      <a:tailEnd type="none" w="med" len="med"/>
                    </a:lnT>
                    <a:lnB w="12700" cap="flat" cmpd="sng" algn="ctr">
                      <a:solidFill>
                        <a:srgbClr val="D5E0E5"/>
                      </a:solidFill>
                      <a:prstDash val="solid"/>
                      <a:round/>
                      <a:headEnd type="none" w="med" len="med"/>
                      <a:tailEnd type="none" w="med" len="med"/>
                    </a:lnB>
                    <a:solidFill>
                      <a:srgbClr val="EDF3F5"/>
                    </a:solidFill>
                  </a:tcPr>
                </a:tc>
                <a:tc>
                  <a:txBody>
                    <a:bodyPr/>
                    <a:lstStyle/>
                    <a:p>
                      <a:pPr marL="0" indent="0" algn="ctr">
                        <a:buNone/>
                      </a:pPr>
                      <a:r>
                        <a:rPr lang="en-US" sz="1350" dirty="0">
                          <a:solidFill>
                            <a:srgbClr val="14303D"/>
                          </a:solidFill>
                          <a:latin typeface="Calibri" pitchFamily="34" charset="0"/>
                          <a:ea typeface="Calibri" pitchFamily="34" charset="-122"/>
                          <a:cs typeface="Calibri" pitchFamily="34" charset="-120"/>
                        </a:rPr>
                        <a:t>4</a:t>
                      </a:r>
                      <a:endParaRPr lang="en-US" sz="1350" dirty="0">
                        <a:latin typeface="Calibri" charset="0"/>
                        <a:ea typeface="Calibri" charset="0"/>
                        <a:cs typeface="Calibri" charset="0"/>
                      </a:endParaRPr>
                    </a:p>
                  </a:txBody>
                  <a:tcPr anchor="ctr">
                    <a:lnL w="12700" cap="flat" cmpd="sng" algn="ctr">
                      <a:solidFill>
                        <a:srgbClr val="D5E0E5"/>
                      </a:solidFill>
                      <a:prstDash val="solid"/>
                      <a:round/>
                      <a:headEnd type="none" w="med" len="med"/>
                      <a:tailEnd type="none" w="med" len="med"/>
                    </a:lnL>
                    <a:lnR w="12700" cap="flat" cmpd="sng" algn="ctr">
                      <a:solidFill>
                        <a:srgbClr val="D5E0E5"/>
                      </a:solidFill>
                      <a:prstDash val="solid"/>
                      <a:round/>
                      <a:headEnd type="none" w="med" len="med"/>
                      <a:tailEnd type="none" w="med" len="med"/>
                    </a:lnR>
                    <a:lnT w="12700" cap="flat" cmpd="sng" algn="ctr">
                      <a:solidFill>
                        <a:srgbClr val="D5E0E5"/>
                      </a:solidFill>
                      <a:prstDash val="solid"/>
                      <a:round/>
                      <a:headEnd type="none" w="med" len="med"/>
                      <a:tailEnd type="none" w="med" len="med"/>
                    </a:lnT>
                    <a:lnB w="12700" cap="flat" cmpd="sng" algn="ctr">
                      <a:solidFill>
                        <a:srgbClr val="D5E0E5"/>
                      </a:solidFill>
                      <a:prstDash val="solid"/>
                      <a:round/>
                      <a:headEnd type="none" w="med" len="med"/>
                      <a:tailEnd type="none" w="med" len="med"/>
                    </a:lnB>
                    <a:solidFill>
                      <a:srgbClr val="EDF3F5"/>
                    </a:solidFill>
                  </a:tcPr>
                </a:tc>
                <a:extLst>
                  <a:ext uri="{0D108BD9-81ED-4DB2-BD59-A6C34878D82A}">
                    <a16:rowId xmlns:a16="http://schemas.microsoft.com/office/drawing/2014/main" val="10004"/>
                  </a:ext>
                </a:extLst>
              </a:tr>
              <a:tr h="475488">
                <a:tc>
                  <a:txBody>
                    <a:bodyPr/>
                    <a:lstStyle/>
                    <a:p>
                      <a:pPr marL="0" indent="0" algn="l">
                        <a:buNone/>
                      </a:pPr>
                      <a:r>
                        <a:rPr lang="en-US" sz="1350" b="1" dirty="0">
                          <a:solidFill>
                            <a:srgbClr val="14303D"/>
                          </a:solidFill>
                          <a:latin typeface="Calibri" pitchFamily="34" charset="0"/>
                          <a:ea typeface="Calibri" pitchFamily="34" charset="-122"/>
                          <a:cs typeface="Calibri" pitchFamily="34" charset="-120"/>
                        </a:rPr>
                        <a:t>AcademyBug, no specification</a:t>
                      </a:r>
                      <a:endParaRPr lang="en-US" sz="1350" dirty="0">
                        <a:latin typeface="Calibri" charset="0"/>
                        <a:ea typeface="Calibri" charset="0"/>
                        <a:cs typeface="Calibri" charset="0"/>
                      </a:endParaRPr>
                    </a:p>
                  </a:txBody>
                  <a:tcPr anchor="ctr">
                    <a:lnL w="12700" cap="flat" cmpd="sng" algn="ctr">
                      <a:solidFill>
                        <a:srgbClr val="D5E0E5"/>
                      </a:solidFill>
                      <a:prstDash val="solid"/>
                      <a:round/>
                      <a:headEnd type="none" w="med" len="med"/>
                      <a:tailEnd type="none" w="med" len="med"/>
                    </a:lnL>
                    <a:lnR w="12700" cap="flat" cmpd="sng" algn="ctr">
                      <a:solidFill>
                        <a:srgbClr val="D5E0E5"/>
                      </a:solidFill>
                      <a:prstDash val="solid"/>
                      <a:round/>
                      <a:headEnd type="none" w="med" len="med"/>
                      <a:tailEnd type="none" w="med" len="med"/>
                    </a:lnR>
                    <a:lnT w="12700" cap="flat" cmpd="sng" algn="ctr">
                      <a:solidFill>
                        <a:srgbClr val="D5E0E5"/>
                      </a:solidFill>
                      <a:prstDash val="solid"/>
                      <a:round/>
                      <a:headEnd type="none" w="med" len="med"/>
                      <a:tailEnd type="none" w="med" len="med"/>
                    </a:lnT>
                    <a:lnB w="12700" cap="flat" cmpd="sng" algn="ctr">
                      <a:solidFill>
                        <a:srgbClr val="D5E0E5"/>
                      </a:solidFill>
                      <a:prstDash val="solid"/>
                      <a:round/>
                      <a:headEnd type="none" w="med" len="med"/>
                      <a:tailEnd type="none" w="med" len="med"/>
                    </a:lnB>
                    <a:solidFill>
                      <a:srgbClr val="FFFFFF"/>
                    </a:solidFill>
                  </a:tcPr>
                </a:tc>
                <a:tc>
                  <a:txBody>
                    <a:bodyPr/>
                    <a:lstStyle/>
                    <a:p>
                      <a:pPr marL="0" indent="0" algn="l">
                        <a:buNone/>
                      </a:pPr>
                      <a:r>
                        <a:rPr lang="en-US" sz="1350" dirty="0">
                          <a:solidFill>
                            <a:srgbClr val="14303D"/>
                          </a:solidFill>
                          <a:latin typeface="Calibri" pitchFamily="34" charset="0"/>
                          <a:ea typeface="Calibri" pitchFamily="34" charset="-122"/>
                          <a:cs typeface="Calibri" pitchFamily="34" charset="-120"/>
                        </a:rPr>
                        <a:t>Web</a:t>
                      </a:r>
                      <a:endParaRPr lang="en-US" sz="1350" dirty="0">
                        <a:latin typeface="Calibri" charset="0"/>
                        <a:ea typeface="Calibri" charset="0"/>
                        <a:cs typeface="Calibri" charset="0"/>
                      </a:endParaRPr>
                    </a:p>
                  </a:txBody>
                  <a:tcPr anchor="ctr">
                    <a:lnL w="12700" cap="flat" cmpd="sng" algn="ctr">
                      <a:solidFill>
                        <a:srgbClr val="D5E0E5"/>
                      </a:solidFill>
                      <a:prstDash val="solid"/>
                      <a:round/>
                      <a:headEnd type="none" w="med" len="med"/>
                      <a:tailEnd type="none" w="med" len="med"/>
                    </a:lnL>
                    <a:lnR w="12700" cap="flat" cmpd="sng" algn="ctr">
                      <a:solidFill>
                        <a:srgbClr val="D5E0E5"/>
                      </a:solidFill>
                      <a:prstDash val="solid"/>
                      <a:round/>
                      <a:headEnd type="none" w="med" len="med"/>
                      <a:tailEnd type="none" w="med" len="med"/>
                    </a:lnR>
                    <a:lnT w="12700" cap="flat" cmpd="sng" algn="ctr">
                      <a:solidFill>
                        <a:srgbClr val="D5E0E5"/>
                      </a:solidFill>
                      <a:prstDash val="solid"/>
                      <a:round/>
                      <a:headEnd type="none" w="med" len="med"/>
                      <a:tailEnd type="none" w="med" len="med"/>
                    </a:lnT>
                    <a:lnB w="12700" cap="flat" cmpd="sng" algn="ctr">
                      <a:solidFill>
                        <a:srgbClr val="D5E0E5"/>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4303D"/>
                          </a:solidFill>
                          <a:latin typeface="Calibri" pitchFamily="34" charset="0"/>
                          <a:ea typeface="Calibri" pitchFamily="34" charset="-122"/>
                          <a:cs typeface="Calibri" pitchFamily="34" charset="-120"/>
                        </a:rPr>
                        <a:t>20</a:t>
                      </a:r>
                      <a:endParaRPr lang="en-US" sz="1350" dirty="0">
                        <a:latin typeface="Calibri" charset="0"/>
                        <a:ea typeface="Calibri" charset="0"/>
                        <a:cs typeface="Calibri" charset="0"/>
                      </a:endParaRPr>
                    </a:p>
                  </a:txBody>
                  <a:tcPr anchor="ctr">
                    <a:lnL w="12700" cap="flat" cmpd="sng" algn="ctr">
                      <a:solidFill>
                        <a:srgbClr val="D5E0E5"/>
                      </a:solidFill>
                      <a:prstDash val="solid"/>
                      <a:round/>
                      <a:headEnd type="none" w="med" len="med"/>
                      <a:tailEnd type="none" w="med" len="med"/>
                    </a:lnL>
                    <a:lnR w="12700" cap="flat" cmpd="sng" algn="ctr">
                      <a:solidFill>
                        <a:srgbClr val="D5E0E5"/>
                      </a:solidFill>
                      <a:prstDash val="solid"/>
                      <a:round/>
                      <a:headEnd type="none" w="med" len="med"/>
                      <a:tailEnd type="none" w="med" len="med"/>
                    </a:lnR>
                    <a:lnT w="12700" cap="flat" cmpd="sng" algn="ctr">
                      <a:solidFill>
                        <a:srgbClr val="D5E0E5"/>
                      </a:solidFill>
                      <a:prstDash val="solid"/>
                      <a:round/>
                      <a:headEnd type="none" w="med" len="med"/>
                      <a:tailEnd type="none" w="med" len="med"/>
                    </a:lnT>
                    <a:lnB w="12700" cap="flat" cmpd="sng" algn="ctr">
                      <a:solidFill>
                        <a:srgbClr val="D5E0E5"/>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4303D"/>
                          </a:solidFill>
                          <a:latin typeface="Calibri" pitchFamily="34" charset="0"/>
                          <a:ea typeface="Calibri" pitchFamily="34" charset="-122"/>
                          <a:cs typeface="Calibri" pitchFamily="34" charset="-120"/>
                        </a:rPr>
                        <a:t>1</a:t>
                      </a:r>
                      <a:endParaRPr lang="en-US" sz="1350" dirty="0">
                        <a:latin typeface="Calibri" charset="0"/>
                        <a:ea typeface="Calibri" charset="0"/>
                        <a:cs typeface="Calibri" charset="0"/>
                      </a:endParaRPr>
                    </a:p>
                  </a:txBody>
                  <a:tcPr anchor="ctr">
                    <a:lnL w="12700" cap="flat" cmpd="sng" algn="ctr">
                      <a:solidFill>
                        <a:srgbClr val="D5E0E5"/>
                      </a:solidFill>
                      <a:prstDash val="solid"/>
                      <a:round/>
                      <a:headEnd type="none" w="med" len="med"/>
                      <a:tailEnd type="none" w="med" len="med"/>
                    </a:lnL>
                    <a:lnR w="12700" cap="flat" cmpd="sng" algn="ctr">
                      <a:solidFill>
                        <a:srgbClr val="D5E0E5"/>
                      </a:solidFill>
                      <a:prstDash val="solid"/>
                      <a:round/>
                      <a:headEnd type="none" w="med" len="med"/>
                      <a:tailEnd type="none" w="med" len="med"/>
                    </a:lnR>
                    <a:lnT w="12700" cap="flat" cmpd="sng" algn="ctr">
                      <a:solidFill>
                        <a:srgbClr val="D5E0E5"/>
                      </a:solidFill>
                      <a:prstDash val="solid"/>
                      <a:round/>
                      <a:headEnd type="none" w="med" len="med"/>
                      <a:tailEnd type="none" w="med" len="med"/>
                    </a:lnT>
                    <a:lnB w="12700" cap="flat" cmpd="sng" algn="ctr">
                      <a:solidFill>
                        <a:srgbClr val="D5E0E5"/>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4303D"/>
                          </a:solidFill>
                          <a:latin typeface="Calibri" pitchFamily="34" charset="0"/>
                          <a:ea typeface="Calibri" pitchFamily="34" charset="-122"/>
                          <a:cs typeface="Calibri" pitchFamily="34" charset="-120"/>
                        </a:rPr>
                        <a:t>3</a:t>
                      </a:r>
                      <a:endParaRPr lang="en-US" sz="1350" dirty="0">
                        <a:latin typeface="Calibri" charset="0"/>
                        <a:ea typeface="Calibri" charset="0"/>
                        <a:cs typeface="Calibri" charset="0"/>
                      </a:endParaRPr>
                    </a:p>
                  </a:txBody>
                  <a:tcPr anchor="ctr">
                    <a:lnL w="12700" cap="flat" cmpd="sng" algn="ctr">
                      <a:solidFill>
                        <a:srgbClr val="D5E0E5"/>
                      </a:solidFill>
                      <a:prstDash val="solid"/>
                      <a:round/>
                      <a:headEnd type="none" w="med" len="med"/>
                      <a:tailEnd type="none" w="med" len="med"/>
                    </a:lnL>
                    <a:lnR w="12700" cap="flat" cmpd="sng" algn="ctr">
                      <a:solidFill>
                        <a:srgbClr val="D5E0E5"/>
                      </a:solidFill>
                      <a:prstDash val="solid"/>
                      <a:round/>
                      <a:headEnd type="none" w="med" len="med"/>
                      <a:tailEnd type="none" w="med" len="med"/>
                    </a:lnR>
                    <a:lnT w="12700" cap="flat" cmpd="sng" algn="ctr">
                      <a:solidFill>
                        <a:srgbClr val="D5E0E5"/>
                      </a:solidFill>
                      <a:prstDash val="solid"/>
                      <a:round/>
                      <a:headEnd type="none" w="med" len="med"/>
                      <a:tailEnd type="none" w="med" len="med"/>
                    </a:lnT>
                    <a:lnB w="12700" cap="flat" cmpd="sng" algn="ctr">
                      <a:solidFill>
                        <a:srgbClr val="D5E0E5"/>
                      </a:solidFill>
                      <a:prstDash val="solid"/>
                      <a:round/>
                      <a:headEnd type="none" w="med" len="med"/>
                      <a:tailEnd type="none" w="med" len="med"/>
                    </a:lnB>
                    <a:solidFill>
                      <a:srgbClr val="FFFFFF"/>
                    </a:solidFill>
                  </a:tcPr>
                </a:tc>
                <a:tc>
                  <a:txBody>
                    <a:bodyPr/>
                    <a:lstStyle/>
                    <a:p>
                      <a:pPr marL="0" indent="0" algn="ctr">
                        <a:buNone/>
                      </a:pPr>
                      <a:r>
                        <a:rPr lang="en-US" sz="1350" b="1" dirty="0">
                          <a:solidFill>
                            <a:srgbClr val="A9502C"/>
                          </a:solidFill>
                          <a:latin typeface="Calibri" pitchFamily="34" charset="0"/>
                          <a:ea typeface="Calibri" pitchFamily="34" charset="-122"/>
                          <a:cs typeface="Calibri" pitchFamily="34" charset="-120"/>
                        </a:rPr>
                        <a:t>16</a:t>
                      </a:r>
                      <a:endParaRPr lang="en-US" sz="1350" dirty="0">
                        <a:latin typeface="Calibri" charset="0"/>
                        <a:ea typeface="Calibri" charset="0"/>
                        <a:cs typeface="Calibri" charset="0"/>
                      </a:endParaRPr>
                    </a:p>
                  </a:txBody>
                  <a:tcPr anchor="ctr">
                    <a:lnL w="12700" cap="flat" cmpd="sng" algn="ctr">
                      <a:solidFill>
                        <a:srgbClr val="D5E0E5"/>
                      </a:solidFill>
                      <a:prstDash val="solid"/>
                      <a:round/>
                      <a:headEnd type="none" w="med" len="med"/>
                      <a:tailEnd type="none" w="med" len="med"/>
                    </a:lnL>
                    <a:lnR w="12700" cap="flat" cmpd="sng" algn="ctr">
                      <a:solidFill>
                        <a:srgbClr val="D5E0E5"/>
                      </a:solidFill>
                      <a:prstDash val="solid"/>
                      <a:round/>
                      <a:headEnd type="none" w="med" len="med"/>
                      <a:tailEnd type="none" w="med" len="med"/>
                    </a:lnR>
                    <a:lnT w="12700" cap="flat" cmpd="sng" algn="ctr">
                      <a:solidFill>
                        <a:srgbClr val="D5E0E5"/>
                      </a:solidFill>
                      <a:prstDash val="solid"/>
                      <a:round/>
                      <a:headEnd type="none" w="med" len="med"/>
                      <a:tailEnd type="none" w="med" len="med"/>
                    </a:lnT>
                    <a:lnB w="12700" cap="flat" cmpd="sng" algn="ctr">
                      <a:solidFill>
                        <a:srgbClr val="D5E0E5"/>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Text 3"/>
          <p:cNvSpPr txBox="1"/>
          <p:nvPr/>
        </p:nvSpPr>
        <p:spPr>
          <a:xfrm>
            <a:off x="548640" y="5120640"/>
            <a:ext cx="11137392" cy="457200"/>
          </a:xfrm>
          <a:prstGeom prst="rect">
            <a:avLst/>
          </a:prstGeom>
          <a:noFill/>
          <a:ln/>
        </p:spPr>
        <p:txBody>
          <a:bodyPr wrap="square" lIns="0" tIns="0" rIns="0" bIns="0" rtlCol="0" anchor="ctr"/>
          <a:lstStyle/>
          <a:p>
            <a:pPr marL="0" indent="0">
              <a:buNone/>
            </a:pPr>
            <a:r>
              <a:rPr lang="en-US" sz="1300" dirty="0">
                <a:solidFill>
                  <a:srgbClr val="55697A"/>
                </a:solidFill>
                <a:latin typeface="Calibri" pitchFamily="34" charset="0"/>
                <a:ea typeface="Calibri" pitchFamily="34" charset="-122"/>
                <a:cs typeface="Calibri" pitchFamily="34" charset="-120"/>
              </a:rPr>
              <a:t>Coverage on the two Android targets: 33 of 106 and 55 of 141 requirements, 97 and 60 UI states mapped.</a:t>
            </a:r>
            <a:endParaRPr lang="en-US" sz="1300" dirty="0"/>
          </a:p>
        </p:txBody>
      </p:sp>
      <p:sp>
        <p:nvSpPr>
          <p:cNvPr id="7" name="Text 4"/>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900" dirty="0">
                <a:solidFill>
                  <a:srgbClr val="55697A"/>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8F9"/>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9052560" cy="658368"/>
          </a:xfrm>
          <a:prstGeom prst="rect">
            <a:avLst/>
          </a:prstGeom>
          <a:noFill/>
          <a:ln/>
        </p:spPr>
        <p:txBody>
          <a:bodyPr wrap="square" lIns="0" tIns="0" rIns="0" bIns="0" rtlCol="0" anchor="ctr"/>
          <a:lstStyle/>
          <a:p>
            <a:pPr marL="0" indent="0">
              <a:buNone/>
            </a:pPr>
            <a:r>
              <a:rPr lang="en-US" sz="3000" b="1" dirty="0">
                <a:solidFill>
                  <a:srgbClr val="14303D"/>
                </a:solidFill>
                <a:latin typeface="Cambria" pitchFamily="34" charset="0"/>
                <a:ea typeface="Cambria" pitchFamily="34" charset="-122"/>
                <a:cs typeface="Cambria" pitchFamily="34" charset="-120"/>
              </a:rPr>
              <a:t>The two end rows are the whole argument</a:t>
            </a:r>
            <a:endParaRPr lang="en-US" sz="3000" dirty="0"/>
          </a:p>
        </p:txBody>
      </p:sp>
      <p:sp>
        <p:nvSpPr>
          <p:cNvPr id="3" name="Shape 1"/>
          <p:cNvSpPr/>
          <p:nvPr/>
        </p:nvSpPr>
        <p:spPr>
          <a:xfrm>
            <a:off x="548640" y="2011680"/>
            <a:ext cx="5440680" cy="3017520"/>
          </a:xfrm>
          <a:prstGeom prst="roundRect">
            <a:avLst>
              <a:gd name="adj" fmla="val 1818"/>
            </a:avLst>
          </a:prstGeom>
          <a:solidFill>
            <a:srgbClr val="FFFFFF"/>
          </a:solidFill>
          <a:ln w="12700">
            <a:solidFill>
              <a:srgbClr val="D5E0E5"/>
            </a:solidFill>
            <a:prstDash val="solid"/>
          </a:ln>
          <a:effectLst>
            <a:outerShdw blurRad="101600" dist="12700" dir="5400000" algn="bl" rotWithShape="0">
              <a:srgbClr val="14303D">
                <a:alpha val="7000"/>
              </a:srgbClr>
            </a:outerShdw>
          </a:effectLst>
        </p:spPr>
        <p:txBody>
          <a:bodyPr/>
          <a:lstStyle/>
          <a:p>
            <a:endParaRPr lang="en-US"/>
          </a:p>
        </p:txBody>
      </p:sp>
      <p:sp>
        <p:nvSpPr>
          <p:cNvPr id="4" name="Text 2"/>
          <p:cNvSpPr txBox="1"/>
          <p:nvPr/>
        </p:nvSpPr>
        <p:spPr>
          <a:xfrm>
            <a:off x="868680" y="2240280"/>
            <a:ext cx="4572000" cy="292608"/>
          </a:xfrm>
          <a:prstGeom prst="rect">
            <a:avLst/>
          </a:prstGeom>
          <a:noFill/>
          <a:ln/>
        </p:spPr>
        <p:txBody>
          <a:bodyPr wrap="square" lIns="0" tIns="0" rIns="0" bIns="0" rtlCol="0" anchor="ctr"/>
          <a:lstStyle/>
          <a:p>
            <a:pPr marL="0" indent="0">
              <a:buNone/>
            </a:pPr>
            <a:r>
              <a:rPr lang="en-US" sz="1200" b="1" kern="0" spc="110" dirty="0">
                <a:solidFill>
                  <a:srgbClr val="1E6B45"/>
                </a:solidFill>
                <a:latin typeface="Calibri" pitchFamily="34" charset="0"/>
                <a:ea typeface="Calibri" pitchFamily="34" charset="-122"/>
                <a:cs typeface="Calibri" pitchFamily="34" charset="-120"/>
              </a:rPr>
              <a:t>With a specification</a:t>
            </a:r>
            <a:endParaRPr lang="en-US" sz="1200" dirty="0"/>
          </a:p>
        </p:txBody>
      </p:sp>
      <p:sp>
        <p:nvSpPr>
          <p:cNvPr id="5" name="Text 3"/>
          <p:cNvSpPr txBox="1"/>
          <p:nvPr/>
        </p:nvSpPr>
        <p:spPr>
          <a:xfrm>
            <a:off x="868680" y="2606040"/>
            <a:ext cx="4754880" cy="1188720"/>
          </a:xfrm>
          <a:prstGeom prst="rect">
            <a:avLst/>
          </a:prstGeom>
          <a:noFill/>
          <a:ln/>
        </p:spPr>
        <p:txBody>
          <a:bodyPr wrap="square" lIns="0" tIns="0" rIns="0" bIns="0" rtlCol="0" anchor="ctr"/>
          <a:lstStyle/>
          <a:p>
            <a:pPr marL="0" indent="0">
              <a:buNone/>
            </a:pPr>
            <a:r>
              <a:rPr lang="en-US" sz="7200" b="1" dirty="0">
                <a:solidFill>
                  <a:srgbClr val="1E6B45"/>
                </a:solidFill>
                <a:latin typeface="Cambria" pitchFamily="34" charset="0"/>
                <a:ea typeface="Cambria" pitchFamily="34" charset="-122"/>
                <a:cs typeface="Cambria" pitchFamily="34" charset="-120"/>
              </a:rPr>
              <a:t>0</a:t>
            </a:r>
            <a:endParaRPr lang="en-US" sz="7200" dirty="0"/>
          </a:p>
        </p:txBody>
      </p:sp>
      <p:sp>
        <p:nvSpPr>
          <p:cNvPr id="6" name="Text 4"/>
          <p:cNvSpPr txBox="1"/>
          <p:nvPr/>
        </p:nvSpPr>
        <p:spPr>
          <a:xfrm>
            <a:off x="868680" y="3886200"/>
            <a:ext cx="4754880" cy="822960"/>
          </a:xfrm>
          <a:prstGeom prst="rect">
            <a:avLst/>
          </a:prstGeom>
          <a:noFill/>
          <a:ln/>
        </p:spPr>
        <p:txBody>
          <a:bodyPr wrap="square" lIns="0" tIns="0" rIns="0" bIns="0" rtlCol="0" anchor="ctr"/>
          <a:lstStyle/>
          <a:p>
            <a:pPr marL="0" indent="0">
              <a:buNone/>
            </a:pPr>
            <a:r>
              <a:rPr lang="en-US" sz="1600" dirty="0">
                <a:solidFill>
                  <a:srgbClr val="14303D"/>
                </a:solidFill>
                <a:latin typeface="Calibri" pitchFamily="34" charset="0"/>
                <a:ea typeface="Calibri" pitchFamily="34" charset="-122"/>
                <a:cs typeface="Calibri" pitchFamily="34" charset="-120"/>
              </a:rPr>
              <a:t>agent faults in 64 runs.</a:t>
            </a:r>
            <a:endParaRPr lang="en-US" sz="1600" dirty="0"/>
          </a:p>
        </p:txBody>
      </p:sp>
      <p:sp>
        <p:nvSpPr>
          <p:cNvPr id="7" name="Shape 5"/>
          <p:cNvSpPr/>
          <p:nvPr/>
        </p:nvSpPr>
        <p:spPr>
          <a:xfrm>
            <a:off x="6263640" y="2011680"/>
            <a:ext cx="5422392" cy="3017520"/>
          </a:xfrm>
          <a:prstGeom prst="roundRect">
            <a:avLst>
              <a:gd name="adj" fmla="val 1818"/>
            </a:avLst>
          </a:prstGeom>
          <a:solidFill>
            <a:srgbClr val="14303D"/>
          </a:solidFill>
          <a:ln w="12700">
            <a:solidFill>
              <a:srgbClr val="D5E0E5"/>
            </a:solidFill>
            <a:prstDash val="solid"/>
          </a:ln>
          <a:effectLst>
            <a:outerShdw blurRad="101600" dist="12700" dir="5400000" algn="bl" rotWithShape="0">
              <a:srgbClr val="14303D">
                <a:alpha val="7000"/>
              </a:srgbClr>
            </a:outerShdw>
          </a:effectLst>
        </p:spPr>
        <p:txBody>
          <a:bodyPr/>
          <a:lstStyle/>
          <a:p>
            <a:endParaRPr lang="en-US"/>
          </a:p>
        </p:txBody>
      </p:sp>
      <p:sp>
        <p:nvSpPr>
          <p:cNvPr id="8" name="Text 6"/>
          <p:cNvSpPr txBox="1"/>
          <p:nvPr/>
        </p:nvSpPr>
        <p:spPr>
          <a:xfrm>
            <a:off x="6583680" y="2240280"/>
            <a:ext cx="4572000" cy="292608"/>
          </a:xfrm>
          <a:prstGeom prst="rect">
            <a:avLst/>
          </a:prstGeom>
          <a:noFill/>
          <a:ln/>
        </p:spPr>
        <p:txBody>
          <a:bodyPr wrap="square" lIns="0" tIns="0" rIns="0" bIns="0" rtlCol="0" anchor="ctr"/>
          <a:lstStyle/>
          <a:p>
            <a:pPr marL="0" indent="0">
              <a:buNone/>
            </a:pPr>
            <a:r>
              <a:rPr lang="en-US" sz="1200" b="1" kern="0" spc="110" dirty="0">
                <a:solidFill>
                  <a:srgbClr val="7FB3C8"/>
                </a:solidFill>
                <a:latin typeface="Calibri" pitchFamily="34" charset="0"/>
                <a:ea typeface="Calibri" pitchFamily="34" charset="-122"/>
                <a:cs typeface="Calibri" pitchFamily="34" charset="-120"/>
              </a:rPr>
              <a:t>Without one</a:t>
            </a:r>
            <a:endParaRPr lang="en-US" sz="1200" dirty="0"/>
          </a:p>
        </p:txBody>
      </p:sp>
      <p:sp>
        <p:nvSpPr>
          <p:cNvPr id="9" name="Text 7"/>
          <p:cNvSpPr txBox="1"/>
          <p:nvPr/>
        </p:nvSpPr>
        <p:spPr>
          <a:xfrm>
            <a:off x="6583680" y="2606040"/>
            <a:ext cx="4754880" cy="1188720"/>
          </a:xfrm>
          <a:prstGeom prst="rect">
            <a:avLst/>
          </a:prstGeom>
          <a:noFill/>
          <a:ln/>
        </p:spPr>
        <p:txBody>
          <a:bodyPr wrap="square" lIns="0" tIns="0" rIns="0" bIns="0" rtlCol="0" anchor="ctr"/>
          <a:lstStyle/>
          <a:p>
            <a:pPr marL="0" indent="0">
              <a:buNone/>
            </a:pPr>
            <a:r>
              <a:rPr lang="en-US" sz="7200" b="1" dirty="0">
                <a:solidFill>
                  <a:srgbClr val="A9502C"/>
                </a:solidFill>
                <a:latin typeface="Cambria" pitchFamily="34" charset="0"/>
                <a:ea typeface="Cambria" pitchFamily="34" charset="-122"/>
                <a:cs typeface="Cambria" pitchFamily="34" charset="-120"/>
              </a:rPr>
              <a:t>16</a:t>
            </a:r>
            <a:endParaRPr lang="en-US" sz="7200" dirty="0"/>
          </a:p>
        </p:txBody>
      </p:sp>
      <p:sp>
        <p:nvSpPr>
          <p:cNvPr id="10" name="Text 8"/>
          <p:cNvSpPr txBox="1"/>
          <p:nvPr/>
        </p:nvSpPr>
        <p:spPr>
          <a:xfrm>
            <a:off x="6583680" y="3886200"/>
            <a:ext cx="4754880" cy="82296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agent faults in 20 runs.</a:t>
            </a:r>
            <a:endParaRPr lang="en-US" sz="1600" dirty="0"/>
          </a:p>
        </p:txBody>
      </p:sp>
      <p:sp>
        <p:nvSpPr>
          <p:cNvPr id="11" name="Text 9"/>
          <p:cNvSpPr txBox="1"/>
          <p:nvPr/>
        </p:nvSpPr>
        <p:spPr>
          <a:xfrm>
            <a:off x="548640" y="5257800"/>
            <a:ext cx="11137392" cy="548640"/>
          </a:xfrm>
          <a:prstGeom prst="rect">
            <a:avLst/>
          </a:prstGeom>
          <a:noFill/>
          <a:ln/>
        </p:spPr>
        <p:txBody>
          <a:bodyPr wrap="square" lIns="0" tIns="0" rIns="0" bIns="0" rtlCol="0" anchor="ctr"/>
          <a:lstStyle/>
          <a:p>
            <a:pPr marL="0" indent="0">
              <a:buNone/>
            </a:pPr>
            <a:r>
              <a:rPr lang="en-US" sz="1500" i="1" dirty="0">
                <a:solidFill>
                  <a:srgbClr val="14303D"/>
                </a:solidFill>
                <a:latin typeface="Calibri" pitchFamily="34" charset="0"/>
                <a:ea typeface="Calibri" pitchFamily="34" charset="-122"/>
                <a:cs typeface="Calibri" pitchFamily="34" charset="-120"/>
              </a:rPr>
              <a:t>The specification is not decoration. It is what lets the agent know where it is going.</a:t>
            </a:r>
            <a:endParaRPr lang="en-US" sz="1500" dirty="0"/>
          </a:p>
        </p:txBody>
      </p:sp>
      <p:sp>
        <p:nvSpPr>
          <p:cNvPr id="12" name="Text 10"/>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900" dirty="0">
                <a:solidFill>
                  <a:srgbClr val="55697A"/>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8F9"/>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9052560" cy="658368"/>
          </a:xfrm>
          <a:prstGeom prst="rect">
            <a:avLst/>
          </a:prstGeom>
          <a:noFill/>
          <a:ln/>
        </p:spPr>
        <p:txBody>
          <a:bodyPr wrap="square" lIns="0" tIns="0" rIns="0" bIns="0" rtlCol="0" anchor="ctr"/>
          <a:lstStyle/>
          <a:p>
            <a:pPr marL="0" indent="0">
              <a:buNone/>
            </a:pPr>
            <a:r>
              <a:rPr lang="en-US" sz="3000" b="1" dirty="0">
                <a:solidFill>
                  <a:srgbClr val="14303D"/>
                </a:solidFill>
                <a:latin typeface="Cambria" pitchFamily="34" charset="0"/>
                <a:ea typeface="Cambria" pitchFamily="34" charset="-122"/>
                <a:cs typeface="Cambria" pitchFamily="34" charset="-120"/>
              </a:rPr>
              <a:t>What the campaign curve actually shows</a:t>
            </a:r>
            <a:endParaRPr lang="en-US" sz="3000" dirty="0"/>
          </a:p>
        </p:txBody>
      </p:sp>
      <p:graphicFrame>
        <p:nvGraphicFramePr>
          <p:cNvPr id="3" name="Chart 0"/>
          <p:cNvGraphicFramePr/>
          <p:nvPr/>
        </p:nvGraphicFramePr>
        <p:xfrm>
          <a:off x="548640" y="1783080"/>
          <a:ext cx="6949440" cy="384048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7863840" y="1956816"/>
            <a:ext cx="182880" cy="182880"/>
          </a:xfrm>
          <a:prstGeom prst="ellipse">
            <a:avLst/>
          </a:prstGeom>
          <a:solidFill>
            <a:srgbClr val="A9502C"/>
          </a:solidFill>
          <a:ln w="12700">
            <a:solidFill>
              <a:srgbClr val="A9502C"/>
            </a:solidFill>
            <a:prstDash val="solid"/>
          </a:ln>
        </p:spPr>
        <p:txBody>
          <a:bodyPr/>
          <a:lstStyle/>
          <a:p>
            <a:endParaRPr lang="en-US"/>
          </a:p>
        </p:txBody>
      </p:sp>
      <p:sp>
        <p:nvSpPr>
          <p:cNvPr id="5" name="Text 2"/>
          <p:cNvSpPr txBox="1"/>
          <p:nvPr/>
        </p:nvSpPr>
        <p:spPr>
          <a:xfrm>
            <a:off x="8211312" y="1874520"/>
            <a:ext cx="3474720" cy="347472"/>
          </a:xfrm>
          <a:prstGeom prst="rect">
            <a:avLst/>
          </a:prstGeom>
          <a:noFill/>
          <a:ln/>
        </p:spPr>
        <p:txBody>
          <a:bodyPr wrap="square" lIns="0" tIns="0" rIns="0" bIns="0" rtlCol="0" anchor="ctr"/>
          <a:lstStyle/>
          <a:p>
            <a:pPr marL="0" indent="0">
              <a:buNone/>
            </a:pPr>
            <a:r>
              <a:rPr lang="en-US" sz="1450" b="1" dirty="0">
                <a:solidFill>
                  <a:srgbClr val="14303D"/>
                </a:solidFill>
                <a:latin typeface="Calibri" pitchFamily="34" charset="0"/>
                <a:ea typeface="Calibri" pitchFamily="34" charset="-122"/>
                <a:cs typeface="Calibri" pitchFamily="34" charset="-120"/>
              </a:rPr>
              <a:t>0% looked catastrophic.</a:t>
            </a:r>
            <a:endParaRPr lang="en-US" sz="1450" dirty="0"/>
          </a:p>
        </p:txBody>
      </p:sp>
      <p:sp>
        <p:nvSpPr>
          <p:cNvPr id="6" name="Text 3"/>
          <p:cNvSpPr txBox="1"/>
          <p:nvPr/>
        </p:nvSpPr>
        <p:spPr>
          <a:xfrm>
            <a:off x="8211312" y="2240280"/>
            <a:ext cx="3474720" cy="1143000"/>
          </a:xfrm>
          <a:prstGeom prst="rect">
            <a:avLst/>
          </a:prstGeom>
          <a:noFill/>
          <a:ln/>
        </p:spPr>
        <p:txBody>
          <a:bodyPr wrap="square" lIns="0" tIns="0" rIns="0" bIns="0" rtlCol="0" anchor="ctr"/>
          <a:lstStyle/>
          <a:p>
            <a:pPr marL="0" indent="0">
              <a:lnSpc>
                <a:spcPts val="1600"/>
              </a:lnSpc>
              <a:buNone/>
            </a:pPr>
            <a:r>
              <a:rPr lang="en-US" sz="1200" dirty="0">
                <a:solidFill>
                  <a:srgbClr val="55697A"/>
                </a:solidFill>
                <a:latin typeface="Calibri" pitchFamily="34" charset="0"/>
                <a:ea typeface="Calibri" pitchFamily="34" charset="-122"/>
                <a:cs typeface="Calibri" pitchFamily="34" charset="-120"/>
              </a:rPr>
              <a:t>82% of device steps were unparseable, so nothing could be attributed. The instrumentation worked and revealed that the evidence did not.</a:t>
            </a:r>
            <a:endParaRPr lang="en-US" sz="1200" dirty="0"/>
          </a:p>
        </p:txBody>
      </p:sp>
      <p:sp>
        <p:nvSpPr>
          <p:cNvPr id="7" name="Shape 4"/>
          <p:cNvSpPr/>
          <p:nvPr/>
        </p:nvSpPr>
        <p:spPr>
          <a:xfrm>
            <a:off x="7863840" y="3419856"/>
            <a:ext cx="182880" cy="182880"/>
          </a:xfrm>
          <a:prstGeom prst="ellipse">
            <a:avLst/>
          </a:prstGeom>
          <a:solidFill>
            <a:srgbClr val="1E6B45"/>
          </a:solidFill>
          <a:ln w="12700">
            <a:solidFill>
              <a:srgbClr val="1E6B45"/>
            </a:solidFill>
            <a:prstDash val="solid"/>
          </a:ln>
        </p:spPr>
        <p:txBody>
          <a:bodyPr/>
          <a:lstStyle/>
          <a:p>
            <a:endParaRPr lang="en-US"/>
          </a:p>
        </p:txBody>
      </p:sp>
      <p:sp>
        <p:nvSpPr>
          <p:cNvPr id="8" name="Text 5"/>
          <p:cNvSpPr txBox="1"/>
          <p:nvPr/>
        </p:nvSpPr>
        <p:spPr>
          <a:xfrm>
            <a:off x="8211312" y="3337560"/>
            <a:ext cx="3474720" cy="347472"/>
          </a:xfrm>
          <a:prstGeom prst="rect">
            <a:avLst/>
          </a:prstGeom>
          <a:noFill/>
          <a:ln/>
        </p:spPr>
        <p:txBody>
          <a:bodyPr wrap="square" lIns="0" tIns="0" rIns="0" bIns="0" rtlCol="0" anchor="ctr"/>
          <a:lstStyle/>
          <a:p>
            <a:pPr marL="0" indent="0">
              <a:buNone/>
            </a:pPr>
            <a:r>
              <a:rPr lang="en-US" sz="1450" b="1" dirty="0">
                <a:solidFill>
                  <a:srgbClr val="14303D"/>
                </a:solidFill>
                <a:latin typeface="Calibri" pitchFamily="34" charset="0"/>
                <a:ea typeface="Calibri" pitchFamily="34" charset="-122"/>
                <a:cs typeface="Calibri" pitchFamily="34" charset="-120"/>
              </a:rPr>
              <a:t>Four fixes, one day.</a:t>
            </a:r>
            <a:endParaRPr lang="en-US" sz="1450" dirty="0"/>
          </a:p>
        </p:txBody>
      </p:sp>
      <p:sp>
        <p:nvSpPr>
          <p:cNvPr id="9" name="Text 6"/>
          <p:cNvSpPr txBox="1"/>
          <p:nvPr/>
        </p:nvSpPr>
        <p:spPr>
          <a:xfrm>
            <a:off x="8211312" y="3703320"/>
            <a:ext cx="3474720" cy="1143000"/>
          </a:xfrm>
          <a:prstGeom prst="rect">
            <a:avLst/>
          </a:prstGeom>
          <a:noFill/>
          <a:ln/>
        </p:spPr>
        <p:txBody>
          <a:bodyPr wrap="square" lIns="0" tIns="0" rIns="0" bIns="0" rtlCol="0" anchor="ctr"/>
          <a:lstStyle/>
          <a:p>
            <a:pPr marL="0" indent="0">
              <a:lnSpc>
                <a:spcPts val="1600"/>
              </a:lnSpc>
              <a:buNone/>
            </a:pPr>
            <a:r>
              <a:rPr lang="en-US" sz="1200" dirty="0">
                <a:solidFill>
                  <a:srgbClr val="55697A"/>
                </a:solidFill>
                <a:latin typeface="Calibri" pitchFamily="34" charset="0"/>
                <a:ea typeface="Calibri" pitchFamily="34" charset="-122"/>
                <a:cs typeface="Calibri" pitchFamily="34" charset="-120"/>
              </a:rPr>
              <a:t>Log reassembly, containment matching, a precondition filter, a device reset. Two days later: 100% autonomy.</a:t>
            </a:r>
            <a:endParaRPr lang="en-US" sz="1200" dirty="0"/>
          </a:p>
        </p:txBody>
      </p:sp>
      <p:sp>
        <p:nvSpPr>
          <p:cNvPr id="10" name="Shape 7"/>
          <p:cNvSpPr/>
          <p:nvPr/>
        </p:nvSpPr>
        <p:spPr>
          <a:xfrm>
            <a:off x="7863840" y="4882896"/>
            <a:ext cx="182880" cy="182880"/>
          </a:xfrm>
          <a:prstGeom prst="ellipse">
            <a:avLst/>
          </a:prstGeom>
          <a:solidFill>
            <a:srgbClr val="0B6A8F"/>
          </a:solidFill>
          <a:ln w="12700">
            <a:solidFill>
              <a:srgbClr val="0B6A8F"/>
            </a:solidFill>
            <a:prstDash val="solid"/>
          </a:ln>
        </p:spPr>
        <p:txBody>
          <a:bodyPr/>
          <a:lstStyle/>
          <a:p>
            <a:endParaRPr lang="en-US"/>
          </a:p>
        </p:txBody>
      </p:sp>
      <p:sp>
        <p:nvSpPr>
          <p:cNvPr id="11" name="Text 8"/>
          <p:cNvSpPr txBox="1"/>
          <p:nvPr/>
        </p:nvSpPr>
        <p:spPr>
          <a:xfrm>
            <a:off x="8211312" y="4800600"/>
            <a:ext cx="3474720" cy="347472"/>
          </a:xfrm>
          <a:prstGeom prst="rect">
            <a:avLst/>
          </a:prstGeom>
          <a:noFill/>
          <a:ln/>
        </p:spPr>
        <p:txBody>
          <a:bodyPr wrap="square" lIns="0" tIns="0" rIns="0" bIns="0" rtlCol="0" anchor="ctr"/>
          <a:lstStyle/>
          <a:p>
            <a:pPr marL="0" indent="0">
              <a:buNone/>
            </a:pPr>
            <a:r>
              <a:rPr lang="en-US" sz="1450" b="1" dirty="0">
                <a:solidFill>
                  <a:srgbClr val="14303D"/>
                </a:solidFill>
                <a:latin typeface="Calibri" pitchFamily="34" charset="0"/>
                <a:ea typeface="Calibri" pitchFamily="34" charset="-122"/>
                <a:cs typeface="Calibri" pitchFamily="34" charset="-120"/>
              </a:rPr>
              <a:t>Then it met production.</a:t>
            </a:r>
            <a:endParaRPr lang="en-US" sz="1450" dirty="0"/>
          </a:p>
        </p:txBody>
      </p:sp>
      <p:sp>
        <p:nvSpPr>
          <p:cNvPr id="12" name="Text 9"/>
          <p:cNvSpPr txBox="1"/>
          <p:nvPr/>
        </p:nvSpPr>
        <p:spPr>
          <a:xfrm>
            <a:off x="8211312" y="5166360"/>
            <a:ext cx="3474720" cy="1143000"/>
          </a:xfrm>
          <a:prstGeom prst="rect">
            <a:avLst/>
          </a:prstGeom>
          <a:noFill/>
          <a:ln/>
        </p:spPr>
        <p:txBody>
          <a:bodyPr wrap="square" lIns="0" tIns="0" rIns="0" bIns="0" rtlCol="0" anchor="ctr"/>
          <a:lstStyle/>
          <a:p>
            <a:pPr marL="0" indent="0">
              <a:lnSpc>
                <a:spcPts val="1600"/>
              </a:lnSpc>
              <a:buNone/>
            </a:pPr>
            <a:r>
              <a:rPr lang="en-US" sz="1200" dirty="0">
                <a:solidFill>
                  <a:srgbClr val="55697A"/>
                </a:solidFill>
                <a:latin typeface="Calibri" pitchFamily="34" charset="0"/>
                <a:ea typeface="Calibri" pitchFamily="34" charset="-122"/>
                <a:cs typeface="Calibri" pitchFamily="34" charset="-120"/>
              </a:rPr>
              <a:t>Autonomy fell to 67%. A tuned agent does not transfer for free.</a:t>
            </a:r>
            <a:endParaRPr lang="en-US" sz="1200" dirty="0"/>
          </a:p>
        </p:txBody>
      </p:sp>
      <p:sp>
        <p:nvSpPr>
          <p:cNvPr id="13" name="Text 10"/>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900" dirty="0">
                <a:solidFill>
                  <a:srgbClr val="55697A"/>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4303D"/>
        </a:solidFill>
        <a:effectLst/>
      </p:bgPr>
    </p:bg>
    <p:spTree>
      <p:nvGrpSpPr>
        <p:cNvPr id="1" name=""/>
        <p:cNvGrpSpPr/>
        <p:nvPr/>
      </p:nvGrpSpPr>
      <p:grpSpPr>
        <a:xfrm>
          <a:off x="0" y="0"/>
          <a:ext cx="0" cy="0"/>
          <a:chOff x="0" y="0"/>
          <a:chExt cx="0" cy="0"/>
        </a:xfrm>
      </p:grpSpPr>
      <p:sp>
        <p:nvSpPr>
          <p:cNvPr id="2" name="Text 0"/>
          <p:cNvSpPr txBox="1"/>
          <p:nvPr/>
        </p:nvSpPr>
        <p:spPr>
          <a:xfrm>
            <a:off x="914400" y="1920240"/>
            <a:ext cx="5943600" cy="1371600"/>
          </a:xfrm>
          <a:prstGeom prst="rect">
            <a:avLst/>
          </a:prstGeom>
          <a:noFill/>
          <a:ln/>
        </p:spPr>
        <p:txBody>
          <a:bodyPr wrap="square" lIns="0" tIns="0" rIns="0" bIns="0" rtlCol="0" anchor="ctr"/>
          <a:lstStyle/>
          <a:p>
            <a:pPr marL="0" indent="0">
              <a:buNone/>
            </a:pPr>
            <a:r>
              <a:rPr lang="en-US" sz="6800" b="1" dirty="0">
                <a:solidFill>
                  <a:srgbClr val="FFFFFF"/>
                </a:solidFill>
                <a:latin typeface="Cambria" pitchFamily="34" charset="0"/>
                <a:ea typeface="Cambria" pitchFamily="34" charset="-122"/>
                <a:cs typeface="Cambria" pitchFamily="34" charset="-120"/>
              </a:rPr>
              <a:t>USD 0.008</a:t>
            </a:r>
            <a:endParaRPr lang="en-US" sz="6800" dirty="0"/>
          </a:p>
        </p:txBody>
      </p:sp>
      <p:sp>
        <p:nvSpPr>
          <p:cNvPr id="3" name="Text 1"/>
          <p:cNvSpPr txBox="1"/>
          <p:nvPr/>
        </p:nvSpPr>
        <p:spPr>
          <a:xfrm>
            <a:off x="914400" y="3310128"/>
            <a:ext cx="5669280" cy="1097280"/>
          </a:xfrm>
          <a:prstGeom prst="rect">
            <a:avLst/>
          </a:prstGeom>
          <a:noFill/>
          <a:ln/>
        </p:spPr>
        <p:txBody>
          <a:bodyPr wrap="square" lIns="0" tIns="0" rIns="0" bIns="0" rtlCol="0" anchor="ctr"/>
          <a:lstStyle/>
          <a:p>
            <a:pPr marL="0" indent="0">
              <a:lnSpc>
                <a:spcPts val="2400"/>
              </a:lnSpc>
              <a:buNone/>
            </a:pPr>
            <a:r>
              <a:rPr lang="en-US" sz="1700" dirty="0">
                <a:solidFill>
                  <a:srgbClr val="C4D6DE"/>
                </a:solidFill>
                <a:latin typeface="Calibri" pitchFamily="34" charset="0"/>
                <a:ea typeface="Calibri" pitchFamily="34" charset="-122"/>
                <a:cs typeface="Calibri" pitchFamily="34" charset="-120"/>
              </a:rPr>
              <a:t>per executed test, measured against the provider's billing record at 10.1 device steps per test.</a:t>
            </a:r>
            <a:endParaRPr lang="en-US" sz="1700" dirty="0"/>
          </a:p>
        </p:txBody>
      </p:sp>
      <p:sp>
        <p:nvSpPr>
          <p:cNvPr id="4" name="Shape 2"/>
          <p:cNvSpPr/>
          <p:nvPr/>
        </p:nvSpPr>
        <p:spPr>
          <a:xfrm>
            <a:off x="7223760" y="2148840"/>
            <a:ext cx="4023360" cy="2377440"/>
          </a:xfrm>
          <a:prstGeom prst="roundRect">
            <a:avLst>
              <a:gd name="adj" fmla="val 2308"/>
            </a:avLst>
          </a:prstGeom>
          <a:solidFill>
            <a:srgbClr val="FFFFFF"/>
          </a:solidFill>
          <a:ln w="12700">
            <a:solidFill>
              <a:srgbClr val="D5E0E5"/>
            </a:solidFill>
            <a:prstDash val="solid"/>
          </a:ln>
          <a:effectLst>
            <a:outerShdw blurRad="101600" dist="12700" dir="5400000" algn="bl" rotWithShape="0">
              <a:srgbClr val="14303D">
                <a:alpha val="7000"/>
              </a:srgbClr>
            </a:outerShdw>
          </a:effectLst>
        </p:spPr>
        <p:txBody>
          <a:bodyPr/>
          <a:lstStyle/>
          <a:p>
            <a:endParaRPr lang="en-US"/>
          </a:p>
        </p:txBody>
      </p:sp>
      <p:sp>
        <p:nvSpPr>
          <p:cNvPr id="5" name="Text 3"/>
          <p:cNvSpPr txBox="1"/>
          <p:nvPr/>
        </p:nvSpPr>
        <p:spPr>
          <a:xfrm>
            <a:off x="7543800" y="2395728"/>
            <a:ext cx="3429000" cy="1920240"/>
          </a:xfrm>
          <a:prstGeom prst="rect">
            <a:avLst/>
          </a:prstGeom>
          <a:noFill/>
          <a:ln/>
        </p:spPr>
        <p:txBody>
          <a:bodyPr wrap="square" lIns="0" tIns="0" rIns="0" bIns="0" rtlCol="0" anchor="ctr"/>
          <a:lstStyle/>
          <a:p>
            <a:pPr marL="0" indent="0">
              <a:lnSpc>
                <a:spcPts val="1900"/>
              </a:lnSpc>
              <a:buNone/>
            </a:pPr>
            <a:r>
              <a:rPr lang="en-US" sz="1400" dirty="0">
                <a:solidFill>
                  <a:srgbClr val="14303D"/>
                </a:solidFill>
                <a:latin typeface="Calibri" pitchFamily="34" charset="0"/>
                <a:ea typeface="Calibri" pitchFamily="34" charset="-122"/>
                <a:cs typeface="Calibri" pitchFamily="34" charset="-120"/>
              </a:rPr>
              <a:t>Comparable published work reports about USD 18 per application, and states that the cost prevented the authors from repeating their own runs.</a:t>
            </a:r>
            <a:endParaRPr lang="en-US" sz="1400" dirty="0"/>
          </a:p>
        </p:txBody>
      </p:sp>
      <p:sp>
        <p:nvSpPr>
          <p:cNvPr id="6" name="Text 4"/>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900" dirty="0">
                <a:solidFill>
                  <a:srgbClr val="55697A"/>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8F9"/>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9052560" cy="658368"/>
          </a:xfrm>
          <a:prstGeom prst="rect">
            <a:avLst/>
          </a:prstGeom>
          <a:noFill/>
          <a:ln/>
        </p:spPr>
        <p:txBody>
          <a:bodyPr wrap="square" lIns="0" tIns="0" rIns="0" bIns="0" rtlCol="0" anchor="ctr"/>
          <a:lstStyle/>
          <a:p>
            <a:pPr marL="0" indent="0">
              <a:buNone/>
            </a:pPr>
            <a:r>
              <a:rPr lang="en-US" sz="3000" b="1" dirty="0">
                <a:solidFill>
                  <a:srgbClr val="14303D"/>
                </a:solidFill>
                <a:latin typeface="Cambria" pitchFamily="34" charset="0"/>
                <a:ea typeface="Cambria" pitchFamily="34" charset="-122"/>
                <a:cs typeface="Cambria" pitchFamily="34" charset="-120"/>
              </a:rPr>
              <a:t>What we cannot yet claim</a:t>
            </a:r>
            <a:endParaRPr lang="en-US" sz="3000" dirty="0"/>
          </a:p>
        </p:txBody>
      </p:sp>
      <p:sp>
        <p:nvSpPr>
          <p:cNvPr id="3" name="Shape 1"/>
          <p:cNvSpPr/>
          <p:nvPr/>
        </p:nvSpPr>
        <p:spPr>
          <a:xfrm>
            <a:off x="548640" y="1965960"/>
            <a:ext cx="11137392" cy="1097280"/>
          </a:xfrm>
          <a:prstGeom prst="roundRect">
            <a:avLst>
              <a:gd name="adj" fmla="val 5000"/>
            </a:avLst>
          </a:prstGeom>
          <a:solidFill>
            <a:srgbClr val="FFFFFF"/>
          </a:solidFill>
          <a:ln w="12700">
            <a:solidFill>
              <a:srgbClr val="D5E0E5"/>
            </a:solidFill>
            <a:prstDash val="solid"/>
          </a:ln>
          <a:effectLst>
            <a:outerShdw blurRad="101600" dist="12700" dir="5400000" algn="bl" rotWithShape="0">
              <a:srgbClr val="14303D">
                <a:alpha val="7000"/>
              </a:srgbClr>
            </a:outerShdw>
          </a:effectLst>
        </p:spPr>
        <p:txBody>
          <a:bodyPr/>
          <a:lstStyle/>
          <a:p>
            <a:endParaRPr lang="en-US"/>
          </a:p>
        </p:txBody>
      </p:sp>
      <p:sp>
        <p:nvSpPr>
          <p:cNvPr id="4" name="Text 2"/>
          <p:cNvSpPr txBox="1"/>
          <p:nvPr/>
        </p:nvSpPr>
        <p:spPr>
          <a:xfrm>
            <a:off x="914400" y="2148840"/>
            <a:ext cx="3931920" cy="347472"/>
          </a:xfrm>
          <a:prstGeom prst="rect">
            <a:avLst/>
          </a:prstGeom>
          <a:noFill/>
          <a:ln/>
        </p:spPr>
        <p:txBody>
          <a:bodyPr wrap="square" lIns="0" tIns="0" rIns="0" bIns="0" rtlCol="0" anchor="ctr"/>
          <a:lstStyle/>
          <a:p>
            <a:pPr marL="0" indent="0">
              <a:buNone/>
            </a:pPr>
            <a:r>
              <a:rPr lang="en-US" sz="1600" b="1" dirty="0">
                <a:solidFill>
                  <a:srgbClr val="A9502C"/>
                </a:solidFill>
                <a:latin typeface="Calibri" pitchFamily="34" charset="0"/>
                <a:ea typeface="Calibri" pitchFamily="34" charset="-122"/>
                <a:cs typeface="Calibri" pitchFamily="34" charset="-120"/>
              </a:rPr>
              <a:t>No precision or recall</a:t>
            </a:r>
            <a:endParaRPr lang="en-US" sz="1600" dirty="0"/>
          </a:p>
        </p:txBody>
      </p:sp>
      <p:sp>
        <p:nvSpPr>
          <p:cNvPr id="5" name="Text 3"/>
          <p:cNvSpPr txBox="1"/>
          <p:nvPr/>
        </p:nvSpPr>
        <p:spPr>
          <a:xfrm>
            <a:off x="4937760" y="2148840"/>
            <a:ext cx="6400800" cy="731520"/>
          </a:xfrm>
          <a:prstGeom prst="rect">
            <a:avLst/>
          </a:prstGeom>
          <a:noFill/>
          <a:ln/>
        </p:spPr>
        <p:txBody>
          <a:bodyPr wrap="square" lIns="0" tIns="0" rIns="0" bIns="0" rtlCol="0" anchor="ctr"/>
          <a:lstStyle/>
          <a:p>
            <a:pPr marL="0" indent="0">
              <a:lnSpc>
                <a:spcPts val="1800"/>
              </a:lnSpc>
              <a:buNone/>
            </a:pPr>
            <a:r>
              <a:rPr lang="en-US" sz="1350" dirty="0">
                <a:solidFill>
                  <a:srgbClr val="14303D"/>
                </a:solidFill>
                <a:latin typeface="Calibri" pitchFamily="34" charset="0"/>
                <a:ea typeface="Calibri" pitchFamily="34" charset="-122"/>
                <a:cs typeface="Calibri" pitchFamily="34" charset="-120"/>
              </a:rPr>
              <a:t>Establishing them honestly needs seeded defects. The partner supplied neither a defect export nor a seeded build.</a:t>
            </a:r>
            <a:endParaRPr lang="en-US" sz="1350" dirty="0"/>
          </a:p>
        </p:txBody>
      </p:sp>
      <p:sp>
        <p:nvSpPr>
          <p:cNvPr id="6" name="Shape 4"/>
          <p:cNvSpPr/>
          <p:nvPr/>
        </p:nvSpPr>
        <p:spPr>
          <a:xfrm>
            <a:off x="548640" y="3218688"/>
            <a:ext cx="11137392" cy="1097280"/>
          </a:xfrm>
          <a:prstGeom prst="roundRect">
            <a:avLst>
              <a:gd name="adj" fmla="val 5000"/>
            </a:avLst>
          </a:prstGeom>
          <a:solidFill>
            <a:srgbClr val="FFFFFF"/>
          </a:solidFill>
          <a:ln w="12700">
            <a:solidFill>
              <a:srgbClr val="D5E0E5"/>
            </a:solidFill>
            <a:prstDash val="solid"/>
          </a:ln>
          <a:effectLst>
            <a:outerShdw blurRad="101600" dist="12700" dir="5400000" algn="bl" rotWithShape="0">
              <a:srgbClr val="14303D">
                <a:alpha val="7000"/>
              </a:srgbClr>
            </a:outerShdw>
          </a:effectLst>
        </p:spPr>
        <p:txBody>
          <a:bodyPr/>
          <a:lstStyle/>
          <a:p>
            <a:endParaRPr lang="en-US"/>
          </a:p>
        </p:txBody>
      </p:sp>
      <p:sp>
        <p:nvSpPr>
          <p:cNvPr id="7" name="Text 5"/>
          <p:cNvSpPr txBox="1"/>
          <p:nvPr/>
        </p:nvSpPr>
        <p:spPr>
          <a:xfrm>
            <a:off x="914400" y="3401568"/>
            <a:ext cx="3931920" cy="347472"/>
          </a:xfrm>
          <a:prstGeom prst="rect">
            <a:avLst/>
          </a:prstGeom>
          <a:noFill/>
          <a:ln/>
        </p:spPr>
        <p:txBody>
          <a:bodyPr wrap="square" lIns="0" tIns="0" rIns="0" bIns="0" rtlCol="0" anchor="ctr"/>
          <a:lstStyle/>
          <a:p>
            <a:pPr marL="0" indent="0">
              <a:buNone/>
            </a:pPr>
            <a:r>
              <a:rPr lang="en-US" sz="1600" b="1" dirty="0">
                <a:solidFill>
                  <a:srgbClr val="A9502C"/>
                </a:solidFill>
                <a:latin typeface="Calibri" pitchFamily="34" charset="0"/>
                <a:ea typeface="Calibri" pitchFamily="34" charset="-122"/>
                <a:cs typeface="Calibri" pitchFamily="34" charset="-120"/>
              </a:rPr>
              <a:t>The models changed eight times</a:t>
            </a:r>
            <a:endParaRPr lang="en-US" sz="1600" dirty="0"/>
          </a:p>
        </p:txBody>
      </p:sp>
      <p:sp>
        <p:nvSpPr>
          <p:cNvPr id="8" name="Text 6"/>
          <p:cNvSpPr txBox="1"/>
          <p:nvPr/>
        </p:nvSpPr>
        <p:spPr>
          <a:xfrm>
            <a:off x="4937760" y="3401568"/>
            <a:ext cx="6400800" cy="731520"/>
          </a:xfrm>
          <a:prstGeom prst="rect">
            <a:avLst/>
          </a:prstGeom>
          <a:noFill/>
          <a:ln/>
        </p:spPr>
        <p:txBody>
          <a:bodyPr wrap="square" lIns="0" tIns="0" rIns="0" bIns="0" rtlCol="0" anchor="ctr"/>
          <a:lstStyle/>
          <a:p>
            <a:pPr marL="0" indent="0">
              <a:lnSpc>
                <a:spcPts val="1800"/>
              </a:lnSpc>
              <a:buNone/>
            </a:pPr>
            <a:r>
              <a:rPr lang="en-US" sz="1350" dirty="0">
                <a:solidFill>
                  <a:srgbClr val="14303D"/>
                </a:solidFill>
                <a:latin typeface="Calibri" pitchFamily="34" charset="0"/>
                <a:ea typeface="Calibri" pitchFamily="34" charset="-122"/>
                <a:cs typeface="Calibri" pitchFamily="34" charset="-120"/>
              </a:rPr>
              <a:t>Pass rates rose and so did model quality. This report does not separate those two causes.</a:t>
            </a:r>
            <a:endParaRPr lang="en-US" sz="1350" dirty="0"/>
          </a:p>
        </p:txBody>
      </p:sp>
      <p:sp>
        <p:nvSpPr>
          <p:cNvPr id="9" name="Shape 7"/>
          <p:cNvSpPr/>
          <p:nvPr/>
        </p:nvSpPr>
        <p:spPr>
          <a:xfrm>
            <a:off x="548640" y="4471416"/>
            <a:ext cx="11137392" cy="1097280"/>
          </a:xfrm>
          <a:prstGeom prst="roundRect">
            <a:avLst>
              <a:gd name="adj" fmla="val 5000"/>
            </a:avLst>
          </a:prstGeom>
          <a:solidFill>
            <a:srgbClr val="FFFFFF"/>
          </a:solidFill>
          <a:ln w="12700">
            <a:solidFill>
              <a:srgbClr val="D5E0E5"/>
            </a:solidFill>
            <a:prstDash val="solid"/>
          </a:ln>
          <a:effectLst>
            <a:outerShdw blurRad="101600" dist="12700" dir="5400000" algn="bl" rotWithShape="0">
              <a:srgbClr val="14303D">
                <a:alpha val="7000"/>
              </a:srgbClr>
            </a:outerShdw>
          </a:effectLst>
        </p:spPr>
        <p:txBody>
          <a:bodyPr/>
          <a:lstStyle/>
          <a:p>
            <a:endParaRPr lang="en-US"/>
          </a:p>
        </p:txBody>
      </p:sp>
      <p:sp>
        <p:nvSpPr>
          <p:cNvPr id="10" name="Text 8"/>
          <p:cNvSpPr txBox="1"/>
          <p:nvPr/>
        </p:nvSpPr>
        <p:spPr>
          <a:xfrm>
            <a:off x="914400" y="4654296"/>
            <a:ext cx="3931920" cy="347472"/>
          </a:xfrm>
          <a:prstGeom prst="rect">
            <a:avLst/>
          </a:prstGeom>
          <a:noFill/>
          <a:ln/>
        </p:spPr>
        <p:txBody>
          <a:bodyPr wrap="square" lIns="0" tIns="0" rIns="0" bIns="0" rtlCol="0" anchor="ctr"/>
          <a:lstStyle/>
          <a:p>
            <a:pPr marL="0" indent="0">
              <a:buNone/>
            </a:pPr>
            <a:r>
              <a:rPr lang="en-US" sz="1600" b="1" dirty="0">
                <a:solidFill>
                  <a:srgbClr val="A9502C"/>
                </a:solidFill>
                <a:latin typeface="Calibri" pitchFamily="34" charset="0"/>
                <a:ea typeface="Calibri" pitchFamily="34" charset="-122"/>
                <a:cs typeface="Calibri" pitchFamily="34" charset="-120"/>
              </a:rPr>
              <a:t>Deployment is local</a:t>
            </a:r>
            <a:endParaRPr lang="en-US" sz="1600" dirty="0"/>
          </a:p>
        </p:txBody>
      </p:sp>
      <p:sp>
        <p:nvSpPr>
          <p:cNvPr id="11" name="Text 9"/>
          <p:cNvSpPr txBox="1"/>
          <p:nvPr/>
        </p:nvSpPr>
        <p:spPr>
          <a:xfrm>
            <a:off x="4937760" y="4654296"/>
            <a:ext cx="6400800" cy="731520"/>
          </a:xfrm>
          <a:prstGeom prst="rect">
            <a:avLst/>
          </a:prstGeom>
          <a:noFill/>
          <a:ln/>
        </p:spPr>
        <p:txBody>
          <a:bodyPr wrap="square" lIns="0" tIns="0" rIns="0" bIns="0" rtlCol="0" anchor="ctr"/>
          <a:lstStyle/>
          <a:p>
            <a:pPr marL="0" indent="0">
              <a:lnSpc>
                <a:spcPts val="1800"/>
              </a:lnSpc>
              <a:buNone/>
            </a:pPr>
            <a:r>
              <a:rPr lang="en-US" sz="1350" dirty="0">
                <a:solidFill>
                  <a:srgbClr val="14303D"/>
                </a:solidFill>
                <a:latin typeface="Calibri" pitchFamily="34" charset="0"/>
                <a:ea typeface="Calibri" pitchFamily="34" charset="-122"/>
                <a:cs typeface="Calibri" pitchFamily="34" charset="-120"/>
              </a:rPr>
              <a:t>A developer operated host. Not hardened for shared infrastructure.</a:t>
            </a:r>
            <a:endParaRPr lang="en-US" sz="1350" dirty="0"/>
          </a:p>
        </p:txBody>
      </p:sp>
      <p:sp>
        <p:nvSpPr>
          <p:cNvPr id="12" name="Shape 10"/>
          <p:cNvSpPr/>
          <p:nvPr/>
        </p:nvSpPr>
        <p:spPr>
          <a:xfrm>
            <a:off x="548640" y="5760720"/>
            <a:ext cx="11137392" cy="804672"/>
          </a:xfrm>
          <a:prstGeom prst="roundRect">
            <a:avLst>
              <a:gd name="adj" fmla="val 6818"/>
            </a:avLst>
          </a:prstGeom>
          <a:solidFill>
            <a:srgbClr val="14303D"/>
          </a:solidFill>
          <a:ln w="12700">
            <a:solidFill>
              <a:srgbClr val="D5E0E5"/>
            </a:solidFill>
            <a:prstDash val="solid"/>
          </a:ln>
          <a:effectLst>
            <a:outerShdw blurRad="101600" dist="12700" dir="5400000" algn="bl" rotWithShape="0">
              <a:srgbClr val="14303D">
                <a:alpha val="7000"/>
              </a:srgbClr>
            </a:outerShdw>
          </a:effectLst>
        </p:spPr>
        <p:txBody>
          <a:bodyPr/>
          <a:lstStyle/>
          <a:p>
            <a:endParaRPr lang="en-US"/>
          </a:p>
        </p:txBody>
      </p:sp>
      <p:sp>
        <p:nvSpPr>
          <p:cNvPr id="13" name="Text 11"/>
          <p:cNvSpPr txBox="1"/>
          <p:nvPr/>
        </p:nvSpPr>
        <p:spPr>
          <a:xfrm>
            <a:off x="914400" y="5760720"/>
            <a:ext cx="10424160" cy="80467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Next: oracles that check the application's stored state, and judging after every step rather than only at the verdict.</a:t>
            </a:r>
            <a:endParaRPr lang="en-US" sz="1400" dirty="0"/>
          </a:p>
        </p:txBody>
      </p:sp>
      <p:sp>
        <p:nvSpPr>
          <p:cNvPr id="14" name="Text 12"/>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900" dirty="0">
                <a:solidFill>
                  <a:srgbClr val="55697A"/>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4303D"/>
        </a:solidFill>
        <a:effectLst/>
      </p:bgPr>
    </p:bg>
    <p:spTree>
      <p:nvGrpSpPr>
        <p:cNvPr id="1" name=""/>
        <p:cNvGrpSpPr/>
        <p:nvPr/>
      </p:nvGrpSpPr>
      <p:grpSpPr>
        <a:xfrm>
          <a:off x="0" y="0"/>
          <a:ext cx="0" cy="0"/>
          <a:chOff x="0" y="0"/>
          <a:chExt cx="0" cy="0"/>
        </a:xfrm>
      </p:grpSpPr>
      <p:sp>
        <p:nvSpPr>
          <p:cNvPr id="2" name="Text 0"/>
          <p:cNvSpPr txBox="1"/>
          <p:nvPr/>
        </p:nvSpPr>
        <p:spPr>
          <a:xfrm>
            <a:off x="914400" y="2148840"/>
            <a:ext cx="5120640" cy="914400"/>
          </a:xfrm>
          <a:prstGeom prst="rect">
            <a:avLst/>
          </a:prstGeom>
          <a:noFill/>
          <a:ln/>
        </p:spPr>
        <p:txBody>
          <a:bodyPr wrap="square" lIns="0" tIns="0" rIns="0" bIns="0" rtlCol="0" anchor="ctr"/>
          <a:lstStyle/>
          <a:p>
            <a:pPr marL="0" indent="0">
              <a:buNone/>
            </a:pPr>
            <a:r>
              <a:rPr lang="en-US" sz="5000" b="1" dirty="0">
                <a:solidFill>
                  <a:srgbClr val="FFFFFF"/>
                </a:solidFill>
                <a:latin typeface="Cambria" pitchFamily="34" charset="0"/>
                <a:ea typeface="Cambria" pitchFamily="34" charset="-122"/>
                <a:cs typeface="Cambria" pitchFamily="34" charset="-120"/>
              </a:rPr>
              <a:t>Thank you</a:t>
            </a:r>
            <a:endParaRPr lang="en-US" sz="5000" dirty="0"/>
          </a:p>
        </p:txBody>
      </p:sp>
      <p:sp>
        <p:nvSpPr>
          <p:cNvPr id="3" name="Text 1"/>
          <p:cNvSpPr txBox="1"/>
          <p:nvPr/>
        </p:nvSpPr>
        <p:spPr>
          <a:xfrm>
            <a:off x="914400" y="3200400"/>
            <a:ext cx="5120640" cy="457200"/>
          </a:xfrm>
          <a:prstGeom prst="rect">
            <a:avLst/>
          </a:prstGeom>
          <a:noFill/>
          <a:ln/>
        </p:spPr>
        <p:txBody>
          <a:bodyPr wrap="square" lIns="0" tIns="0" rIns="0" bIns="0" rtlCol="0" anchor="ctr"/>
          <a:lstStyle/>
          <a:p>
            <a:pPr marL="0" indent="0">
              <a:buNone/>
            </a:pPr>
            <a:r>
              <a:rPr lang="en-US" sz="1800" dirty="0">
                <a:solidFill>
                  <a:srgbClr val="C4D6DE"/>
                </a:solidFill>
                <a:latin typeface="Calibri" pitchFamily="34" charset="0"/>
                <a:ea typeface="Calibri" pitchFamily="34" charset="-122"/>
                <a:cs typeface="Calibri" pitchFamily="34" charset="-120"/>
              </a:rPr>
              <a:t>Questions are welcome.</a:t>
            </a:r>
            <a:endParaRPr lang="en-US" sz="1800" dirty="0"/>
          </a:p>
        </p:txBody>
      </p:sp>
      <p:sp>
        <p:nvSpPr>
          <p:cNvPr id="4" name="Text 2"/>
          <p:cNvSpPr txBox="1"/>
          <p:nvPr/>
        </p:nvSpPr>
        <p:spPr>
          <a:xfrm>
            <a:off x="6675120" y="2011680"/>
            <a:ext cx="3383280" cy="329184"/>
          </a:xfrm>
          <a:prstGeom prst="rect">
            <a:avLst/>
          </a:prstGeom>
          <a:noFill/>
          <a:ln/>
        </p:spPr>
        <p:txBody>
          <a:bodyPr wrap="square" lIns="0" tIns="0" rIns="0" bIns="0" rtlCol="0" anchor="ctr"/>
          <a:lstStyle/>
          <a:p>
            <a:pPr marL="0" indent="0">
              <a:buNone/>
            </a:pPr>
            <a:r>
              <a:rPr lang="en-US" sz="1400" dirty="0">
                <a:solidFill>
                  <a:srgbClr val="C4D6DE"/>
                </a:solidFill>
                <a:latin typeface="Calibri" pitchFamily="34" charset="0"/>
                <a:ea typeface="Calibri" pitchFamily="34" charset="-122"/>
                <a:cs typeface="Calibri" pitchFamily="34" charset="-120"/>
              </a:rPr>
              <a:t>Architecture</a:t>
            </a:r>
            <a:endParaRPr lang="en-US" sz="1400" dirty="0"/>
          </a:p>
        </p:txBody>
      </p:sp>
      <p:sp>
        <p:nvSpPr>
          <p:cNvPr id="5" name="Text 3"/>
          <p:cNvSpPr txBox="1"/>
          <p:nvPr/>
        </p:nvSpPr>
        <p:spPr>
          <a:xfrm>
            <a:off x="10104120" y="2011680"/>
            <a:ext cx="1581912" cy="329184"/>
          </a:xfrm>
          <a:prstGeom prst="rect">
            <a:avLst/>
          </a:prstGeom>
          <a:noFill/>
          <a:ln/>
        </p:spPr>
        <p:txBody>
          <a:bodyPr wrap="square" lIns="0" tIns="0" rIns="0" bIns="0" rtlCol="0" anchor="ctr"/>
          <a:lstStyle/>
          <a:p>
            <a:pPr marL="0" indent="0" algn="r">
              <a:buNone/>
            </a:pPr>
            <a:r>
              <a:rPr lang="en-US" sz="1400" b="1" dirty="0">
                <a:solidFill>
                  <a:srgbClr val="FFFFFF"/>
                </a:solidFill>
                <a:latin typeface="Calibri" pitchFamily="34" charset="0"/>
                <a:ea typeface="Calibri" pitchFamily="34" charset="-122"/>
                <a:cs typeface="Calibri" pitchFamily="34" charset="-120"/>
              </a:rPr>
              <a:t>Raihan</a:t>
            </a:r>
            <a:endParaRPr lang="en-US" sz="1400" dirty="0"/>
          </a:p>
        </p:txBody>
      </p:sp>
      <p:sp>
        <p:nvSpPr>
          <p:cNvPr id="6" name="Text 4"/>
          <p:cNvSpPr txBox="1"/>
          <p:nvPr/>
        </p:nvSpPr>
        <p:spPr>
          <a:xfrm>
            <a:off x="6675120" y="2542032"/>
            <a:ext cx="3383280" cy="329184"/>
          </a:xfrm>
          <a:prstGeom prst="rect">
            <a:avLst/>
          </a:prstGeom>
          <a:noFill/>
          <a:ln/>
        </p:spPr>
        <p:txBody>
          <a:bodyPr wrap="square" lIns="0" tIns="0" rIns="0" bIns="0" rtlCol="0" anchor="ctr"/>
          <a:lstStyle/>
          <a:p>
            <a:pPr marL="0" indent="0">
              <a:buNone/>
            </a:pPr>
            <a:r>
              <a:rPr lang="en-US" sz="1400" dirty="0">
                <a:solidFill>
                  <a:srgbClr val="C4D6DE"/>
                </a:solidFill>
                <a:latin typeface="Calibri" pitchFamily="34" charset="0"/>
                <a:ea typeface="Calibri" pitchFamily="34" charset="-122"/>
                <a:cs typeface="Calibri" pitchFamily="34" charset="-120"/>
              </a:rPr>
              <a:t>Planner and Android</a:t>
            </a:r>
            <a:endParaRPr lang="en-US" sz="1400" dirty="0"/>
          </a:p>
        </p:txBody>
      </p:sp>
      <p:sp>
        <p:nvSpPr>
          <p:cNvPr id="7" name="Text 5"/>
          <p:cNvSpPr txBox="1"/>
          <p:nvPr/>
        </p:nvSpPr>
        <p:spPr>
          <a:xfrm>
            <a:off x="10104120" y="2542032"/>
            <a:ext cx="1581912" cy="329184"/>
          </a:xfrm>
          <a:prstGeom prst="rect">
            <a:avLst/>
          </a:prstGeom>
          <a:noFill/>
          <a:ln/>
        </p:spPr>
        <p:txBody>
          <a:bodyPr wrap="square" lIns="0" tIns="0" rIns="0" bIns="0" rtlCol="0" anchor="ctr"/>
          <a:lstStyle/>
          <a:p>
            <a:pPr marL="0" indent="0" algn="r">
              <a:buNone/>
            </a:pPr>
            <a:r>
              <a:rPr lang="en-US" sz="1400" b="1" dirty="0">
                <a:solidFill>
                  <a:srgbClr val="FFFFFF"/>
                </a:solidFill>
                <a:latin typeface="Calibri" pitchFamily="34" charset="0"/>
                <a:ea typeface="Calibri" pitchFamily="34" charset="-122"/>
                <a:cs typeface="Calibri" pitchFamily="34" charset="-120"/>
              </a:rPr>
              <a:t>Mehemud</a:t>
            </a:r>
            <a:endParaRPr lang="en-US" sz="1400" dirty="0"/>
          </a:p>
        </p:txBody>
      </p:sp>
      <p:sp>
        <p:nvSpPr>
          <p:cNvPr id="8" name="Text 6"/>
          <p:cNvSpPr txBox="1"/>
          <p:nvPr/>
        </p:nvSpPr>
        <p:spPr>
          <a:xfrm>
            <a:off x="6675120" y="3072384"/>
            <a:ext cx="3383280" cy="329184"/>
          </a:xfrm>
          <a:prstGeom prst="rect">
            <a:avLst/>
          </a:prstGeom>
          <a:noFill/>
          <a:ln/>
        </p:spPr>
        <p:txBody>
          <a:bodyPr wrap="square" lIns="0" tIns="0" rIns="0" bIns="0" rtlCol="0" anchor="ctr"/>
          <a:lstStyle/>
          <a:p>
            <a:pPr marL="0" indent="0">
              <a:buNone/>
            </a:pPr>
            <a:r>
              <a:rPr lang="en-US" sz="1400" dirty="0">
                <a:solidFill>
                  <a:srgbClr val="C4D6DE"/>
                </a:solidFill>
                <a:latin typeface="Calibri" pitchFamily="34" charset="0"/>
                <a:ea typeface="Calibri" pitchFamily="34" charset="-122"/>
                <a:cs typeface="Calibri" pitchFamily="34" charset="-120"/>
              </a:rPr>
              <a:t>Web agent and safety</a:t>
            </a:r>
            <a:endParaRPr lang="en-US" sz="1400" dirty="0"/>
          </a:p>
        </p:txBody>
      </p:sp>
      <p:sp>
        <p:nvSpPr>
          <p:cNvPr id="9" name="Text 7"/>
          <p:cNvSpPr txBox="1"/>
          <p:nvPr/>
        </p:nvSpPr>
        <p:spPr>
          <a:xfrm>
            <a:off x="10104120" y="3072384"/>
            <a:ext cx="1581912" cy="329184"/>
          </a:xfrm>
          <a:prstGeom prst="rect">
            <a:avLst/>
          </a:prstGeom>
          <a:noFill/>
          <a:ln/>
        </p:spPr>
        <p:txBody>
          <a:bodyPr wrap="square" lIns="0" tIns="0" rIns="0" bIns="0" rtlCol="0" anchor="ctr"/>
          <a:lstStyle/>
          <a:p>
            <a:pPr marL="0" indent="0" algn="r">
              <a:buNone/>
            </a:pPr>
            <a:r>
              <a:rPr lang="en-US" sz="1400" b="1" dirty="0">
                <a:solidFill>
                  <a:srgbClr val="FFFFFF"/>
                </a:solidFill>
                <a:latin typeface="Calibri" pitchFamily="34" charset="0"/>
                <a:ea typeface="Calibri" pitchFamily="34" charset="-122"/>
                <a:cs typeface="Calibri" pitchFamily="34" charset="-120"/>
              </a:rPr>
              <a:t>Jonayed</a:t>
            </a:r>
            <a:endParaRPr lang="en-US" sz="1400" dirty="0"/>
          </a:p>
        </p:txBody>
      </p:sp>
      <p:sp>
        <p:nvSpPr>
          <p:cNvPr id="10" name="Text 8"/>
          <p:cNvSpPr txBox="1"/>
          <p:nvPr/>
        </p:nvSpPr>
        <p:spPr>
          <a:xfrm>
            <a:off x="6675120" y="3602736"/>
            <a:ext cx="3383280" cy="329184"/>
          </a:xfrm>
          <a:prstGeom prst="rect">
            <a:avLst/>
          </a:prstGeom>
          <a:noFill/>
          <a:ln/>
        </p:spPr>
        <p:txBody>
          <a:bodyPr wrap="square" lIns="0" tIns="0" rIns="0" bIns="0" rtlCol="0" anchor="ctr"/>
          <a:lstStyle/>
          <a:p>
            <a:pPr marL="0" indent="0">
              <a:buNone/>
            </a:pPr>
            <a:r>
              <a:rPr lang="en-US" sz="1400" dirty="0">
                <a:solidFill>
                  <a:srgbClr val="C4D6DE"/>
                </a:solidFill>
                <a:latin typeface="Calibri" pitchFamily="34" charset="0"/>
                <a:ea typeface="Calibri" pitchFamily="34" charset="-122"/>
                <a:cs typeface="Calibri" pitchFamily="34" charset="-120"/>
              </a:rPr>
              <a:t>Verdicts and attribution</a:t>
            </a:r>
            <a:endParaRPr lang="en-US" sz="1400" dirty="0"/>
          </a:p>
        </p:txBody>
      </p:sp>
      <p:sp>
        <p:nvSpPr>
          <p:cNvPr id="11" name="Text 9"/>
          <p:cNvSpPr txBox="1"/>
          <p:nvPr/>
        </p:nvSpPr>
        <p:spPr>
          <a:xfrm>
            <a:off x="10104120" y="3602736"/>
            <a:ext cx="1581912" cy="329184"/>
          </a:xfrm>
          <a:prstGeom prst="rect">
            <a:avLst/>
          </a:prstGeom>
          <a:noFill/>
          <a:ln/>
        </p:spPr>
        <p:txBody>
          <a:bodyPr wrap="square" lIns="0" tIns="0" rIns="0" bIns="0" rtlCol="0" anchor="ctr"/>
          <a:lstStyle/>
          <a:p>
            <a:pPr marL="0" indent="0" algn="r">
              <a:buNone/>
            </a:pPr>
            <a:r>
              <a:rPr lang="en-US" sz="1400" b="1" dirty="0">
                <a:solidFill>
                  <a:srgbClr val="FFFFFF"/>
                </a:solidFill>
                <a:latin typeface="Calibri" pitchFamily="34" charset="0"/>
                <a:ea typeface="Calibri" pitchFamily="34" charset="-122"/>
                <a:cs typeface="Calibri" pitchFamily="34" charset="-120"/>
              </a:rPr>
              <a:t>Tuhin</a:t>
            </a:r>
            <a:endParaRPr lang="en-US" sz="1400" dirty="0"/>
          </a:p>
        </p:txBody>
      </p:sp>
      <p:sp>
        <p:nvSpPr>
          <p:cNvPr id="12" name="Text 10"/>
          <p:cNvSpPr txBox="1"/>
          <p:nvPr/>
        </p:nvSpPr>
        <p:spPr>
          <a:xfrm>
            <a:off x="6675120" y="4133088"/>
            <a:ext cx="3383280" cy="329184"/>
          </a:xfrm>
          <a:prstGeom prst="rect">
            <a:avLst/>
          </a:prstGeom>
          <a:noFill/>
          <a:ln/>
        </p:spPr>
        <p:txBody>
          <a:bodyPr wrap="square" lIns="0" tIns="0" rIns="0" bIns="0" rtlCol="0" anchor="ctr"/>
          <a:lstStyle/>
          <a:p>
            <a:pPr marL="0" indent="0">
              <a:buNone/>
            </a:pPr>
            <a:r>
              <a:rPr lang="en-US" sz="1400" dirty="0">
                <a:solidFill>
                  <a:srgbClr val="C4D6DE"/>
                </a:solidFill>
                <a:latin typeface="Calibri" pitchFamily="34" charset="0"/>
                <a:ea typeface="Calibri" pitchFamily="34" charset="-122"/>
                <a:cs typeface="Calibri" pitchFamily="34" charset="-120"/>
              </a:rPr>
              <a:t>Results and cost</a:t>
            </a:r>
            <a:endParaRPr lang="en-US" sz="1400" dirty="0"/>
          </a:p>
        </p:txBody>
      </p:sp>
      <p:sp>
        <p:nvSpPr>
          <p:cNvPr id="13" name="Text 11"/>
          <p:cNvSpPr txBox="1"/>
          <p:nvPr/>
        </p:nvSpPr>
        <p:spPr>
          <a:xfrm>
            <a:off x="10104120" y="4133088"/>
            <a:ext cx="1581912" cy="329184"/>
          </a:xfrm>
          <a:prstGeom prst="rect">
            <a:avLst/>
          </a:prstGeom>
          <a:noFill/>
          <a:ln/>
        </p:spPr>
        <p:txBody>
          <a:bodyPr wrap="square" lIns="0" tIns="0" rIns="0" bIns="0" rtlCol="0" anchor="ctr"/>
          <a:lstStyle/>
          <a:p>
            <a:pPr marL="0" indent="0" algn="r">
              <a:buNone/>
            </a:pPr>
            <a:r>
              <a:rPr lang="en-US" sz="1400" b="1" dirty="0">
                <a:solidFill>
                  <a:srgbClr val="FFFFFF"/>
                </a:solidFill>
                <a:latin typeface="Calibri" pitchFamily="34" charset="0"/>
                <a:ea typeface="Calibri" pitchFamily="34" charset="-122"/>
                <a:cs typeface="Calibri" pitchFamily="34" charset="-120"/>
              </a:rPr>
              <a:t>Niloy</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2591</Words>
  <Application>Microsoft Office PowerPoint</Application>
  <PresentationFormat>Widescreen</PresentationFormat>
  <Paragraphs>422</Paragraphs>
  <Slides>31</Slides>
  <Notes>31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Exploratory Testing Automation</dc:title>
  <dc:subject>PptxGenJS Presentation</dc:subject>
  <dc:creator>CSE 450 Capstone Team</dc:creator>
  <cp:lastModifiedBy>Jonayed Mohiuddin</cp:lastModifiedBy>
  <cp:revision>2</cp:revision>
  <dcterms:created xsi:type="dcterms:W3CDTF">2026-09-29T18:34:22Z</dcterms:created>
  <dcterms:modified xsi:type="dcterms:W3CDTF">2026-09-29T18:37:22Z</dcterms:modified>
</cp:coreProperties>
</file>