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Autonomy</c:v>
                </c:pt>
              </c:strCache>
            </c:strRef>
          </c:tx>
          <c:spPr>
            <a:ln w="38100" cap="flat">
              <a:solidFill>
                <a:srgbClr val="0B6A8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6A8F"/>
              </a:solidFill>
              <a:ln w="9525" cap="flat">
                <a:solidFill>
                  <a:srgbClr val="0B6A8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12 Aug</c:v>
                </c:pt>
                <c:pt idx="1">
                  <c:v>13 Aug</c:v>
                </c:pt>
                <c:pt idx="2">
                  <c:v>13 Aug pm</c:v>
                </c:pt>
                <c:pt idx="3">
                  <c:v>30 Aug</c:v>
                </c:pt>
                <c:pt idx="4">
                  <c:v>Sep market</c:v>
                </c:pt>
                <c:pt idx="5">
                  <c:v>Sep Contacts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96</c:v>
                </c:pt>
                <c:pt idx="2">
                  <c:v>100</c:v>
                </c:pt>
                <c:pt idx="3">
                  <c:v>68</c:v>
                </c:pt>
                <c:pt idx="4">
                  <c:v>69</c:v>
                </c:pt>
                <c:pt idx="5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540-45A9-8E28-C0F40B4D97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Pass rate</c:v>
                </c:pt>
              </c:strCache>
            </c:strRef>
          </c:tx>
          <c:spPr>
            <a:ln w="38100" cap="flat">
              <a:solidFill>
                <a:srgbClr val="A9502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9502C"/>
              </a:solidFill>
              <a:ln w="9525" cap="flat">
                <a:solidFill>
                  <a:srgbClr val="A9502C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12 Aug</c:v>
                </c:pt>
                <c:pt idx="1">
                  <c:v>13 Aug</c:v>
                </c:pt>
                <c:pt idx="2">
                  <c:v>13 Aug pm</c:v>
                </c:pt>
                <c:pt idx="3">
                  <c:v>30 Aug</c:v>
                </c:pt>
                <c:pt idx="4">
                  <c:v>Sep market</c:v>
                </c:pt>
                <c:pt idx="5">
                  <c:v>Sep Contacts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20</c:v>
                </c:pt>
                <c:pt idx="2">
                  <c:v>36</c:v>
                </c:pt>
                <c:pt idx="3">
                  <c:v>52</c:v>
                </c:pt>
                <c:pt idx="4">
                  <c:v>44</c:v>
                </c:pt>
                <c:pt idx="5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540-45A9-8E28-C0F40B4D97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9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5E0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9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569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0832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Raihan opens. Three cards, one line each — do not elaborate.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after the quote. This is the thesis of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three agent roles and the graph between them. Say: they never call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off: 'So the first question is — what does it decide to test?'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16 per cent slowly. This is Mehemud's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off: 'But notice the planner never writes the steps — only the goal.'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off: 'So how do we know that 500 is real and not the agent imagining it?'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story justifies the whole taxonomy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the question you WILL be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hide the zero. Explaining it is the strongest thing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450 CAPSTONE PROJECT  ·  DEPARTMENT OF CSE, BUET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Testing Automation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420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agent that decides what to test, runs it, and learns from every run.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22452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Raihan Rashid · 2105046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Mehemud Azad · 2105014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Jonayed Mohiuddin Shanto · 2105060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Khalid Hasan Tuhin · 2105002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Niloy Kumar Mondal · 2105044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257800" y="39319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422452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A. B. M. Alim Al Islam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Department of CSE, BUET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869680" y="39319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869680" y="422452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R&amp;D Institute Bangladesh</a:t>
            </a:r>
            <a:endParaRPr lang="en-US" sz="1150" dirty="0"/>
          </a:p>
        </p:txBody>
      </p:sp>
      <p:pic>
        <p:nvPicPr>
          <p:cNvPr id="11" name="Image 0" descr="D:\Projects\Exploratory-Testing-Planner-Agent\Report\BUET_CSE_Capstone_Project_Template\figures\bu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731520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2368" y="420624"/>
            <a:ext cx="1883664" cy="384048"/>
          </a:xfrm>
          <a:prstGeom prst="roundRect">
            <a:avLst>
              <a:gd name="adj" fmla="val 50000"/>
            </a:avLst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802368" y="420624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Raihan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test. Each gives up something.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2286000"/>
            <a:ext cx="201168" cy="201168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170432" y="2203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exploratory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real defects.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31012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scale.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70248" y="201168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62856" y="2286000"/>
            <a:ext cx="201168" cy="201168"/>
          </a:xfrm>
          <a:prstGeom prst="ellipse">
            <a:avLst/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892040" y="2203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automation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and cheap.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331012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checks what its author thought of.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91856" y="201168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84464" y="2286000"/>
            <a:ext cx="201168" cy="201168"/>
          </a:xfrm>
          <a:prstGeom prst="ellipse">
            <a:avLst/>
          </a:prstGeom>
          <a:solidFill>
            <a:srgbClr val="A9502C"/>
          </a:solidFill>
          <a:ln w="12700">
            <a:solidFill>
              <a:srgbClr val="A95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613648" y="2203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/ Monkey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at scale.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84464" y="331012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idea what correct looks like.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3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60020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tool can tell you an application crashed.</a:t>
            </a:r>
            <a:endParaRPr lang="en-US" sz="3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cannot tell you it quietly charged</a:t>
            </a:r>
            <a:endParaRPr lang="en-US" sz="3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wrong account.”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343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 is an oracle — knowing what correct looks like.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8463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we reviewed ingests a specification. That is our position.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agents, one shared memory</a:t>
            </a:r>
            <a:endParaRPr lang="en-US" sz="3200" dirty="0"/>
          </a:p>
        </p:txBody>
      </p:sp>
      <p:pic>
        <p:nvPicPr>
          <p:cNvPr id="3" name="Image 0" descr="D:\Projects\Exploratory-Testing-Planner-Agent\Report\BUET_CSE_Capstone_Project_Template\figures\01-system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508760"/>
            <a:ext cx="9326880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never talk to each other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41248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6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254203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to test next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70248" y="182880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62856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95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Executor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4562856" y="254203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real application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1856" y="182880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84464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Investigator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8284464" y="254203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the run proved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137392" cy="1600200"/>
          </a:xfrm>
          <a:prstGeom prst="roundRect">
            <a:avLst>
              <a:gd name="adj" fmla="val 3429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409651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knowledge graph is the only channel between them.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59028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call is stateless and rebuilt from the graph — so “learning” is something you can inspect. The graph either grew or it did not.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graphs in one store</a:t>
            </a:r>
            <a:endParaRPr lang="en-US" sz="3200" dirty="0"/>
          </a:p>
        </p:txBody>
      </p:sp>
      <p:pic>
        <p:nvPicPr>
          <p:cNvPr id="3" name="Image 0" descr="D:\Projects\Exploratory-Testing-Planner-Agent\Report\BUET_CSE_Capstone_Project_Template\figures\03-knowledge-graph-sch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59" y="1236721"/>
            <a:ext cx="6484289" cy="381076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3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39696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application should do.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documents.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30" dirty="0">
                <a:solidFill>
                  <a:srgbClr val="A95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POSTERIORI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02736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actually does.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observation.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5212080"/>
            <a:ext cx="11137392" cy="868680"/>
          </a:xfrm>
          <a:prstGeom prst="roundRect">
            <a:avLst>
              <a:gd name="adj" fmla="val 6316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14400" y="534924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 is steered by the gap between them.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2368" y="420624"/>
            <a:ext cx="1883664" cy="384048"/>
          </a:xfrm>
          <a:prstGeom prst="roundRect">
            <a:avLst>
              <a:gd name="adj" fmla="val 50000"/>
            </a:avLst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802368" y="420624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Mehemud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planner reads the graph through nine tools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2167128"/>
            <a:ext cx="237744" cy="237744"/>
          </a:xfrm>
          <a:prstGeom prst="ellipse">
            <a:avLst/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24128" y="20574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exist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4597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not yet tested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264408"/>
            <a:ext cx="237744" cy="237744"/>
          </a:xfrm>
          <a:prstGeom prst="ellipse">
            <a:avLst/>
          </a:prstGeom>
          <a:solidFill>
            <a:srgbClr val="A9502C"/>
          </a:solidFill>
          <a:ln w="12700">
            <a:solidFill>
              <a:srgbClr val="A95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24128" y="31546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 has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355701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observed, paths taken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4361688"/>
            <a:ext cx="237744" cy="237744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24128" y="42519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already known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46542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open questions</a:t>
            </a:r>
            <a:endParaRPr lang="en-US" sz="1400" dirty="0"/>
          </a:p>
        </p:txBody>
      </p:sp>
      <p:pic>
        <p:nvPicPr>
          <p:cNvPr id="15" name="Image 0" descr="D:\Projects\Exploratory-Testing-Planner-Agent\Report\BUET_CSE_Capstone_Project_Template\figures\14-the-nine-tools-as-an-investig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697" y="1366185"/>
            <a:ext cx="3972472" cy="520835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loop is bounded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5214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exploratory agent has no natural stopping point.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3500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6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3639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maximum in the planning loop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34256" y="214884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608576" y="23500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A95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608576" y="313639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turn it is told to propose — left free, it investigates forever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19872" y="214884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394192" y="23500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6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394192" y="313639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actions per test, then the run ends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1137392" cy="1188720"/>
          </a:xfrm>
          <a:prstGeom prst="roundRect">
            <a:avLst>
              <a:gd name="adj" fmla="val 4615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14400" y="45262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rejected proposals and the best effort is accepted with a recorded degradation — a planning round never returns nothing.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reaches a device unvalidated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11373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" y="2185416"/>
            <a:ext cx="402336" cy="402336"/>
          </a:xfrm>
          <a:prstGeom prst="ellipse">
            <a:avLst/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2185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0848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must exist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42316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screens actually observed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62656"/>
            <a:ext cx="111373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3227832"/>
            <a:ext cx="402336" cy="402336"/>
          </a:xfrm>
          <a:prstGeom prst="ellipse">
            <a:avLst/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68680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1272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IDs must exist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46557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identifiers are rejected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05072"/>
            <a:ext cx="111373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8680" y="4270248"/>
            <a:ext cx="402336" cy="402336"/>
          </a:xfrm>
          <a:prstGeom prst="ellipse">
            <a:avLst/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68680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1696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duplicate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50799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check against tests already run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047488"/>
            <a:ext cx="111373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68680" y="5312664"/>
            <a:ext cx="402336" cy="402336"/>
          </a:xfrm>
          <a:prstGeom prst="ellipse">
            <a:avLst/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68680" y="5312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2120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Preconditions must be reachable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55040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depending on an impossible state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3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7373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A95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16%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3832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proposals named a screen that really existed, under the first planner design.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92240" y="2148840"/>
            <a:ext cx="47548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858000" y="2377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redesign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0" y="2788920"/>
            <a:ext cx="4069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100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rejection across eight test cases — corrected on the next turn.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Android: a real handset, over the accessibility tree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6596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addressed by role and name — never by pixel coordinates.</a:t>
            </a:r>
            <a:endParaRPr lang="en-US" sz="155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reached is written back to the graph as a UI state.</a:t>
            </a:r>
            <a:endParaRPr lang="en-US" sz="155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map of the application grows while the tests run.</a:t>
            </a:r>
            <a:endParaRPr lang="en-US" sz="1550" dirty="0"/>
          </a:p>
        </p:txBody>
      </p:sp>
      <p:pic>
        <p:nvPicPr>
          <p:cNvPr id="4" name="Image 0" descr="D:\Projects\Exploratory-Testing-Planner-Agent\Report\BUET_CSE_Capstone_Project_Template\figures\17-state-identity-is-this-a-screen-we-have-s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210312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869680" y="1965960"/>
            <a:ext cx="2816352" cy="2926080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9125712" y="2194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screen we have seen?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125712" y="297180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tests, cheapest first.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too eagerly and the map collapses. Split too eagerly and it is destroyed.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2368" y="420624"/>
            <a:ext cx="1883664" cy="384048"/>
          </a:xfrm>
          <a:prstGeom prst="roundRect">
            <a:avLst>
              <a:gd name="adj" fmla="val 50000"/>
            </a:avLst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802368" y="420624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Jonayed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objective, never a tap sequence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planner sends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i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“Verify that a survey cannot be submitted while a required question is unanswered.”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309360" y="1874520"/>
            <a:ext cx="5376672" cy="3200400"/>
          </a:xfrm>
          <a:prstGeom prst="roundRect">
            <a:avLst>
              <a:gd name="adj" fmla="val 1714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2940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 script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5146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planner cannot see the live screen.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4290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executor can recover from a vague goal. It cannot recover from instructions that do not match the screen in front of it.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controls are never touched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5214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at the configuration layer, before the action is attempted.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8833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95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out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46704" y="2286000"/>
            <a:ext cx="268833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529584" y="2286000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95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account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44768" y="2286000"/>
            <a:ext cx="268833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327648" y="2286000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95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942832" y="2286000"/>
            <a:ext cx="268833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125712" y="2286000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95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controls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14800"/>
            <a:ext cx="11137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runs against live systems. A test that logs itself out ends the campaign; a test that deletes an account ends more than that.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planner, a different body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13739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Playwright, reading an accessibility snapshot of the DOM — not screenshots.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per step and more precise than the vision-based approach most systems use.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In-loop guards end a stalled run: repeating a dead action, or wandering with nothing changing.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0"/>
            <a:ext cx="11137392" cy="1143000"/>
          </a:xfrm>
          <a:prstGeom prst="roundRect">
            <a:avLst>
              <a:gd name="adj" fmla="val 4800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47548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planner. Two executors. Neither knows about the other.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Watching the app, not the agent's story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5214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signals collected independently of anything the agent claims.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8833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13232" y="2148840"/>
            <a:ext cx="2359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errors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46704" y="2148840"/>
            <a:ext cx="268833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511296" y="2148840"/>
            <a:ext cx="2359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Uncaught page errors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44768" y="2148840"/>
            <a:ext cx="268833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309360" y="2148840"/>
            <a:ext cx="2359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4xx and 5xx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942832" y="2148840"/>
            <a:ext cx="268833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107424" y="2148840"/>
            <a:ext cx="2359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dialogs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1137392" cy="1737360"/>
          </a:xfrm>
          <a:prstGeom prst="roundRect">
            <a:avLst>
              <a:gd name="adj" fmla="val 3158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4069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live site, these caught a genuine HTTP 500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6177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the agent itself had nearly filed as a user-interface error.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an application is a data change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2011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web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700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26700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specification, defect history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284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33284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never be touched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9867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398678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wall clock, rounds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6451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46451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disposable test account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98080" y="1920240"/>
            <a:ext cx="4187952" cy="3291840"/>
          </a:xfrm>
          <a:prstGeom prst="roundRect">
            <a:avLst>
              <a:gd name="adj" fmla="val 1667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863840" y="228600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2852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361188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Android applications and three websites — one planner, one graph, one report format.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2368" y="420624"/>
            <a:ext cx="1883664" cy="384048"/>
          </a:xfrm>
          <a:prstGeom prst="roundRect">
            <a:avLst>
              <a:gd name="adj" fmla="val 50000"/>
            </a:avLst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802368" y="420624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Tuhin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 run into knowledge that outlives it</a:t>
            </a:r>
            <a:endParaRPr lang="en-US" sz="3200" dirty="0"/>
          </a:p>
        </p:txBody>
      </p:sp>
      <p:pic>
        <p:nvPicPr>
          <p:cNvPr id="5" name="Image 0" descr="D:\Projects\Exploratory-Testing-Planner-Agent\Report\BUET_CSE_Capstone_Project_Template\figures\06-investigator-trajectory-to-knowle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1"/>
            <a:ext cx="11137392" cy="412672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546035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whole trajectory against what the test intended — not just the final screen.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Findings, not opinions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11137392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2167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2185416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 observation raises an existing finding's count instead of making a near-duplicate.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11137392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3538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kept separate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3557016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run still contributes knowledge.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4709160"/>
            <a:ext cx="11137392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4910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or nothing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4928616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verdict the observations do not support is recorded as unverified.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 failure is the application's fault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41248" y="22128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95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is wrong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474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· assertion · HTTP error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70248" y="196596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562856" y="22128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6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562856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could not drive it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62856" y="3474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not found · timeout · livelock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91856" y="196596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284464" y="22128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56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284464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blocked the test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84464" y="3474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 · CAPTCHA · guardrail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137392" cy="914400"/>
          </a:xfrm>
          <a:prstGeom prst="roundRect">
            <a:avLst>
              <a:gd name="adj" fmla="val 6000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14400" y="499262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first is ever a defect report.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3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2880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A95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7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1272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autonomy we reported.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182880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7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31272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truth.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069080"/>
            <a:ext cx="103327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280160" y="42519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taxonomy had been defined in two places. The copies drifted. It is now three frozen sets in one module, imported everywhere.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does it cry wolf?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544068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2103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1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comparable published agent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146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100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 defects reported</a:t>
            </a:r>
            <a:endParaRPr lang="en-US" sz="21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2100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against a human team's 80.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65760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A95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52–66% accuracy, where the humans were at 100%. Two in five of its reports were false.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874520"/>
            <a:ext cx="5422392" cy="3383280"/>
          </a:xfrm>
          <a:prstGeom prst="roundRect">
            <a:avLst>
              <a:gd name="adj" fmla="val 1622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583680" y="2103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1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Ours, on the live site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514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flagged what looked like a serious access-control hole.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3657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checked. It was gated by the site's own privacy setting, working as designed.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4617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we did not report it.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2368" y="420624"/>
            <a:ext cx="1883664" cy="384048"/>
          </a:xfrm>
          <a:prstGeom prst="roundRect">
            <a:avLst>
              <a:gd name="adj" fmla="val 50000"/>
            </a:avLst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802368" y="420624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Niloy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189 autonomous runs across five targets</a:t>
            </a:r>
            <a:endParaRPr lang="en-US" sz="3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137392" cy="2962656"/>
        </p:xfrm>
        <a:graphic>
          <a:graphicData uri="http://schemas.openxmlformats.org/drawingml/2006/table">
            <a:tbl>
              <a:tblPr/>
              <a:tblGrid>
                <a:gridCol w="3822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DataGhurhi — survey platform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A95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Shobar Khamar — marketplace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Contacts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broken-workshop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AcademyBug — no specification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A95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end rows are the whole argument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544068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2240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1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specification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060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E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886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faults in 64 runs.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2011680"/>
            <a:ext cx="5422392" cy="3017520"/>
          </a:xfrm>
          <a:prstGeom prst="roundRect">
            <a:avLst>
              <a:gd name="adj" fmla="val 1818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583680" y="2240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1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one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6060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A95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3886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faults in 20 runs.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57800"/>
            <a:ext cx="11137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specification is not decoration. It is what lets the agent know where it is going.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campaign curve actually shows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783080"/>
          <a:ext cx="69494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2002536"/>
            <a:ext cx="182880" cy="182880"/>
          </a:xfrm>
          <a:prstGeom prst="ellipse">
            <a:avLst/>
          </a:prstGeom>
          <a:solidFill>
            <a:srgbClr val="A9502C"/>
          </a:solidFill>
          <a:ln w="12700">
            <a:solidFill>
              <a:srgbClr val="A95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211312" y="19202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looked catastrophic.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11312" y="230428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of device steps were unparseable. Nothing could be attributed.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863840" y="3328416"/>
            <a:ext cx="182880" cy="18288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211312" y="32461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fixes, one day.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11312" y="363016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later: 100% autonomy, zero silent fallbacks.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863840" y="4654296"/>
            <a:ext cx="182880" cy="182880"/>
          </a:xfrm>
          <a:prstGeom prst="ellipse">
            <a:avLst/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211312" y="4572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 met production.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11312" y="495604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fell to 67%. A tuned agent does not transfer for free.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3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9202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0.008</a:t>
            </a:r>
            <a:endParaRPr lang="en-US" sz="68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310128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executed test, measured against the provider's billing record.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223760" y="2148840"/>
            <a:ext cx="40233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543800" y="2395728"/>
            <a:ext cx="3429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published work reports about USD 18 per application — and says the cost stopped the authors repeating their own runs.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cannot yet claim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1113739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2130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95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precision or recall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21488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them honestly needs seeded defects. We had none.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172968"/>
            <a:ext cx="1113739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3337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95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 changed eight times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335584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improvement cannot be attributed to the system alone.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4379976"/>
            <a:ext cx="1113739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4544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95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is local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4562856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hardened for shared infrastructure.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5623560"/>
            <a:ext cx="11137392" cy="868680"/>
          </a:xfrm>
          <a:prstGeom prst="roundRect">
            <a:avLst>
              <a:gd name="adj" fmla="val 6316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57607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oracles that check the application's stored data, and checking after every step.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3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1488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200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675120" y="20116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104120" y="2011680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Raihan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5420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and models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104120" y="2542032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Mehemud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307238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and safety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104120" y="3072384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Jonayed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360273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and attribution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104120" y="360273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Tuhin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413308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cost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104120" y="4133088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Niloy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1547</Words>
  <Application>Microsoft Office PowerPoint</Application>
  <PresentationFormat>Widescreen</PresentationFormat>
  <Paragraphs>304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Testing Automation</dc:title>
  <dc:subject>PptxGenJS Presentation</dc:subject>
  <dc:creator>CSE 450 Capstone Team</dc:creator>
  <cp:lastModifiedBy>Jonayed Mohiuddin</cp:lastModifiedBy>
  <cp:revision>3</cp:revision>
  <dcterms:created xsi:type="dcterms:W3CDTF">2026-09-29T18:11:10Z</dcterms:created>
  <dcterms:modified xsi:type="dcterms:W3CDTF">2026-09-29T18:26:52Z</dcterms:modified>
</cp:coreProperties>
</file>